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97"/>
  </p:notesMasterIdLst>
  <p:sldIdLst>
    <p:sldId id="534" r:id="rId2"/>
    <p:sldId id="2147473899" r:id="rId3"/>
    <p:sldId id="2147474043" r:id="rId4"/>
    <p:sldId id="2147474044" r:id="rId5"/>
    <p:sldId id="2147473915" r:id="rId6"/>
    <p:sldId id="2147473916" r:id="rId7"/>
    <p:sldId id="2147473914" r:id="rId8"/>
    <p:sldId id="2147474056" r:id="rId9"/>
    <p:sldId id="2147474057" r:id="rId10"/>
    <p:sldId id="2147473945" r:id="rId11"/>
    <p:sldId id="2147474052" r:id="rId12"/>
    <p:sldId id="2147474053" r:id="rId13"/>
    <p:sldId id="2147474054" r:id="rId14"/>
    <p:sldId id="2147474014" r:id="rId15"/>
    <p:sldId id="2147474015" r:id="rId16"/>
    <p:sldId id="2147474023" r:id="rId17"/>
    <p:sldId id="2147474024" r:id="rId18"/>
    <p:sldId id="2147474020" r:id="rId19"/>
    <p:sldId id="2147474021" r:id="rId20"/>
    <p:sldId id="2147474017" r:id="rId21"/>
    <p:sldId id="2147474018" r:id="rId22"/>
    <p:sldId id="2147474038" r:id="rId23"/>
    <p:sldId id="2147473983" r:id="rId24"/>
    <p:sldId id="2147474000" r:id="rId25"/>
    <p:sldId id="2147473997" r:id="rId26"/>
    <p:sldId id="2147473998" r:id="rId27"/>
    <p:sldId id="2147473999" r:id="rId28"/>
    <p:sldId id="2147474004" r:id="rId29"/>
    <p:sldId id="2147474005" r:id="rId30"/>
    <p:sldId id="2147474006" r:id="rId31"/>
    <p:sldId id="2147474007" r:id="rId32"/>
    <p:sldId id="2147474008" r:id="rId33"/>
    <p:sldId id="2147474009" r:id="rId34"/>
    <p:sldId id="2147474010" r:id="rId35"/>
    <p:sldId id="2147474011" r:id="rId36"/>
    <p:sldId id="2147474013" r:id="rId37"/>
    <p:sldId id="2147474001" r:id="rId38"/>
    <p:sldId id="2147474002" r:id="rId39"/>
    <p:sldId id="2147474003" r:id="rId40"/>
    <p:sldId id="2147473944" r:id="rId41"/>
    <p:sldId id="2147473985" r:id="rId42"/>
    <p:sldId id="2147473987" r:id="rId43"/>
    <p:sldId id="2147473986" r:id="rId44"/>
    <p:sldId id="2147473988" r:id="rId45"/>
    <p:sldId id="2147473989" r:id="rId46"/>
    <p:sldId id="2147474032" r:id="rId47"/>
    <p:sldId id="2147474063" r:id="rId48"/>
    <p:sldId id="2147474033" r:id="rId49"/>
    <p:sldId id="2147473994" r:id="rId50"/>
    <p:sldId id="2147473996" r:id="rId51"/>
    <p:sldId id="2147473995" r:id="rId52"/>
    <p:sldId id="2147474064" r:id="rId53"/>
    <p:sldId id="2147474065" r:id="rId54"/>
    <p:sldId id="2147474051" r:id="rId55"/>
    <p:sldId id="2147473947" r:id="rId56"/>
    <p:sldId id="2147474029" r:id="rId57"/>
    <p:sldId id="2147474031" r:id="rId58"/>
    <p:sldId id="2147474030" r:id="rId59"/>
    <p:sldId id="2147473952" r:id="rId60"/>
    <p:sldId id="2147473991" r:id="rId61"/>
    <p:sldId id="2147473992" r:id="rId62"/>
    <p:sldId id="2147473954" r:id="rId63"/>
    <p:sldId id="2147474040" r:id="rId64"/>
    <p:sldId id="2147474042" r:id="rId65"/>
    <p:sldId id="2147473946" r:id="rId66"/>
    <p:sldId id="2147473972" r:id="rId67"/>
    <p:sldId id="2147473974" r:id="rId68"/>
    <p:sldId id="2147473973" r:id="rId69"/>
    <p:sldId id="2147473975" r:id="rId70"/>
    <p:sldId id="2147473977" r:id="rId71"/>
    <p:sldId id="2147473976" r:id="rId72"/>
    <p:sldId id="2147473979" r:id="rId73"/>
    <p:sldId id="2147473980" r:id="rId74"/>
    <p:sldId id="2147474048" r:id="rId75"/>
    <p:sldId id="2147474045" r:id="rId76"/>
    <p:sldId id="2147474047" r:id="rId77"/>
    <p:sldId id="2147474055" r:id="rId78"/>
    <p:sldId id="2147474058" r:id="rId79"/>
    <p:sldId id="2147474059" r:id="rId80"/>
    <p:sldId id="2147474060" r:id="rId81"/>
    <p:sldId id="2147474061" r:id="rId82"/>
    <p:sldId id="2147474062" r:id="rId83"/>
    <p:sldId id="2147474039" r:id="rId84"/>
    <p:sldId id="2147473907" r:id="rId85"/>
    <p:sldId id="2147473901" r:id="rId86"/>
    <p:sldId id="2147473902" r:id="rId87"/>
    <p:sldId id="2147473903" r:id="rId88"/>
    <p:sldId id="2147473904" r:id="rId89"/>
    <p:sldId id="2147473905" r:id="rId90"/>
    <p:sldId id="2147473906" r:id="rId91"/>
    <p:sldId id="2147473908" r:id="rId92"/>
    <p:sldId id="2147473963" r:id="rId93"/>
    <p:sldId id="2147473962" r:id="rId94"/>
    <p:sldId id="2147473909" r:id="rId95"/>
    <p:sldId id="2147473958" r:id="rId9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B168154E-8ED6-4DB5-9CA4-74EC21EAE12F}" v="2" dt="2026-05-18T05:16:28.376"/>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284E427A-3D55-4303-BF80-6455036E1DE7}" styleName="Themed Style 1 - Accent 2">
    <a:tblBg>
      <a:fillRef idx="2">
        <a:schemeClr val="accent2"/>
      </a:fillRef>
      <a:effectRef idx="1">
        <a:schemeClr val="accent2"/>
      </a:effectRef>
    </a:tblBg>
    <a:wholeTbl>
      <a:tcTxStyle>
        <a:fontRef idx="minor">
          <a:scrgbClr r="0" g="0" b="0"/>
        </a:fontRef>
        <a:schemeClr val="dk1"/>
      </a:tcTxStyle>
      <a:tcStyle>
        <a:tcBdr>
          <a:left>
            <a:lnRef idx="1">
              <a:schemeClr val="accent2"/>
            </a:lnRef>
          </a:left>
          <a:right>
            <a:lnRef idx="1">
              <a:schemeClr val="accent2"/>
            </a:lnRef>
          </a:right>
          <a:top>
            <a:lnRef idx="1">
              <a:schemeClr val="accent2"/>
            </a:lnRef>
          </a:top>
          <a:bottom>
            <a:lnRef idx="1">
              <a:schemeClr val="accent2"/>
            </a:lnRef>
          </a:bottom>
          <a:insideH>
            <a:lnRef idx="1">
              <a:schemeClr val="accent2"/>
            </a:lnRef>
          </a:insideH>
          <a:insideV>
            <a:lnRef idx="1">
              <a:schemeClr val="accent2"/>
            </a:lnRef>
          </a:insideV>
        </a:tcBdr>
        <a:fill>
          <a:noFill/>
        </a:fill>
      </a:tcStyle>
    </a:wholeTbl>
    <a:band1H>
      <a:tcStyle>
        <a:tcBdr/>
        <a:fill>
          <a:solidFill>
            <a:schemeClr val="accent2">
              <a:alpha val="40000"/>
            </a:schemeClr>
          </a:solidFill>
        </a:fill>
      </a:tcStyle>
    </a:band1H>
    <a:band2H>
      <a:tcStyle>
        <a:tcBdr/>
      </a:tcStyle>
    </a:band2H>
    <a:band1V>
      <a:tcStyle>
        <a:tcBdr>
          <a:top>
            <a:lnRef idx="1">
              <a:schemeClr val="accent2"/>
            </a:lnRef>
          </a:top>
          <a:bottom>
            <a:lnRef idx="1">
              <a:schemeClr val="accent2"/>
            </a:lnRef>
          </a:bottom>
        </a:tcBdr>
        <a:fill>
          <a:solidFill>
            <a:schemeClr val="accent2">
              <a:alpha val="40000"/>
            </a:schemeClr>
          </a:solidFill>
        </a:fill>
      </a:tcStyle>
    </a:band1V>
    <a:band2V>
      <a:tcStyle>
        <a:tcBdr/>
      </a:tcStyle>
    </a:band2V>
    <a:lastCol>
      <a:tcTxStyle b="on"/>
      <a:tcStyle>
        <a:tcBdr>
          <a:left>
            <a:lnRef idx="2">
              <a:schemeClr val="accent2"/>
            </a:lnRef>
          </a:left>
          <a:right>
            <a:lnRef idx="1">
              <a:schemeClr val="accent2"/>
            </a:lnRef>
          </a:right>
          <a:top>
            <a:lnRef idx="1">
              <a:schemeClr val="accent2"/>
            </a:lnRef>
          </a:top>
          <a:bottom>
            <a:lnRef idx="1">
              <a:schemeClr val="accent2"/>
            </a:lnRef>
          </a:bottom>
          <a:insideH>
            <a:lnRef idx="1">
              <a:schemeClr val="accent2"/>
            </a:lnRef>
          </a:insideH>
          <a:insideV>
            <a:ln>
              <a:noFill/>
            </a:ln>
          </a:insideV>
        </a:tcBdr>
      </a:tcStyle>
    </a:lastCol>
    <a:firstCol>
      <a:tcTxStyle b="on"/>
      <a:tcStyle>
        <a:tcBdr>
          <a:left>
            <a:lnRef idx="1">
              <a:schemeClr val="accent2"/>
            </a:lnRef>
          </a:left>
          <a:right>
            <a:lnRef idx="2">
              <a:schemeClr val="accent2"/>
            </a:lnRef>
          </a:right>
          <a:top>
            <a:lnRef idx="1">
              <a:schemeClr val="accent2"/>
            </a:lnRef>
          </a:top>
          <a:bottom>
            <a:lnRef idx="1">
              <a:schemeClr val="accent2"/>
            </a:lnRef>
          </a:bottom>
          <a:insideH>
            <a:lnRef idx="1">
              <a:schemeClr val="accent2"/>
            </a:lnRef>
          </a:insideH>
          <a:insideV>
            <a:ln>
              <a:noFill/>
            </a:ln>
          </a:insideV>
        </a:tcBdr>
      </a:tcStyle>
    </a:firstCol>
    <a:lastRow>
      <a:tcTxStyle b="on"/>
      <a:tcStyle>
        <a:tcBdr>
          <a:left>
            <a:lnRef idx="1">
              <a:schemeClr val="accent2"/>
            </a:lnRef>
          </a:left>
          <a:right>
            <a:lnRef idx="1">
              <a:schemeClr val="accent2"/>
            </a:lnRef>
          </a:right>
          <a:top>
            <a:lnRef idx="2">
              <a:schemeClr val="accent2"/>
            </a:lnRef>
          </a:top>
          <a:bottom>
            <a:lnRef idx="2">
              <a:schemeClr val="accent2"/>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2"/>
            </a:lnRef>
          </a:left>
          <a:right>
            <a:lnRef idx="1">
              <a:schemeClr val="accent2"/>
            </a:lnRef>
          </a:right>
          <a:top>
            <a:lnRef idx="1">
              <a:schemeClr val="accent2"/>
            </a:lnRef>
          </a:top>
          <a:bottom>
            <a:lnRef idx="2">
              <a:schemeClr val="lt1"/>
            </a:lnRef>
          </a:bottom>
          <a:insideH>
            <a:ln>
              <a:noFill/>
            </a:ln>
          </a:insideH>
          <a:insideV>
            <a:ln>
              <a:noFill/>
            </a:ln>
          </a:insideV>
        </a:tcBdr>
        <a:fill>
          <a:solidFill>
            <a:schemeClr val="accent2"/>
          </a:solidFill>
        </a:fill>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465" autoAdjust="0"/>
    <p:restoredTop sz="94404" autoAdjust="0"/>
  </p:normalViewPr>
  <p:slideViewPr>
    <p:cSldViewPr snapToGrid="0">
      <p:cViewPr>
        <p:scale>
          <a:sx n="90" d="100"/>
          <a:sy n="90" d="100"/>
        </p:scale>
        <p:origin x="-264" y="-29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microsoft.com/office/2016/11/relationships/changesInfo" Target="changesInfos/changesInfo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microsoft.com/office/2015/10/relationships/revisionInfo" Target="revisionInfo.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viewProps" Target="viewProps.xml"/><Relationship Id="rId101"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presProps" Target="presProps.xml"/><Relationship Id="rId3" Type="http://schemas.openxmlformats.org/officeDocument/2006/relationships/slide" Target="slides/slide2.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andeep Singh Kumar" userId="eb833da6-a4bb-40e9-b9d0-e8b64cb2fc51" providerId="ADAL" clId="{A10D1E80-CA6C-4CAF-B354-DA926803D824}"/>
    <pc:docChg chg="undo custSel modSld">
      <pc:chgData name="Sandeep Singh Kumar" userId="eb833da6-a4bb-40e9-b9d0-e8b64cb2fc51" providerId="ADAL" clId="{A10D1E80-CA6C-4CAF-B354-DA926803D824}" dt="2026-05-11T03:57:30.799" v="334" actId="113"/>
      <pc:docMkLst>
        <pc:docMk/>
      </pc:docMkLst>
      <pc:sldChg chg="modSp mod">
        <pc:chgData name="Sandeep Singh Kumar" userId="eb833da6-a4bb-40e9-b9d0-e8b64cb2fc51" providerId="ADAL" clId="{A10D1E80-CA6C-4CAF-B354-DA926803D824}" dt="2026-05-11T03:51:01.221" v="33" actId="1076"/>
        <pc:sldMkLst>
          <pc:docMk/>
          <pc:sldMk cId="2916992756" sldId="2147473915"/>
        </pc:sldMkLst>
        <pc:graphicFrameChg chg="mod">
          <ac:chgData name="Sandeep Singh Kumar" userId="eb833da6-a4bb-40e9-b9d0-e8b64cb2fc51" providerId="ADAL" clId="{A10D1E80-CA6C-4CAF-B354-DA926803D824}" dt="2026-05-11T03:51:01.221" v="33" actId="1076"/>
          <ac:graphicFrameMkLst>
            <pc:docMk/>
            <pc:sldMk cId="2916992756" sldId="2147473915"/>
            <ac:graphicFrameMk id="4" creationId="{44C32755-CE1C-3E0C-354B-BE4E61AB25E6}"/>
          </ac:graphicFrameMkLst>
        </pc:graphicFrameChg>
      </pc:sldChg>
      <pc:sldChg chg="modSp mod">
        <pc:chgData name="Sandeep Singh Kumar" userId="eb833da6-a4bb-40e9-b9d0-e8b64cb2fc51" providerId="ADAL" clId="{A10D1E80-CA6C-4CAF-B354-DA926803D824}" dt="2026-05-11T03:52:39.352" v="76" actId="20577"/>
        <pc:sldMkLst>
          <pc:docMk/>
          <pc:sldMk cId="1057217270" sldId="2147473986"/>
        </pc:sldMkLst>
        <pc:spChg chg="mod">
          <ac:chgData name="Sandeep Singh Kumar" userId="eb833da6-a4bb-40e9-b9d0-e8b64cb2fc51" providerId="ADAL" clId="{A10D1E80-CA6C-4CAF-B354-DA926803D824}" dt="2026-05-11T03:52:39.352" v="76" actId="20577"/>
          <ac:spMkLst>
            <pc:docMk/>
            <pc:sldMk cId="1057217270" sldId="2147473986"/>
            <ac:spMk id="6" creationId="{C6FCF641-CD04-710A-0C4F-EA49667DEA4C}"/>
          </ac:spMkLst>
        </pc:spChg>
      </pc:sldChg>
      <pc:sldChg chg="modSp mod">
        <pc:chgData name="Sandeep Singh Kumar" userId="eb833da6-a4bb-40e9-b9d0-e8b64cb2fc51" providerId="ADAL" clId="{A10D1E80-CA6C-4CAF-B354-DA926803D824}" dt="2026-05-11T03:53:19.514" v="172" actId="20577"/>
        <pc:sldMkLst>
          <pc:docMk/>
          <pc:sldMk cId="2227727089" sldId="2147473989"/>
        </pc:sldMkLst>
        <pc:spChg chg="mod">
          <ac:chgData name="Sandeep Singh Kumar" userId="eb833da6-a4bb-40e9-b9d0-e8b64cb2fc51" providerId="ADAL" clId="{A10D1E80-CA6C-4CAF-B354-DA926803D824}" dt="2026-05-11T03:53:19.514" v="172" actId="20577"/>
          <ac:spMkLst>
            <pc:docMk/>
            <pc:sldMk cId="2227727089" sldId="2147473989"/>
            <ac:spMk id="6" creationId="{FCEB15F2-33FD-F113-D0B0-5F4F0F58943A}"/>
          </ac:spMkLst>
        </pc:spChg>
      </pc:sldChg>
      <pc:sldChg chg="modSp mod">
        <pc:chgData name="Sandeep Singh Kumar" userId="eb833da6-a4bb-40e9-b9d0-e8b64cb2fc51" providerId="ADAL" clId="{A10D1E80-CA6C-4CAF-B354-DA926803D824}" dt="2026-05-11T03:51:45.543" v="35" actId="20577"/>
        <pc:sldMkLst>
          <pc:docMk/>
          <pc:sldMk cId="1459906899" sldId="2147474024"/>
        </pc:sldMkLst>
        <pc:spChg chg="mod">
          <ac:chgData name="Sandeep Singh Kumar" userId="eb833da6-a4bb-40e9-b9d0-e8b64cb2fc51" providerId="ADAL" clId="{A10D1E80-CA6C-4CAF-B354-DA926803D824}" dt="2026-05-11T03:51:45.543" v="35" actId="20577"/>
          <ac:spMkLst>
            <pc:docMk/>
            <pc:sldMk cId="1459906899" sldId="2147474024"/>
            <ac:spMk id="6" creationId="{25B31424-07DA-CC5F-827C-79C4980A9D2D}"/>
          </ac:spMkLst>
        </pc:spChg>
      </pc:sldChg>
      <pc:sldChg chg="modSp mod">
        <pc:chgData name="Sandeep Singh Kumar" userId="eb833da6-a4bb-40e9-b9d0-e8b64cb2fc51" providerId="ADAL" clId="{A10D1E80-CA6C-4CAF-B354-DA926803D824}" dt="2026-05-11T03:57:30.799" v="334" actId="113"/>
        <pc:sldMkLst>
          <pc:docMk/>
          <pc:sldMk cId="4093128623" sldId="2147474030"/>
        </pc:sldMkLst>
        <pc:spChg chg="mod">
          <ac:chgData name="Sandeep Singh Kumar" userId="eb833da6-a4bb-40e9-b9d0-e8b64cb2fc51" providerId="ADAL" clId="{A10D1E80-CA6C-4CAF-B354-DA926803D824}" dt="2026-05-11T03:57:30.799" v="334" actId="113"/>
          <ac:spMkLst>
            <pc:docMk/>
            <pc:sldMk cId="4093128623" sldId="2147474030"/>
            <ac:spMk id="6" creationId="{2D25D3D9-8311-9BB0-1235-EB498A4D3E2D}"/>
          </ac:spMkLst>
        </pc:spChg>
      </pc:sldChg>
      <pc:sldChg chg="modSp mod">
        <pc:chgData name="Sandeep Singh Kumar" userId="eb833da6-a4bb-40e9-b9d0-e8b64cb2fc51" providerId="ADAL" clId="{A10D1E80-CA6C-4CAF-B354-DA926803D824}" dt="2026-05-11T03:50:12.858" v="17" actId="20577"/>
        <pc:sldMkLst>
          <pc:docMk/>
          <pc:sldMk cId="742126036" sldId="2147474043"/>
        </pc:sldMkLst>
        <pc:spChg chg="mod">
          <ac:chgData name="Sandeep Singh Kumar" userId="eb833da6-a4bb-40e9-b9d0-e8b64cb2fc51" providerId="ADAL" clId="{A10D1E80-CA6C-4CAF-B354-DA926803D824}" dt="2026-05-11T03:50:12.858" v="17" actId="20577"/>
          <ac:spMkLst>
            <pc:docMk/>
            <pc:sldMk cId="742126036" sldId="2147474043"/>
            <ac:spMk id="2" creationId="{300049E6-C83C-8761-1AE7-DDE80F681041}"/>
          </ac:spMkLst>
        </pc:spChg>
      </pc:sldChg>
      <pc:sldChg chg="modSp mod">
        <pc:chgData name="Sandeep Singh Kumar" userId="eb833da6-a4bb-40e9-b9d0-e8b64cb2fc51" providerId="ADAL" clId="{A10D1E80-CA6C-4CAF-B354-DA926803D824}" dt="2026-05-11T03:50:45.998" v="32" actId="1076"/>
        <pc:sldMkLst>
          <pc:docMk/>
          <pc:sldMk cId="2433252466" sldId="2147474044"/>
        </pc:sldMkLst>
        <pc:spChg chg="mod">
          <ac:chgData name="Sandeep Singh Kumar" userId="eb833da6-a4bb-40e9-b9d0-e8b64cb2fc51" providerId="ADAL" clId="{A10D1E80-CA6C-4CAF-B354-DA926803D824}" dt="2026-05-11T03:50:31.014" v="30" actId="20577"/>
          <ac:spMkLst>
            <pc:docMk/>
            <pc:sldMk cId="2433252466" sldId="2147474044"/>
            <ac:spMk id="10" creationId="{7FDEA39D-0B39-8DB9-D344-E063F25285DB}"/>
          </ac:spMkLst>
        </pc:spChg>
        <pc:graphicFrameChg chg="mod modGraphic">
          <ac:chgData name="Sandeep Singh Kumar" userId="eb833da6-a4bb-40e9-b9d0-e8b64cb2fc51" providerId="ADAL" clId="{A10D1E80-CA6C-4CAF-B354-DA926803D824}" dt="2026-05-11T03:50:45.998" v="32" actId="1076"/>
          <ac:graphicFrameMkLst>
            <pc:docMk/>
            <pc:sldMk cId="2433252466" sldId="2147474044"/>
            <ac:graphicFrameMk id="11" creationId="{6DFC6FEA-3E1B-7A7E-224C-59A7489D5519}"/>
          </ac:graphicFrameMkLst>
        </pc:graphicFrameChg>
      </pc:sldChg>
    </pc:docChg>
  </pc:docChgLst>
  <pc:docChgLst>
    <pc:chgData name="Anshu Kumari" userId="aa6bca9a-2c67-4b5a-bd21-15b8a1fc845c" providerId="ADAL" clId="{ED3BD75F-53FB-4107-AEE4-7DB429E66FB5}"/>
    <pc:docChg chg="undo custSel addSld delSld modSld sldOrd">
      <pc:chgData name="Anshu Kumari" userId="aa6bca9a-2c67-4b5a-bd21-15b8a1fc845c" providerId="ADAL" clId="{ED3BD75F-53FB-4107-AEE4-7DB429E66FB5}" dt="2026-05-18T05:59:05.808" v="5601" actId="20577"/>
      <pc:docMkLst>
        <pc:docMk/>
      </pc:docMkLst>
      <pc:sldChg chg="modSp mod">
        <pc:chgData name="Anshu Kumari" userId="aa6bca9a-2c67-4b5a-bd21-15b8a1fc845c" providerId="ADAL" clId="{ED3BD75F-53FB-4107-AEE4-7DB429E66FB5}" dt="2026-05-18T05:06:41.517" v="5342" actId="20577"/>
        <pc:sldMkLst>
          <pc:docMk/>
          <pc:sldMk cId="2690815781" sldId="534"/>
        </pc:sldMkLst>
        <pc:spChg chg="mod">
          <ac:chgData name="Anshu Kumari" userId="aa6bca9a-2c67-4b5a-bd21-15b8a1fc845c" providerId="ADAL" clId="{ED3BD75F-53FB-4107-AEE4-7DB429E66FB5}" dt="2026-05-18T05:06:41.517" v="5342" actId="20577"/>
          <ac:spMkLst>
            <pc:docMk/>
            <pc:sldMk cId="2690815781" sldId="534"/>
            <ac:spMk id="17" creationId="{00000000-0000-0000-0000-000000000000}"/>
          </ac:spMkLst>
        </pc:spChg>
      </pc:sldChg>
      <pc:sldChg chg="modSp mod">
        <pc:chgData name="Anshu Kumari" userId="aa6bca9a-2c67-4b5a-bd21-15b8a1fc845c" providerId="ADAL" clId="{ED3BD75F-53FB-4107-AEE4-7DB429E66FB5}" dt="2026-05-18T05:06:58.063" v="5343" actId="6549"/>
        <pc:sldMkLst>
          <pc:docMk/>
          <pc:sldMk cId="1965066304" sldId="2147473899"/>
        </pc:sldMkLst>
        <pc:spChg chg="mod">
          <ac:chgData name="Anshu Kumari" userId="aa6bca9a-2c67-4b5a-bd21-15b8a1fc845c" providerId="ADAL" clId="{ED3BD75F-53FB-4107-AEE4-7DB429E66FB5}" dt="2026-05-18T05:06:58.063" v="5343" actId="6549"/>
          <ac:spMkLst>
            <pc:docMk/>
            <pc:sldMk cId="1965066304" sldId="2147473899"/>
            <ac:spMk id="3" creationId="{5C7AF6AA-3138-F99B-8680-761C8AAA3135}"/>
          </ac:spMkLst>
        </pc:spChg>
      </pc:sldChg>
      <pc:sldChg chg="modSp mod ord">
        <pc:chgData name="Anshu Kumari" userId="aa6bca9a-2c67-4b5a-bd21-15b8a1fc845c" providerId="ADAL" clId="{ED3BD75F-53FB-4107-AEE4-7DB429E66FB5}" dt="2026-05-15T09:55:33.973" v="503"/>
        <pc:sldMkLst>
          <pc:docMk/>
          <pc:sldMk cId="2093910250" sldId="2147473914"/>
        </pc:sldMkLst>
        <pc:spChg chg="mod">
          <ac:chgData name="Anshu Kumari" userId="aa6bca9a-2c67-4b5a-bd21-15b8a1fc845c" providerId="ADAL" clId="{ED3BD75F-53FB-4107-AEE4-7DB429E66FB5}" dt="2026-05-15T09:45:23.252" v="391" actId="1076"/>
          <ac:spMkLst>
            <pc:docMk/>
            <pc:sldMk cId="2093910250" sldId="2147473914"/>
            <ac:spMk id="5" creationId="{464D2CD3-3F34-FCD1-2B36-2E6BE5150D34}"/>
          </ac:spMkLst>
        </pc:spChg>
        <pc:spChg chg="mod">
          <ac:chgData name="Anshu Kumari" userId="aa6bca9a-2c67-4b5a-bd21-15b8a1fc845c" providerId="ADAL" clId="{ED3BD75F-53FB-4107-AEE4-7DB429E66FB5}" dt="2026-05-15T09:45:19.849" v="390" actId="255"/>
          <ac:spMkLst>
            <pc:docMk/>
            <pc:sldMk cId="2093910250" sldId="2147473914"/>
            <ac:spMk id="7" creationId="{D15CB8C9-6DF6-E28F-486E-B964F53DC239}"/>
          </ac:spMkLst>
        </pc:spChg>
        <pc:graphicFrameChg chg="mod modGraphic">
          <ac:chgData name="Anshu Kumari" userId="aa6bca9a-2c67-4b5a-bd21-15b8a1fc845c" providerId="ADAL" clId="{ED3BD75F-53FB-4107-AEE4-7DB429E66FB5}" dt="2026-05-15T09:46:19.121" v="431" actId="20577"/>
          <ac:graphicFrameMkLst>
            <pc:docMk/>
            <pc:sldMk cId="2093910250" sldId="2147473914"/>
            <ac:graphicFrameMk id="4" creationId="{FDAE9790-1B8C-34F3-2841-16248A7E3CE1}"/>
          </ac:graphicFrameMkLst>
        </pc:graphicFrameChg>
      </pc:sldChg>
      <pc:sldChg chg="modSp mod">
        <pc:chgData name="Anshu Kumari" userId="aa6bca9a-2c67-4b5a-bd21-15b8a1fc845c" providerId="ADAL" clId="{ED3BD75F-53FB-4107-AEE4-7DB429E66FB5}" dt="2026-05-15T09:17:50.030" v="287" actId="20577"/>
        <pc:sldMkLst>
          <pc:docMk/>
          <pc:sldMk cId="2916992756" sldId="2147473915"/>
        </pc:sldMkLst>
        <pc:spChg chg="mod">
          <ac:chgData name="Anshu Kumari" userId="aa6bca9a-2c67-4b5a-bd21-15b8a1fc845c" providerId="ADAL" clId="{ED3BD75F-53FB-4107-AEE4-7DB429E66FB5}" dt="2026-05-15T09:17:50.030" v="287" actId="20577"/>
          <ac:spMkLst>
            <pc:docMk/>
            <pc:sldMk cId="2916992756" sldId="2147473915"/>
            <ac:spMk id="2" creationId="{A5CADD31-C165-884E-E778-5E02ECEF6305}"/>
          </ac:spMkLst>
        </pc:spChg>
      </pc:sldChg>
      <pc:sldChg chg="modSp mod">
        <pc:chgData name="Anshu Kumari" userId="aa6bca9a-2c67-4b5a-bd21-15b8a1fc845c" providerId="ADAL" clId="{ED3BD75F-53FB-4107-AEE4-7DB429E66FB5}" dt="2026-05-15T09:41:01.476" v="367" actId="255"/>
        <pc:sldMkLst>
          <pc:docMk/>
          <pc:sldMk cId="818147499" sldId="2147473916"/>
        </pc:sldMkLst>
        <pc:spChg chg="mod">
          <ac:chgData name="Anshu Kumari" userId="aa6bca9a-2c67-4b5a-bd21-15b8a1fc845c" providerId="ADAL" clId="{ED3BD75F-53FB-4107-AEE4-7DB429E66FB5}" dt="2026-05-15T09:41:01.476" v="367" actId="255"/>
          <ac:spMkLst>
            <pc:docMk/>
            <pc:sldMk cId="818147499" sldId="2147473916"/>
            <ac:spMk id="6" creationId="{2F28CE92-DB66-2EE9-68B2-0073B7F4F91D}"/>
          </ac:spMkLst>
        </pc:spChg>
      </pc:sldChg>
      <pc:sldChg chg="modSp mod">
        <pc:chgData name="Anshu Kumari" userId="aa6bca9a-2c67-4b5a-bd21-15b8a1fc845c" providerId="ADAL" clId="{ED3BD75F-53FB-4107-AEE4-7DB429E66FB5}" dt="2026-05-15T11:04:40.406" v="1345" actId="255"/>
        <pc:sldMkLst>
          <pc:docMk/>
          <pc:sldMk cId="1840205245" sldId="2147473962"/>
        </pc:sldMkLst>
        <pc:spChg chg="mod">
          <ac:chgData name="Anshu Kumari" userId="aa6bca9a-2c67-4b5a-bd21-15b8a1fc845c" providerId="ADAL" clId="{ED3BD75F-53FB-4107-AEE4-7DB429E66FB5}" dt="2026-05-15T11:04:40.406" v="1345" actId="255"/>
          <ac:spMkLst>
            <pc:docMk/>
            <pc:sldMk cId="1840205245" sldId="2147473962"/>
            <ac:spMk id="7" creationId="{A6318817-75B9-D5F8-5860-CE696CE3BAD6}"/>
          </ac:spMkLst>
        </pc:spChg>
      </pc:sldChg>
      <pc:sldChg chg="modSp mod">
        <pc:chgData name="Anshu Kumari" userId="aa6bca9a-2c67-4b5a-bd21-15b8a1fc845c" providerId="ADAL" clId="{ED3BD75F-53FB-4107-AEE4-7DB429E66FB5}" dt="2026-05-15T11:03:38.128" v="1317" actId="20577"/>
        <pc:sldMkLst>
          <pc:docMk/>
          <pc:sldMk cId="1178089451" sldId="2147473963"/>
        </pc:sldMkLst>
        <pc:graphicFrameChg chg="modGraphic">
          <ac:chgData name="Anshu Kumari" userId="aa6bca9a-2c67-4b5a-bd21-15b8a1fc845c" providerId="ADAL" clId="{ED3BD75F-53FB-4107-AEE4-7DB429E66FB5}" dt="2026-05-15T11:03:38.128" v="1317" actId="20577"/>
          <ac:graphicFrameMkLst>
            <pc:docMk/>
            <pc:sldMk cId="1178089451" sldId="2147473963"/>
            <ac:graphicFrameMk id="4" creationId="{74841C38-2627-0AC6-EB30-25B0F6302359}"/>
          </ac:graphicFrameMkLst>
        </pc:graphicFrameChg>
      </pc:sldChg>
      <pc:sldChg chg="modSp mod">
        <pc:chgData name="Anshu Kumari" userId="aa6bca9a-2c67-4b5a-bd21-15b8a1fc845c" providerId="ADAL" clId="{ED3BD75F-53FB-4107-AEE4-7DB429E66FB5}" dt="2026-05-15T10:50:17.366" v="1104" actId="20577"/>
        <pc:sldMkLst>
          <pc:docMk/>
          <pc:sldMk cId="1944784375" sldId="2147473972"/>
        </pc:sldMkLst>
        <pc:graphicFrameChg chg="modGraphic">
          <ac:chgData name="Anshu Kumari" userId="aa6bca9a-2c67-4b5a-bd21-15b8a1fc845c" providerId="ADAL" clId="{ED3BD75F-53FB-4107-AEE4-7DB429E66FB5}" dt="2026-05-15T10:50:17.366" v="1104" actId="20577"/>
          <ac:graphicFrameMkLst>
            <pc:docMk/>
            <pc:sldMk cId="1944784375" sldId="2147473972"/>
            <ac:graphicFrameMk id="5" creationId="{95BB5808-9D07-6772-2BFC-986BDC9B92F3}"/>
          </ac:graphicFrameMkLst>
        </pc:graphicFrameChg>
      </pc:sldChg>
      <pc:sldChg chg="modSp mod">
        <pc:chgData name="Anshu Kumari" userId="aa6bca9a-2c67-4b5a-bd21-15b8a1fc845c" providerId="ADAL" clId="{ED3BD75F-53FB-4107-AEE4-7DB429E66FB5}" dt="2026-05-15T10:52:44.879" v="1152" actId="20577"/>
        <pc:sldMkLst>
          <pc:docMk/>
          <pc:sldMk cId="3025619045" sldId="2147473974"/>
        </pc:sldMkLst>
        <pc:graphicFrameChg chg="modGraphic">
          <ac:chgData name="Anshu Kumari" userId="aa6bca9a-2c67-4b5a-bd21-15b8a1fc845c" providerId="ADAL" clId="{ED3BD75F-53FB-4107-AEE4-7DB429E66FB5}" dt="2026-05-15T10:52:44.879" v="1152" actId="20577"/>
          <ac:graphicFrameMkLst>
            <pc:docMk/>
            <pc:sldMk cId="3025619045" sldId="2147473974"/>
            <ac:graphicFrameMk id="5" creationId="{878B3627-9420-FE84-6B2D-CDBF860EFDD8}"/>
          </ac:graphicFrameMkLst>
        </pc:graphicFrameChg>
      </pc:sldChg>
      <pc:sldChg chg="modSp mod">
        <pc:chgData name="Anshu Kumari" userId="aa6bca9a-2c67-4b5a-bd21-15b8a1fc845c" providerId="ADAL" clId="{ED3BD75F-53FB-4107-AEE4-7DB429E66FB5}" dt="2026-05-15T10:53:55.431" v="1183" actId="20577"/>
        <pc:sldMkLst>
          <pc:docMk/>
          <pc:sldMk cId="2811331996" sldId="2147473975"/>
        </pc:sldMkLst>
        <pc:graphicFrameChg chg="modGraphic">
          <ac:chgData name="Anshu Kumari" userId="aa6bca9a-2c67-4b5a-bd21-15b8a1fc845c" providerId="ADAL" clId="{ED3BD75F-53FB-4107-AEE4-7DB429E66FB5}" dt="2026-05-15T10:53:55.431" v="1183" actId="20577"/>
          <ac:graphicFrameMkLst>
            <pc:docMk/>
            <pc:sldMk cId="2811331996" sldId="2147473975"/>
            <ac:graphicFrameMk id="10" creationId="{3693C486-4F2E-9641-8AE3-2C5E4440956E}"/>
          </ac:graphicFrameMkLst>
        </pc:graphicFrameChg>
      </pc:sldChg>
      <pc:sldChg chg="modSp mod">
        <pc:chgData name="Anshu Kumari" userId="aa6bca9a-2c67-4b5a-bd21-15b8a1fc845c" providerId="ADAL" clId="{ED3BD75F-53FB-4107-AEE4-7DB429E66FB5}" dt="2026-05-15T13:11:34.184" v="5340" actId="20577"/>
        <pc:sldMkLst>
          <pc:docMk/>
          <pc:sldMk cId="3161436288" sldId="2147473977"/>
        </pc:sldMkLst>
        <pc:graphicFrameChg chg="modGraphic">
          <ac:chgData name="Anshu Kumari" userId="aa6bca9a-2c67-4b5a-bd21-15b8a1fc845c" providerId="ADAL" clId="{ED3BD75F-53FB-4107-AEE4-7DB429E66FB5}" dt="2026-05-15T13:11:34.184" v="5340" actId="20577"/>
          <ac:graphicFrameMkLst>
            <pc:docMk/>
            <pc:sldMk cId="3161436288" sldId="2147473977"/>
            <ac:graphicFrameMk id="10" creationId="{888F2C7A-4351-2D6F-C1EC-8536191EBFB5}"/>
          </ac:graphicFrameMkLst>
        </pc:graphicFrameChg>
      </pc:sldChg>
      <pc:sldChg chg="modSp mod">
        <pc:chgData name="Anshu Kumari" userId="aa6bca9a-2c67-4b5a-bd21-15b8a1fc845c" providerId="ADAL" clId="{ED3BD75F-53FB-4107-AEE4-7DB429E66FB5}" dt="2026-05-15T10:55:21.550" v="1255" actId="20577"/>
        <pc:sldMkLst>
          <pc:docMk/>
          <pc:sldMk cId="16327959" sldId="2147473979"/>
        </pc:sldMkLst>
        <pc:graphicFrameChg chg="modGraphic">
          <ac:chgData name="Anshu Kumari" userId="aa6bca9a-2c67-4b5a-bd21-15b8a1fc845c" providerId="ADAL" clId="{ED3BD75F-53FB-4107-AEE4-7DB429E66FB5}" dt="2026-05-15T10:55:21.550" v="1255" actId="20577"/>
          <ac:graphicFrameMkLst>
            <pc:docMk/>
            <pc:sldMk cId="16327959" sldId="2147473979"/>
            <ac:graphicFrameMk id="3" creationId="{1BA780DD-8BBA-69D0-73B6-A8628603A6C9}"/>
          </ac:graphicFrameMkLst>
        </pc:graphicFrameChg>
      </pc:sldChg>
      <pc:sldChg chg="modSp mod">
        <pc:chgData name="Anshu Kumari" userId="aa6bca9a-2c67-4b5a-bd21-15b8a1fc845c" providerId="ADAL" clId="{ED3BD75F-53FB-4107-AEE4-7DB429E66FB5}" dt="2026-05-15T10:05:38.467" v="652" actId="20577"/>
        <pc:sldMkLst>
          <pc:docMk/>
          <pc:sldMk cId="4180751185" sldId="2147473985"/>
        </pc:sldMkLst>
        <pc:graphicFrameChg chg="modGraphic">
          <ac:chgData name="Anshu Kumari" userId="aa6bca9a-2c67-4b5a-bd21-15b8a1fc845c" providerId="ADAL" clId="{ED3BD75F-53FB-4107-AEE4-7DB429E66FB5}" dt="2026-05-15T10:05:38.467" v="652" actId="20577"/>
          <ac:graphicFrameMkLst>
            <pc:docMk/>
            <pc:sldMk cId="4180751185" sldId="2147473985"/>
            <ac:graphicFrameMk id="3" creationId="{E57A67E2-6B26-8F92-0DF9-B7A054356D17}"/>
          </ac:graphicFrameMkLst>
        </pc:graphicFrameChg>
      </pc:sldChg>
      <pc:sldChg chg="modSp mod">
        <pc:chgData name="Anshu Kumari" userId="aa6bca9a-2c67-4b5a-bd21-15b8a1fc845c" providerId="ADAL" clId="{ED3BD75F-53FB-4107-AEE4-7DB429E66FB5}" dt="2026-05-15T10:10:59.776" v="714" actId="20577"/>
        <pc:sldMkLst>
          <pc:docMk/>
          <pc:sldMk cId="83395651" sldId="2147473987"/>
        </pc:sldMkLst>
        <pc:graphicFrameChg chg="modGraphic">
          <ac:chgData name="Anshu Kumari" userId="aa6bca9a-2c67-4b5a-bd21-15b8a1fc845c" providerId="ADAL" clId="{ED3BD75F-53FB-4107-AEE4-7DB429E66FB5}" dt="2026-05-15T10:10:59.776" v="714" actId="20577"/>
          <ac:graphicFrameMkLst>
            <pc:docMk/>
            <pc:sldMk cId="83395651" sldId="2147473987"/>
            <ac:graphicFrameMk id="6" creationId="{3DB7AB88-0958-6A6F-4855-7EC008957B02}"/>
          </ac:graphicFrameMkLst>
        </pc:graphicFrameChg>
      </pc:sldChg>
      <pc:sldChg chg="modSp mod">
        <pc:chgData name="Anshu Kumari" userId="aa6bca9a-2c67-4b5a-bd21-15b8a1fc845c" providerId="ADAL" clId="{ED3BD75F-53FB-4107-AEE4-7DB429E66FB5}" dt="2026-05-15T10:12:29.461" v="723" actId="20577"/>
        <pc:sldMkLst>
          <pc:docMk/>
          <pc:sldMk cId="2560598183" sldId="2147473988"/>
        </pc:sldMkLst>
        <pc:graphicFrameChg chg="modGraphic">
          <ac:chgData name="Anshu Kumari" userId="aa6bca9a-2c67-4b5a-bd21-15b8a1fc845c" providerId="ADAL" clId="{ED3BD75F-53FB-4107-AEE4-7DB429E66FB5}" dt="2026-05-15T10:12:29.461" v="723" actId="20577"/>
          <ac:graphicFrameMkLst>
            <pc:docMk/>
            <pc:sldMk cId="2560598183" sldId="2147473988"/>
            <ac:graphicFrameMk id="6" creationId="{97214294-957A-A4ED-102C-E0F4528CCEBC}"/>
          </ac:graphicFrameMkLst>
        </pc:graphicFrameChg>
      </pc:sldChg>
      <pc:sldChg chg="modSp mod">
        <pc:chgData name="Anshu Kumari" userId="aa6bca9a-2c67-4b5a-bd21-15b8a1fc845c" providerId="ADAL" clId="{ED3BD75F-53FB-4107-AEE4-7DB429E66FB5}" dt="2026-05-15T10:47:34.301" v="1020" actId="20577"/>
        <pc:sldMkLst>
          <pc:docMk/>
          <pc:sldMk cId="4227259320" sldId="2147473991"/>
        </pc:sldMkLst>
        <pc:graphicFrameChg chg="modGraphic">
          <ac:chgData name="Anshu Kumari" userId="aa6bca9a-2c67-4b5a-bd21-15b8a1fc845c" providerId="ADAL" clId="{ED3BD75F-53FB-4107-AEE4-7DB429E66FB5}" dt="2026-05-15T10:47:34.301" v="1020" actId="20577"/>
          <ac:graphicFrameMkLst>
            <pc:docMk/>
            <pc:sldMk cId="4227259320" sldId="2147473991"/>
            <ac:graphicFrameMk id="3" creationId="{5F0CD78C-9221-8549-B08B-2BEC61A4F97D}"/>
          </ac:graphicFrameMkLst>
        </pc:graphicFrameChg>
      </pc:sldChg>
      <pc:sldChg chg="modSp mod">
        <pc:chgData name="Anshu Kumari" userId="aa6bca9a-2c67-4b5a-bd21-15b8a1fc845c" providerId="ADAL" clId="{ED3BD75F-53FB-4107-AEE4-7DB429E66FB5}" dt="2026-05-15T10:31:04.325" v="867" actId="20577"/>
        <pc:sldMkLst>
          <pc:docMk/>
          <pc:sldMk cId="3729668106" sldId="2147473994"/>
        </pc:sldMkLst>
        <pc:graphicFrameChg chg="modGraphic">
          <ac:chgData name="Anshu Kumari" userId="aa6bca9a-2c67-4b5a-bd21-15b8a1fc845c" providerId="ADAL" clId="{ED3BD75F-53FB-4107-AEE4-7DB429E66FB5}" dt="2026-05-15T10:31:04.325" v="867" actId="20577"/>
          <ac:graphicFrameMkLst>
            <pc:docMk/>
            <pc:sldMk cId="3729668106" sldId="2147473994"/>
            <ac:graphicFrameMk id="6" creationId="{60C74577-C7F7-7837-DD30-31608231B5D0}"/>
          </ac:graphicFrameMkLst>
        </pc:graphicFrameChg>
      </pc:sldChg>
      <pc:sldChg chg="modSp mod">
        <pc:chgData name="Anshu Kumari" userId="aa6bca9a-2c67-4b5a-bd21-15b8a1fc845c" providerId="ADAL" clId="{ED3BD75F-53FB-4107-AEE4-7DB429E66FB5}" dt="2026-05-15T10:39:23.542" v="912" actId="20577"/>
        <pc:sldMkLst>
          <pc:docMk/>
          <pc:sldMk cId="921534613" sldId="2147473996"/>
        </pc:sldMkLst>
        <pc:graphicFrameChg chg="modGraphic">
          <ac:chgData name="Anshu Kumari" userId="aa6bca9a-2c67-4b5a-bd21-15b8a1fc845c" providerId="ADAL" clId="{ED3BD75F-53FB-4107-AEE4-7DB429E66FB5}" dt="2026-05-15T10:39:23.542" v="912" actId="20577"/>
          <ac:graphicFrameMkLst>
            <pc:docMk/>
            <pc:sldMk cId="921534613" sldId="2147473996"/>
            <ac:graphicFrameMk id="9" creationId="{8C18639A-FFEB-81A1-091F-3E45626BECA0}"/>
          </ac:graphicFrameMkLst>
        </pc:graphicFrameChg>
      </pc:sldChg>
      <pc:sldChg chg="modSp mod">
        <pc:chgData name="Anshu Kumari" userId="aa6bca9a-2c67-4b5a-bd21-15b8a1fc845c" providerId="ADAL" clId="{ED3BD75F-53FB-4107-AEE4-7DB429E66FB5}" dt="2026-05-18T05:10:26.505" v="5371" actId="20577"/>
        <pc:sldMkLst>
          <pc:docMk/>
          <pc:sldMk cId="409102499" sldId="2147474000"/>
        </pc:sldMkLst>
        <pc:graphicFrameChg chg="modGraphic">
          <ac:chgData name="Anshu Kumari" userId="aa6bca9a-2c67-4b5a-bd21-15b8a1fc845c" providerId="ADAL" clId="{ED3BD75F-53FB-4107-AEE4-7DB429E66FB5}" dt="2026-05-18T05:10:26.505" v="5371" actId="20577"/>
          <ac:graphicFrameMkLst>
            <pc:docMk/>
            <pc:sldMk cId="409102499" sldId="2147474000"/>
            <ac:graphicFrameMk id="2" creationId="{E0D4F8EB-9D49-7D1F-A6CF-83706DE0A3B1}"/>
          </ac:graphicFrameMkLst>
        </pc:graphicFrameChg>
      </pc:sldChg>
      <pc:sldChg chg="modSp mod">
        <pc:chgData name="Anshu Kumari" userId="aa6bca9a-2c67-4b5a-bd21-15b8a1fc845c" providerId="ADAL" clId="{ED3BD75F-53FB-4107-AEE4-7DB429E66FB5}" dt="2026-05-18T05:54:54.942" v="5589" actId="20577"/>
        <pc:sldMkLst>
          <pc:docMk/>
          <pc:sldMk cId="997377364" sldId="2147474001"/>
        </pc:sldMkLst>
        <pc:graphicFrameChg chg="modGraphic">
          <ac:chgData name="Anshu Kumari" userId="aa6bca9a-2c67-4b5a-bd21-15b8a1fc845c" providerId="ADAL" clId="{ED3BD75F-53FB-4107-AEE4-7DB429E66FB5}" dt="2026-05-18T05:54:54.942" v="5589" actId="20577"/>
          <ac:graphicFrameMkLst>
            <pc:docMk/>
            <pc:sldMk cId="997377364" sldId="2147474001"/>
            <ac:graphicFrameMk id="5" creationId="{26103881-1D93-D41C-1FB0-D79D2EC26439}"/>
          </ac:graphicFrameMkLst>
        </pc:graphicFrameChg>
      </pc:sldChg>
      <pc:sldChg chg="modSp mod">
        <pc:chgData name="Anshu Kumari" userId="aa6bca9a-2c67-4b5a-bd21-15b8a1fc845c" providerId="ADAL" clId="{ED3BD75F-53FB-4107-AEE4-7DB429E66FB5}" dt="2026-05-18T05:55:05.374" v="5593" actId="20577"/>
        <pc:sldMkLst>
          <pc:docMk/>
          <pc:sldMk cId="682585494" sldId="2147474002"/>
        </pc:sldMkLst>
        <pc:graphicFrameChg chg="modGraphic">
          <ac:chgData name="Anshu Kumari" userId="aa6bca9a-2c67-4b5a-bd21-15b8a1fc845c" providerId="ADAL" clId="{ED3BD75F-53FB-4107-AEE4-7DB429E66FB5}" dt="2026-05-18T05:55:05.374" v="5593" actId="20577"/>
          <ac:graphicFrameMkLst>
            <pc:docMk/>
            <pc:sldMk cId="682585494" sldId="2147474002"/>
            <ac:graphicFrameMk id="5" creationId="{7AF25025-519E-ECC6-9B22-EA9C0A2E3493}"/>
          </ac:graphicFrameMkLst>
        </pc:graphicFrameChg>
      </pc:sldChg>
      <pc:sldChg chg="modSp mod">
        <pc:chgData name="Anshu Kumari" userId="aa6bca9a-2c67-4b5a-bd21-15b8a1fc845c" providerId="ADAL" clId="{ED3BD75F-53FB-4107-AEE4-7DB429E66FB5}" dt="2026-05-18T05:59:05.808" v="5601" actId="20577"/>
        <pc:sldMkLst>
          <pc:docMk/>
          <pc:sldMk cId="4068197536" sldId="2147474003"/>
        </pc:sldMkLst>
        <pc:graphicFrameChg chg="modGraphic">
          <ac:chgData name="Anshu Kumari" userId="aa6bca9a-2c67-4b5a-bd21-15b8a1fc845c" providerId="ADAL" clId="{ED3BD75F-53FB-4107-AEE4-7DB429E66FB5}" dt="2026-05-18T05:59:05.808" v="5601" actId="20577"/>
          <ac:graphicFrameMkLst>
            <pc:docMk/>
            <pc:sldMk cId="4068197536" sldId="2147474003"/>
            <ac:graphicFrameMk id="5" creationId="{D3538645-D7A3-BAD3-02B9-EEE5E3ABF70B}"/>
          </ac:graphicFrameMkLst>
        </pc:graphicFrameChg>
      </pc:sldChg>
      <pc:sldChg chg="modSp mod">
        <pc:chgData name="Anshu Kumari" userId="aa6bca9a-2c67-4b5a-bd21-15b8a1fc845c" providerId="ADAL" clId="{ED3BD75F-53FB-4107-AEE4-7DB429E66FB5}" dt="2026-05-18T05:53:34.621" v="5575" actId="20577"/>
        <pc:sldMkLst>
          <pc:docMk/>
          <pc:sldMk cId="4029043218" sldId="2147474009"/>
        </pc:sldMkLst>
        <pc:graphicFrameChg chg="modGraphic">
          <ac:chgData name="Anshu Kumari" userId="aa6bca9a-2c67-4b5a-bd21-15b8a1fc845c" providerId="ADAL" clId="{ED3BD75F-53FB-4107-AEE4-7DB429E66FB5}" dt="2026-05-18T05:53:34.621" v="5575" actId="20577"/>
          <ac:graphicFrameMkLst>
            <pc:docMk/>
            <pc:sldMk cId="4029043218" sldId="2147474009"/>
            <ac:graphicFrameMk id="5" creationId="{CBCC8A1E-78B2-2C60-AB60-8AD67026DC92}"/>
          </ac:graphicFrameMkLst>
        </pc:graphicFrameChg>
      </pc:sldChg>
      <pc:sldChg chg="modSp mod">
        <pc:chgData name="Anshu Kumari" userId="aa6bca9a-2c67-4b5a-bd21-15b8a1fc845c" providerId="ADAL" clId="{ED3BD75F-53FB-4107-AEE4-7DB429E66FB5}" dt="2026-05-18T05:53:48.756" v="5585" actId="20577"/>
        <pc:sldMkLst>
          <pc:docMk/>
          <pc:sldMk cId="2090706595" sldId="2147474010"/>
        </pc:sldMkLst>
        <pc:graphicFrameChg chg="modGraphic">
          <ac:chgData name="Anshu Kumari" userId="aa6bca9a-2c67-4b5a-bd21-15b8a1fc845c" providerId="ADAL" clId="{ED3BD75F-53FB-4107-AEE4-7DB429E66FB5}" dt="2026-05-15T13:09:14.965" v="5332" actId="14734"/>
          <ac:graphicFrameMkLst>
            <pc:docMk/>
            <pc:sldMk cId="2090706595" sldId="2147474010"/>
            <ac:graphicFrameMk id="3" creationId="{92F912A9-356A-BF74-F0B1-879933B9FE89}"/>
          </ac:graphicFrameMkLst>
        </pc:graphicFrameChg>
        <pc:graphicFrameChg chg="modGraphic">
          <ac:chgData name="Anshu Kumari" userId="aa6bca9a-2c67-4b5a-bd21-15b8a1fc845c" providerId="ADAL" clId="{ED3BD75F-53FB-4107-AEE4-7DB429E66FB5}" dt="2026-05-18T05:53:48.756" v="5585" actId="20577"/>
          <ac:graphicFrameMkLst>
            <pc:docMk/>
            <pc:sldMk cId="2090706595" sldId="2147474010"/>
            <ac:graphicFrameMk id="5" creationId="{2291BA93-84AE-0475-DD56-BD0299EB5A98}"/>
          </ac:graphicFrameMkLst>
        </pc:graphicFrameChg>
      </pc:sldChg>
      <pc:sldChg chg="modSp mod">
        <pc:chgData name="Anshu Kumari" userId="aa6bca9a-2c67-4b5a-bd21-15b8a1fc845c" providerId="ADAL" clId="{ED3BD75F-53FB-4107-AEE4-7DB429E66FB5}" dt="2026-05-15T09:57:44.869" v="562" actId="20577"/>
        <pc:sldMkLst>
          <pc:docMk/>
          <pc:sldMk cId="960614551" sldId="2147474014"/>
        </pc:sldMkLst>
        <pc:graphicFrameChg chg="modGraphic">
          <ac:chgData name="Anshu Kumari" userId="aa6bca9a-2c67-4b5a-bd21-15b8a1fc845c" providerId="ADAL" clId="{ED3BD75F-53FB-4107-AEE4-7DB429E66FB5}" dt="2026-05-15T09:57:44.869" v="562" actId="20577"/>
          <ac:graphicFrameMkLst>
            <pc:docMk/>
            <pc:sldMk cId="960614551" sldId="2147474014"/>
            <ac:graphicFrameMk id="3" creationId="{8933ADC4-79AD-E32C-7355-359A146A029D}"/>
          </ac:graphicFrameMkLst>
        </pc:graphicFrameChg>
      </pc:sldChg>
      <pc:sldChg chg="modSp mod">
        <pc:chgData name="Anshu Kumari" userId="aa6bca9a-2c67-4b5a-bd21-15b8a1fc845c" providerId="ADAL" clId="{ED3BD75F-53FB-4107-AEE4-7DB429E66FB5}" dt="2026-05-15T10:02:24.833" v="614" actId="20577"/>
        <pc:sldMkLst>
          <pc:docMk/>
          <pc:sldMk cId="3486601522" sldId="2147474017"/>
        </pc:sldMkLst>
        <pc:graphicFrameChg chg="modGraphic">
          <ac:chgData name="Anshu Kumari" userId="aa6bca9a-2c67-4b5a-bd21-15b8a1fc845c" providerId="ADAL" clId="{ED3BD75F-53FB-4107-AEE4-7DB429E66FB5}" dt="2026-05-15T10:02:24.833" v="614" actId="20577"/>
          <ac:graphicFrameMkLst>
            <pc:docMk/>
            <pc:sldMk cId="3486601522" sldId="2147474017"/>
            <ac:graphicFrameMk id="5" creationId="{FEBCA038-6529-93E3-545E-293085E23B49}"/>
          </ac:graphicFrameMkLst>
        </pc:graphicFrameChg>
      </pc:sldChg>
      <pc:sldChg chg="modSp mod">
        <pc:chgData name="Anshu Kumari" userId="aa6bca9a-2c67-4b5a-bd21-15b8a1fc845c" providerId="ADAL" clId="{ED3BD75F-53FB-4107-AEE4-7DB429E66FB5}" dt="2026-05-15T09:59:31.636" v="596" actId="20577"/>
        <pc:sldMkLst>
          <pc:docMk/>
          <pc:sldMk cId="1407369403" sldId="2147474020"/>
        </pc:sldMkLst>
        <pc:graphicFrameChg chg="modGraphic">
          <ac:chgData name="Anshu Kumari" userId="aa6bca9a-2c67-4b5a-bd21-15b8a1fc845c" providerId="ADAL" clId="{ED3BD75F-53FB-4107-AEE4-7DB429E66FB5}" dt="2026-05-15T09:59:31.636" v="596" actId="20577"/>
          <ac:graphicFrameMkLst>
            <pc:docMk/>
            <pc:sldMk cId="1407369403" sldId="2147474020"/>
            <ac:graphicFrameMk id="3" creationId="{19F14544-EBA6-3699-F68F-F3B5AA02702E}"/>
          </ac:graphicFrameMkLst>
        </pc:graphicFrameChg>
      </pc:sldChg>
      <pc:sldChg chg="modSp mod">
        <pc:chgData name="Anshu Kumari" userId="aa6bca9a-2c67-4b5a-bd21-15b8a1fc845c" providerId="ADAL" clId="{ED3BD75F-53FB-4107-AEE4-7DB429E66FB5}" dt="2026-05-15T09:58:50.926" v="587" actId="20577"/>
        <pc:sldMkLst>
          <pc:docMk/>
          <pc:sldMk cId="2715089470" sldId="2147474023"/>
        </pc:sldMkLst>
        <pc:graphicFrameChg chg="modGraphic">
          <ac:chgData name="Anshu Kumari" userId="aa6bca9a-2c67-4b5a-bd21-15b8a1fc845c" providerId="ADAL" clId="{ED3BD75F-53FB-4107-AEE4-7DB429E66FB5}" dt="2026-05-15T09:58:50.926" v="587" actId="20577"/>
          <ac:graphicFrameMkLst>
            <pc:docMk/>
            <pc:sldMk cId="2715089470" sldId="2147474023"/>
            <ac:graphicFrameMk id="2" creationId="{21047CAF-F28B-94CE-CEBA-8A9FEDD808CA}"/>
          </ac:graphicFrameMkLst>
        </pc:graphicFrameChg>
      </pc:sldChg>
      <pc:sldChg chg="modSp mod">
        <pc:chgData name="Anshu Kumari" userId="aa6bca9a-2c67-4b5a-bd21-15b8a1fc845c" providerId="ADAL" clId="{ED3BD75F-53FB-4107-AEE4-7DB429E66FB5}" dt="2026-05-15T10:01:34.099" v="605" actId="255"/>
        <pc:sldMkLst>
          <pc:docMk/>
          <pc:sldMk cId="1459906899" sldId="2147474024"/>
        </pc:sldMkLst>
        <pc:spChg chg="mod">
          <ac:chgData name="Anshu Kumari" userId="aa6bca9a-2c67-4b5a-bd21-15b8a1fc845c" providerId="ADAL" clId="{ED3BD75F-53FB-4107-AEE4-7DB429E66FB5}" dt="2026-05-15T10:01:34.099" v="605" actId="255"/>
          <ac:spMkLst>
            <pc:docMk/>
            <pc:sldMk cId="1459906899" sldId="2147474024"/>
            <ac:spMk id="6" creationId="{25B31424-07DA-CC5F-827C-79C4980A9D2D}"/>
          </ac:spMkLst>
        </pc:spChg>
      </pc:sldChg>
      <pc:sldChg chg="modSp mod">
        <pc:chgData name="Anshu Kumari" userId="aa6bca9a-2c67-4b5a-bd21-15b8a1fc845c" providerId="ADAL" clId="{ED3BD75F-53FB-4107-AEE4-7DB429E66FB5}" dt="2026-05-15T10:44:10.297" v="951" actId="20577"/>
        <pc:sldMkLst>
          <pc:docMk/>
          <pc:sldMk cId="1455239019" sldId="2147474029"/>
        </pc:sldMkLst>
        <pc:graphicFrameChg chg="modGraphic">
          <ac:chgData name="Anshu Kumari" userId="aa6bca9a-2c67-4b5a-bd21-15b8a1fc845c" providerId="ADAL" clId="{ED3BD75F-53FB-4107-AEE4-7DB429E66FB5}" dt="2026-05-15T10:44:10.297" v="951" actId="20577"/>
          <ac:graphicFrameMkLst>
            <pc:docMk/>
            <pc:sldMk cId="1455239019" sldId="2147474029"/>
            <ac:graphicFrameMk id="2" creationId="{F4AB2769-8436-EB7B-D273-39ACFA3ABE53}"/>
          </ac:graphicFrameMkLst>
        </pc:graphicFrameChg>
      </pc:sldChg>
      <pc:sldChg chg="modSp mod">
        <pc:chgData name="Anshu Kumari" userId="aa6bca9a-2c67-4b5a-bd21-15b8a1fc845c" providerId="ADAL" clId="{ED3BD75F-53FB-4107-AEE4-7DB429E66FB5}" dt="2026-05-15T10:46:31.315" v="1011" actId="20577"/>
        <pc:sldMkLst>
          <pc:docMk/>
          <pc:sldMk cId="3742811292" sldId="2147474031"/>
        </pc:sldMkLst>
        <pc:graphicFrameChg chg="modGraphic">
          <ac:chgData name="Anshu Kumari" userId="aa6bca9a-2c67-4b5a-bd21-15b8a1fc845c" providerId="ADAL" clId="{ED3BD75F-53FB-4107-AEE4-7DB429E66FB5}" dt="2026-05-15T10:46:31.315" v="1011" actId="20577"/>
          <ac:graphicFrameMkLst>
            <pc:docMk/>
            <pc:sldMk cId="3742811292" sldId="2147474031"/>
            <ac:graphicFrameMk id="9" creationId="{B78E583D-F454-1A42-6E8B-DB9C726BB6C8}"/>
          </ac:graphicFrameMkLst>
        </pc:graphicFrameChg>
      </pc:sldChg>
      <pc:sldChg chg="modSp add del mod">
        <pc:chgData name="Anshu Kumari" userId="aa6bca9a-2c67-4b5a-bd21-15b8a1fc845c" providerId="ADAL" clId="{ED3BD75F-53FB-4107-AEE4-7DB429E66FB5}" dt="2026-05-15T13:10:32.667" v="5338" actId="20577"/>
        <pc:sldMkLst>
          <pc:docMk/>
          <pc:sldMk cId="1058639934" sldId="2147474032"/>
        </pc:sldMkLst>
        <pc:spChg chg="mod">
          <ac:chgData name="Anshu Kumari" userId="aa6bca9a-2c67-4b5a-bd21-15b8a1fc845c" providerId="ADAL" clId="{ED3BD75F-53FB-4107-AEE4-7DB429E66FB5}" dt="2026-05-15T12:48:02.974" v="5248" actId="120"/>
          <ac:spMkLst>
            <pc:docMk/>
            <pc:sldMk cId="1058639934" sldId="2147474032"/>
            <ac:spMk id="4" creationId="{9A19CFDE-3384-5F61-6791-1AA093CDD2BF}"/>
          </ac:spMkLst>
        </pc:spChg>
        <pc:graphicFrameChg chg="modGraphic">
          <ac:chgData name="Anshu Kumari" userId="aa6bca9a-2c67-4b5a-bd21-15b8a1fc845c" providerId="ADAL" clId="{ED3BD75F-53FB-4107-AEE4-7DB429E66FB5}" dt="2026-05-15T13:10:32.667" v="5338" actId="20577"/>
          <ac:graphicFrameMkLst>
            <pc:docMk/>
            <pc:sldMk cId="1058639934" sldId="2147474032"/>
            <ac:graphicFrameMk id="3" creationId="{122318DF-D407-F27E-1EDE-C63FE38E66A1}"/>
          </ac:graphicFrameMkLst>
        </pc:graphicFrameChg>
      </pc:sldChg>
      <pc:sldChg chg="modSp mod">
        <pc:chgData name="Anshu Kumari" userId="aa6bca9a-2c67-4b5a-bd21-15b8a1fc845c" providerId="ADAL" clId="{ED3BD75F-53FB-4107-AEE4-7DB429E66FB5}" dt="2026-05-15T12:52:33.192" v="5259" actId="20577"/>
        <pc:sldMkLst>
          <pc:docMk/>
          <pc:sldMk cId="1794394027" sldId="2147474033"/>
        </pc:sldMkLst>
        <pc:spChg chg="mod">
          <ac:chgData name="Anshu Kumari" userId="aa6bca9a-2c67-4b5a-bd21-15b8a1fc845c" providerId="ADAL" clId="{ED3BD75F-53FB-4107-AEE4-7DB429E66FB5}" dt="2026-05-15T10:23:32.257" v="791" actId="20577"/>
          <ac:spMkLst>
            <pc:docMk/>
            <pc:sldMk cId="1794394027" sldId="2147474033"/>
            <ac:spMk id="6" creationId="{B2F5B318-B3E4-84D4-CA56-9DE54B32617D}"/>
          </ac:spMkLst>
        </pc:spChg>
        <pc:graphicFrameChg chg="modGraphic">
          <ac:chgData name="Anshu Kumari" userId="aa6bca9a-2c67-4b5a-bd21-15b8a1fc845c" providerId="ADAL" clId="{ED3BD75F-53FB-4107-AEE4-7DB429E66FB5}" dt="2026-05-15T12:52:33.192" v="5259" actId="20577"/>
          <ac:graphicFrameMkLst>
            <pc:docMk/>
            <pc:sldMk cId="1794394027" sldId="2147474033"/>
            <ac:graphicFrameMk id="5" creationId="{1AA5341C-0CE5-2970-B0A4-AB08D4932F5F}"/>
          </ac:graphicFrameMkLst>
        </pc:graphicFrameChg>
      </pc:sldChg>
      <pc:sldChg chg="modSp mod">
        <pc:chgData name="Anshu Kumari" userId="aa6bca9a-2c67-4b5a-bd21-15b8a1fc845c" providerId="ADAL" clId="{ED3BD75F-53FB-4107-AEE4-7DB429E66FB5}" dt="2026-05-15T10:03:00.733" v="633" actId="20577"/>
        <pc:sldMkLst>
          <pc:docMk/>
          <pc:sldMk cId="2553458170" sldId="2147474038"/>
        </pc:sldMkLst>
        <pc:graphicFrameChg chg="modGraphic">
          <ac:chgData name="Anshu Kumari" userId="aa6bca9a-2c67-4b5a-bd21-15b8a1fc845c" providerId="ADAL" clId="{ED3BD75F-53FB-4107-AEE4-7DB429E66FB5}" dt="2026-05-15T10:03:00.733" v="633" actId="20577"/>
          <ac:graphicFrameMkLst>
            <pc:docMk/>
            <pc:sldMk cId="2553458170" sldId="2147474038"/>
            <ac:graphicFrameMk id="6" creationId="{28568DDC-0C08-F4FC-CDF9-04866DD7C396}"/>
          </ac:graphicFrameMkLst>
        </pc:graphicFrameChg>
      </pc:sldChg>
      <pc:sldChg chg="modSp mod">
        <pc:chgData name="Anshu Kumari" userId="aa6bca9a-2c67-4b5a-bd21-15b8a1fc845c" providerId="ADAL" clId="{ED3BD75F-53FB-4107-AEE4-7DB429E66FB5}" dt="2026-05-15T10:47:57.231" v="1029" actId="20577"/>
        <pc:sldMkLst>
          <pc:docMk/>
          <pc:sldMk cId="141223719" sldId="2147474040"/>
        </pc:sldMkLst>
        <pc:graphicFrameChg chg="modGraphic">
          <ac:chgData name="Anshu Kumari" userId="aa6bca9a-2c67-4b5a-bd21-15b8a1fc845c" providerId="ADAL" clId="{ED3BD75F-53FB-4107-AEE4-7DB429E66FB5}" dt="2026-05-15T10:47:57.231" v="1029" actId="20577"/>
          <ac:graphicFrameMkLst>
            <pc:docMk/>
            <pc:sldMk cId="141223719" sldId="2147474040"/>
            <ac:graphicFrameMk id="3" creationId="{7FEFE754-6853-B34B-60C1-00B0F5C925B0}"/>
          </ac:graphicFrameMkLst>
        </pc:graphicFrameChg>
      </pc:sldChg>
      <pc:sldChg chg="modSp mod">
        <pc:chgData name="Anshu Kumari" userId="aa6bca9a-2c67-4b5a-bd21-15b8a1fc845c" providerId="ADAL" clId="{ED3BD75F-53FB-4107-AEE4-7DB429E66FB5}" dt="2026-05-15T10:49:10.855" v="1082" actId="20577"/>
        <pc:sldMkLst>
          <pc:docMk/>
          <pc:sldMk cId="360461577" sldId="2147474042"/>
        </pc:sldMkLst>
        <pc:graphicFrameChg chg="modGraphic">
          <ac:chgData name="Anshu Kumari" userId="aa6bca9a-2c67-4b5a-bd21-15b8a1fc845c" providerId="ADAL" clId="{ED3BD75F-53FB-4107-AEE4-7DB429E66FB5}" dt="2026-05-15T10:49:10.855" v="1082" actId="20577"/>
          <ac:graphicFrameMkLst>
            <pc:docMk/>
            <pc:sldMk cId="360461577" sldId="2147474042"/>
            <ac:graphicFrameMk id="9" creationId="{ADDBCBAC-BC01-55B4-E067-5C2750F519DD}"/>
          </ac:graphicFrameMkLst>
        </pc:graphicFrameChg>
      </pc:sldChg>
      <pc:sldChg chg="modSp mod">
        <pc:chgData name="Anshu Kumari" userId="aa6bca9a-2c67-4b5a-bd21-15b8a1fc845c" providerId="ADAL" clId="{ED3BD75F-53FB-4107-AEE4-7DB429E66FB5}" dt="2026-05-15T12:53:02.693" v="5261" actId="20577"/>
        <pc:sldMkLst>
          <pc:docMk/>
          <pc:sldMk cId="742126036" sldId="2147474043"/>
        </pc:sldMkLst>
        <pc:spChg chg="mod">
          <ac:chgData name="Anshu Kumari" userId="aa6bca9a-2c67-4b5a-bd21-15b8a1fc845c" providerId="ADAL" clId="{ED3BD75F-53FB-4107-AEE4-7DB429E66FB5}" dt="2026-05-15T07:25:43.766" v="44" actId="113"/>
          <ac:spMkLst>
            <pc:docMk/>
            <pc:sldMk cId="742126036" sldId="2147474043"/>
            <ac:spMk id="2" creationId="{300049E6-C83C-8761-1AE7-DDE80F681041}"/>
          </ac:spMkLst>
        </pc:spChg>
        <pc:graphicFrameChg chg="mod modGraphic">
          <ac:chgData name="Anshu Kumari" userId="aa6bca9a-2c67-4b5a-bd21-15b8a1fc845c" providerId="ADAL" clId="{ED3BD75F-53FB-4107-AEE4-7DB429E66FB5}" dt="2026-05-15T12:53:02.693" v="5261" actId="20577"/>
          <ac:graphicFrameMkLst>
            <pc:docMk/>
            <pc:sldMk cId="742126036" sldId="2147474043"/>
            <ac:graphicFrameMk id="7" creationId="{82A2AFB5-8644-DB85-FC46-22408AE5622E}"/>
          </ac:graphicFrameMkLst>
        </pc:graphicFrameChg>
      </pc:sldChg>
      <pc:sldChg chg="modSp mod ord">
        <pc:chgData name="Anshu Kumari" userId="aa6bca9a-2c67-4b5a-bd21-15b8a1fc845c" providerId="ADAL" clId="{ED3BD75F-53FB-4107-AEE4-7DB429E66FB5}" dt="2026-05-18T05:55:25.370" v="5595" actId="20577"/>
        <pc:sldMkLst>
          <pc:docMk/>
          <pc:sldMk cId="2433252466" sldId="2147474044"/>
        </pc:sldMkLst>
        <pc:graphicFrameChg chg="modGraphic">
          <ac:chgData name="Anshu Kumari" userId="aa6bca9a-2c67-4b5a-bd21-15b8a1fc845c" providerId="ADAL" clId="{ED3BD75F-53FB-4107-AEE4-7DB429E66FB5}" dt="2026-05-18T05:55:25.370" v="5595" actId="20577"/>
          <ac:graphicFrameMkLst>
            <pc:docMk/>
            <pc:sldMk cId="2433252466" sldId="2147474044"/>
            <ac:graphicFrameMk id="11" creationId="{6DFC6FEA-3E1B-7A7E-224C-59A7489D5519}"/>
          </ac:graphicFrameMkLst>
        </pc:graphicFrameChg>
      </pc:sldChg>
      <pc:sldChg chg="modSp mod">
        <pc:chgData name="Anshu Kumari" userId="aa6bca9a-2c67-4b5a-bd21-15b8a1fc845c" providerId="ADAL" clId="{ED3BD75F-53FB-4107-AEE4-7DB429E66FB5}" dt="2026-05-15T11:35:14.987" v="3293"/>
        <pc:sldMkLst>
          <pc:docMk/>
          <pc:sldMk cId="3207228030" sldId="2147474045"/>
        </pc:sldMkLst>
        <pc:graphicFrameChg chg="mod modGraphic">
          <ac:chgData name="Anshu Kumari" userId="aa6bca9a-2c67-4b5a-bd21-15b8a1fc845c" providerId="ADAL" clId="{ED3BD75F-53FB-4107-AEE4-7DB429E66FB5}" dt="2026-05-15T11:35:14.987" v="3293"/>
          <ac:graphicFrameMkLst>
            <pc:docMk/>
            <pc:sldMk cId="3207228030" sldId="2147474045"/>
            <ac:graphicFrameMk id="3" creationId="{1BA780DD-8BBA-69D0-73B6-A8628603A6C9}"/>
          </ac:graphicFrameMkLst>
        </pc:graphicFrameChg>
      </pc:sldChg>
      <pc:sldChg chg="modSp mod">
        <pc:chgData name="Anshu Kumari" userId="aa6bca9a-2c67-4b5a-bd21-15b8a1fc845c" providerId="ADAL" clId="{ED3BD75F-53FB-4107-AEE4-7DB429E66FB5}" dt="2026-05-15T10:57:16.948" v="1311" actId="20577"/>
        <pc:sldMkLst>
          <pc:docMk/>
          <pc:sldMk cId="753942689" sldId="2147474047"/>
        </pc:sldMkLst>
        <pc:graphicFrameChg chg="modGraphic">
          <ac:chgData name="Anshu Kumari" userId="aa6bca9a-2c67-4b5a-bd21-15b8a1fc845c" providerId="ADAL" clId="{ED3BD75F-53FB-4107-AEE4-7DB429E66FB5}" dt="2026-05-15T10:57:16.948" v="1311" actId="20577"/>
          <ac:graphicFrameMkLst>
            <pc:docMk/>
            <pc:sldMk cId="753942689" sldId="2147474047"/>
            <ac:graphicFrameMk id="4" creationId="{560C4DED-5BFB-1997-DB69-4D6A36E0B324}"/>
          </ac:graphicFrameMkLst>
        </pc:graphicFrameChg>
      </pc:sldChg>
      <pc:sldChg chg="modSp mod">
        <pc:chgData name="Anshu Kumari" userId="aa6bca9a-2c67-4b5a-bd21-15b8a1fc845c" providerId="ADAL" clId="{ED3BD75F-53FB-4107-AEE4-7DB429E66FB5}" dt="2026-05-15T09:56:19.740" v="524" actId="20577"/>
        <pc:sldMkLst>
          <pc:docMk/>
          <pc:sldMk cId="2933574798" sldId="2147474052"/>
        </pc:sldMkLst>
        <pc:graphicFrameChg chg="modGraphic">
          <ac:chgData name="Anshu Kumari" userId="aa6bca9a-2c67-4b5a-bd21-15b8a1fc845c" providerId="ADAL" clId="{ED3BD75F-53FB-4107-AEE4-7DB429E66FB5}" dt="2026-05-15T09:56:19.740" v="524" actId="20577"/>
          <ac:graphicFrameMkLst>
            <pc:docMk/>
            <pc:sldMk cId="2933574798" sldId="2147474052"/>
            <ac:graphicFrameMk id="2" creationId="{0124AF05-8E77-2E74-918D-306E87145DDC}"/>
          </ac:graphicFrameMkLst>
        </pc:graphicFrameChg>
      </pc:sldChg>
      <pc:sldChg chg="modSp mod">
        <pc:chgData name="Anshu Kumari" userId="aa6bca9a-2c67-4b5a-bd21-15b8a1fc845c" providerId="ADAL" clId="{ED3BD75F-53FB-4107-AEE4-7DB429E66FB5}" dt="2026-05-15T09:51:01.396" v="487" actId="6549"/>
        <pc:sldMkLst>
          <pc:docMk/>
          <pc:sldMk cId="3329295925" sldId="2147474053"/>
        </pc:sldMkLst>
        <pc:graphicFrameChg chg="modGraphic">
          <ac:chgData name="Anshu Kumari" userId="aa6bca9a-2c67-4b5a-bd21-15b8a1fc845c" providerId="ADAL" clId="{ED3BD75F-53FB-4107-AEE4-7DB429E66FB5}" dt="2026-05-15T09:51:01.396" v="487" actId="6549"/>
          <ac:graphicFrameMkLst>
            <pc:docMk/>
            <pc:sldMk cId="3329295925" sldId="2147474053"/>
            <ac:graphicFrameMk id="8" creationId="{8F064EA3-B072-78F4-5BD6-43CA2A4DD8F4}"/>
          </ac:graphicFrameMkLst>
        </pc:graphicFrameChg>
      </pc:sldChg>
      <pc:sldChg chg="modSp mod">
        <pc:chgData name="Anshu Kumari" userId="aa6bca9a-2c67-4b5a-bd21-15b8a1fc845c" providerId="ADAL" clId="{ED3BD75F-53FB-4107-AEE4-7DB429E66FB5}" dt="2026-05-15T10:00:22.850" v="597" actId="20577"/>
        <pc:sldMkLst>
          <pc:docMk/>
          <pc:sldMk cId="1088491427" sldId="2147474054"/>
        </pc:sldMkLst>
        <pc:spChg chg="mod">
          <ac:chgData name="Anshu Kumari" userId="aa6bca9a-2c67-4b5a-bd21-15b8a1fc845c" providerId="ADAL" clId="{ED3BD75F-53FB-4107-AEE4-7DB429E66FB5}" dt="2026-05-15T10:00:22.850" v="597" actId="20577"/>
          <ac:spMkLst>
            <pc:docMk/>
            <pc:sldMk cId="1088491427" sldId="2147474054"/>
            <ac:spMk id="6" creationId="{102F6882-74C6-1495-B39C-87B0B8C35ED4}"/>
          </ac:spMkLst>
        </pc:spChg>
      </pc:sldChg>
      <pc:sldChg chg="addSp delSp modSp new mod">
        <pc:chgData name="Anshu Kumari" userId="aa6bca9a-2c67-4b5a-bd21-15b8a1fc845c" providerId="ADAL" clId="{ED3BD75F-53FB-4107-AEE4-7DB429E66FB5}" dt="2026-05-18T05:23:54.500" v="5564" actId="20577"/>
        <pc:sldMkLst>
          <pc:docMk/>
          <pc:sldMk cId="3653553968" sldId="2147474055"/>
        </pc:sldMkLst>
        <pc:spChg chg="mod">
          <ac:chgData name="Anshu Kumari" userId="aa6bca9a-2c67-4b5a-bd21-15b8a1fc845c" providerId="ADAL" clId="{ED3BD75F-53FB-4107-AEE4-7DB429E66FB5}" dt="2026-05-15T11:30:21.103" v="3169" actId="113"/>
          <ac:spMkLst>
            <pc:docMk/>
            <pc:sldMk cId="3653553968" sldId="2147474055"/>
            <ac:spMk id="2" creationId="{C35BDB0B-A43A-3894-7872-A7BBA7439352}"/>
          </ac:spMkLst>
        </pc:spChg>
        <pc:graphicFrameChg chg="add mod modGraphic">
          <ac:chgData name="Anshu Kumari" userId="aa6bca9a-2c67-4b5a-bd21-15b8a1fc845c" providerId="ADAL" clId="{ED3BD75F-53FB-4107-AEE4-7DB429E66FB5}" dt="2026-05-18T05:23:54.500" v="5564" actId="20577"/>
          <ac:graphicFrameMkLst>
            <pc:docMk/>
            <pc:sldMk cId="3653553968" sldId="2147474055"/>
            <ac:graphicFrameMk id="4" creationId="{69968241-8A24-8C2B-567F-D794905C5844}"/>
          </ac:graphicFrameMkLst>
        </pc:graphicFrameChg>
      </pc:sldChg>
      <pc:sldChg chg="addSp delSp modSp new mod ord">
        <pc:chgData name="Anshu Kumari" userId="aa6bca9a-2c67-4b5a-bd21-15b8a1fc845c" providerId="ADAL" clId="{ED3BD75F-53FB-4107-AEE4-7DB429E66FB5}" dt="2026-05-15T13:02:50.845" v="5327"/>
        <pc:sldMkLst>
          <pc:docMk/>
          <pc:sldMk cId="4028921502" sldId="2147474056"/>
        </pc:sldMkLst>
        <pc:spChg chg="mod">
          <ac:chgData name="Anshu Kumari" userId="aa6bca9a-2c67-4b5a-bd21-15b8a1fc845c" providerId="ADAL" clId="{ED3BD75F-53FB-4107-AEE4-7DB429E66FB5}" dt="2026-05-15T11:18:57.022" v="1598"/>
          <ac:spMkLst>
            <pc:docMk/>
            <pc:sldMk cId="4028921502" sldId="2147474056"/>
            <ac:spMk id="2" creationId="{F67F349C-6CDC-AF91-54CC-49E9EEFC454E}"/>
          </ac:spMkLst>
        </pc:spChg>
        <pc:graphicFrameChg chg="add mod modGraphic">
          <ac:chgData name="Anshu Kumari" userId="aa6bca9a-2c67-4b5a-bd21-15b8a1fc845c" providerId="ADAL" clId="{ED3BD75F-53FB-4107-AEE4-7DB429E66FB5}" dt="2026-05-15T11:28:26.553" v="3160" actId="113"/>
          <ac:graphicFrameMkLst>
            <pc:docMk/>
            <pc:sldMk cId="4028921502" sldId="2147474056"/>
            <ac:graphicFrameMk id="4" creationId="{87CFAA40-8DBE-C589-B4B1-62967F424BEF}"/>
          </ac:graphicFrameMkLst>
        </pc:graphicFrameChg>
      </pc:sldChg>
      <pc:sldChg chg="addSp delSp modSp new mod ord">
        <pc:chgData name="Anshu Kumari" userId="aa6bca9a-2c67-4b5a-bd21-15b8a1fc845c" providerId="ADAL" clId="{ED3BD75F-53FB-4107-AEE4-7DB429E66FB5}" dt="2026-05-15T13:02:55.561" v="5329"/>
        <pc:sldMkLst>
          <pc:docMk/>
          <pc:sldMk cId="2822910210" sldId="2147474057"/>
        </pc:sldMkLst>
        <pc:spChg chg="mod">
          <ac:chgData name="Anshu Kumari" userId="aa6bca9a-2c67-4b5a-bd21-15b8a1fc845c" providerId="ADAL" clId="{ED3BD75F-53FB-4107-AEE4-7DB429E66FB5}" dt="2026-05-15T11:16:45.329" v="1579" actId="27636"/>
          <ac:spMkLst>
            <pc:docMk/>
            <pc:sldMk cId="2822910210" sldId="2147474057"/>
            <ac:spMk id="2" creationId="{55A89234-F2CB-B6F2-C7EA-297DB3CF3E96}"/>
          </ac:spMkLst>
        </pc:spChg>
        <pc:graphicFrameChg chg="add mod modGraphic">
          <ac:chgData name="Anshu Kumari" userId="aa6bca9a-2c67-4b5a-bd21-15b8a1fc845c" providerId="ADAL" clId="{ED3BD75F-53FB-4107-AEE4-7DB429E66FB5}" dt="2026-05-15T11:28:20.484" v="3159" actId="113"/>
          <ac:graphicFrameMkLst>
            <pc:docMk/>
            <pc:sldMk cId="2822910210" sldId="2147474057"/>
            <ac:graphicFrameMk id="4" creationId="{1168D60B-5299-0EF2-F2BC-A3B6A4FF660C}"/>
          </ac:graphicFrameMkLst>
        </pc:graphicFrameChg>
      </pc:sldChg>
      <pc:sldChg chg="addSp delSp modSp new mod">
        <pc:chgData name="Anshu Kumari" userId="aa6bca9a-2c67-4b5a-bd21-15b8a1fc845c" providerId="ADAL" clId="{ED3BD75F-53FB-4107-AEE4-7DB429E66FB5}" dt="2026-05-15T12:41:38.875" v="5241" actId="20577"/>
        <pc:sldMkLst>
          <pc:docMk/>
          <pc:sldMk cId="2843820549" sldId="2147474058"/>
        </pc:sldMkLst>
        <pc:spChg chg="mod">
          <ac:chgData name="Anshu Kumari" userId="aa6bca9a-2c67-4b5a-bd21-15b8a1fc845c" providerId="ADAL" clId="{ED3BD75F-53FB-4107-AEE4-7DB429E66FB5}" dt="2026-05-15T11:45:44.100" v="3550" actId="113"/>
          <ac:spMkLst>
            <pc:docMk/>
            <pc:sldMk cId="2843820549" sldId="2147474058"/>
            <ac:spMk id="2" creationId="{C69EBE3B-62DC-1AA2-88E4-B92C5C18F0A9}"/>
          </ac:spMkLst>
        </pc:spChg>
        <pc:spChg chg="add mod">
          <ac:chgData name="Anshu Kumari" userId="aa6bca9a-2c67-4b5a-bd21-15b8a1fc845c" providerId="ADAL" clId="{ED3BD75F-53FB-4107-AEE4-7DB429E66FB5}" dt="2026-05-15T11:59:26.390" v="3804" actId="20577"/>
          <ac:spMkLst>
            <pc:docMk/>
            <pc:sldMk cId="2843820549" sldId="2147474058"/>
            <ac:spMk id="5" creationId="{99A4FF7D-EB0D-3CDD-5F22-FE128F2B2BB3}"/>
          </ac:spMkLst>
        </pc:spChg>
        <pc:spChg chg="add mod">
          <ac:chgData name="Anshu Kumari" userId="aa6bca9a-2c67-4b5a-bd21-15b8a1fc845c" providerId="ADAL" clId="{ED3BD75F-53FB-4107-AEE4-7DB429E66FB5}" dt="2026-05-15T12:40:40.062" v="5238" actId="113"/>
          <ac:spMkLst>
            <pc:docMk/>
            <pc:sldMk cId="2843820549" sldId="2147474058"/>
            <ac:spMk id="7" creationId="{BAF82F5D-889E-766F-B7B7-CAB0C59048E3}"/>
          </ac:spMkLst>
        </pc:spChg>
        <pc:graphicFrameChg chg="add mod modGraphic">
          <ac:chgData name="Anshu Kumari" userId="aa6bca9a-2c67-4b5a-bd21-15b8a1fc845c" providerId="ADAL" clId="{ED3BD75F-53FB-4107-AEE4-7DB429E66FB5}" dt="2026-05-15T12:41:38.875" v="5241" actId="20577"/>
          <ac:graphicFrameMkLst>
            <pc:docMk/>
            <pc:sldMk cId="2843820549" sldId="2147474058"/>
            <ac:graphicFrameMk id="9" creationId="{5E8326AD-E119-EB06-4C3D-B6A0B0BB76E4}"/>
          </ac:graphicFrameMkLst>
        </pc:graphicFrameChg>
      </pc:sldChg>
      <pc:sldChg chg="addSp delSp modSp add mod">
        <pc:chgData name="Anshu Kumari" userId="aa6bca9a-2c67-4b5a-bd21-15b8a1fc845c" providerId="ADAL" clId="{ED3BD75F-53FB-4107-AEE4-7DB429E66FB5}" dt="2026-05-15T12:41:34.718" v="5240" actId="20577"/>
        <pc:sldMkLst>
          <pc:docMk/>
          <pc:sldMk cId="2694599626" sldId="2147474059"/>
        </pc:sldMkLst>
        <pc:spChg chg="mod">
          <ac:chgData name="Anshu Kumari" userId="aa6bca9a-2c67-4b5a-bd21-15b8a1fc845c" providerId="ADAL" clId="{ED3BD75F-53FB-4107-AEE4-7DB429E66FB5}" dt="2026-05-15T12:23:56.028" v="4886" actId="2711"/>
          <ac:spMkLst>
            <pc:docMk/>
            <pc:sldMk cId="2694599626" sldId="2147474059"/>
            <ac:spMk id="5" creationId="{3B21CCB5-CE83-A1A2-6857-294865EFF679}"/>
          </ac:spMkLst>
        </pc:spChg>
        <pc:spChg chg="add mod">
          <ac:chgData name="Anshu Kumari" userId="aa6bca9a-2c67-4b5a-bd21-15b8a1fc845c" providerId="ADAL" clId="{ED3BD75F-53FB-4107-AEE4-7DB429E66FB5}" dt="2026-05-15T12:23:50.862" v="4885" actId="2711"/>
          <ac:spMkLst>
            <pc:docMk/>
            <pc:sldMk cId="2694599626" sldId="2147474059"/>
            <ac:spMk id="6" creationId="{2C17F1D5-4709-F720-B7FB-C0392252A2B9}"/>
          </ac:spMkLst>
        </pc:spChg>
        <pc:spChg chg="mod">
          <ac:chgData name="Anshu Kumari" userId="aa6bca9a-2c67-4b5a-bd21-15b8a1fc845c" providerId="ADAL" clId="{ED3BD75F-53FB-4107-AEE4-7DB429E66FB5}" dt="2026-05-15T12:06:28.158" v="4585" actId="20577"/>
          <ac:spMkLst>
            <pc:docMk/>
            <pc:sldMk cId="2694599626" sldId="2147474059"/>
            <ac:spMk id="7" creationId="{8BA1826F-2870-3BDA-881F-FFC71D4D6F51}"/>
          </ac:spMkLst>
        </pc:spChg>
        <pc:spChg chg="add mod">
          <ac:chgData name="Anshu Kumari" userId="aa6bca9a-2c67-4b5a-bd21-15b8a1fc845c" providerId="ADAL" clId="{ED3BD75F-53FB-4107-AEE4-7DB429E66FB5}" dt="2026-05-15T12:27:29.335" v="5043" actId="20577"/>
          <ac:spMkLst>
            <pc:docMk/>
            <pc:sldMk cId="2694599626" sldId="2147474059"/>
            <ac:spMk id="10" creationId="{ACE7756F-145C-AA14-287B-7240307AE0C5}"/>
          </ac:spMkLst>
        </pc:spChg>
        <pc:graphicFrameChg chg="mod modGraphic">
          <ac:chgData name="Anshu Kumari" userId="aa6bca9a-2c67-4b5a-bd21-15b8a1fc845c" providerId="ADAL" clId="{ED3BD75F-53FB-4107-AEE4-7DB429E66FB5}" dt="2026-05-15T12:41:34.718" v="5240" actId="20577"/>
          <ac:graphicFrameMkLst>
            <pc:docMk/>
            <pc:sldMk cId="2694599626" sldId="2147474059"/>
            <ac:graphicFrameMk id="9" creationId="{99DAD66F-DE1B-F24D-2799-A09E1B42AE4B}"/>
          </ac:graphicFrameMkLst>
        </pc:graphicFrameChg>
      </pc:sldChg>
      <pc:sldChg chg="addSp delSp modSp new mod">
        <pc:chgData name="Anshu Kumari" userId="aa6bca9a-2c67-4b5a-bd21-15b8a1fc845c" providerId="ADAL" clId="{ED3BD75F-53FB-4107-AEE4-7DB429E66FB5}" dt="2026-05-15T12:41:45.019" v="5242" actId="20577"/>
        <pc:sldMkLst>
          <pc:docMk/>
          <pc:sldMk cId="3886815878" sldId="2147474060"/>
        </pc:sldMkLst>
        <pc:spChg chg="mod">
          <ac:chgData name="Anshu Kumari" userId="aa6bca9a-2c67-4b5a-bd21-15b8a1fc845c" providerId="ADAL" clId="{ED3BD75F-53FB-4107-AEE4-7DB429E66FB5}" dt="2026-05-15T12:07:34.259" v="4610" actId="27636"/>
          <ac:spMkLst>
            <pc:docMk/>
            <pc:sldMk cId="3886815878" sldId="2147474060"/>
            <ac:spMk id="2" creationId="{3D0B54A7-1440-426F-3D0B-5908D1AB5686}"/>
          </ac:spMkLst>
        </pc:spChg>
        <pc:spChg chg="add mod">
          <ac:chgData name="Anshu Kumari" userId="aa6bca9a-2c67-4b5a-bd21-15b8a1fc845c" providerId="ADAL" clId="{ED3BD75F-53FB-4107-AEE4-7DB429E66FB5}" dt="2026-05-15T12:39:28" v="5237" actId="1076"/>
          <ac:spMkLst>
            <pc:docMk/>
            <pc:sldMk cId="3886815878" sldId="2147474060"/>
            <ac:spMk id="7" creationId="{6D93AAF6-B8FD-A951-83FA-C3944DDF661B}"/>
          </ac:spMkLst>
        </pc:spChg>
        <pc:spChg chg="add mod">
          <ac:chgData name="Anshu Kumari" userId="aa6bca9a-2c67-4b5a-bd21-15b8a1fc845c" providerId="ADAL" clId="{ED3BD75F-53FB-4107-AEE4-7DB429E66FB5}" dt="2026-05-15T12:27:19.393" v="5040" actId="20577"/>
          <ac:spMkLst>
            <pc:docMk/>
            <pc:sldMk cId="3886815878" sldId="2147474060"/>
            <ac:spMk id="9" creationId="{46FD9AF2-1BE0-184E-6AD5-0E2C7BFF60F0}"/>
          </ac:spMkLst>
        </pc:spChg>
        <pc:graphicFrameChg chg="add mod modGraphic">
          <ac:chgData name="Anshu Kumari" userId="aa6bca9a-2c67-4b5a-bd21-15b8a1fc845c" providerId="ADAL" clId="{ED3BD75F-53FB-4107-AEE4-7DB429E66FB5}" dt="2026-05-15T12:41:29.766" v="5239" actId="20577"/>
          <ac:graphicFrameMkLst>
            <pc:docMk/>
            <pc:sldMk cId="3886815878" sldId="2147474060"/>
            <ac:graphicFrameMk id="5" creationId="{9895ED60-49FA-B8EB-322F-82132487E698}"/>
          </ac:graphicFrameMkLst>
        </pc:graphicFrameChg>
        <pc:graphicFrameChg chg="add mod modGraphic">
          <ac:chgData name="Anshu Kumari" userId="aa6bca9a-2c67-4b5a-bd21-15b8a1fc845c" providerId="ADAL" clId="{ED3BD75F-53FB-4107-AEE4-7DB429E66FB5}" dt="2026-05-15T12:41:45.019" v="5242" actId="20577"/>
          <ac:graphicFrameMkLst>
            <pc:docMk/>
            <pc:sldMk cId="3886815878" sldId="2147474060"/>
            <ac:graphicFrameMk id="10" creationId="{1EC8E89A-BABD-E062-30E4-1C6BD33A53E7}"/>
          </ac:graphicFrameMkLst>
        </pc:graphicFrameChg>
      </pc:sldChg>
      <pc:sldChg chg="addSp delSp modSp add mod">
        <pc:chgData name="Anshu Kumari" userId="aa6bca9a-2c67-4b5a-bd21-15b8a1fc845c" providerId="ADAL" clId="{ED3BD75F-53FB-4107-AEE4-7DB429E66FB5}" dt="2026-05-15T12:43:26.795" v="5243" actId="20577"/>
        <pc:sldMkLst>
          <pc:docMk/>
          <pc:sldMk cId="1904345231" sldId="2147474061"/>
        </pc:sldMkLst>
        <pc:spChg chg="add mod">
          <ac:chgData name="Anshu Kumari" userId="aa6bca9a-2c67-4b5a-bd21-15b8a1fc845c" providerId="ADAL" clId="{ED3BD75F-53FB-4107-AEE4-7DB429E66FB5}" dt="2026-05-15T12:27:04.904" v="5036" actId="20577"/>
          <ac:spMkLst>
            <pc:docMk/>
            <pc:sldMk cId="1904345231" sldId="2147474061"/>
            <ac:spMk id="4" creationId="{863D2870-56D9-8E78-5885-92697DC882F3}"/>
          </ac:spMkLst>
        </pc:spChg>
        <pc:spChg chg="mod">
          <ac:chgData name="Anshu Kumari" userId="aa6bca9a-2c67-4b5a-bd21-15b8a1fc845c" providerId="ADAL" clId="{ED3BD75F-53FB-4107-AEE4-7DB429E66FB5}" dt="2026-05-15T12:38:57.011" v="5232" actId="20577"/>
          <ac:spMkLst>
            <pc:docMk/>
            <pc:sldMk cId="1904345231" sldId="2147474061"/>
            <ac:spMk id="7" creationId="{D2CDEC3F-6611-4649-31C1-16935B2B3D69}"/>
          </ac:spMkLst>
        </pc:spChg>
        <pc:spChg chg="add mod">
          <ac:chgData name="Anshu Kumari" userId="aa6bca9a-2c67-4b5a-bd21-15b8a1fc845c" providerId="ADAL" clId="{ED3BD75F-53FB-4107-AEE4-7DB429E66FB5}" dt="2026-05-15T12:38:44.679" v="5231" actId="1076"/>
          <ac:spMkLst>
            <pc:docMk/>
            <pc:sldMk cId="1904345231" sldId="2147474061"/>
            <ac:spMk id="8" creationId="{8FBF5A20-9953-43FC-D5B6-FE40FF5135C6}"/>
          </ac:spMkLst>
        </pc:spChg>
        <pc:spChg chg="add mod">
          <ac:chgData name="Anshu Kumari" userId="aa6bca9a-2c67-4b5a-bd21-15b8a1fc845c" providerId="ADAL" clId="{ED3BD75F-53FB-4107-AEE4-7DB429E66FB5}" dt="2026-05-15T12:38:23.271" v="5227" actId="1076"/>
          <ac:spMkLst>
            <pc:docMk/>
            <pc:sldMk cId="1904345231" sldId="2147474061"/>
            <ac:spMk id="13" creationId="{FD539CC7-E1AD-0E65-2296-6953F9743976}"/>
          </ac:spMkLst>
        </pc:spChg>
        <pc:graphicFrameChg chg="mod modGraphic">
          <ac:chgData name="Anshu Kumari" userId="aa6bca9a-2c67-4b5a-bd21-15b8a1fc845c" providerId="ADAL" clId="{ED3BD75F-53FB-4107-AEE4-7DB429E66FB5}" dt="2026-05-15T12:43:26.795" v="5243" actId="20577"/>
          <ac:graphicFrameMkLst>
            <pc:docMk/>
            <pc:sldMk cId="1904345231" sldId="2147474061"/>
            <ac:graphicFrameMk id="10" creationId="{67DED0E4-19E9-684C-9734-C4B622E54AC3}"/>
          </ac:graphicFrameMkLst>
        </pc:graphicFrameChg>
      </pc:sldChg>
      <pc:sldChg chg="addSp delSp modSp add mod">
        <pc:chgData name="Anshu Kumari" userId="aa6bca9a-2c67-4b5a-bd21-15b8a1fc845c" providerId="ADAL" clId="{ED3BD75F-53FB-4107-AEE4-7DB429E66FB5}" dt="2026-05-15T12:37:55.246" v="5226" actId="20577"/>
        <pc:sldMkLst>
          <pc:docMk/>
          <pc:sldMk cId="857039771" sldId="2147474062"/>
        </pc:sldMkLst>
        <pc:spChg chg="mod">
          <ac:chgData name="Anshu Kumari" userId="aa6bca9a-2c67-4b5a-bd21-15b8a1fc845c" providerId="ADAL" clId="{ED3BD75F-53FB-4107-AEE4-7DB429E66FB5}" dt="2026-05-15T12:37:50.656" v="5225" actId="2711"/>
          <ac:spMkLst>
            <pc:docMk/>
            <pc:sldMk cId="857039771" sldId="2147474062"/>
            <ac:spMk id="5" creationId="{D7F9CCA1-E3EB-EC68-DD90-6E210AC9E6EF}"/>
          </ac:spMkLst>
        </pc:spChg>
        <pc:spChg chg="mod">
          <ac:chgData name="Anshu Kumari" userId="aa6bca9a-2c67-4b5a-bd21-15b8a1fc845c" providerId="ADAL" clId="{ED3BD75F-53FB-4107-AEE4-7DB429E66FB5}" dt="2026-05-15T12:37:55.246" v="5226" actId="20577"/>
          <ac:spMkLst>
            <pc:docMk/>
            <pc:sldMk cId="857039771" sldId="2147474062"/>
            <ac:spMk id="6" creationId="{5E12B943-B1D8-4E07-46A1-EF49E2DE6F18}"/>
          </ac:spMkLst>
        </pc:spChg>
        <pc:spChg chg="mod">
          <ac:chgData name="Anshu Kumari" userId="aa6bca9a-2c67-4b5a-bd21-15b8a1fc845c" providerId="ADAL" clId="{ED3BD75F-53FB-4107-AEE4-7DB429E66FB5}" dt="2026-05-15T12:37:24.326" v="5221" actId="20577"/>
          <ac:spMkLst>
            <pc:docMk/>
            <pc:sldMk cId="857039771" sldId="2147474062"/>
            <ac:spMk id="7" creationId="{366A6DC7-6AB8-0A0E-27A5-4ED6FE545B05}"/>
          </ac:spMkLst>
        </pc:spChg>
        <pc:spChg chg="add mod">
          <ac:chgData name="Anshu Kumari" userId="aa6bca9a-2c67-4b5a-bd21-15b8a1fc845c" providerId="ADAL" clId="{ED3BD75F-53FB-4107-AEE4-7DB429E66FB5}" dt="2026-05-15T12:36:45.115" v="5204" actId="1076"/>
          <ac:spMkLst>
            <pc:docMk/>
            <pc:sldMk cId="857039771" sldId="2147474062"/>
            <ac:spMk id="11" creationId="{5313B67C-A4A0-FC7C-1D5D-F346B88D1825}"/>
          </ac:spMkLst>
        </pc:spChg>
        <pc:graphicFrameChg chg="add mod modGraphic">
          <ac:chgData name="Anshu Kumari" userId="aa6bca9a-2c67-4b5a-bd21-15b8a1fc845c" providerId="ADAL" clId="{ED3BD75F-53FB-4107-AEE4-7DB429E66FB5}" dt="2026-05-15T12:37:34.618" v="5223" actId="1076"/>
          <ac:graphicFrameMkLst>
            <pc:docMk/>
            <pc:sldMk cId="857039771" sldId="2147474062"/>
            <ac:graphicFrameMk id="3" creationId="{6A849358-0E46-C6D9-B404-2BA227A3CF87}"/>
          </ac:graphicFrameMkLst>
        </pc:graphicFrameChg>
      </pc:sldChg>
      <pc:sldChg chg="modSp add mod">
        <pc:chgData name="Anshu Kumari" userId="aa6bca9a-2c67-4b5a-bd21-15b8a1fc845c" providerId="ADAL" clId="{ED3BD75F-53FB-4107-AEE4-7DB429E66FB5}" dt="2026-05-15T12:59:10.199" v="5290" actId="120"/>
        <pc:sldMkLst>
          <pc:docMk/>
          <pc:sldMk cId="217431701" sldId="2147474063"/>
        </pc:sldMkLst>
        <pc:spChg chg="mod">
          <ac:chgData name="Anshu Kumari" userId="aa6bca9a-2c67-4b5a-bd21-15b8a1fc845c" providerId="ADAL" clId="{ED3BD75F-53FB-4107-AEE4-7DB429E66FB5}" dt="2026-05-15T12:59:10.199" v="5290" actId="120"/>
          <ac:spMkLst>
            <pc:docMk/>
            <pc:sldMk cId="217431701" sldId="2147474063"/>
            <ac:spMk id="4" creationId="{CE4D4F70-1C85-12A1-A07F-35A710A309AE}"/>
          </ac:spMkLst>
        </pc:spChg>
        <pc:graphicFrameChg chg="modGraphic">
          <ac:chgData name="Anshu Kumari" userId="aa6bca9a-2c67-4b5a-bd21-15b8a1fc845c" providerId="ADAL" clId="{ED3BD75F-53FB-4107-AEE4-7DB429E66FB5}" dt="2026-05-15T12:51:36.769" v="5256" actId="20577"/>
          <ac:graphicFrameMkLst>
            <pc:docMk/>
            <pc:sldMk cId="217431701" sldId="2147474063"/>
            <ac:graphicFrameMk id="8" creationId="{F708FC5A-8D32-B9C8-8B29-66283CF0DBBE}"/>
          </ac:graphicFrameMkLst>
        </pc:graphicFrameChg>
      </pc:sldChg>
      <pc:sldChg chg="modSp add mod">
        <pc:chgData name="Anshu Kumari" userId="aa6bca9a-2c67-4b5a-bd21-15b8a1fc845c" providerId="ADAL" clId="{ED3BD75F-53FB-4107-AEE4-7DB429E66FB5}" dt="2026-05-15T13:01:49.579" v="5321" actId="1076"/>
        <pc:sldMkLst>
          <pc:docMk/>
          <pc:sldMk cId="3816657436" sldId="2147474064"/>
        </pc:sldMkLst>
        <pc:spChg chg="mod">
          <ac:chgData name="Anshu Kumari" userId="aa6bca9a-2c67-4b5a-bd21-15b8a1fc845c" providerId="ADAL" clId="{ED3BD75F-53FB-4107-AEE4-7DB429E66FB5}" dt="2026-05-15T12:58:10.099" v="5287" actId="120"/>
          <ac:spMkLst>
            <pc:docMk/>
            <pc:sldMk cId="3816657436" sldId="2147474064"/>
            <ac:spMk id="4" creationId="{1F97102F-5EBB-7391-7FFF-9DDB049B9658}"/>
          </ac:spMkLst>
        </pc:spChg>
        <pc:graphicFrameChg chg="mod modGraphic">
          <ac:chgData name="Anshu Kumari" userId="aa6bca9a-2c67-4b5a-bd21-15b8a1fc845c" providerId="ADAL" clId="{ED3BD75F-53FB-4107-AEE4-7DB429E66FB5}" dt="2026-05-15T13:01:39.089" v="5320"/>
          <ac:graphicFrameMkLst>
            <pc:docMk/>
            <pc:sldMk cId="3816657436" sldId="2147474064"/>
            <ac:graphicFrameMk id="2" creationId="{D0B5D6DA-46CE-35EB-B9F2-B2C576A56566}"/>
          </ac:graphicFrameMkLst>
        </pc:graphicFrameChg>
        <pc:graphicFrameChg chg="mod">
          <ac:chgData name="Anshu Kumari" userId="aa6bca9a-2c67-4b5a-bd21-15b8a1fc845c" providerId="ADAL" clId="{ED3BD75F-53FB-4107-AEE4-7DB429E66FB5}" dt="2026-05-15T13:01:49.579" v="5321" actId="1076"/>
          <ac:graphicFrameMkLst>
            <pc:docMk/>
            <pc:sldMk cId="3816657436" sldId="2147474064"/>
            <ac:graphicFrameMk id="3" creationId="{02E154A6-0FD9-CE55-D9CB-A08EB54CBE77}"/>
          </ac:graphicFrameMkLst>
        </pc:graphicFrameChg>
        <pc:graphicFrameChg chg="modGraphic">
          <ac:chgData name="Anshu Kumari" userId="aa6bca9a-2c67-4b5a-bd21-15b8a1fc845c" providerId="ADAL" clId="{ED3BD75F-53FB-4107-AEE4-7DB429E66FB5}" dt="2026-05-15T12:55:03.526" v="5272" actId="20577"/>
          <ac:graphicFrameMkLst>
            <pc:docMk/>
            <pc:sldMk cId="3816657436" sldId="2147474064"/>
            <ac:graphicFrameMk id="5" creationId="{BA3BFAE6-563D-1E75-210A-0BAD32A48A34}"/>
          </ac:graphicFrameMkLst>
        </pc:graphicFrameChg>
      </pc:sldChg>
      <pc:sldChg chg="modSp add mod">
        <pc:chgData name="Anshu Kumari" userId="aa6bca9a-2c67-4b5a-bd21-15b8a1fc845c" providerId="ADAL" clId="{ED3BD75F-53FB-4107-AEE4-7DB429E66FB5}" dt="2026-05-15T12:57:58.401" v="5286" actId="120"/>
        <pc:sldMkLst>
          <pc:docMk/>
          <pc:sldMk cId="1226881996" sldId="2147474065"/>
        </pc:sldMkLst>
        <pc:spChg chg="mod">
          <ac:chgData name="Anshu Kumari" userId="aa6bca9a-2c67-4b5a-bd21-15b8a1fc845c" providerId="ADAL" clId="{ED3BD75F-53FB-4107-AEE4-7DB429E66FB5}" dt="2026-05-15T12:57:58.401" v="5286" actId="120"/>
          <ac:spMkLst>
            <pc:docMk/>
            <pc:sldMk cId="1226881996" sldId="2147474065"/>
            <ac:spMk id="6" creationId="{6248A183-8D99-93C9-8909-EE05BCFBEB7B}"/>
          </ac:spMkLst>
        </pc:spChg>
      </pc:sldChg>
      <pc:sldChg chg="addSp delSp modSp add del mod">
        <pc:chgData name="Anshu Kumari" userId="aa6bca9a-2c67-4b5a-bd21-15b8a1fc845c" providerId="ADAL" clId="{ED3BD75F-53FB-4107-AEE4-7DB429E66FB5}" dt="2026-05-18T05:47:58.485" v="5565" actId="2696"/>
        <pc:sldMkLst>
          <pc:docMk/>
          <pc:sldMk cId="192537904" sldId="2147474066"/>
        </pc:sldMkLst>
        <pc:spChg chg="add mod">
          <ac:chgData name="Anshu Kumari" userId="aa6bca9a-2c67-4b5a-bd21-15b8a1fc845c" providerId="ADAL" clId="{ED3BD75F-53FB-4107-AEE4-7DB429E66FB5}" dt="2026-05-18T05:18:03.801" v="5563" actId="2711"/>
          <ac:spMkLst>
            <pc:docMk/>
            <pc:sldMk cId="192537904" sldId="2147474066"/>
            <ac:spMk id="3" creationId="{104AA2FA-90EA-15F3-4B85-01E3EE712A41}"/>
          </ac:spMkLst>
        </pc:spChg>
        <pc:graphicFrameChg chg="del">
          <ac:chgData name="Anshu Kumari" userId="aa6bca9a-2c67-4b5a-bd21-15b8a1fc845c" providerId="ADAL" clId="{ED3BD75F-53FB-4107-AEE4-7DB429E66FB5}" dt="2026-05-18T05:16:08.643" v="5373" actId="21"/>
          <ac:graphicFrameMkLst>
            <pc:docMk/>
            <pc:sldMk cId="192537904" sldId="2147474066"/>
            <ac:graphicFrameMk id="4" creationId="{BAB8321C-C996-28FD-0AE3-6177BF918416}"/>
          </ac:graphicFrameMkLst>
        </pc:graphicFrameChg>
      </pc:sldChg>
    </pc:docChg>
  </pc:docChgLst>
  <pc:docChgLst>
    <pc:chgData name="Kunal Panda" userId="72b1af07-877f-4e91-a04c-3848f0bf264c" providerId="ADAL" clId="{B44D2C89-3E05-406A-9081-363B4A50EDA1}"/>
    <pc:docChg chg="undo custSel addSld modSld sldOrd">
      <pc:chgData name="Kunal Panda" userId="72b1af07-877f-4e91-a04c-3848f0bf264c" providerId="ADAL" clId="{B44D2C89-3E05-406A-9081-363B4A50EDA1}" dt="2026-05-09T05:19:59.534" v="256" actId="14100"/>
      <pc:docMkLst>
        <pc:docMk/>
      </pc:docMkLst>
      <pc:sldChg chg="modSp mod">
        <pc:chgData name="Kunal Panda" userId="72b1af07-877f-4e91-a04c-3848f0bf264c" providerId="ADAL" clId="{B44D2C89-3E05-406A-9081-363B4A50EDA1}" dt="2026-05-08T14:43:56.609" v="116" actId="255"/>
        <pc:sldMkLst>
          <pc:docMk/>
          <pc:sldMk cId="2093910250" sldId="2147473914"/>
        </pc:sldMkLst>
        <pc:spChg chg="mod">
          <ac:chgData name="Kunal Panda" userId="72b1af07-877f-4e91-a04c-3848f0bf264c" providerId="ADAL" clId="{B44D2C89-3E05-406A-9081-363B4A50EDA1}" dt="2026-05-08T14:42:39.497" v="53" actId="1076"/>
          <ac:spMkLst>
            <pc:docMk/>
            <pc:sldMk cId="2093910250" sldId="2147473914"/>
            <ac:spMk id="5" creationId="{464D2CD3-3F34-FCD1-2B36-2E6BE5150D34}"/>
          </ac:spMkLst>
        </pc:spChg>
        <pc:spChg chg="mod">
          <ac:chgData name="Kunal Panda" userId="72b1af07-877f-4e91-a04c-3848f0bf264c" providerId="ADAL" clId="{B44D2C89-3E05-406A-9081-363B4A50EDA1}" dt="2026-05-08T14:42:45.099" v="55" actId="1076"/>
          <ac:spMkLst>
            <pc:docMk/>
            <pc:sldMk cId="2093910250" sldId="2147473914"/>
            <ac:spMk id="7" creationId="{D15CB8C9-6DF6-E28F-486E-B964F53DC239}"/>
          </ac:spMkLst>
        </pc:spChg>
        <pc:graphicFrameChg chg="mod modGraphic">
          <ac:chgData name="Kunal Panda" userId="72b1af07-877f-4e91-a04c-3848f0bf264c" providerId="ADAL" clId="{B44D2C89-3E05-406A-9081-363B4A50EDA1}" dt="2026-05-08T14:43:56.609" v="116" actId="255"/>
          <ac:graphicFrameMkLst>
            <pc:docMk/>
            <pc:sldMk cId="2093910250" sldId="2147473914"/>
            <ac:graphicFrameMk id="4" creationId="{FDAE9790-1B8C-34F3-2841-16248A7E3CE1}"/>
          </ac:graphicFrameMkLst>
        </pc:graphicFrameChg>
      </pc:sldChg>
      <pc:sldChg chg="modSp mod">
        <pc:chgData name="Kunal Panda" userId="72b1af07-877f-4e91-a04c-3848f0bf264c" providerId="ADAL" clId="{B44D2C89-3E05-406A-9081-363B4A50EDA1}" dt="2026-05-09T05:18:32.179" v="159" actId="20577"/>
        <pc:sldMkLst>
          <pc:docMk/>
          <pc:sldMk cId="2916992756" sldId="2147473915"/>
        </pc:sldMkLst>
        <pc:graphicFrameChg chg="modGraphic">
          <ac:chgData name="Kunal Panda" userId="72b1af07-877f-4e91-a04c-3848f0bf264c" providerId="ADAL" clId="{B44D2C89-3E05-406A-9081-363B4A50EDA1}" dt="2026-05-09T05:18:32.179" v="159" actId="20577"/>
          <ac:graphicFrameMkLst>
            <pc:docMk/>
            <pc:sldMk cId="2916992756" sldId="2147473915"/>
            <ac:graphicFrameMk id="4" creationId="{44C32755-CE1C-3E0C-354B-BE4E61AB25E6}"/>
          </ac:graphicFrameMkLst>
        </pc:graphicFrameChg>
      </pc:sldChg>
      <pc:sldChg chg="modSp mod">
        <pc:chgData name="Kunal Panda" userId="72b1af07-877f-4e91-a04c-3848f0bf264c" providerId="ADAL" clId="{B44D2C89-3E05-406A-9081-363B4A50EDA1}" dt="2026-05-09T05:18:59.974" v="163" actId="255"/>
        <pc:sldMkLst>
          <pc:docMk/>
          <pc:sldMk cId="818147499" sldId="2147473916"/>
        </pc:sldMkLst>
        <pc:spChg chg="mod">
          <ac:chgData name="Kunal Panda" userId="72b1af07-877f-4e91-a04c-3848f0bf264c" providerId="ADAL" clId="{B44D2C89-3E05-406A-9081-363B4A50EDA1}" dt="2026-05-09T05:18:59.974" v="163" actId="255"/>
          <ac:spMkLst>
            <pc:docMk/>
            <pc:sldMk cId="818147499" sldId="2147473916"/>
            <ac:spMk id="6" creationId="{2F28CE92-DB66-2EE9-68B2-0073B7F4F91D}"/>
          </ac:spMkLst>
        </pc:spChg>
      </pc:sldChg>
      <pc:sldChg chg="modSp mod">
        <pc:chgData name="Kunal Panda" userId="72b1af07-877f-4e91-a04c-3848f0bf264c" providerId="ADAL" clId="{B44D2C89-3E05-406A-9081-363B4A50EDA1}" dt="2026-05-08T14:41:01.467" v="34" actId="20577"/>
        <pc:sldMkLst>
          <pc:docMk/>
          <pc:sldMk cId="3729668106" sldId="2147473994"/>
        </pc:sldMkLst>
        <pc:graphicFrameChg chg="modGraphic">
          <ac:chgData name="Kunal Panda" userId="72b1af07-877f-4e91-a04c-3848f0bf264c" providerId="ADAL" clId="{B44D2C89-3E05-406A-9081-363B4A50EDA1}" dt="2026-05-08T14:41:01.467" v="34" actId="20577"/>
          <ac:graphicFrameMkLst>
            <pc:docMk/>
            <pc:sldMk cId="3729668106" sldId="2147473994"/>
            <ac:graphicFrameMk id="6" creationId="{60C74577-C7F7-7837-DD30-31608231B5D0}"/>
          </ac:graphicFrameMkLst>
        </pc:graphicFrameChg>
      </pc:sldChg>
      <pc:sldChg chg="modSp mod">
        <pc:chgData name="Kunal Panda" userId="72b1af07-877f-4e91-a04c-3848f0bf264c" providerId="ADAL" clId="{B44D2C89-3E05-406A-9081-363B4A50EDA1}" dt="2026-05-09T05:07:32.910" v="151" actId="20577"/>
        <pc:sldMkLst>
          <pc:docMk/>
          <pc:sldMk cId="243543998" sldId="2147474015"/>
        </pc:sldMkLst>
        <pc:spChg chg="mod">
          <ac:chgData name="Kunal Panda" userId="72b1af07-877f-4e91-a04c-3848f0bf264c" providerId="ADAL" clId="{B44D2C89-3E05-406A-9081-363B4A50EDA1}" dt="2026-05-09T05:07:32.910" v="151" actId="20577"/>
          <ac:spMkLst>
            <pc:docMk/>
            <pc:sldMk cId="243543998" sldId="2147474015"/>
            <ac:spMk id="6" creationId="{ECF73908-C2ED-5268-F819-7F6AAE943B86}"/>
          </ac:spMkLst>
        </pc:spChg>
      </pc:sldChg>
      <pc:sldChg chg="modSp mod">
        <pc:chgData name="Kunal Panda" userId="72b1af07-877f-4e91-a04c-3848f0bf264c" providerId="ADAL" clId="{B44D2C89-3E05-406A-9081-363B4A50EDA1}" dt="2026-05-09T05:06:00.249" v="148" actId="20577"/>
        <pc:sldMkLst>
          <pc:docMk/>
          <pc:sldMk cId="742126036" sldId="2147474043"/>
        </pc:sldMkLst>
        <pc:spChg chg="mod">
          <ac:chgData name="Kunal Panda" userId="72b1af07-877f-4e91-a04c-3848f0bf264c" providerId="ADAL" clId="{B44D2C89-3E05-406A-9081-363B4A50EDA1}" dt="2026-05-08T14:38:10.187" v="12" actId="20577"/>
          <ac:spMkLst>
            <pc:docMk/>
            <pc:sldMk cId="742126036" sldId="2147474043"/>
            <ac:spMk id="2" creationId="{300049E6-C83C-8761-1AE7-DDE80F681041}"/>
          </ac:spMkLst>
        </pc:spChg>
        <pc:graphicFrameChg chg="modGraphic">
          <ac:chgData name="Kunal Panda" userId="72b1af07-877f-4e91-a04c-3848f0bf264c" providerId="ADAL" clId="{B44D2C89-3E05-406A-9081-363B4A50EDA1}" dt="2026-05-09T05:06:00.249" v="148" actId="20577"/>
          <ac:graphicFrameMkLst>
            <pc:docMk/>
            <pc:sldMk cId="742126036" sldId="2147474043"/>
            <ac:graphicFrameMk id="7" creationId="{82A2AFB5-8644-DB85-FC46-22408AE5622E}"/>
          </ac:graphicFrameMkLst>
        </pc:graphicFrameChg>
      </pc:sldChg>
      <pc:sldChg chg="modSp mod">
        <pc:chgData name="Kunal Panda" userId="72b1af07-877f-4e91-a04c-3848f0bf264c" providerId="ADAL" clId="{B44D2C89-3E05-406A-9081-363B4A50EDA1}" dt="2026-05-08T14:39:40.053" v="27" actId="20577"/>
        <pc:sldMkLst>
          <pc:docMk/>
          <pc:sldMk cId="2433252466" sldId="2147474044"/>
        </pc:sldMkLst>
        <pc:spChg chg="mod">
          <ac:chgData name="Kunal Panda" userId="72b1af07-877f-4e91-a04c-3848f0bf264c" providerId="ADAL" clId="{B44D2C89-3E05-406A-9081-363B4A50EDA1}" dt="2026-05-08T14:39:40.053" v="27" actId="20577"/>
          <ac:spMkLst>
            <pc:docMk/>
            <pc:sldMk cId="2433252466" sldId="2147474044"/>
            <ac:spMk id="10" creationId="{7FDEA39D-0B39-8DB9-D344-E063F25285DB}"/>
          </ac:spMkLst>
        </pc:spChg>
      </pc:sldChg>
      <pc:sldChg chg="add">
        <pc:chgData name="Kunal Panda" userId="72b1af07-877f-4e91-a04c-3848f0bf264c" providerId="ADAL" clId="{B44D2C89-3E05-406A-9081-363B4A50EDA1}" dt="2026-05-09T05:02:26.186" v="117"/>
        <pc:sldMkLst>
          <pc:docMk/>
          <pc:sldMk cId="3207228030" sldId="2147474045"/>
        </pc:sldMkLst>
      </pc:sldChg>
      <pc:sldChg chg="modSp add mod">
        <pc:chgData name="Kunal Panda" userId="72b1af07-877f-4e91-a04c-3848f0bf264c" providerId="ADAL" clId="{B44D2C89-3E05-406A-9081-363B4A50EDA1}" dt="2026-05-09T05:04:28.935" v="145" actId="20577"/>
        <pc:sldMkLst>
          <pc:docMk/>
          <pc:sldMk cId="753942689" sldId="2147474047"/>
        </pc:sldMkLst>
        <pc:graphicFrameChg chg="modGraphic">
          <ac:chgData name="Kunal Panda" userId="72b1af07-877f-4e91-a04c-3848f0bf264c" providerId="ADAL" clId="{B44D2C89-3E05-406A-9081-363B4A50EDA1}" dt="2026-05-09T05:04:28.935" v="145" actId="20577"/>
          <ac:graphicFrameMkLst>
            <pc:docMk/>
            <pc:sldMk cId="753942689" sldId="2147474047"/>
            <ac:graphicFrameMk id="4" creationId="{560C4DED-5BFB-1997-DB69-4D6A36E0B324}"/>
          </ac:graphicFrameMkLst>
        </pc:graphicFrameChg>
      </pc:sldChg>
      <pc:sldChg chg="delSp modSp new mod">
        <pc:chgData name="Kunal Panda" userId="72b1af07-877f-4e91-a04c-3848f0bf264c" providerId="ADAL" clId="{B44D2C89-3E05-406A-9081-363B4A50EDA1}" dt="2026-05-09T05:04:52.442" v="146" actId="1076"/>
        <pc:sldMkLst>
          <pc:docMk/>
          <pc:sldMk cId="3704224567" sldId="2147474048"/>
        </pc:sldMkLst>
        <pc:spChg chg="mod">
          <ac:chgData name="Kunal Panda" userId="72b1af07-877f-4e91-a04c-3848f0bf264c" providerId="ADAL" clId="{B44D2C89-3E05-406A-9081-363B4A50EDA1}" dt="2026-05-09T05:04:52.442" v="146" actId="1076"/>
          <ac:spMkLst>
            <pc:docMk/>
            <pc:sldMk cId="3704224567" sldId="2147474048"/>
            <ac:spMk id="2" creationId="{98682E3E-95C8-2E9D-91AE-9CCAC21D645B}"/>
          </ac:spMkLst>
        </pc:sp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D29DEB9-B8B7-42FC-8278-247B62C322BF}" type="datetimeFigureOut">
              <a:rPr lang="en-IN" smtClean="0"/>
              <a:t>22-05-2026</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2094449-7C81-4316-B447-D85F2EB90D47}" type="slidenum">
              <a:rPr lang="en-IN" smtClean="0"/>
              <a:t>‹#›</a:t>
            </a:fld>
            <a:endParaRPr lang="en-IN"/>
          </a:p>
        </p:txBody>
      </p:sp>
    </p:spTree>
    <p:extLst>
      <p:ext uri="{BB962C8B-B14F-4D97-AF65-F5344CB8AC3E}">
        <p14:creationId xmlns:p14="http://schemas.microsoft.com/office/powerpoint/2010/main" val="344841960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Slide Image Placeholder 1"/>
          <p:cNvSpPr>
            <a:spLocks noGrp="1" noRot="1" noChangeAspect="1" noTextEdit="1"/>
          </p:cNvSpPr>
          <p:nvPr>
            <p:ph type="sldImg"/>
          </p:nvPr>
        </p:nvSpPr>
        <p:spPr bwMode="auto">
          <a:xfrm>
            <a:off x="457200" y="719138"/>
            <a:ext cx="6400800" cy="3600450"/>
          </a:xfrm>
          <a:noFill/>
          <a:ln>
            <a:solidFill>
              <a:srgbClr val="000000"/>
            </a:solidFill>
            <a:miter lim="800000"/>
            <a:headEnd/>
            <a:tailEnd/>
          </a:ln>
        </p:spPr>
        <p:txBody>
          <a:bodyPr/>
          <a:lstStyle/>
          <a:p>
            <a:endParaRPr lang="en-IN"/>
          </a:p>
        </p:txBody>
      </p:sp>
      <p:sp>
        <p:nvSpPr>
          <p:cNvPr id="5123"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endParaRPr lang="en-US" altLang="en-US" dirty="0"/>
          </a:p>
        </p:txBody>
      </p:sp>
      <p:sp>
        <p:nvSpPr>
          <p:cNvPr id="5124" name="Slide Number Placeholder 3"/>
          <p:cNvSpPr>
            <a:spLocks noGrp="1"/>
          </p:cNvSpPr>
          <p:nvPr>
            <p:ph type="sldNum" sz="quarter" idx="5"/>
          </p:nvPr>
        </p:nvSpPr>
        <p:spPr bwMode="auto">
          <a:noFill/>
          <a:ln>
            <a:miter lim="800000"/>
            <a:headEnd/>
            <a:tailEnd/>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69F4C18-A026-45C3-AF75-78228E9091D4}" type="slidenum">
              <a:rPr kumimoji="0" lang="en-US" altLang="en-US" sz="1200" b="0" i="0" u="none" strike="noStrike" kern="1200" cap="none" spc="0" normalizeH="0" baseline="0" noProof="0">
                <a:ln>
                  <a:noFill/>
                </a:ln>
                <a:solidFill>
                  <a:prstClr val="black"/>
                </a:solidFill>
                <a:effectLst/>
                <a:uLnTx/>
                <a:uFillTx/>
                <a:latin typeface="Calibri"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1</a:t>
            </a:fld>
            <a:endParaRPr kumimoji="0" lang="en-US" altLang="en-US" sz="1200" b="0" i="0" u="none" strike="noStrike" kern="1200" cap="none" spc="0" normalizeH="0" baseline="0" noProof="0">
              <a:ln>
                <a:noFill/>
              </a:ln>
              <a:solidFill>
                <a:prstClr val="black"/>
              </a:solidFill>
              <a:effectLst/>
              <a:uLnTx/>
              <a:uFillTx/>
              <a:latin typeface="Calibri" pitchFamily="34" charset="0"/>
              <a:ea typeface="+mn-ea"/>
              <a:cs typeface="Arial" charset="0"/>
            </a:endParaRPr>
          </a:p>
        </p:txBody>
      </p:sp>
    </p:spTree>
    <p:extLst>
      <p:ext uri="{BB962C8B-B14F-4D97-AF65-F5344CB8AC3E}">
        <p14:creationId xmlns:p14="http://schemas.microsoft.com/office/powerpoint/2010/main" val="88746359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B2094449-7C81-4316-B447-D85F2EB90D47}" type="slidenum">
              <a:rPr lang="en-IN" smtClean="0"/>
              <a:t>3</a:t>
            </a:fld>
            <a:endParaRPr lang="en-IN"/>
          </a:p>
        </p:txBody>
      </p:sp>
    </p:spTree>
    <p:extLst>
      <p:ext uri="{BB962C8B-B14F-4D97-AF65-F5344CB8AC3E}">
        <p14:creationId xmlns:p14="http://schemas.microsoft.com/office/powerpoint/2010/main" val="208342315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B2094449-7C81-4316-B447-D85F2EB90D47}" type="slidenum">
              <a:rPr lang="en-IN" smtClean="0"/>
              <a:t>52</a:t>
            </a:fld>
            <a:endParaRPr lang="en-IN"/>
          </a:p>
        </p:txBody>
      </p:sp>
    </p:spTree>
    <p:extLst>
      <p:ext uri="{BB962C8B-B14F-4D97-AF65-F5344CB8AC3E}">
        <p14:creationId xmlns:p14="http://schemas.microsoft.com/office/powerpoint/2010/main" val="408174387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5FC6EF3-A4A5-4F31-8FA2-37BFCF00F593}" type="slidenum">
              <a:rPr lang="en-IN" smtClean="0"/>
              <a:t>53</a:t>
            </a:fld>
            <a:endParaRPr lang="en-IN"/>
          </a:p>
        </p:txBody>
      </p:sp>
    </p:spTree>
    <p:extLst>
      <p:ext uri="{BB962C8B-B14F-4D97-AF65-F5344CB8AC3E}">
        <p14:creationId xmlns:p14="http://schemas.microsoft.com/office/powerpoint/2010/main" val="38741923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3EDC4D-F8E1-F9FB-CDE6-88DE0EC53EB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DF4453D-20B3-C3F2-E8A0-312E4698BFA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7D62AE0-7111-051E-3933-2BFE65C87DD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029BD76-CEA4-254D-0CCA-793BD1864B32}"/>
              </a:ext>
            </a:extLst>
          </p:cNvPr>
          <p:cNvSpPr>
            <a:spLocks noGrp="1"/>
          </p:cNvSpPr>
          <p:nvPr>
            <p:ph type="sldNum" sz="quarter" idx="5"/>
          </p:nvPr>
        </p:nvSpPr>
        <p:spPr/>
        <p:txBody>
          <a:bodyPr/>
          <a:lstStyle/>
          <a:p>
            <a:fld id="{EF6AD565-6F0A-4029-B8CA-BEE63615A7D1}" type="slidenum">
              <a:rPr lang="en-IN" smtClean="0"/>
              <a:t>64</a:t>
            </a:fld>
            <a:endParaRPr lang="en-IN"/>
          </a:p>
        </p:txBody>
      </p:sp>
    </p:spTree>
    <p:extLst>
      <p:ext uri="{BB962C8B-B14F-4D97-AF65-F5344CB8AC3E}">
        <p14:creationId xmlns:p14="http://schemas.microsoft.com/office/powerpoint/2010/main" val="168068118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EF6AD565-6F0A-4029-B8CA-BEE63615A7D1}" type="slidenum">
              <a:rPr lang="en-IN" smtClean="0"/>
              <a:t>67</a:t>
            </a:fld>
            <a:endParaRPr lang="en-IN"/>
          </a:p>
        </p:txBody>
      </p:sp>
    </p:spTree>
    <p:extLst>
      <p:ext uri="{BB962C8B-B14F-4D97-AF65-F5344CB8AC3E}">
        <p14:creationId xmlns:p14="http://schemas.microsoft.com/office/powerpoint/2010/main" val="287592575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B2094449-7C81-4316-B447-D85F2EB90D47}" type="slidenum">
              <a:rPr lang="en-IN" smtClean="0"/>
              <a:t>93</a:t>
            </a:fld>
            <a:endParaRPr lang="en-IN"/>
          </a:p>
        </p:txBody>
      </p:sp>
    </p:spTree>
    <p:extLst>
      <p:ext uri="{BB962C8B-B14F-4D97-AF65-F5344CB8AC3E}">
        <p14:creationId xmlns:p14="http://schemas.microsoft.com/office/powerpoint/2010/main" val="251632984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639110-C67E-CE9B-230D-06150B6A76E2}"/>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C5501C65-EE51-C37F-1D15-DEA9DA32DD29}"/>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683A1A5D-A7A1-6B2E-387F-71AA1088A11F}"/>
              </a:ext>
            </a:extLst>
          </p:cNvPr>
          <p:cNvSpPr>
            <a:spLocks noGrp="1"/>
          </p:cNvSpPr>
          <p:nvPr>
            <p:ph type="dt" sz="half" idx="10"/>
          </p:nvPr>
        </p:nvSpPr>
        <p:spPr/>
        <p:txBody>
          <a:bodyPr/>
          <a:lstStyle/>
          <a:p>
            <a:fld id="{7C5957D5-1467-40EC-885E-7266D0F07755}" type="datetimeFigureOut">
              <a:rPr lang="en-IN" smtClean="0"/>
              <a:t>22-05-2026</a:t>
            </a:fld>
            <a:endParaRPr lang="en-IN"/>
          </a:p>
        </p:txBody>
      </p:sp>
      <p:sp>
        <p:nvSpPr>
          <p:cNvPr id="5" name="Footer Placeholder 4">
            <a:extLst>
              <a:ext uri="{FF2B5EF4-FFF2-40B4-BE49-F238E27FC236}">
                <a16:creationId xmlns:a16="http://schemas.microsoft.com/office/drawing/2014/main" id="{3561E70C-4521-10D2-1225-3485DB2E2835}"/>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578D7884-E794-9AFC-2137-1738F4668F2C}"/>
              </a:ext>
            </a:extLst>
          </p:cNvPr>
          <p:cNvSpPr>
            <a:spLocks noGrp="1"/>
          </p:cNvSpPr>
          <p:nvPr>
            <p:ph type="sldNum" sz="quarter" idx="12"/>
          </p:nvPr>
        </p:nvSpPr>
        <p:spPr/>
        <p:txBody>
          <a:bodyPr/>
          <a:lstStyle/>
          <a:p>
            <a:fld id="{9F8529CD-E0E6-4F9D-A9BC-CD124C7C7B68}" type="slidenum">
              <a:rPr lang="en-IN" smtClean="0"/>
              <a:t>‹#›</a:t>
            </a:fld>
            <a:endParaRPr lang="en-IN"/>
          </a:p>
        </p:txBody>
      </p:sp>
    </p:spTree>
    <p:extLst>
      <p:ext uri="{BB962C8B-B14F-4D97-AF65-F5344CB8AC3E}">
        <p14:creationId xmlns:p14="http://schemas.microsoft.com/office/powerpoint/2010/main" val="316024212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BC9861-581B-CE43-DABE-2561EBE67B98}"/>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0CDA44CD-0527-32A0-B011-7340926554BC}"/>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64AA2F78-B5BF-C9EC-E6F2-97865BE657DA}"/>
              </a:ext>
            </a:extLst>
          </p:cNvPr>
          <p:cNvSpPr>
            <a:spLocks noGrp="1"/>
          </p:cNvSpPr>
          <p:nvPr>
            <p:ph type="dt" sz="half" idx="10"/>
          </p:nvPr>
        </p:nvSpPr>
        <p:spPr/>
        <p:txBody>
          <a:bodyPr/>
          <a:lstStyle/>
          <a:p>
            <a:fld id="{7C5957D5-1467-40EC-885E-7266D0F07755}" type="datetimeFigureOut">
              <a:rPr lang="en-IN" smtClean="0"/>
              <a:t>22-05-2026</a:t>
            </a:fld>
            <a:endParaRPr lang="en-IN"/>
          </a:p>
        </p:txBody>
      </p:sp>
      <p:sp>
        <p:nvSpPr>
          <p:cNvPr id="5" name="Footer Placeholder 4">
            <a:extLst>
              <a:ext uri="{FF2B5EF4-FFF2-40B4-BE49-F238E27FC236}">
                <a16:creationId xmlns:a16="http://schemas.microsoft.com/office/drawing/2014/main" id="{3C7E0447-CA96-7EAC-046C-45C4176B6E85}"/>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B7302E6F-BD22-9566-796A-C10E3D61F09F}"/>
              </a:ext>
            </a:extLst>
          </p:cNvPr>
          <p:cNvSpPr>
            <a:spLocks noGrp="1"/>
          </p:cNvSpPr>
          <p:nvPr>
            <p:ph type="sldNum" sz="quarter" idx="12"/>
          </p:nvPr>
        </p:nvSpPr>
        <p:spPr/>
        <p:txBody>
          <a:bodyPr/>
          <a:lstStyle/>
          <a:p>
            <a:fld id="{9F8529CD-E0E6-4F9D-A9BC-CD124C7C7B68}" type="slidenum">
              <a:rPr lang="en-IN" smtClean="0"/>
              <a:t>‹#›</a:t>
            </a:fld>
            <a:endParaRPr lang="en-IN"/>
          </a:p>
        </p:txBody>
      </p:sp>
    </p:spTree>
    <p:extLst>
      <p:ext uri="{BB962C8B-B14F-4D97-AF65-F5344CB8AC3E}">
        <p14:creationId xmlns:p14="http://schemas.microsoft.com/office/powerpoint/2010/main" val="300360559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934CF1-F89F-78A7-42BB-ED3687250CF5}"/>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CC50E65F-7766-4E38-15EA-BDB5D74A1497}"/>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671C4EF4-9B02-25DA-827E-70B7323B8B1F}"/>
              </a:ext>
            </a:extLst>
          </p:cNvPr>
          <p:cNvSpPr>
            <a:spLocks noGrp="1"/>
          </p:cNvSpPr>
          <p:nvPr>
            <p:ph type="dt" sz="half" idx="10"/>
          </p:nvPr>
        </p:nvSpPr>
        <p:spPr/>
        <p:txBody>
          <a:bodyPr/>
          <a:lstStyle/>
          <a:p>
            <a:fld id="{7C5957D5-1467-40EC-885E-7266D0F07755}" type="datetimeFigureOut">
              <a:rPr lang="en-IN" smtClean="0"/>
              <a:t>22-05-2026</a:t>
            </a:fld>
            <a:endParaRPr lang="en-IN"/>
          </a:p>
        </p:txBody>
      </p:sp>
      <p:sp>
        <p:nvSpPr>
          <p:cNvPr id="5" name="Footer Placeholder 4">
            <a:extLst>
              <a:ext uri="{FF2B5EF4-FFF2-40B4-BE49-F238E27FC236}">
                <a16:creationId xmlns:a16="http://schemas.microsoft.com/office/drawing/2014/main" id="{C74199C0-764C-314C-1AD4-1C1A6B4BA857}"/>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B3BBDCF6-A69B-520C-26D9-9C6962090AF1}"/>
              </a:ext>
            </a:extLst>
          </p:cNvPr>
          <p:cNvSpPr>
            <a:spLocks noGrp="1"/>
          </p:cNvSpPr>
          <p:nvPr>
            <p:ph type="sldNum" sz="quarter" idx="12"/>
          </p:nvPr>
        </p:nvSpPr>
        <p:spPr/>
        <p:txBody>
          <a:bodyPr/>
          <a:lstStyle/>
          <a:p>
            <a:fld id="{9F8529CD-E0E6-4F9D-A9BC-CD124C7C7B68}" type="slidenum">
              <a:rPr lang="en-IN" smtClean="0"/>
              <a:t>‹#›</a:t>
            </a:fld>
            <a:endParaRPr lang="en-IN"/>
          </a:p>
        </p:txBody>
      </p:sp>
    </p:spTree>
    <p:extLst>
      <p:ext uri="{BB962C8B-B14F-4D97-AF65-F5344CB8AC3E}">
        <p14:creationId xmlns:p14="http://schemas.microsoft.com/office/powerpoint/2010/main" val="283163720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7778DE-81A7-D3FB-D8E2-6F8D4A2C7029}"/>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B91EC344-9AD7-8FA8-720E-D1A95D6DD1AC}"/>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9E75B7DD-9394-B8D9-579C-083B8458D63B}"/>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Date Placeholder 4">
            <a:extLst>
              <a:ext uri="{FF2B5EF4-FFF2-40B4-BE49-F238E27FC236}">
                <a16:creationId xmlns:a16="http://schemas.microsoft.com/office/drawing/2014/main" id="{0842D1ED-8D9E-6415-D27F-88CC296C5757}"/>
              </a:ext>
            </a:extLst>
          </p:cNvPr>
          <p:cNvSpPr>
            <a:spLocks noGrp="1"/>
          </p:cNvSpPr>
          <p:nvPr>
            <p:ph type="dt" sz="half" idx="10"/>
          </p:nvPr>
        </p:nvSpPr>
        <p:spPr/>
        <p:txBody>
          <a:bodyPr/>
          <a:lstStyle/>
          <a:p>
            <a:fld id="{7C5957D5-1467-40EC-885E-7266D0F07755}" type="datetimeFigureOut">
              <a:rPr lang="en-IN" smtClean="0"/>
              <a:t>22-05-2026</a:t>
            </a:fld>
            <a:endParaRPr lang="en-IN"/>
          </a:p>
        </p:txBody>
      </p:sp>
      <p:sp>
        <p:nvSpPr>
          <p:cNvPr id="6" name="Footer Placeholder 5">
            <a:extLst>
              <a:ext uri="{FF2B5EF4-FFF2-40B4-BE49-F238E27FC236}">
                <a16:creationId xmlns:a16="http://schemas.microsoft.com/office/drawing/2014/main" id="{BD835D3E-4206-7AA4-0071-AC138F81FD85}"/>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88FB22CE-7902-DF66-AD8F-76FAE6B6C435}"/>
              </a:ext>
            </a:extLst>
          </p:cNvPr>
          <p:cNvSpPr>
            <a:spLocks noGrp="1"/>
          </p:cNvSpPr>
          <p:nvPr>
            <p:ph type="sldNum" sz="quarter" idx="12"/>
          </p:nvPr>
        </p:nvSpPr>
        <p:spPr/>
        <p:txBody>
          <a:bodyPr/>
          <a:lstStyle/>
          <a:p>
            <a:fld id="{9F8529CD-E0E6-4F9D-A9BC-CD124C7C7B68}" type="slidenum">
              <a:rPr lang="en-IN" smtClean="0"/>
              <a:t>‹#›</a:t>
            </a:fld>
            <a:endParaRPr lang="en-IN"/>
          </a:p>
        </p:txBody>
      </p:sp>
    </p:spTree>
    <p:extLst>
      <p:ext uri="{BB962C8B-B14F-4D97-AF65-F5344CB8AC3E}">
        <p14:creationId xmlns:p14="http://schemas.microsoft.com/office/powerpoint/2010/main" val="248216302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DF0548-0602-3123-A6D9-E8290B75B193}"/>
              </a:ext>
            </a:extLst>
          </p:cNvPr>
          <p:cNvSpPr>
            <a:spLocks noGrp="1"/>
          </p:cNvSpPr>
          <p:nvPr>
            <p:ph type="title"/>
          </p:nvPr>
        </p:nvSpPr>
        <p:spPr>
          <a:xfrm>
            <a:off x="839788" y="365125"/>
            <a:ext cx="105156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E029313F-F752-CFCB-211B-D702E12DD7A8}"/>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F051B3C-9539-E476-7D06-1643C7A81A08}"/>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26E76D8B-6A55-4CEB-EC26-0C39DD24C22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6C9AB18D-A205-5508-815F-0102FACACD54}"/>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Date Placeholder 6">
            <a:extLst>
              <a:ext uri="{FF2B5EF4-FFF2-40B4-BE49-F238E27FC236}">
                <a16:creationId xmlns:a16="http://schemas.microsoft.com/office/drawing/2014/main" id="{082DD84D-B32B-111C-F3DB-244776F033D3}"/>
              </a:ext>
            </a:extLst>
          </p:cNvPr>
          <p:cNvSpPr>
            <a:spLocks noGrp="1"/>
          </p:cNvSpPr>
          <p:nvPr>
            <p:ph type="dt" sz="half" idx="10"/>
          </p:nvPr>
        </p:nvSpPr>
        <p:spPr/>
        <p:txBody>
          <a:bodyPr/>
          <a:lstStyle/>
          <a:p>
            <a:fld id="{7C5957D5-1467-40EC-885E-7266D0F07755}" type="datetimeFigureOut">
              <a:rPr lang="en-IN" smtClean="0"/>
              <a:t>22-05-2026</a:t>
            </a:fld>
            <a:endParaRPr lang="en-IN"/>
          </a:p>
        </p:txBody>
      </p:sp>
      <p:sp>
        <p:nvSpPr>
          <p:cNvPr id="8" name="Footer Placeholder 7">
            <a:extLst>
              <a:ext uri="{FF2B5EF4-FFF2-40B4-BE49-F238E27FC236}">
                <a16:creationId xmlns:a16="http://schemas.microsoft.com/office/drawing/2014/main" id="{7B8A29ED-5155-2DA9-EFDE-FDAECF31639C}"/>
              </a:ext>
            </a:extLst>
          </p:cNvPr>
          <p:cNvSpPr>
            <a:spLocks noGrp="1"/>
          </p:cNvSpPr>
          <p:nvPr>
            <p:ph type="ftr" sz="quarter" idx="11"/>
          </p:nvPr>
        </p:nvSpPr>
        <p:spPr/>
        <p:txBody>
          <a:bodyPr/>
          <a:lstStyle/>
          <a:p>
            <a:endParaRPr lang="en-IN"/>
          </a:p>
        </p:txBody>
      </p:sp>
      <p:sp>
        <p:nvSpPr>
          <p:cNvPr id="9" name="Slide Number Placeholder 8">
            <a:extLst>
              <a:ext uri="{FF2B5EF4-FFF2-40B4-BE49-F238E27FC236}">
                <a16:creationId xmlns:a16="http://schemas.microsoft.com/office/drawing/2014/main" id="{4D3D3193-9500-050D-F8E8-A6960D6CD769}"/>
              </a:ext>
            </a:extLst>
          </p:cNvPr>
          <p:cNvSpPr>
            <a:spLocks noGrp="1"/>
          </p:cNvSpPr>
          <p:nvPr>
            <p:ph type="sldNum" sz="quarter" idx="12"/>
          </p:nvPr>
        </p:nvSpPr>
        <p:spPr/>
        <p:txBody>
          <a:bodyPr/>
          <a:lstStyle/>
          <a:p>
            <a:fld id="{9F8529CD-E0E6-4F9D-A9BC-CD124C7C7B68}" type="slidenum">
              <a:rPr lang="en-IN" smtClean="0"/>
              <a:t>‹#›</a:t>
            </a:fld>
            <a:endParaRPr lang="en-IN"/>
          </a:p>
        </p:txBody>
      </p:sp>
    </p:spTree>
    <p:extLst>
      <p:ext uri="{BB962C8B-B14F-4D97-AF65-F5344CB8AC3E}">
        <p14:creationId xmlns:p14="http://schemas.microsoft.com/office/powerpoint/2010/main" val="8107165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7CA540-7CD2-CCF5-94D8-495B99EBB1D1}"/>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56E9FD18-9FF4-85CD-65BA-E968B4CA5DB9}"/>
              </a:ext>
            </a:extLst>
          </p:cNvPr>
          <p:cNvSpPr>
            <a:spLocks noGrp="1"/>
          </p:cNvSpPr>
          <p:nvPr>
            <p:ph type="dt" sz="half" idx="10"/>
          </p:nvPr>
        </p:nvSpPr>
        <p:spPr/>
        <p:txBody>
          <a:bodyPr/>
          <a:lstStyle/>
          <a:p>
            <a:fld id="{7C5957D5-1467-40EC-885E-7266D0F07755}" type="datetimeFigureOut">
              <a:rPr lang="en-IN" smtClean="0"/>
              <a:t>22-05-2026</a:t>
            </a:fld>
            <a:endParaRPr lang="en-IN"/>
          </a:p>
        </p:txBody>
      </p:sp>
      <p:sp>
        <p:nvSpPr>
          <p:cNvPr id="4" name="Footer Placeholder 3">
            <a:extLst>
              <a:ext uri="{FF2B5EF4-FFF2-40B4-BE49-F238E27FC236}">
                <a16:creationId xmlns:a16="http://schemas.microsoft.com/office/drawing/2014/main" id="{954359C0-E299-B267-118F-9B0BE1444978}"/>
              </a:ext>
            </a:extLst>
          </p:cNvPr>
          <p:cNvSpPr>
            <a:spLocks noGrp="1"/>
          </p:cNvSpPr>
          <p:nvPr>
            <p:ph type="ftr" sz="quarter" idx="11"/>
          </p:nvPr>
        </p:nvSpPr>
        <p:spPr/>
        <p:txBody>
          <a:bodyPr/>
          <a:lstStyle/>
          <a:p>
            <a:endParaRPr lang="en-IN"/>
          </a:p>
        </p:txBody>
      </p:sp>
      <p:sp>
        <p:nvSpPr>
          <p:cNvPr id="5" name="Slide Number Placeholder 4">
            <a:extLst>
              <a:ext uri="{FF2B5EF4-FFF2-40B4-BE49-F238E27FC236}">
                <a16:creationId xmlns:a16="http://schemas.microsoft.com/office/drawing/2014/main" id="{38295CC7-7485-616F-41A7-B5CFF81248F7}"/>
              </a:ext>
            </a:extLst>
          </p:cNvPr>
          <p:cNvSpPr>
            <a:spLocks noGrp="1"/>
          </p:cNvSpPr>
          <p:nvPr>
            <p:ph type="sldNum" sz="quarter" idx="12"/>
          </p:nvPr>
        </p:nvSpPr>
        <p:spPr/>
        <p:txBody>
          <a:bodyPr/>
          <a:lstStyle/>
          <a:p>
            <a:fld id="{9F8529CD-E0E6-4F9D-A9BC-CD124C7C7B68}" type="slidenum">
              <a:rPr lang="en-IN" smtClean="0"/>
              <a:t>‹#›</a:t>
            </a:fld>
            <a:endParaRPr lang="en-IN"/>
          </a:p>
        </p:txBody>
      </p:sp>
    </p:spTree>
    <p:extLst>
      <p:ext uri="{BB962C8B-B14F-4D97-AF65-F5344CB8AC3E}">
        <p14:creationId xmlns:p14="http://schemas.microsoft.com/office/powerpoint/2010/main" val="342944931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4613807-49B0-4618-7E6B-58DEDCFA76E9}"/>
              </a:ext>
            </a:extLst>
          </p:cNvPr>
          <p:cNvSpPr>
            <a:spLocks noGrp="1"/>
          </p:cNvSpPr>
          <p:nvPr>
            <p:ph type="dt" sz="half" idx="10"/>
          </p:nvPr>
        </p:nvSpPr>
        <p:spPr/>
        <p:txBody>
          <a:bodyPr/>
          <a:lstStyle/>
          <a:p>
            <a:fld id="{7C5957D5-1467-40EC-885E-7266D0F07755}" type="datetimeFigureOut">
              <a:rPr lang="en-IN" smtClean="0"/>
              <a:t>22-05-2026</a:t>
            </a:fld>
            <a:endParaRPr lang="en-IN"/>
          </a:p>
        </p:txBody>
      </p:sp>
      <p:sp>
        <p:nvSpPr>
          <p:cNvPr id="3" name="Footer Placeholder 2">
            <a:extLst>
              <a:ext uri="{FF2B5EF4-FFF2-40B4-BE49-F238E27FC236}">
                <a16:creationId xmlns:a16="http://schemas.microsoft.com/office/drawing/2014/main" id="{E731D786-80FF-48C3-7907-4921F339B650}"/>
              </a:ext>
            </a:extLst>
          </p:cNvPr>
          <p:cNvSpPr>
            <a:spLocks noGrp="1"/>
          </p:cNvSpPr>
          <p:nvPr>
            <p:ph type="ftr" sz="quarter" idx="11"/>
          </p:nvPr>
        </p:nvSpPr>
        <p:spPr/>
        <p:txBody>
          <a:bodyPr/>
          <a:lstStyle/>
          <a:p>
            <a:endParaRPr lang="en-IN"/>
          </a:p>
        </p:txBody>
      </p:sp>
      <p:sp>
        <p:nvSpPr>
          <p:cNvPr id="4" name="Slide Number Placeholder 3">
            <a:extLst>
              <a:ext uri="{FF2B5EF4-FFF2-40B4-BE49-F238E27FC236}">
                <a16:creationId xmlns:a16="http://schemas.microsoft.com/office/drawing/2014/main" id="{403C75EB-3B09-1F43-A308-A1E2D599B7D3}"/>
              </a:ext>
            </a:extLst>
          </p:cNvPr>
          <p:cNvSpPr>
            <a:spLocks noGrp="1"/>
          </p:cNvSpPr>
          <p:nvPr>
            <p:ph type="sldNum" sz="quarter" idx="12"/>
          </p:nvPr>
        </p:nvSpPr>
        <p:spPr/>
        <p:txBody>
          <a:bodyPr/>
          <a:lstStyle/>
          <a:p>
            <a:fld id="{9F8529CD-E0E6-4F9D-A9BC-CD124C7C7B68}" type="slidenum">
              <a:rPr lang="en-IN" smtClean="0"/>
              <a:t>‹#›</a:t>
            </a:fld>
            <a:endParaRPr lang="en-IN"/>
          </a:p>
        </p:txBody>
      </p:sp>
    </p:spTree>
    <p:extLst>
      <p:ext uri="{BB962C8B-B14F-4D97-AF65-F5344CB8AC3E}">
        <p14:creationId xmlns:p14="http://schemas.microsoft.com/office/powerpoint/2010/main" val="40201172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B6393B-1C39-9006-3D32-BE07DE7EF3CB}"/>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EEF1FC53-9D88-A477-8748-11348C314B1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AF41198D-ED9A-DD4D-1C8C-5DBE9E49B31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25D846C-E370-5DA3-A203-473486564D1E}"/>
              </a:ext>
            </a:extLst>
          </p:cNvPr>
          <p:cNvSpPr>
            <a:spLocks noGrp="1"/>
          </p:cNvSpPr>
          <p:nvPr>
            <p:ph type="dt" sz="half" idx="10"/>
          </p:nvPr>
        </p:nvSpPr>
        <p:spPr/>
        <p:txBody>
          <a:bodyPr/>
          <a:lstStyle/>
          <a:p>
            <a:fld id="{7C5957D5-1467-40EC-885E-7266D0F07755}" type="datetimeFigureOut">
              <a:rPr lang="en-IN" smtClean="0"/>
              <a:t>22-05-2026</a:t>
            </a:fld>
            <a:endParaRPr lang="en-IN"/>
          </a:p>
        </p:txBody>
      </p:sp>
      <p:sp>
        <p:nvSpPr>
          <p:cNvPr id="6" name="Footer Placeholder 5">
            <a:extLst>
              <a:ext uri="{FF2B5EF4-FFF2-40B4-BE49-F238E27FC236}">
                <a16:creationId xmlns:a16="http://schemas.microsoft.com/office/drawing/2014/main" id="{BE26FEE2-027E-19C6-6D31-2BAEFB63F29A}"/>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88477AF8-3118-54FA-D960-8E208E968D87}"/>
              </a:ext>
            </a:extLst>
          </p:cNvPr>
          <p:cNvSpPr>
            <a:spLocks noGrp="1"/>
          </p:cNvSpPr>
          <p:nvPr>
            <p:ph type="sldNum" sz="quarter" idx="12"/>
          </p:nvPr>
        </p:nvSpPr>
        <p:spPr/>
        <p:txBody>
          <a:bodyPr/>
          <a:lstStyle/>
          <a:p>
            <a:fld id="{9F8529CD-E0E6-4F9D-A9BC-CD124C7C7B68}" type="slidenum">
              <a:rPr lang="en-IN" smtClean="0"/>
              <a:t>‹#›</a:t>
            </a:fld>
            <a:endParaRPr lang="en-IN"/>
          </a:p>
        </p:txBody>
      </p:sp>
    </p:spTree>
    <p:extLst>
      <p:ext uri="{BB962C8B-B14F-4D97-AF65-F5344CB8AC3E}">
        <p14:creationId xmlns:p14="http://schemas.microsoft.com/office/powerpoint/2010/main" val="27874350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6CD4EC-B22B-60D4-D1F1-29920A57C8E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1AE446B8-E297-9638-FBCD-0FAFD4EEBFAC}"/>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a:extLst>
              <a:ext uri="{FF2B5EF4-FFF2-40B4-BE49-F238E27FC236}">
                <a16:creationId xmlns:a16="http://schemas.microsoft.com/office/drawing/2014/main" id="{C1D9554F-0AAC-6BF9-ECB7-19119BA8C5E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FAE97B1-25FA-F933-6E38-176FC2158B22}"/>
              </a:ext>
            </a:extLst>
          </p:cNvPr>
          <p:cNvSpPr>
            <a:spLocks noGrp="1"/>
          </p:cNvSpPr>
          <p:nvPr>
            <p:ph type="dt" sz="half" idx="10"/>
          </p:nvPr>
        </p:nvSpPr>
        <p:spPr/>
        <p:txBody>
          <a:bodyPr/>
          <a:lstStyle/>
          <a:p>
            <a:fld id="{7C5957D5-1467-40EC-885E-7266D0F07755}" type="datetimeFigureOut">
              <a:rPr lang="en-IN" smtClean="0"/>
              <a:t>22-05-2026</a:t>
            </a:fld>
            <a:endParaRPr lang="en-IN"/>
          </a:p>
        </p:txBody>
      </p:sp>
      <p:sp>
        <p:nvSpPr>
          <p:cNvPr id="6" name="Footer Placeholder 5">
            <a:extLst>
              <a:ext uri="{FF2B5EF4-FFF2-40B4-BE49-F238E27FC236}">
                <a16:creationId xmlns:a16="http://schemas.microsoft.com/office/drawing/2014/main" id="{648CFBEE-E44E-9F7B-48D1-81426AA0743C}"/>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FD76B86E-6E5C-2510-615E-4A80C2EB1A1D}"/>
              </a:ext>
            </a:extLst>
          </p:cNvPr>
          <p:cNvSpPr>
            <a:spLocks noGrp="1"/>
          </p:cNvSpPr>
          <p:nvPr>
            <p:ph type="sldNum" sz="quarter" idx="12"/>
          </p:nvPr>
        </p:nvSpPr>
        <p:spPr/>
        <p:txBody>
          <a:bodyPr/>
          <a:lstStyle/>
          <a:p>
            <a:fld id="{9F8529CD-E0E6-4F9D-A9BC-CD124C7C7B68}" type="slidenum">
              <a:rPr lang="en-IN" smtClean="0"/>
              <a:t>‹#›</a:t>
            </a:fld>
            <a:endParaRPr lang="en-IN"/>
          </a:p>
        </p:txBody>
      </p:sp>
    </p:spTree>
    <p:extLst>
      <p:ext uri="{BB962C8B-B14F-4D97-AF65-F5344CB8AC3E}">
        <p14:creationId xmlns:p14="http://schemas.microsoft.com/office/powerpoint/2010/main" val="7259372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480324-0EFD-85CA-9566-3FFD1AF57A65}"/>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9D7B0292-EF71-48E8-9E66-D7BB070B41F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7ADC9D20-5CE9-E43D-0BAA-7D810A260859}"/>
              </a:ext>
            </a:extLst>
          </p:cNvPr>
          <p:cNvSpPr>
            <a:spLocks noGrp="1"/>
          </p:cNvSpPr>
          <p:nvPr>
            <p:ph type="dt" sz="half" idx="10"/>
          </p:nvPr>
        </p:nvSpPr>
        <p:spPr/>
        <p:txBody>
          <a:bodyPr/>
          <a:lstStyle/>
          <a:p>
            <a:fld id="{7C5957D5-1467-40EC-885E-7266D0F07755}" type="datetimeFigureOut">
              <a:rPr lang="en-IN" smtClean="0"/>
              <a:t>22-05-2026</a:t>
            </a:fld>
            <a:endParaRPr lang="en-IN"/>
          </a:p>
        </p:txBody>
      </p:sp>
      <p:sp>
        <p:nvSpPr>
          <p:cNvPr id="5" name="Footer Placeholder 4">
            <a:extLst>
              <a:ext uri="{FF2B5EF4-FFF2-40B4-BE49-F238E27FC236}">
                <a16:creationId xmlns:a16="http://schemas.microsoft.com/office/drawing/2014/main" id="{4D51ECFE-77C7-2EBB-39BE-36D8D6A15B5C}"/>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70BC14A4-A669-39ED-97BA-4CFAD151BD8F}"/>
              </a:ext>
            </a:extLst>
          </p:cNvPr>
          <p:cNvSpPr>
            <a:spLocks noGrp="1"/>
          </p:cNvSpPr>
          <p:nvPr>
            <p:ph type="sldNum" sz="quarter" idx="12"/>
          </p:nvPr>
        </p:nvSpPr>
        <p:spPr/>
        <p:txBody>
          <a:bodyPr/>
          <a:lstStyle/>
          <a:p>
            <a:fld id="{9F8529CD-E0E6-4F9D-A9BC-CD124C7C7B68}" type="slidenum">
              <a:rPr lang="en-IN" smtClean="0"/>
              <a:t>‹#›</a:t>
            </a:fld>
            <a:endParaRPr lang="en-IN"/>
          </a:p>
        </p:txBody>
      </p:sp>
    </p:spTree>
    <p:extLst>
      <p:ext uri="{BB962C8B-B14F-4D97-AF65-F5344CB8AC3E}">
        <p14:creationId xmlns:p14="http://schemas.microsoft.com/office/powerpoint/2010/main" val="383609344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A2B8368-DF8A-9B63-52D4-FD6D8D953EC4}"/>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C26BEB12-04D6-DE22-1E7C-9210EB6C6A73}"/>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94581954-1660-3777-14F0-0A29598AB660}"/>
              </a:ext>
            </a:extLst>
          </p:cNvPr>
          <p:cNvSpPr>
            <a:spLocks noGrp="1"/>
          </p:cNvSpPr>
          <p:nvPr>
            <p:ph type="dt" sz="half" idx="10"/>
          </p:nvPr>
        </p:nvSpPr>
        <p:spPr/>
        <p:txBody>
          <a:bodyPr/>
          <a:lstStyle/>
          <a:p>
            <a:fld id="{7C5957D5-1467-40EC-885E-7266D0F07755}" type="datetimeFigureOut">
              <a:rPr lang="en-IN" smtClean="0"/>
              <a:t>22-05-2026</a:t>
            </a:fld>
            <a:endParaRPr lang="en-IN"/>
          </a:p>
        </p:txBody>
      </p:sp>
      <p:sp>
        <p:nvSpPr>
          <p:cNvPr id="5" name="Footer Placeholder 4">
            <a:extLst>
              <a:ext uri="{FF2B5EF4-FFF2-40B4-BE49-F238E27FC236}">
                <a16:creationId xmlns:a16="http://schemas.microsoft.com/office/drawing/2014/main" id="{8A20A759-2DE3-3202-6E31-63280FECD643}"/>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B22DD415-2028-AF4B-381B-49413B4DA635}"/>
              </a:ext>
            </a:extLst>
          </p:cNvPr>
          <p:cNvSpPr>
            <a:spLocks noGrp="1"/>
          </p:cNvSpPr>
          <p:nvPr>
            <p:ph type="sldNum" sz="quarter" idx="12"/>
          </p:nvPr>
        </p:nvSpPr>
        <p:spPr/>
        <p:txBody>
          <a:bodyPr/>
          <a:lstStyle/>
          <a:p>
            <a:fld id="{9F8529CD-E0E6-4F9D-A9BC-CD124C7C7B68}" type="slidenum">
              <a:rPr lang="en-IN" smtClean="0"/>
              <a:t>‹#›</a:t>
            </a:fld>
            <a:endParaRPr lang="en-IN"/>
          </a:p>
        </p:txBody>
      </p:sp>
    </p:spTree>
    <p:extLst>
      <p:ext uri="{BB962C8B-B14F-4D97-AF65-F5344CB8AC3E}">
        <p14:creationId xmlns:p14="http://schemas.microsoft.com/office/powerpoint/2010/main" val="28881675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11F74D9B-0CBF-48C7-90B5-DA5978BBE4E1}"/>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35646" t="32674" r="36779" b="37965"/>
          <a:stretch/>
        </p:blipFill>
        <p:spPr>
          <a:xfrm>
            <a:off x="152405" y="1"/>
            <a:ext cx="1143068" cy="645461"/>
          </a:xfrm>
          <a:prstGeom prst="rect">
            <a:avLst/>
          </a:prstGeom>
        </p:spPr>
      </p:pic>
      <p:sp>
        <p:nvSpPr>
          <p:cNvPr id="11" name="TextBox 10">
            <a:extLst>
              <a:ext uri="{FF2B5EF4-FFF2-40B4-BE49-F238E27FC236}">
                <a16:creationId xmlns:a16="http://schemas.microsoft.com/office/drawing/2014/main" id="{9DAD9072-4318-48C5-8F1B-90A9DD8383B5}"/>
              </a:ext>
            </a:extLst>
          </p:cNvPr>
          <p:cNvSpPr txBox="1"/>
          <p:nvPr userDrawn="1"/>
        </p:nvSpPr>
        <p:spPr>
          <a:xfrm>
            <a:off x="239349" y="587168"/>
            <a:ext cx="11704320" cy="577850"/>
          </a:xfrm>
          <a:prstGeom prst="rect">
            <a:avLst/>
          </a:prstGeom>
          <a:noFill/>
          <a:ln>
            <a:solidFill>
              <a:srgbClr val="002060"/>
            </a:solidFill>
          </a:ln>
        </p:spPr>
        <p:txBody>
          <a:bodyPr wrap="square" rtlCol="0">
            <a:spAutoFit/>
          </a:bodyPr>
          <a:lstStyle/>
          <a:p>
            <a:pPr>
              <a:lnSpc>
                <a:spcPct val="150000"/>
              </a:lnSpc>
            </a:pPr>
            <a:endParaRPr lang="en-US" sz="2400">
              <a:solidFill>
                <a:schemeClr val="tx1">
                  <a:lumMod val="95000"/>
                  <a:lumOff val="5000"/>
                </a:schemeClr>
              </a:solidFill>
            </a:endParaRPr>
          </a:p>
        </p:txBody>
      </p:sp>
      <p:sp>
        <p:nvSpPr>
          <p:cNvPr id="12" name="Rectangle 11">
            <a:extLst>
              <a:ext uri="{FF2B5EF4-FFF2-40B4-BE49-F238E27FC236}">
                <a16:creationId xmlns:a16="http://schemas.microsoft.com/office/drawing/2014/main" id="{17D16DA6-F23C-4036-A7FF-6221B818BF6A}"/>
              </a:ext>
            </a:extLst>
          </p:cNvPr>
          <p:cNvSpPr/>
          <p:nvPr userDrawn="1"/>
        </p:nvSpPr>
        <p:spPr>
          <a:xfrm>
            <a:off x="257899" y="1151895"/>
            <a:ext cx="11704320" cy="91440"/>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Slide Number Placeholder 5">
            <a:extLst>
              <a:ext uri="{FF2B5EF4-FFF2-40B4-BE49-F238E27FC236}">
                <a16:creationId xmlns:a16="http://schemas.microsoft.com/office/drawing/2014/main" id="{66B62CEE-6F4F-436B-8F40-9A394A7E4582}"/>
              </a:ext>
            </a:extLst>
          </p:cNvPr>
          <p:cNvSpPr txBox="1">
            <a:spLocks/>
          </p:cNvSpPr>
          <p:nvPr userDrawn="1"/>
        </p:nvSpPr>
        <p:spPr>
          <a:xfrm>
            <a:off x="11773803" y="6596393"/>
            <a:ext cx="527381" cy="365125"/>
          </a:xfrm>
          <a:prstGeom prst="rect">
            <a:avLst/>
          </a:prstGeom>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Arial" charset="0"/>
              </a:defRPr>
            </a:lvl1pPr>
            <a:lvl2pPr marL="457200" algn="l" rtl="0" eaLnBrk="0" fontAlgn="base" hangingPunct="0">
              <a:spcBef>
                <a:spcPct val="0"/>
              </a:spcBef>
              <a:spcAft>
                <a:spcPct val="0"/>
              </a:spcAft>
              <a:defRPr kern="1200">
                <a:solidFill>
                  <a:schemeClr val="tx1"/>
                </a:solidFill>
                <a:latin typeface="Arial" charset="0"/>
                <a:ea typeface="+mn-ea"/>
                <a:cs typeface="Arial" charset="0"/>
              </a:defRPr>
            </a:lvl2pPr>
            <a:lvl3pPr marL="914400" algn="l" rtl="0" eaLnBrk="0" fontAlgn="base" hangingPunct="0">
              <a:spcBef>
                <a:spcPct val="0"/>
              </a:spcBef>
              <a:spcAft>
                <a:spcPct val="0"/>
              </a:spcAft>
              <a:defRPr kern="1200">
                <a:solidFill>
                  <a:schemeClr val="tx1"/>
                </a:solidFill>
                <a:latin typeface="Arial" charset="0"/>
                <a:ea typeface="+mn-ea"/>
                <a:cs typeface="Arial" charset="0"/>
              </a:defRPr>
            </a:lvl3pPr>
            <a:lvl4pPr marL="1371600" algn="l" rtl="0" eaLnBrk="0" fontAlgn="base" hangingPunct="0">
              <a:spcBef>
                <a:spcPct val="0"/>
              </a:spcBef>
              <a:spcAft>
                <a:spcPct val="0"/>
              </a:spcAft>
              <a:defRPr kern="1200">
                <a:solidFill>
                  <a:schemeClr val="tx1"/>
                </a:solidFill>
                <a:latin typeface="Arial" charset="0"/>
                <a:ea typeface="+mn-ea"/>
                <a:cs typeface="Arial" charset="0"/>
              </a:defRPr>
            </a:lvl4pPr>
            <a:lvl5pPr marL="1828800" algn="l" rtl="0" eaLnBrk="0" fontAlgn="base" hangingPunct="0">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a:lstStyle>
          <a:p>
            <a:fld id="{F2FC3912-9DF2-47E0-94FD-266DAF7C3DB6}" type="slidenum">
              <a:rPr lang="en-US" altLang="en-US" sz="900" smtClean="0"/>
              <a:pPr/>
              <a:t>‹#›</a:t>
            </a:fld>
            <a:endParaRPr lang="en-US" altLang="en-US" sz="900"/>
          </a:p>
        </p:txBody>
      </p:sp>
      <p:sp>
        <p:nvSpPr>
          <p:cNvPr id="9" name="Title 1">
            <a:extLst>
              <a:ext uri="{FF2B5EF4-FFF2-40B4-BE49-F238E27FC236}">
                <a16:creationId xmlns:a16="http://schemas.microsoft.com/office/drawing/2014/main" id="{F5954BC2-4EB5-47B2-A44E-AE283341BABF}"/>
              </a:ext>
            </a:extLst>
          </p:cNvPr>
          <p:cNvSpPr txBox="1">
            <a:spLocks/>
          </p:cNvSpPr>
          <p:nvPr userDrawn="1"/>
        </p:nvSpPr>
        <p:spPr>
          <a:xfrm>
            <a:off x="239349" y="614711"/>
            <a:ext cx="11704320" cy="537391"/>
          </a:xfrm>
          <a:prstGeom prst="rect">
            <a:avLst/>
          </a:prstGeom>
          <a:ln>
            <a:noFill/>
          </a:ln>
        </p:spPr>
        <p:txBody>
          <a:bodyPr/>
          <a:lstStyle>
            <a:lvl1pPr algn="l" defTabSz="914400" rtl="0" eaLnBrk="1" latinLnBrk="0" hangingPunct="1">
              <a:lnSpc>
                <a:spcPct val="90000"/>
              </a:lnSpc>
              <a:spcBef>
                <a:spcPct val="0"/>
              </a:spcBef>
              <a:buNone/>
              <a:defRPr sz="2400" kern="1200">
                <a:solidFill>
                  <a:schemeClr val="tx1"/>
                </a:solidFill>
                <a:latin typeface="Arial" panose="020B0604020202020204" pitchFamily="34" charset="0"/>
                <a:ea typeface="+mj-ea"/>
                <a:cs typeface="Arial" panose="020B0604020202020204" pitchFamily="34" charset="0"/>
              </a:defRPr>
            </a:lvl1pPr>
          </a:lstStyle>
          <a:p>
            <a:pPr fontAlgn="auto">
              <a:spcAft>
                <a:spcPts val="0"/>
              </a:spcAft>
            </a:pPr>
            <a:endParaRPr lang="en-US" sz="2400"/>
          </a:p>
        </p:txBody>
      </p:sp>
      <p:sp>
        <p:nvSpPr>
          <p:cNvPr id="2" name="Title 1">
            <a:extLst>
              <a:ext uri="{FF2B5EF4-FFF2-40B4-BE49-F238E27FC236}">
                <a16:creationId xmlns:a16="http://schemas.microsoft.com/office/drawing/2014/main" id="{6FF92036-2FC5-4113-9457-FDB1B357E48E}"/>
              </a:ext>
            </a:extLst>
          </p:cNvPr>
          <p:cNvSpPr>
            <a:spLocks noGrp="1"/>
          </p:cNvSpPr>
          <p:nvPr>
            <p:ph type="title"/>
          </p:nvPr>
        </p:nvSpPr>
        <p:spPr>
          <a:xfrm>
            <a:off x="257899" y="587171"/>
            <a:ext cx="11676203" cy="551809"/>
          </a:xfrm>
        </p:spPr>
        <p:txBody>
          <a:bodyPr/>
          <a:lstStyle/>
          <a:p>
            <a:r>
              <a:rPr lang="en-US"/>
              <a:t>Click to edit Master title style</a:t>
            </a:r>
          </a:p>
        </p:txBody>
      </p:sp>
      <p:sp>
        <p:nvSpPr>
          <p:cNvPr id="13" name="Content Placeholder 3">
            <a:extLst>
              <a:ext uri="{FF2B5EF4-FFF2-40B4-BE49-F238E27FC236}">
                <a16:creationId xmlns:a16="http://schemas.microsoft.com/office/drawing/2014/main" id="{69C30820-BC25-4482-935C-B9D6F49D3E4D}"/>
              </a:ext>
            </a:extLst>
          </p:cNvPr>
          <p:cNvSpPr>
            <a:spLocks noGrp="1"/>
          </p:cNvSpPr>
          <p:nvPr>
            <p:ph sz="half" idx="2"/>
          </p:nvPr>
        </p:nvSpPr>
        <p:spPr>
          <a:xfrm>
            <a:off x="240486" y="1412779"/>
            <a:ext cx="11693620" cy="5183615"/>
          </a:xfrm>
        </p:spPr>
        <p:txBody>
          <a:bodyPr/>
          <a:lstStyle>
            <a:lvl1pPr>
              <a:defRPr sz="1600"/>
            </a:lvl1pPr>
            <a:lvl2pPr>
              <a:defRPr sz="1400"/>
            </a:lvl2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96761929"/>
      </p:ext>
    </p:extLst>
  </p:cSld>
  <p:clrMapOvr>
    <a:masterClrMapping/>
  </p:clrMapOvr>
  <p:transition spd="slow"/>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29F858B8-54E9-7FE6-B910-3FF38CBF963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a:extLst>
              <a:ext uri="{FF2B5EF4-FFF2-40B4-BE49-F238E27FC236}">
                <a16:creationId xmlns:a16="http://schemas.microsoft.com/office/drawing/2014/main" id="{B244E728-E7D5-AF31-A904-9180B4A5B8C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A4EABB56-AADB-5C05-D3BC-C0A4C1B6C652}"/>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7C5957D5-1467-40EC-885E-7266D0F07755}" type="datetimeFigureOut">
              <a:rPr lang="en-IN" smtClean="0"/>
              <a:t>22-05-2026</a:t>
            </a:fld>
            <a:endParaRPr lang="en-IN"/>
          </a:p>
        </p:txBody>
      </p:sp>
      <p:sp>
        <p:nvSpPr>
          <p:cNvPr id="5" name="Footer Placeholder 4">
            <a:extLst>
              <a:ext uri="{FF2B5EF4-FFF2-40B4-BE49-F238E27FC236}">
                <a16:creationId xmlns:a16="http://schemas.microsoft.com/office/drawing/2014/main" id="{2337F451-6A06-2557-322A-C38241F1D8B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IN"/>
          </a:p>
        </p:txBody>
      </p:sp>
      <p:sp>
        <p:nvSpPr>
          <p:cNvPr id="6" name="Slide Number Placeholder 5">
            <a:extLst>
              <a:ext uri="{FF2B5EF4-FFF2-40B4-BE49-F238E27FC236}">
                <a16:creationId xmlns:a16="http://schemas.microsoft.com/office/drawing/2014/main" id="{9CE077E9-C7E9-33B4-59AE-B447A0F6A5FD}"/>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9F8529CD-E0E6-4F9D-A9BC-CD124C7C7B68}" type="slidenum">
              <a:rPr lang="en-IN" smtClean="0"/>
              <a:t>‹#›</a:t>
            </a:fld>
            <a:endParaRPr lang="en-IN"/>
          </a:p>
        </p:txBody>
      </p:sp>
    </p:spTree>
    <p:extLst>
      <p:ext uri="{BB962C8B-B14F-4D97-AF65-F5344CB8AC3E}">
        <p14:creationId xmlns:p14="http://schemas.microsoft.com/office/powerpoint/2010/main" val="254221427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jpe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5.emf"/><Relationship Id="rId11" Type="http://schemas.openxmlformats.org/officeDocument/2006/relationships/image" Target="../media/image10.jpeg"/><Relationship Id="rId5" Type="http://schemas.openxmlformats.org/officeDocument/2006/relationships/image" Target="../media/image4.emf"/><Relationship Id="rId10" Type="http://schemas.openxmlformats.org/officeDocument/2006/relationships/image" Target="../media/image9.emf"/><Relationship Id="rId4" Type="http://schemas.openxmlformats.org/officeDocument/2006/relationships/image" Target="../media/image3.emf"/><Relationship Id="rId9" Type="http://schemas.openxmlformats.org/officeDocument/2006/relationships/image" Target="../media/image8.emf"/></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2" name="Straight Connector 21">
            <a:extLst>
              <a:ext uri="{FF2B5EF4-FFF2-40B4-BE49-F238E27FC236}">
                <a16:creationId xmlns:a16="http://schemas.microsoft.com/office/drawing/2014/main" id="{9F61132F-09AD-1B70-5E5E-9AAD1B16BDA7}"/>
              </a:ext>
            </a:extLst>
          </p:cNvPr>
          <p:cNvCxnSpPr/>
          <p:nvPr/>
        </p:nvCxnSpPr>
        <p:spPr>
          <a:xfrm>
            <a:off x="0" y="0"/>
            <a:ext cx="914400" cy="0"/>
          </a:xfrm>
          <a:prstGeom prst="line">
            <a:avLst/>
          </a:prstGeom>
          <a:ln w="0" cap="flat" cmpd="sng" algn="ctr">
            <a:solidFill>
              <a:srgbClr val="FBFFFF"/>
            </a:solidFill>
            <a:prstDash val="solid"/>
            <a:round/>
            <a:headEnd type="none" w="med" len="med"/>
            <a:tailEnd type="none" w="med" len="med"/>
          </a:ln>
          <a:effectLst/>
          <a:extLst>
            <a:ext uri="{AF507438-7753-43E0-B8FC-AC1667EBCBE1}">
              <a14:hiddenEffects xmlns:a14="http://schemas.microsoft.com/office/drawing/2010/main">
                <a:effectLst>
                  <a:outerShdw blurRad="63500" rotWithShape="0">
                    <a:scrgbClr r="0" g="0" b="0"/>
                  </a:outerShdw>
                </a:effectLst>
              </a14:hiddenEffects>
            </a:ext>
          </a:extLst>
        </p:spPr>
        <p:style>
          <a:lnRef idx="1">
            <a:schemeClr val="accent1"/>
          </a:lnRef>
          <a:fillRef idx="0">
            <a:schemeClr val="accent1"/>
          </a:fillRef>
          <a:effectRef idx="0">
            <a:schemeClr val="accent1"/>
          </a:effectRef>
          <a:fontRef idx="minor">
            <a:schemeClr val="tx1"/>
          </a:fontRef>
        </p:style>
      </p:cxnSp>
      <p:sp>
        <p:nvSpPr>
          <p:cNvPr id="4100" name="Rectangle 14"/>
          <p:cNvSpPr>
            <a:spLocks noChangeArrowheads="1"/>
          </p:cNvSpPr>
          <p:nvPr/>
        </p:nvSpPr>
        <p:spPr bwMode="auto">
          <a:xfrm>
            <a:off x="2639616" y="1529789"/>
            <a:ext cx="9217024" cy="1661993"/>
          </a:xfrm>
          <a:prstGeom prst="rect">
            <a:avLst/>
          </a:prstGeom>
          <a:noFill/>
          <a:ln w="9525">
            <a:noFill/>
            <a:miter lim="800000"/>
            <a:headEnd/>
            <a:tailEnd/>
          </a:ln>
        </p:spPr>
        <p:txBody>
          <a:bodyPr wrap="square">
            <a:spAutoFit/>
          </a:bodyPr>
          <a:lstStyle/>
          <a:p>
            <a:pPr algn="r" defTabSz="914377" eaLnBrk="1" hangingPunct="1">
              <a:defRPr/>
            </a:pPr>
            <a:r>
              <a:rPr lang="en-US" altLang="en-US" sz="5400" dirty="0">
                <a:solidFill>
                  <a:prstClr val="black"/>
                </a:solidFill>
                <a:latin typeface="Calibri" panose="020F0502020204030204" pitchFamily="34" charset="0"/>
                <a:ea typeface="Calibri" panose="020F0502020204030204" pitchFamily="34" charset="0"/>
                <a:cs typeface="Calibri" panose="020F0502020204030204" pitchFamily="34" charset="0"/>
              </a:rPr>
              <a:t>KEC International Limited</a:t>
            </a:r>
          </a:p>
          <a:p>
            <a:pPr algn="r" defTabSz="914377" eaLnBrk="1" hangingPunct="1">
              <a:defRPr/>
            </a:pPr>
            <a:endParaRPr lang="en-US" altLang="en-US" sz="4800" dirty="0">
              <a:solidFill>
                <a:prstClr val="black"/>
              </a:solidFill>
            </a:endParaRPr>
          </a:p>
        </p:txBody>
      </p:sp>
      <p:sp>
        <p:nvSpPr>
          <p:cNvPr id="17" name="Rectangle 16"/>
          <p:cNvSpPr/>
          <p:nvPr/>
        </p:nvSpPr>
        <p:spPr>
          <a:xfrm>
            <a:off x="3071665" y="2463279"/>
            <a:ext cx="8770462" cy="523220"/>
          </a:xfrm>
          <a:prstGeom prst="rect">
            <a:avLst/>
          </a:prstGeom>
        </p:spPr>
        <p:txBody>
          <a:bodyPr wrap="square">
            <a:spAutoFit/>
          </a:bodyPr>
          <a:lstStyle/>
          <a:p>
            <a:pPr algn="r" defTabSz="914377" eaLnBrk="1" fontAlgn="auto" hangingPunct="1">
              <a:spcBef>
                <a:spcPts val="0"/>
              </a:spcBef>
              <a:spcAft>
                <a:spcPts val="0"/>
              </a:spcAft>
              <a:defRPr/>
            </a:pPr>
            <a:r>
              <a:rPr lang="en-US" sz="2800" b="1" spc="200" dirty="0">
                <a:solidFill>
                  <a:prstClr val="black"/>
                </a:solidFill>
                <a:latin typeface="Calibri" panose="020F0502020204030204" pitchFamily="34" charset="0"/>
                <a:ea typeface="Calibri" panose="020F0502020204030204" pitchFamily="34" charset="0"/>
                <a:cs typeface="Calibri" panose="020F0502020204030204" pitchFamily="34" charset="0"/>
              </a:rPr>
              <a:t>PGCIL Review – 18</a:t>
            </a:r>
            <a:r>
              <a:rPr lang="en-US" sz="2800" b="1" spc="200" baseline="30000" dirty="0">
                <a:solidFill>
                  <a:prstClr val="black"/>
                </a:solidFill>
                <a:latin typeface="Calibri" panose="020F0502020204030204" pitchFamily="34" charset="0"/>
                <a:ea typeface="Calibri" panose="020F0502020204030204" pitchFamily="34" charset="0"/>
                <a:cs typeface="Calibri" panose="020F0502020204030204" pitchFamily="34" charset="0"/>
              </a:rPr>
              <a:t>th</a:t>
            </a:r>
            <a:r>
              <a:rPr lang="en-US" sz="2800" b="1" spc="200" dirty="0">
                <a:solidFill>
                  <a:prstClr val="black"/>
                </a:solidFill>
                <a:latin typeface="Calibri" panose="020F0502020204030204" pitchFamily="34" charset="0"/>
                <a:ea typeface="Calibri" panose="020F0502020204030204" pitchFamily="34" charset="0"/>
                <a:cs typeface="Calibri" panose="020F0502020204030204" pitchFamily="34" charset="0"/>
              </a:rPr>
              <a:t> May’26 </a:t>
            </a:r>
          </a:p>
        </p:txBody>
      </p:sp>
      <p:sp>
        <p:nvSpPr>
          <p:cNvPr id="30" name="Rectangle 29">
            <a:extLst>
              <a:ext uri="{FF2B5EF4-FFF2-40B4-BE49-F238E27FC236}">
                <a16:creationId xmlns:a16="http://schemas.microsoft.com/office/drawing/2014/main" id="{EBBC235F-91BB-46D2-93C9-DB65C0A31518}"/>
              </a:ext>
            </a:extLst>
          </p:cNvPr>
          <p:cNvSpPr/>
          <p:nvPr/>
        </p:nvSpPr>
        <p:spPr>
          <a:xfrm>
            <a:off x="3647728" y="2330870"/>
            <a:ext cx="8194398" cy="45719"/>
          </a:xfrm>
          <a:prstGeom prst="rect">
            <a:avLst/>
          </a:prstGeom>
          <a:gradFill flip="none" rotWithShape="1">
            <a:gsLst>
              <a:gs pos="0">
                <a:srgbClr val="002060"/>
              </a:gs>
              <a:gs pos="50000">
                <a:srgbClr val="FF0000"/>
              </a:gs>
              <a:gs pos="75000">
                <a:srgbClr val="FFC000"/>
              </a:gs>
              <a:gs pos="100000">
                <a:srgbClr val="00B0F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1" fontAlgn="auto" hangingPunct="1">
              <a:spcBef>
                <a:spcPts val="0"/>
              </a:spcBef>
              <a:spcAft>
                <a:spcPts val="0"/>
              </a:spcAft>
              <a:defRPr/>
            </a:pPr>
            <a:endParaRPr lang="en-US" sz="2400">
              <a:solidFill>
                <a:prstClr val="white"/>
              </a:solidFill>
              <a:latin typeface="Calibri"/>
            </a:endParaRPr>
          </a:p>
        </p:txBody>
      </p:sp>
      <p:pic>
        <p:nvPicPr>
          <p:cNvPr id="32" name="Picture 31">
            <a:extLst>
              <a:ext uri="{FF2B5EF4-FFF2-40B4-BE49-F238E27FC236}">
                <a16:creationId xmlns:a16="http://schemas.microsoft.com/office/drawing/2014/main" id="{1A3E7701-5332-40A2-9D3F-BB86851DA556}"/>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0366625" y="21524"/>
            <a:ext cx="1778047" cy="599165"/>
          </a:xfrm>
          <a:prstGeom prst="rect">
            <a:avLst/>
          </a:prstGeom>
        </p:spPr>
      </p:pic>
      <p:sp>
        <p:nvSpPr>
          <p:cNvPr id="2" name="Rectangle 1">
            <a:extLst>
              <a:ext uri="{FF2B5EF4-FFF2-40B4-BE49-F238E27FC236}">
                <a16:creationId xmlns:a16="http://schemas.microsoft.com/office/drawing/2014/main" id="{CA87FFFA-189F-5075-6627-E31F5924EE11}"/>
              </a:ext>
            </a:extLst>
          </p:cNvPr>
          <p:cNvSpPr/>
          <p:nvPr/>
        </p:nvSpPr>
        <p:spPr>
          <a:xfrm>
            <a:off x="6289144" y="4229501"/>
            <a:ext cx="1463040" cy="1421932"/>
          </a:xfrm>
          <a:prstGeom prst="rect">
            <a:avLst/>
          </a:prstGeom>
          <a:solidFill>
            <a:schemeClr val="accent6">
              <a:lumMod val="60000"/>
              <a:lumOff val="40000"/>
            </a:schemeClr>
          </a:solidFill>
          <a:ln w="381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1" fontAlgn="auto" hangingPunct="1">
              <a:spcBef>
                <a:spcPts val="0"/>
              </a:spcBef>
              <a:spcAft>
                <a:spcPts val="0"/>
              </a:spcAft>
              <a:defRPr/>
            </a:pPr>
            <a:endParaRPr lang="en-IN">
              <a:solidFill>
                <a:prstClr val="white"/>
              </a:solidFill>
              <a:latin typeface="Calibri"/>
            </a:endParaRPr>
          </a:p>
        </p:txBody>
      </p:sp>
      <p:sp>
        <p:nvSpPr>
          <p:cNvPr id="3" name="Rectangle 2">
            <a:extLst>
              <a:ext uri="{FF2B5EF4-FFF2-40B4-BE49-F238E27FC236}">
                <a16:creationId xmlns:a16="http://schemas.microsoft.com/office/drawing/2014/main" id="{368A4EC3-3732-5BE6-F840-622517C20EA9}"/>
              </a:ext>
            </a:extLst>
          </p:cNvPr>
          <p:cNvSpPr/>
          <p:nvPr/>
        </p:nvSpPr>
        <p:spPr>
          <a:xfrm>
            <a:off x="2423592" y="4221088"/>
            <a:ext cx="1463040" cy="1434813"/>
          </a:xfrm>
          <a:prstGeom prst="rect">
            <a:avLst/>
          </a:prstGeom>
          <a:solidFill>
            <a:srgbClr val="336600"/>
          </a:solidFill>
          <a:ln w="381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1" fontAlgn="auto" hangingPunct="1">
              <a:spcBef>
                <a:spcPts val="0"/>
              </a:spcBef>
              <a:spcAft>
                <a:spcPts val="0"/>
              </a:spcAft>
              <a:defRPr/>
            </a:pPr>
            <a:endParaRPr lang="en-IN">
              <a:solidFill>
                <a:prstClr val="white"/>
              </a:solidFill>
              <a:latin typeface="Calibri"/>
            </a:endParaRPr>
          </a:p>
        </p:txBody>
      </p:sp>
      <p:sp>
        <p:nvSpPr>
          <p:cNvPr id="4" name="Rectangle 3">
            <a:extLst>
              <a:ext uri="{FF2B5EF4-FFF2-40B4-BE49-F238E27FC236}">
                <a16:creationId xmlns:a16="http://schemas.microsoft.com/office/drawing/2014/main" id="{FDCB41D6-5DD6-7EFE-F4D8-EADD69944211}"/>
              </a:ext>
            </a:extLst>
          </p:cNvPr>
          <p:cNvSpPr/>
          <p:nvPr/>
        </p:nvSpPr>
        <p:spPr>
          <a:xfrm>
            <a:off x="479376" y="4247283"/>
            <a:ext cx="1463040" cy="1413965"/>
          </a:xfrm>
          <a:prstGeom prst="rect">
            <a:avLst/>
          </a:prstGeom>
          <a:solidFill>
            <a:schemeClr val="accent6">
              <a:lumMod val="60000"/>
              <a:lumOff val="40000"/>
            </a:schemeClr>
          </a:solidFill>
          <a:ln w="381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IN">
              <a:solidFill>
                <a:prstClr val="white"/>
              </a:solidFill>
              <a:latin typeface="Calibri"/>
            </a:endParaRPr>
          </a:p>
        </p:txBody>
      </p:sp>
      <p:pic>
        <p:nvPicPr>
          <p:cNvPr id="5" name="Picture 4">
            <a:extLst>
              <a:ext uri="{FF2B5EF4-FFF2-40B4-BE49-F238E27FC236}">
                <a16:creationId xmlns:a16="http://schemas.microsoft.com/office/drawing/2014/main" id="{1AA054CE-220A-EC85-E246-DF10F50F9556}"/>
              </a:ext>
            </a:extLst>
          </p:cNvPr>
          <p:cNvPicPr>
            <a:picLocks noChangeAspect="1"/>
          </p:cNvPicPr>
          <p:nvPr/>
        </p:nvPicPr>
        <p:blipFill rotWithShape="1">
          <a:blip r:embed="rId4" cstate="screen">
            <a:clrChange>
              <a:clrFrom>
                <a:srgbClr val="FFFFFF"/>
              </a:clrFrom>
              <a:clrTo>
                <a:srgbClr val="FFFFFF">
                  <a:alpha val="0"/>
                </a:srgbClr>
              </a:clrTo>
            </a:clrChange>
            <a:extLst>
              <a:ext uri="{28A0092B-C50C-407E-A947-70E740481C1C}">
                <a14:useLocalDpi xmlns:a14="http://schemas.microsoft.com/office/drawing/2010/main"/>
              </a:ext>
            </a:extLst>
          </a:blip>
          <a:srcRect l="8599" r="4734"/>
          <a:stretch/>
        </p:blipFill>
        <p:spPr>
          <a:xfrm>
            <a:off x="479376" y="4316093"/>
            <a:ext cx="1463040" cy="1158833"/>
          </a:xfrm>
          <a:prstGeom prst="rect">
            <a:avLst/>
          </a:prstGeom>
          <a:ln>
            <a:noFill/>
          </a:ln>
        </p:spPr>
      </p:pic>
      <p:pic>
        <p:nvPicPr>
          <p:cNvPr id="6" name="Picture 5">
            <a:extLst>
              <a:ext uri="{FF2B5EF4-FFF2-40B4-BE49-F238E27FC236}">
                <a16:creationId xmlns:a16="http://schemas.microsoft.com/office/drawing/2014/main" id="{E7935F50-FA37-6114-E52F-41CE28F7B809}"/>
              </a:ext>
            </a:extLst>
          </p:cNvPr>
          <p:cNvPicPr>
            <a:picLocks noChangeAspect="1"/>
          </p:cNvPicPr>
          <p:nvPr/>
        </p:nvPicPr>
        <p:blipFill rotWithShape="1">
          <a:blip r:embed="rId5" cstate="email">
            <a:clrChange>
              <a:clrFrom>
                <a:srgbClr val="FFFFFF"/>
              </a:clrFrom>
              <a:clrTo>
                <a:srgbClr val="FFFFFF">
                  <a:alpha val="0"/>
                </a:srgbClr>
              </a:clrTo>
            </a:clrChange>
            <a:extLst>
              <a:ext uri="{28A0092B-C50C-407E-A947-70E740481C1C}">
                <a14:useLocalDpi xmlns:a14="http://schemas.microsoft.com/office/drawing/2010/main"/>
              </a:ext>
            </a:extLst>
          </a:blip>
          <a:srcRect r="4272"/>
          <a:stretch/>
        </p:blipFill>
        <p:spPr>
          <a:xfrm>
            <a:off x="2472720" y="4418010"/>
            <a:ext cx="1463040" cy="1065410"/>
          </a:xfrm>
          <a:prstGeom prst="rect">
            <a:avLst/>
          </a:prstGeom>
          <a:ln>
            <a:noFill/>
          </a:ln>
        </p:spPr>
      </p:pic>
      <p:sp>
        <p:nvSpPr>
          <p:cNvPr id="7" name="TextBox 6">
            <a:extLst>
              <a:ext uri="{FF2B5EF4-FFF2-40B4-BE49-F238E27FC236}">
                <a16:creationId xmlns:a16="http://schemas.microsoft.com/office/drawing/2014/main" id="{777A8C6C-4388-E329-FB02-CB42F7402C97}"/>
              </a:ext>
            </a:extLst>
          </p:cNvPr>
          <p:cNvSpPr txBox="1"/>
          <p:nvPr/>
        </p:nvSpPr>
        <p:spPr>
          <a:xfrm>
            <a:off x="-76599" y="5698123"/>
            <a:ext cx="2572199" cy="323165"/>
          </a:xfrm>
          <a:prstGeom prst="rect">
            <a:avLst/>
          </a:prstGeom>
          <a:noFill/>
        </p:spPr>
        <p:txBody>
          <a:bodyPr wrap="square" rtlCol="0">
            <a:spAutoFit/>
          </a:bodyPr>
          <a:lstStyle/>
          <a:p>
            <a:pPr algn="ctr" defTabSz="914377">
              <a:defRPr/>
            </a:pPr>
            <a:r>
              <a:rPr lang="en-US" sz="1500" b="1">
                <a:solidFill>
                  <a:prstClr val="black"/>
                </a:solidFill>
                <a:latin typeface="Calibri"/>
              </a:rPr>
              <a:t>Power T &amp; D </a:t>
            </a:r>
          </a:p>
        </p:txBody>
      </p:sp>
      <p:sp>
        <p:nvSpPr>
          <p:cNvPr id="8" name="TextBox 7">
            <a:extLst>
              <a:ext uri="{FF2B5EF4-FFF2-40B4-BE49-F238E27FC236}">
                <a16:creationId xmlns:a16="http://schemas.microsoft.com/office/drawing/2014/main" id="{821B83FA-FC47-15B0-E632-6AE73B7E03D6}"/>
              </a:ext>
            </a:extLst>
          </p:cNvPr>
          <p:cNvSpPr txBox="1"/>
          <p:nvPr/>
        </p:nvSpPr>
        <p:spPr>
          <a:xfrm>
            <a:off x="9912424" y="5698123"/>
            <a:ext cx="2217359" cy="323165"/>
          </a:xfrm>
          <a:prstGeom prst="rect">
            <a:avLst/>
          </a:prstGeom>
          <a:noFill/>
        </p:spPr>
        <p:txBody>
          <a:bodyPr wrap="square" rtlCol="0">
            <a:spAutoFit/>
          </a:bodyPr>
          <a:lstStyle/>
          <a:p>
            <a:pPr algn="ctr" defTabSz="914377">
              <a:defRPr/>
            </a:pPr>
            <a:r>
              <a:rPr lang="en-US" sz="1500" b="1">
                <a:solidFill>
                  <a:prstClr val="black"/>
                </a:solidFill>
                <a:latin typeface="Calibri"/>
              </a:rPr>
              <a:t>Cables </a:t>
            </a:r>
          </a:p>
        </p:txBody>
      </p:sp>
      <p:sp>
        <p:nvSpPr>
          <p:cNvPr id="9" name="TextBox 8">
            <a:extLst>
              <a:ext uri="{FF2B5EF4-FFF2-40B4-BE49-F238E27FC236}">
                <a16:creationId xmlns:a16="http://schemas.microsoft.com/office/drawing/2014/main" id="{B56DDB3C-92B8-DA3B-6FDC-1D99451DF54D}"/>
              </a:ext>
            </a:extLst>
          </p:cNvPr>
          <p:cNvSpPr txBox="1"/>
          <p:nvPr/>
        </p:nvSpPr>
        <p:spPr>
          <a:xfrm>
            <a:off x="3950649" y="5698123"/>
            <a:ext cx="2217359" cy="323165"/>
          </a:xfrm>
          <a:prstGeom prst="rect">
            <a:avLst/>
          </a:prstGeom>
          <a:noFill/>
        </p:spPr>
        <p:txBody>
          <a:bodyPr wrap="square" rtlCol="0">
            <a:spAutoFit/>
          </a:bodyPr>
          <a:lstStyle/>
          <a:p>
            <a:pPr algn="ctr" defTabSz="914377">
              <a:defRPr/>
            </a:pPr>
            <a:r>
              <a:rPr lang="en-US" sz="1500" b="1">
                <a:solidFill>
                  <a:prstClr val="black"/>
                </a:solidFill>
                <a:latin typeface="Calibri"/>
              </a:rPr>
              <a:t>Railways</a:t>
            </a:r>
          </a:p>
        </p:txBody>
      </p:sp>
      <p:sp>
        <p:nvSpPr>
          <p:cNvPr id="10" name="TextBox 9">
            <a:extLst>
              <a:ext uri="{FF2B5EF4-FFF2-40B4-BE49-F238E27FC236}">
                <a16:creationId xmlns:a16="http://schemas.microsoft.com/office/drawing/2014/main" id="{C87AA2DB-CC22-0A61-D62B-6329D8AE76B8}"/>
              </a:ext>
            </a:extLst>
          </p:cNvPr>
          <p:cNvSpPr txBox="1"/>
          <p:nvPr/>
        </p:nvSpPr>
        <p:spPr>
          <a:xfrm>
            <a:off x="2006433" y="5698123"/>
            <a:ext cx="2217359" cy="323165"/>
          </a:xfrm>
          <a:prstGeom prst="rect">
            <a:avLst/>
          </a:prstGeom>
          <a:noFill/>
        </p:spPr>
        <p:txBody>
          <a:bodyPr wrap="square" rtlCol="0">
            <a:spAutoFit/>
          </a:bodyPr>
          <a:lstStyle/>
          <a:p>
            <a:pPr algn="ctr" defTabSz="914377">
              <a:defRPr/>
            </a:pPr>
            <a:r>
              <a:rPr lang="en-US" sz="1500" b="1">
                <a:solidFill>
                  <a:prstClr val="black"/>
                </a:solidFill>
                <a:latin typeface="Calibri"/>
              </a:rPr>
              <a:t>Civil</a:t>
            </a:r>
          </a:p>
        </p:txBody>
      </p:sp>
      <p:sp>
        <p:nvSpPr>
          <p:cNvPr id="11" name="TextBox 10">
            <a:extLst>
              <a:ext uri="{FF2B5EF4-FFF2-40B4-BE49-F238E27FC236}">
                <a16:creationId xmlns:a16="http://schemas.microsoft.com/office/drawing/2014/main" id="{ECCD2D38-5854-5CA9-9907-F025C96F35BB}"/>
              </a:ext>
            </a:extLst>
          </p:cNvPr>
          <p:cNvSpPr txBox="1"/>
          <p:nvPr/>
        </p:nvSpPr>
        <p:spPr>
          <a:xfrm>
            <a:off x="7911089" y="5698123"/>
            <a:ext cx="2217359" cy="323165"/>
          </a:xfrm>
          <a:prstGeom prst="rect">
            <a:avLst/>
          </a:prstGeom>
          <a:noFill/>
        </p:spPr>
        <p:txBody>
          <a:bodyPr wrap="square" rtlCol="0">
            <a:spAutoFit/>
          </a:bodyPr>
          <a:lstStyle/>
          <a:p>
            <a:pPr algn="ctr" defTabSz="914377">
              <a:defRPr/>
            </a:pPr>
            <a:r>
              <a:rPr lang="en-US" sz="1500" b="1">
                <a:solidFill>
                  <a:prstClr val="black"/>
                </a:solidFill>
                <a:latin typeface="Calibri"/>
              </a:rPr>
              <a:t>Renewables</a:t>
            </a:r>
          </a:p>
        </p:txBody>
      </p:sp>
      <p:sp>
        <p:nvSpPr>
          <p:cNvPr id="12" name="Rectangle 11">
            <a:extLst>
              <a:ext uri="{FF2B5EF4-FFF2-40B4-BE49-F238E27FC236}">
                <a16:creationId xmlns:a16="http://schemas.microsoft.com/office/drawing/2014/main" id="{3BEA3E99-9B0F-BC11-ED97-7037122C285A}"/>
              </a:ext>
            </a:extLst>
          </p:cNvPr>
          <p:cNvSpPr/>
          <p:nvPr/>
        </p:nvSpPr>
        <p:spPr>
          <a:xfrm>
            <a:off x="4295800" y="4240183"/>
            <a:ext cx="1463040" cy="1421065"/>
          </a:xfrm>
          <a:prstGeom prst="rect">
            <a:avLst/>
          </a:prstGeom>
          <a:solidFill>
            <a:srgbClr val="00B0F0"/>
          </a:solidFill>
          <a:ln w="381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1" fontAlgn="auto" hangingPunct="1">
              <a:spcBef>
                <a:spcPts val="0"/>
              </a:spcBef>
              <a:spcAft>
                <a:spcPts val="0"/>
              </a:spcAft>
              <a:defRPr/>
            </a:pPr>
            <a:endParaRPr lang="en-IN">
              <a:solidFill>
                <a:prstClr val="white"/>
              </a:solidFill>
              <a:latin typeface="Calibri"/>
            </a:endParaRPr>
          </a:p>
        </p:txBody>
      </p:sp>
      <p:pic>
        <p:nvPicPr>
          <p:cNvPr id="13" name="Picture 12">
            <a:extLst>
              <a:ext uri="{FF2B5EF4-FFF2-40B4-BE49-F238E27FC236}">
                <a16:creationId xmlns:a16="http://schemas.microsoft.com/office/drawing/2014/main" id="{4B8C4EC0-A81B-731F-3A2C-20ADFFEBE090}"/>
              </a:ext>
            </a:extLst>
          </p:cNvPr>
          <p:cNvPicPr>
            <a:picLocks noChangeAspect="1"/>
          </p:cNvPicPr>
          <p:nvPr/>
        </p:nvPicPr>
        <p:blipFill rotWithShape="1">
          <a:blip r:embed="rId6" cstate="screen">
            <a:clrChange>
              <a:clrFrom>
                <a:srgbClr val="FFFFFF"/>
              </a:clrFrom>
              <a:clrTo>
                <a:srgbClr val="FFFFFF">
                  <a:alpha val="0"/>
                </a:srgbClr>
              </a:clrTo>
            </a:clrChange>
            <a:extLst>
              <a:ext uri="{28A0092B-C50C-407E-A947-70E740481C1C}">
                <a14:useLocalDpi xmlns:a14="http://schemas.microsoft.com/office/drawing/2010/main"/>
              </a:ext>
            </a:extLst>
          </a:blip>
          <a:srcRect r="8303" b="2871"/>
          <a:stretch/>
        </p:blipFill>
        <p:spPr>
          <a:xfrm>
            <a:off x="4272920" y="4367107"/>
            <a:ext cx="1463040" cy="1150125"/>
          </a:xfrm>
          <a:prstGeom prst="rect">
            <a:avLst/>
          </a:prstGeom>
          <a:ln>
            <a:noFill/>
          </a:ln>
        </p:spPr>
      </p:pic>
      <p:sp>
        <p:nvSpPr>
          <p:cNvPr id="14" name="TextBox 13">
            <a:extLst>
              <a:ext uri="{FF2B5EF4-FFF2-40B4-BE49-F238E27FC236}">
                <a16:creationId xmlns:a16="http://schemas.microsoft.com/office/drawing/2014/main" id="{88E8665C-33E5-6E4F-7963-0898C5C348AA}"/>
              </a:ext>
            </a:extLst>
          </p:cNvPr>
          <p:cNvSpPr txBox="1"/>
          <p:nvPr/>
        </p:nvSpPr>
        <p:spPr>
          <a:xfrm>
            <a:off x="6168008" y="5698123"/>
            <a:ext cx="1763375" cy="323165"/>
          </a:xfrm>
          <a:prstGeom prst="rect">
            <a:avLst/>
          </a:prstGeom>
          <a:noFill/>
        </p:spPr>
        <p:txBody>
          <a:bodyPr wrap="square" rtlCol="0">
            <a:spAutoFit/>
          </a:bodyPr>
          <a:lstStyle/>
          <a:p>
            <a:pPr algn="ctr">
              <a:defRPr/>
            </a:pPr>
            <a:r>
              <a:rPr lang="en-US" sz="1500" b="1">
                <a:solidFill>
                  <a:prstClr val="black"/>
                </a:solidFill>
                <a:latin typeface="Calibri"/>
              </a:rPr>
              <a:t>Oil &amp; Gas Pipelines</a:t>
            </a:r>
          </a:p>
        </p:txBody>
      </p:sp>
      <p:pic>
        <p:nvPicPr>
          <p:cNvPr id="15" name="Picture 14" descr="Diagram&#10;&#10;Description automatically generated">
            <a:extLst>
              <a:ext uri="{FF2B5EF4-FFF2-40B4-BE49-F238E27FC236}">
                <a16:creationId xmlns:a16="http://schemas.microsoft.com/office/drawing/2014/main" id="{6EBEFD7B-5A7B-17B5-B8C6-7973F6279E43}"/>
              </a:ext>
            </a:extLst>
          </p:cNvPr>
          <p:cNvPicPr>
            <a:picLocks noChangeAspect="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312024" y="4314073"/>
            <a:ext cx="1463040" cy="1203159"/>
          </a:xfrm>
          <a:prstGeom prst="rect">
            <a:avLst/>
          </a:prstGeom>
        </p:spPr>
      </p:pic>
      <p:pic>
        <p:nvPicPr>
          <p:cNvPr id="16" name="Picture 15">
            <a:extLst>
              <a:ext uri="{FF2B5EF4-FFF2-40B4-BE49-F238E27FC236}">
                <a16:creationId xmlns:a16="http://schemas.microsoft.com/office/drawing/2014/main" id="{3024B1D8-9D8F-AA24-B2CE-3B04491747ED}"/>
              </a:ext>
            </a:extLst>
          </p:cNvPr>
          <p:cNvPicPr>
            <a:picLocks noChangeAspect="1"/>
          </p:cNvPicPr>
          <p:nvPr/>
        </p:nvPicPr>
        <p:blipFill rotWithShape="1">
          <a:blip r:embed="rId8" cstate="screen">
            <a:extLst>
              <a:ext uri="{28A0092B-C50C-407E-A947-70E740481C1C}">
                <a14:useLocalDpi xmlns:a14="http://schemas.microsoft.com/office/drawing/2010/main"/>
              </a:ext>
            </a:extLst>
          </a:blip>
          <a:srcRect/>
          <a:stretch/>
        </p:blipFill>
        <p:spPr>
          <a:xfrm>
            <a:off x="263352" y="6310613"/>
            <a:ext cx="2070277" cy="287984"/>
          </a:xfrm>
          <a:prstGeom prst="rect">
            <a:avLst/>
          </a:prstGeom>
        </p:spPr>
      </p:pic>
      <p:sp>
        <p:nvSpPr>
          <p:cNvPr id="18" name="Rectangle 17">
            <a:extLst>
              <a:ext uri="{FF2B5EF4-FFF2-40B4-BE49-F238E27FC236}">
                <a16:creationId xmlns:a16="http://schemas.microsoft.com/office/drawing/2014/main" id="{5ACF1544-018F-5339-C65B-D484D06C0343}"/>
              </a:ext>
            </a:extLst>
          </p:cNvPr>
          <p:cNvSpPr/>
          <p:nvPr/>
        </p:nvSpPr>
        <p:spPr>
          <a:xfrm>
            <a:off x="8233360" y="4221088"/>
            <a:ext cx="1463040" cy="1434813"/>
          </a:xfrm>
          <a:prstGeom prst="rect">
            <a:avLst/>
          </a:prstGeom>
          <a:solidFill>
            <a:srgbClr val="336600"/>
          </a:solidFill>
          <a:ln w="381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1" fontAlgn="auto" hangingPunct="1">
              <a:spcBef>
                <a:spcPts val="0"/>
              </a:spcBef>
              <a:spcAft>
                <a:spcPts val="0"/>
              </a:spcAft>
              <a:defRPr/>
            </a:pPr>
            <a:endParaRPr lang="en-IN">
              <a:solidFill>
                <a:prstClr val="white"/>
              </a:solidFill>
              <a:latin typeface="Calibri"/>
            </a:endParaRPr>
          </a:p>
        </p:txBody>
      </p:sp>
      <p:pic>
        <p:nvPicPr>
          <p:cNvPr id="19" name="Picture 18">
            <a:extLst>
              <a:ext uri="{FF2B5EF4-FFF2-40B4-BE49-F238E27FC236}">
                <a16:creationId xmlns:a16="http://schemas.microsoft.com/office/drawing/2014/main" id="{D51B6E6B-0758-5A30-5CFC-08CCEC044130}"/>
              </a:ext>
            </a:extLst>
          </p:cNvPr>
          <p:cNvPicPr>
            <a:picLocks noChangeAspect="1"/>
          </p:cNvPicPr>
          <p:nvPr/>
        </p:nvPicPr>
        <p:blipFill rotWithShape="1">
          <a:blip r:embed="rId9" cstate="screen">
            <a:clrChange>
              <a:clrFrom>
                <a:srgbClr val="FFFFFF"/>
              </a:clrFrom>
              <a:clrTo>
                <a:srgbClr val="FFFFFF">
                  <a:alpha val="0"/>
                </a:srgbClr>
              </a:clrTo>
            </a:clrChange>
            <a:extLst>
              <a:ext uri="{28A0092B-C50C-407E-A947-70E740481C1C}">
                <a14:useLocalDpi xmlns:a14="http://schemas.microsoft.com/office/drawing/2010/main"/>
              </a:ext>
            </a:extLst>
          </a:blip>
          <a:srcRect l="9220" r="11257" b="3887"/>
          <a:stretch/>
        </p:blipFill>
        <p:spPr>
          <a:xfrm>
            <a:off x="8233360" y="4321439"/>
            <a:ext cx="1463040" cy="1267801"/>
          </a:xfrm>
          <a:prstGeom prst="rect">
            <a:avLst/>
          </a:prstGeom>
        </p:spPr>
      </p:pic>
      <p:sp>
        <p:nvSpPr>
          <p:cNvPr id="20" name="Rectangle 19">
            <a:extLst>
              <a:ext uri="{FF2B5EF4-FFF2-40B4-BE49-F238E27FC236}">
                <a16:creationId xmlns:a16="http://schemas.microsoft.com/office/drawing/2014/main" id="{4EB7EB7E-EE90-BCF1-0352-DE63D8871E0D}"/>
              </a:ext>
            </a:extLst>
          </p:cNvPr>
          <p:cNvSpPr/>
          <p:nvPr/>
        </p:nvSpPr>
        <p:spPr>
          <a:xfrm>
            <a:off x="10272464" y="4247283"/>
            <a:ext cx="1463040" cy="1421065"/>
          </a:xfrm>
          <a:prstGeom prst="rect">
            <a:avLst/>
          </a:prstGeom>
          <a:solidFill>
            <a:srgbClr val="00B0F0"/>
          </a:solidFill>
          <a:ln w="381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1" fontAlgn="auto" hangingPunct="1">
              <a:spcBef>
                <a:spcPts val="0"/>
              </a:spcBef>
              <a:spcAft>
                <a:spcPts val="0"/>
              </a:spcAft>
              <a:defRPr/>
            </a:pPr>
            <a:endParaRPr lang="en-IN">
              <a:solidFill>
                <a:prstClr val="white"/>
              </a:solidFill>
              <a:latin typeface="Calibri"/>
            </a:endParaRPr>
          </a:p>
        </p:txBody>
      </p:sp>
      <p:pic>
        <p:nvPicPr>
          <p:cNvPr id="21" name="Picture 20">
            <a:extLst>
              <a:ext uri="{FF2B5EF4-FFF2-40B4-BE49-F238E27FC236}">
                <a16:creationId xmlns:a16="http://schemas.microsoft.com/office/drawing/2014/main" id="{535BD605-66D7-900A-9554-0BA3346279C2}"/>
              </a:ext>
            </a:extLst>
          </p:cNvPr>
          <p:cNvPicPr>
            <a:picLocks noChangeAspect="1"/>
          </p:cNvPicPr>
          <p:nvPr/>
        </p:nvPicPr>
        <p:blipFill rotWithShape="1">
          <a:blip r:embed="rId10" cstate="screen">
            <a:clrChange>
              <a:clrFrom>
                <a:srgbClr val="FFFFFF"/>
              </a:clrFrom>
              <a:clrTo>
                <a:srgbClr val="FFFFFF">
                  <a:alpha val="0"/>
                </a:srgbClr>
              </a:clrTo>
            </a:clrChange>
            <a:extLst>
              <a:ext uri="{28A0092B-C50C-407E-A947-70E740481C1C}">
                <a14:useLocalDpi xmlns:a14="http://schemas.microsoft.com/office/drawing/2010/main"/>
              </a:ext>
            </a:extLst>
          </a:blip>
          <a:srcRect t="7454" r="17577" b="9688"/>
          <a:stretch/>
        </p:blipFill>
        <p:spPr>
          <a:xfrm>
            <a:off x="10128448" y="4329189"/>
            <a:ext cx="1463040" cy="1145707"/>
          </a:xfrm>
          <a:prstGeom prst="rect">
            <a:avLst/>
          </a:prstGeom>
          <a:ln>
            <a:noFill/>
          </a:ln>
        </p:spPr>
      </p:pic>
      <p:pic>
        <p:nvPicPr>
          <p:cNvPr id="23" name="Picture 2" descr="KEC International Ltd Share Price Today : KEC Stock Price ...">
            <a:extLst>
              <a:ext uri="{FF2B5EF4-FFF2-40B4-BE49-F238E27FC236}">
                <a16:creationId xmlns:a16="http://schemas.microsoft.com/office/drawing/2014/main" id="{BC2FA7B3-C131-5786-BAE2-15FD9C74CF4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0201" y="-1"/>
            <a:ext cx="1022799" cy="62068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0815781"/>
      </p:ext>
    </p:extLst>
  </p:cSld>
  <p:clrMapOvr>
    <a:masterClrMapping/>
  </p:clrMapOvr>
  <p:transition spd="slow"/>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316C7E-E451-4FD1-400C-B4933ACB52F0}"/>
              </a:ext>
            </a:extLst>
          </p:cNvPr>
          <p:cNvSpPr>
            <a:spLocks noGrp="1"/>
          </p:cNvSpPr>
          <p:nvPr>
            <p:ph type="title"/>
          </p:nvPr>
        </p:nvSpPr>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Agenda Points</a:t>
            </a:r>
            <a:endParaRPr lang="en-US" sz="2400" b="1" dirty="0">
              <a:latin typeface="Calibri" panose="020F0502020204030204" pitchFamily="34" charset="0"/>
              <a:ea typeface="Calibri" panose="020F0502020204030204" pitchFamily="34" charset="0"/>
              <a:cs typeface="Calibri" panose="020F0502020204030204" pitchFamily="34" charset="0"/>
            </a:endParaRPr>
          </a:p>
        </p:txBody>
      </p:sp>
      <p:sp>
        <p:nvSpPr>
          <p:cNvPr id="3" name="Rectangle 2">
            <a:extLst>
              <a:ext uri="{FF2B5EF4-FFF2-40B4-BE49-F238E27FC236}">
                <a16:creationId xmlns:a16="http://schemas.microsoft.com/office/drawing/2014/main" id="{5C7AF6AA-3138-F99B-8680-761C8AAA3135}"/>
              </a:ext>
            </a:extLst>
          </p:cNvPr>
          <p:cNvSpPr/>
          <p:nvPr/>
        </p:nvSpPr>
        <p:spPr>
          <a:xfrm>
            <a:off x="257900" y="1328330"/>
            <a:ext cx="11334026" cy="47867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285750" lvl="0" indent="-285750">
              <a:lnSpc>
                <a:spcPct val="150000"/>
              </a:lnSpc>
              <a:buFont typeface="Wingdings" panose="05000000000000000000" pitchFamily="2" charset="2"/>
              <a:buChar char="§"/>
            </a:pPr>
            <a:r>
              <a:rPr lang="en-IN"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Priority projects to be completed</a:t>
            </a:r>
          </a:p>
          <a:p>
            <a:pPr marL="285750" lvl="0" indent="-285750">
              <a:lnSpc>
                <a:spcPct val="150000"/>
              </a:lnSpc>
              <a:buFont typeface="Wingdings" panose="05000000000000000000" pitchFamily="2" charset="2"/>
              <a:buChar char="§"/>
            </a:pPr>
            <a:r>
              <a:rPr lang="en-IN"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Support Required  - In terms of ROW, front and Land availability</a:t>
            </a:r>
          </a:p>
          <a:p>
            <a:pPr marL="342900" lvl="0" indent="-342900">
              <a:lnSpc>
                <a:spcPct val="150000"/>
              </a:lnSpc>
              <a:buFont typeface="Wingdings" panose="05000000000000000000" pitchFamily="2" charset="2"/>
              <a:buChar char="§"/>
            </a:pPr>
            <a:r>
              <a:rPr lang="en-IN" dirty="0">
                <a:solidFill>
                  <a:schemeClr val="tx1"/>
                </a:solidFill>
                <a:latin typeface="Calibri" panose="020F0502020204030204" pitchFamily="34" charset="0"/>
                <a:ea typeface="Calibri" panose="020F0502020204030204" pitchFamily="34" charset="0"/>
                <a:cs typeface="Calibri" panose="020F0502020204030204" pitchFamily="34" charset="0"/>
              </a:rPr>
              <a:t>Pending Amendments and Manpower Status</a:t>
            </a:r>
          </a:p>
          <a:p>
            <a:pPr marL="342900" lvl="0" indent="-342900">
              <a:lnSpc>
                <a:spcPct val="150000"/>
              </a:lnSpc>
              <a:buFont typeface="Wingdings" panose="05000000000000000000" pitchFamily="2" charset="2"/>
              <a:buChar char="§"/>
            </a:pPr>
            <a:r>
              <a:rPr lang="en-IN" dirty="0">
                <a:solidFill>
                  <a:schemeClr val="tx1"/>
                </a:solidFill>
                <a:latin typeface="Calibri" panose="020F0502020204030204" pitchFamily="34" charset="0"/>
                <a:ea typeface="Calibri" panose="020F0502020204030204" pitchFamily="34" charset="0"/>
                <a:cs typeface="Calibri" panose="020F0502020204030204" pitchFamily="34" charset="0"/>
              </a:rPr>
              <a:t>Region and Project wise Status with critical issues</a:t>
            </a:r>
          </a:p>
          <a:p>
            <a:pPr marL="342900" lvl="0" indent="-342900">
              <a:lnSpc>
                <a:spcPct val="150000"/>
              </a:lnSpc>
              <a:buFont typeface="Wingdings" panose="05000000000000000000" pitchFamily="2" charset="2"/>
              <a:buChar char="§"/>
            </a:pPr>
            <a:r>
              <a:rPr lang="en-IN" dirty="0">
                <a:solidFill>
                  <a:schemeClr val="tx1"/>
                </a:solidFill>
                <a:latin typeface="Calibri" panose="020F0502020204030204" pitchFamily="34" charset="0"/>
                <a:ea typeface="Calibri" panose="020F0502020204030204" pitchFamily="34" charset="0"/>
                <a:cs typeface="Calibri" panose="020F0502020204030204" pitchFamily="34" charset="0"/>
              </a:rPr>
              <a:t>Commercial Closures and Pending Claims</a:t>
            </a:r>
          </a:p>
          <a:p>
            <a:pPr marL="800100" lvl="1" indent="-342900">
              <a:lnSpc>
                <a:spcPct val="150000"/>
              </a:lnSpc>
              <a:buFont typeface="Wingdings" panose="05000000000000000000" pitchFamily="2" charset="2"/>
              <a:buChar char="§"/>
            </a:pPr>
            <a:r>
              <a:rPr lang="en-IN" dirty="0">
                <a:solidFill>
                  <a:schemeClr val="tx1"/>
                </a:solidFill>
                <a:latin typeface="Calibri" panose="020F0502020204030204" pitchFamily="34" charset="0"/>
                <a:ea typeface="Calibri" panose="020F0502020204030204" pitchFamily="34" charset="0"/>
                <a:cs typeface="Calibri" panose="020F0502020204030204" pitchFamily="34" charset="0"/>
              </a:rPr>
              <a:t>Project wise details under commercial closure</a:t>
            </a:r>
          </a:p>
          <a:p>
            <a:pPr marL="800100" lvl="1" indent="-342900">
              <a:lnSpc>
                <a:spcPct val="150000"/>
              </a:lnSpc>
              <a:buFont typeface="Wingdings" panose="05000000000000000000" pitchFamily="2" charset="2"/>
              <a:buChar char="§"/>
            </a:pPr>
            <a:r>
              <a:rPr lang="en-IN" dirty="0">
                <a:solidFill>
                  <a:schemeClr val="tx1"/>
                </a:solidFill>
                <a:latin typeface="Calibri" panose="020F0502020204030204" pitchFamily="34" charset="0"/>
                <a:ea typeface="Calibri" panose="020F0502020204030204" pitchFamily="34" charset="0"/>
                <a:cs typeface="Calibri" panose="020F0502020204030204" pitchFamily="34" charset="0"/>
              </a:rPr>
              <a:t>Region wise Cost Compensation and L2 revision</a:t>
            </a:r>
          </a:p>
          <a:p>
            <a:pPr marL="342900" indent="-342900">
              <a:lnSpc>
                <a:spcPct val="150000"/>
              </a:lnSpc>
              <a:buFont typeface="Wingdings" panose="05000000000000000000" pitchFamily="2" charset="2"/>
              <a:buChar char="§"/>
            </a:pPr>
            <a:r>
              <a:rPr lang="en-IN" dirty="0">
                <a:solidFill>
                  <a:schemeClr val="tx1"/>
                </a:solidFill>
                <a:latin typeface="Calibri" panose="020F0502020204030204" pitchFamily="34" charset="0"/>
                <a:ea typeface="Calibri" panose="020F0502020204030204" pitchFamily="34" charset="0"/>
                <a:cs typeface="Calibri" panose="020F0502020204030204" pitchFamily="34" charset="0"/>
              </a:rPr>
              <a:t>Finalization of spare supply contract through PESL for South OLPAD and Narendra extension Project. NOA from PGCIL was issued on 26/11/24  for South OLPAD-23 Cr. and  for 13/05/25(Narendra- 60.35 Lacs )</a:t>
            </a:r>
          </a:p>
        </p:txBody>
      </p:sp>
    </p:spTree>
    <p:extLst>
      <p:ext uri="{BB962C8B-B14F-4D97-AF65-F5344CB8AC3E}">
        <p14:creationId xmlns:p14="http://schemas.microsoft.com/office/powerpoint/2010/main" val="1965066304"/>
      </p:ext>
    </p:extLst>
  </p:cSld>
  <p:clrMapOvr>
    <a:masterClrMapping/>
  </p:clrMapOvr>
  <p:transition spd="slow"/>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0049E6-C83C-8761-1AE7-DDE80F681041}"/>
              </a:ext>
            </a:extLst>
          </p:cNvPr>
          <p:cNvSpPr>
            <a:spLocks noGrp="1"/>
          </p:cNvSpPr>
          <p:nvPr>
            <p:ph type="title"/>
          </p:nvPr>
        </p:nvSpPr>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Summary of Projects  under Execution by KEC (TL Projects)  </a:t>
            </a:r>
          </a:p>
        </p:txBody>
      </p:sp>
      <p:graphicFrame>
        <p:nvGraphicFramePr>
          <p:cNvPr id="7" name="Table 6">
            <a:extLst>
              <a:ext uri="{FF2B5EF4-FFF2-40B4-BE49-F238E27FC236}">
                <a16:creationId xmlns:a16="http://schemas.microsoft.com/office/drawing/2014/main" id="{82A2AFB5-8644-DB85-FC46-22408AE5622E}"/>
              </a:ext>
            </a:extLst>
          </p:cNvPr>
          <p:cNvGraphicFramePr>
            <a:graphicFrameLocks noGrp="1"/>
          </p:cNvGraphicFramePr>
          <p:nvPr>
            <p:extLst>
              <p:ext uri="{D42A27DB-BD31-4B8C-83A1-F6EECF244321}">
                <p14:modId xmlns:p14="http://schemas.microsoft.com/office/powerpoint/2010/main" val="1176488871"/>
              </p:ext>
            </p:extLst>
          </p:nvPr>
        </p:nvGraphicFramePr>
        <p:xfrm>
          <a:off x="257899" y="1270418"/>
          <a:ext cx="11575161" cy="5489568"/>
        </p:xfrm>
        <a:graphic>
          <a:graphicData uri="http://schemas.openxmlformats.org/drawingml/2006/table">
            <a:tbl>
              <a:tblPr firstRow="1" firstCol="1" bandRow="1">
                <a:tableStyleId>{5C22544A-7EE6-4342-B048-85BDC9FD1C3A}</a:tableStyleId>
              </a:tblPr>
              <a:tblGrid>
                <a:gridCol w="688592">
                  <a:extLst>
                    <a:ext uri="{9D8B030D-6E8A-4147-A177-3AD203B41FA5}">
                      <a16:colId xmlns:a16="http://schemas.microsoft.com/office/drawing/2014/main" val="2500757155"/>
                    </a:ext>
                  </a:extLst>
                </a:gridCol>
                <a:gridCol w="6609802">
                  <a:extLst>
                    <a:ext uri="{9D8B030D-6E8A-4147-A177-3AD203B41FA5}">
                      <a16:colId xmlns:a16="http://schemas.microsoft.com/office/drawing/2014/main" val="2830304214"/>
                    </a:ext>
                  </a:extLst>
                </a:gridCol>
                <a:gridCol w="2079694">
                  <a:extLst>
                    <a:ext uri="{9D8B030D-6E8A-4147-A177-3AD203B41FA5}">
                      <a16:colId xmlns:a16="http://schemas.microsoft.com/office/drawing/2014/main" val="1653483910"/>
                    </a:ext>
                  </a:extLst>
                </a:gridCol>
                <a:gridCol w="2197073">
                  <a:extLst>
                    <a:ext uri="{9D8B030D-6E8A-4147-A177-3AD203B41FA5}">
                      <a16:colId xmlns:a16="http://schemas.microsoft.com/office/drawing/2014/main" val="3359858020"/>
                    </a:ext>
                  </a:extLst>
                </a:gridCol>
              </a:tblGrid>
              <a:tr h="261408">
                <a:tc>
                  <a:txBody>
                    <a:bodyPr/>
                    <a:lstStyle/>
                    <a:p>
                      <a:pP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Sl. 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Name</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Scheduled Completion</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Expected Completion</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081802024"/>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nn-NO" sz="1400" b="0" dirty="0">
                          <a:latin typeface="Calibri" panose="020F0502020204030204" pitchFamily="34" charset="0"/>
                          <a:ea typeface="Calibri" panose="020F0502020204030204" pitchFamily="34" charset="0"/>
                          <a:cs typeface="Calibri" panose="020F0502020204030204" pitchFamily="34" charset="0"/>
                        </a:rPr>
                        <a:t>765KV D/C </a:t>
                      </a:r>
                      <a:r>
                        <a:rPr lang="en-IN" sz="1400" b="0" dirty="0">
                          <a:latin typeface="Calibri" panose="020F0502020204030204" pitchFamily="34" charset="0"/>
                          <a:ea typeface="Calibri" panose="020F0502020204030204" pitchFamily="34" charset="0"/>
                          <a:cs typeface="Calibri" panose="020F0502020204030204" pitchFamily="34" charset="0"/>
                        </a:rPr>
                        <a:t>Bikaner III - Neemrana II </a:t>
                      </a:r>
                      <a:r>
                        <a:rPr lang="en-IN" sz="1400" b="0" dirty="0">
                          <a:effectLst/>
                          <a:latin typeface="Calibri" panose="020F0502020204030204" pitchFamily="34" charset="0"/>
                          <a:ea typeface="Calibri" panose="020F0502020204030204" pitchFamily="34" charset="0"/>
                          <a:cs typeface="Calibri" panose="020F0502020204030204" pitchFamily="34" charset="0"/>
                        </a:rPr>
                        <a:t>(TA – 413)</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400" b="0" dirty="0">
                          <a:effectLst/>
                          <a:latin typeface="Calibri" panose="020F0502020204030204" pitchFamily="34" charset="0"/>
                          <a:ea typeface="Calibri" panose="020F0502020204030204" pitchFamily="34" charset="0"/>
                          <a:cs typeface="Calibri" panose="020F0502020204030204" pitchFamily="34" charset="0"/>
                        </a:rPr>
                        <a:t>11/12/25</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400" b="0" dirty="0">
                          <a:effectLst/>
                          <a:latin typeface="Calibri" panose="020F0502020204030204" pitchFamily="34" charset="0"/>
                          <a:ea typeface="Calibri" panose="020F0502020204030204" pitchFamily="34" charset="0"/>
                          <a:cs typeface="Calibri" panose="020F0502020204030204" pitchFamily="34" charset="0"/>
                        </a:rPr>
                        <a:t>30/07/26</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77381618"/>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nn-NO" sz="1400" b="0" dirty="0">
                          <a:latin typeface="Calibri" panose="020F0502020204030204" pitchFamily="34" charset="0"/>
                          <a:ea typeface="Calibri" panose="020F0502020204030204" pitchFamily="34" charset="0"/>
                          <a:cs typeface="Calibri" panose="020F0502020204030204" pitchFamily="34" charset="0"/>
                        </a:rPr>
                        <a:t>765KV D/C Vataman - Navsari Transmission Line </a:t>
                      </a:r>
                      <a:r>
                        <a:rPr lang="en-US" sz="1400" b="0" dirty="0">
                          <a:latin typeface="Calibri" panose="020F0502020204030204" pitchFamily="34" charset="0"/>
                          <a:ea typeface="Calibri" panose="020F0502020204030204" pitchFamily="34" charset="0"/>
                          <a:cs typeface="Calibri" panose="020F0502020204030204" pitchFamily="34" charset="0"/>
                        </a:rPr>
                        <a:t>(TA- 414)</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5555729"/>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3</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en-US" sz="1400" b="0" dirty="0">
                          <a:latin typeface="Calibri" panose="020F0502020204030204" pitchFamily="34" charset="0"/>
                          <a:ea typeface="Calibri" panose="020F0502020204030204" pitchFamily="34" charset="0"/>
                          <a:cs typeface="Calibri" panose="020F0502020204030204" pitchFamily="34" charset="0"/>
                        </a:rPr>
                        <a:t>765 KV D/C Neemrana II Bareilly Line (TA- 416)</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93917130"/>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4</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en-US" sz="1400" b="0" dirty="0">
                          <a:latin typeface="Calibri" panose="020F0502020204030204" pitchFamily="34" charset="0"/>
                          <a:ea typeface="Calibri" panose="020F0502020204030204" pitchFamily="34" charset="0"/>
                          <a:cs typeface="Calibri" panose="020F0502020204030204" pitchFamily="34" charset="0"/>
                        </a:rPr>
                        <a:t>765kV D/c  </a:t>
                      </a:r>
                      <a:r>
                        <a:rPr lang="en-US" sz="1400" b="0" dirty="0" err="1">
                          <a:latin typeface="Calibri" panose="020F0502020204030204" pitchFamily="34" charset="0"/>
                          <a:ea typeface="Calibri" panose="020F0502020204030204" pitchFamily="34" charset="0"/>
                          <a:cs typeface="Calibri" panose="020F0502020204030204" pitchFamily="34" charset="0"/>
                        </a:rPr>
                        <a:t>Koppal</a:t>
                      </a:r>
                      <a:r>
                        <a:rPr lang="en-US" sz="1400" b="0" dirty="0">
                          <a:latin typeface="Calibri" panose="020F0502020204030204" pitchFamily="34" charset="0"/>
                          <a:ea typeface="Calibri" panose="020F0502020204030204" pitchFamily="34" charset="0"/>
                          <a:cs typeface="Calibri" panose="020F0502020204030204" pitchFamily="34" charset="0"/>
                        </a:rPr>
                        <a:t> II (PS)-Raichur (Part-1) TL Line  (TA- 418)</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58330862"/>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5</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nn-NO" sz="1400" b="0" dirty="0">
                          <a:latin typeface="Calibri" panose="020F0502020204030204" pitchFamily="34" charset="0"/>
                          <a:ea typeface="Calibri" panose="020F0502020204030204" pitchFamily="34" charset="0"/>
                          <a:cs typeface="Calibri" panose="020F0502020204030204" pitchFamily="34" charset="0"/>
                        </a:rPr>
                        <a:t>765KV D/C Sikar II – Narela</a:t>
                      </a:r>
                      <a:r>
                        <a:rPr lang="en-US" sz="1400" b="0" dirty="0">
                          <a:latin typeface="Calibri" panose="020F0502020204030204" pitchFamily="34" charset="0"/>
                          <a:ea typeface="Calibri" panose="020F0502020204030204" pitchFamily="34" charset="0"/>
                          <a:cs typeface="Calibri" panose="020F0502020204030204" pitchFamily="34" charset="0"/>
                        </a:rPr>
                        <a:t> (TA- 419)</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33620573"/>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6</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nn-NO" sz="1400" b="0" dirty="0">
                          <a:latin typeface="Calibri" panose="020F0502020204030204" pitchFamily="34" charset="0"/>
                          <a:ea typeface="Calibri" panose="020F0502020204030204" pitchFamily="34" charset="0"/>
                          <a:cs typeface="Calibri" panose="020F0502020204030204" pitchFamily="34" charset="0"/>
                        </a:rPr>
                        <a:t>765KV D/C Bidar Ps – Maheshwaram  </a:t>
                      </a:r>
                      <a:r>
                        <a:rPr lang="en-US" sz="1400" b="0" dirty="0">
                          <a:latin typeface="Calibri" panose="020F0502020204030204" pitchFamily="34" charset="0"/>
                          <a:ea typeface="Calibri" panose="020F0502020204030204" pitchFamily="34" charset="0"/>
                          <a:cs typeface="Calibri" panose="020F0502020204030204" pitchFamily="34" charset="0"/>
                        </a:rPr>
                        <a:t>(TA- 421)</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51353944"/>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nn-NO" sz="1400" b="0" dirty="0">
                          <a:latin typeface="Calibri" panose="020F0502020204030204" pitchFamily="34" charset="0"/>
                          <a:ea typeface="Calibri" panose="020F0502020204030204" pitchFamily="34" charset="0"/>
                          <a:cs typeface="Calibri" panose="020F0502020204030204" pitchFamily="34" charset="0"/>
                        </a:rPr>
                        <a:t>765kV D/C Rishabdeo Mandsaur Transmission Line &amp; Lilo </a:t>
                      </a:r>
                      <a:r>
                        <a:rPr lang="en-US" sz="1400" b="0" dirty="0">
                          <a:latin typeface="Calibri" panose="020F0502020204030204" pitchFamily="34" charset="0"/>
                          <a:ea typeface="Calibri" panose="020F0502020204030204" pitchFamily="34" charset="0"/>
                          <a:cs typeface="Calibri" panose="020F0502020204030204" pitchFamily="34" charset="0"/>
                        </a:rPr>
                        <a:t>(TA- 504)</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55051765"/>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8</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nn-NO" sz="1400" b="0" dirty="0">
                          <a:latin typeface="Calibri" panose="020F0502020204030204" pitchFamily="34" charset="0"/>
                          <a:ea typeface="Calibri" panose="020F0502020204030204" pitchFamily="34" charset="0"/>
                          <a:cs typeface="Calibri" panose="020F0502020204030204" pitchFamily="34" charset="0"/>
                        </a:rPr>
                        <a:t>765KV D/C Beawar-Mandsaur TL  </a:t>
                      </a:r>
                      <a:r>
                        <a:rPr lang="en-US" sz="1400" b="0" dirty="0">
                          <a:latin typeface="Calibri" panose="020F0502020204030204" pitchFamily="34" charset="0"/>
                          <a:ea typeface="Calibri" panose="020F0502020204030204" pitchFamily="34" charset="0"/>
                          <a:cs typeface="Calibri" panose="020F0502020204030204" pitchFamily="34" charset="0"/>
                        </a:rPr>
                        <a:t>(TA- 505)</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14485447"/>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9</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nn-NO" sz="1400" b="0" dirty="0">
                          <a:latin typeface="Calibri" panose="020F0502020204030204" pitchFamily="34" charset="0"/>
                          <a:ea typeface="Calibri" panose="020F0502020204030204" pitchFamily="34" charset="0"/>
                          <a:cs typeface="Calibri" panose="020F0502020204030204" pitchFamily="34" charset="0"/>
                        </a:rPr>
                        <a:t>400 KV D/C Sirohi - Chittorgarh TL  </a:t>
                      </a:r>
                      <a:r>
                        <a:rPr lang="en-US" sz="1400" b="0" dirty="0">
                          <a:latin typeface="Calibri" panose="020F0502020204030204" pitchFamily="34" charset="0"/>
                          <a:ea typeface="Calibri" panose="020F0502020204030204" pitchFamily="34" charset="0"/>
                          <a:cs typeface="Calibri" panose="020F0502020204030204" pitchFamily="34" charset="0"/>
                        </a:rPr>
                        <a:t>(TA- 506)</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84943234"/>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10</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nn-NO" sz="1400" b="0" dirty="0">
                          <a:latin typeface="Calibri" panose="020F0502020204030204" pitchFamily="34" charset="0"/>
                          <a:ea typeface="Calibri" panose="020F0502020204030204" pitchFamily="34" charset="0"/>
                          <a:cs typeface="Calibri" panose="020F0502020204030204" pitchFamily="34" charset="0"/>
                        </a:rPr>
                        <a:t>765KV D/C </a:t>
                      </a:r>
                      <a:r>
                        <a:rPr lang="en-US" sz="1400" b="0" dirty="0" err="1">
                          <a:latin typeface="Calibri" panose="020F0502020204030204" pitchFamily="34" charset="0"/>
                          <a:ea typeface="Calibri" panose="020F0502020204030204" pitchFamily="34" charset="0"/>
                          <a:cs typeface="Calibri" panose="020F0502020204030204" pitchFamily="34" charset="0"/>
                        </a:rPr>
                        <a:t>Mandsaur</a:t>
                      </a:r>
                      <a:r>
                        <a:rPr lang="en-US" sz="1400" b="0" dirty="0">
                          <a:latin typeface="Calibri" panose="020F0502020204030204" pitchFamily="34" charset="0"/>
                          <a:ea typeface="Calibri" panose="020F0502020204030204" pitchFamily="34" charset="0"/>
                          <a:cs typeface="Calibri" panose="020F0502020204030204" pitchFamily="34" charset="0"/>
                        </a:rPr>
                        <a:t> – </a:t>
                      </a:r>
                      <a:r>
                        <a:rPr lang="en-US" sz="1400" b="0" dirty="0" err="1">
                          <a:latin typeface="Calibri" panose="020F0502020204030204" pitchFamily="34" charset="0"/>
                          <a:ea typeface="Calibri" panose="020F0502020204030204" pitchFamily="34" charset="0"/>
                          <a:cs typeface="Calibri" panose="020F0502020204030204" pitchFamily="34" charset="0"/>
                        </a:rPr>
                        <a:t>Kurawar</a:t>
                      </a:r>
                      <a:r>
                        <a:rPr lang="en-US" sz="1400" b="0" dirty="0">
                          <a:latin typeface="Calibri" panose="020F0502020204030204" pitchFamily="34" charset="0"/>
                          <a:ea typeface="Calibri" panose="020F0502020204030204" pitchFamily="34" charset="0"/>
                          <a:cs typeface="Calibri" panose="020F0502020204030204" pitchFamily="34" charset="0"/>
                        </a:rPr>
                        <a:t> Part I (TA- 509)</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1709789"/>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11</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400" b="0" dirty="0">
                          <a:latin typeface="Calibri" panose="020F0502020204030204" pitchFamily="34" charset="0"/>
                          <a:ea typeface="Calibri" panose="020F0502020204030204" pitchFamily="34" charset="0"/>
                          <a:cs typeface="Calibri" panose="020F0502020204030204" pitchFamily="34" charset="0"/>
                        </a:rPr>
                        <a:t>765 kV D/C  Ahmedabad - South </a:t>
                      </a:r>
                      <a:r>
                        <a:rPr lang="en-IN" sz="1400" b="0" dirty="0" err="1">
                          <a:latin typeface="Calibri" panose="020F0502020204030204" pitchFamily="34" charset="0"/>
                          <a:ea typeface="Calibri" panose="020F0502020204030204" pitchFamily="34" charset="0"/>
                          <a:cs typeface="Calibri" panose="020F0502020204030204" pitchFamily="34" charset="0"/>
                        </a:rPr>
                        <a:t>Olpad</a:t>
                      </a:r>
                      <a:r>
                        <a:rPr lang="en-IN" sz="1400" b="0" dirty="0">
                          <a:latin typeface="Calibri" panose="020F0502020204030204" pitchFamily="34" charset="0"/>
                          <a:ea typeface="Calibri" panose="020F0502020204030204" pitchFamily="34" charset="0"/>
                          <a:cs typeface="Calibri" panose="020F0502020204030204" pitchFamily="34" charset="0"/>
                        </a:rPr>
                        <a:t> Transmission Line</a:t>
                      </a:r>
                      <a:r>
                        <a:rPr lang="en-US" sz="1400" b="0" dirty="0">
                          <a:latin typeface="Calibri" panose="020F0502020204030204" pitchFamily="34" charset="0"/>
                          <a:ea typeface="Calibri" panose="020F0502020204030204" pitchFamily="34" charset="0"/>
                          <a:cs typeface="Calibri" panose="020F0502020204030204" pitchFamily="34" charset="0"/>
                        </a:rPr>
                        <a:t> (TA- 510)</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21712933"/>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12</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nn-NO" sz="1400" b="0" dirty="0">
                          <a:latin typeface="Calibri" panose="020F0502020204030204" pitchFamily="34" charset="0"/>
                          <a:ea typeface="Calibri" panose="020F0502020204030204" pitchFamily="34" charset="0"/>
                          <a:cs typeface="Calibri" panose="020F0502020204030204" pitchFamily="34" charset="0"/>
                        </a:rPr>
                        <a:t>765KV D/C Bikaner – IV To Siwani (2nd) Tr. Line (Part – 1)</a:t>
                      </a:r>
                      <a:r>
                        <a:rPr lang="en-US" sz="1400" b="0" dirty="0">
                          <a:latin typeface="Calibri" panose="020F0502020204030204" pitchFamily="34" charset="0"/>
                          <a:ea typeface="Calibri" panose="020F0502020204030204" pitchFamily="34" charset="0"/>
                          <a:cs typeface="Calibri" panose="020F0502020204030204" pitchFamily="34" charset="0"/>
                        </a:rPr>
                        <a:t>  (TA- 512)</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80902687"/>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13</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nn-NO" sz="1400" b="0" dirty="0">
                          <a:latin typeface="Calibri" panose="020F0502020204030204" pitchFamily="34" charset="0"/>
                          <a:ea typeface="Calibri" panose="020F0502020204030204" pitchFamily="34" charset="0"/>
                          <a:cs typeface="Calibri" panose="020F0502020204030204" pitchFamily="34" charset="0"/>
                        </a:rPr>
                        <a:t>400 KV Siwani-Fatehabad TL &amp; Siwani-Patran TL  </a:t>
                      </a:r>
                      <a:r>
                        <a:rPr lang="en-US" sz="1400" b="0" dirty="0">
                          <a:latin typeface="Calibri" panose="020F0502020204030204" pitchFamily="34" charset="0"/>
                          <a:ea typeface="Calibri" panose="020F0502020204030204" pitchFamily="34" charset="0"/>
                          <a:cs typeface="Calibri" panose="020F0502020204030204" pitchFamily="34" charset="0"/>
                        </a:rPr>
                        <a:t>(TA- 513)</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2440155"/>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14</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US" sz="1400" b="0" dirty="0">
                          <a:latin typeface="Calibri" panose="020F0502020204030204" pitchFamily="34" charset="0"/>
                          <a:ea typeface="Calibri" panose="020F0502020204030204" pitchFamily="34" charset="0"/>
                          <a:cs typeface="Calibri" panose="020F0502020204030204" pitchFamily="34" charset="0"/>
                        </a:rPr>
                        <a:t>800kV HVDC </a:t>
                      </a:r>
                      <a:r>
                        <a:rPr lang="en-US" sz="1400" b="0" dirty="0" err="1">
                          <a:latin typeface="Calibri" panose="020F0502020204030204" pitchFamily="34" charset="0"/>
                          <a:ea typeface="Calibri" panose="020F0502020204030204" pitchFamily="34" charset="0"/>
                          <a:cs typeface="Calibri" panose="020F0502020204030204" pitchFamily="34" charset="0"/>
                        </a:rPr>
                        <a:t>Bipole</a:t>
                      </a:r>
                      <a:r>
                        <a:rPr lang="en-US" sz="1400" b="0" dirty="0">
                          <a:latin typeface="Calibri" panose="020F0502020204030204" pitchFamily="34" charset="0"/>
                          <a:ea typeface="Calibri" panose="020F0502020204030204" pitchFamily="34" charset="0"/>
                          <a:cs typeface="Calibri" panose="020F0502020204030204" pitchFamily="34" charset="0"/>
                        </a:rPr>
                        <a:t> Line between KPS2 (HVDC) &amp; Nagpur (HVDC)</a:t>
                      </a:r>
                      <a:r>
                        <a:rPr lang="fr-FR" sz="1400" b="0" dirty="0">
                          <a:latin typeface="Calibri" panose="020F0502020204030204" pitchFamily="34" charset="0"/>
                          <a:ea typeface="Calibri" panose="020F0502020204030204" pitchFamily="34" charset="0"/>
                          <a:cs typeface="Calibri" panose="020F0502020204030204" pitchFamily="34" charset="0"/>
                        </a:rPr>
                        <a:t> </a:t>
                      </a:r>
                      <a:r>
                        <a:rPr lang="en-US" sz="1400" b="0" dirty="0">
                          <a:latin typeface="Calibri" panose="020F0502020204030204" pitchFamily="34" charset="0"/>
                          <a:ea typeface="Calibri" panose="020F0502020204030204" pitchFamily="34" charset="0"/>
                          <a:cs typeface="Calibri" panose="020F0502020204030204" pitchFamily="34" charset="0"/>
                        </a:rPr>
                        <a:t>(TA- 514)</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90434437"/>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15</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fr-FR" sz="1400" b="0" dirty="0">
                          <a:latin typeface="Calibri" panose="020F0502020204030204" pitchFamily="34" charset="0"/>
                          <a:ea typeface="Calibri" panose="020F0502020204030204" pitchFamily="34" charset="0"/>
                          <a:cs typeface="Calibri" panose="020F0502020204030204" pitchFamily="34" charset="0"/>
                        </a:rPr>
                        <a:t>800 kV HVDC KPS2 - Nagpur T/L Project (Part -3) </a:t>
                      </a:r>
                      <a:r>
                        <a:rPr lang="en-US" sz="1400" b="0" dirty="0">
                          <a:latin typeface="Calibri" panose="020F0502020204030204" pitchFamily="34" charset="0"/>
                          <a:ea typeface="Calibri" panose="020F0502020204030204" pitchFamily="34" charset="0"/>
                          <a:cs typeface="Calibri" panose="020F0502020204030204" pitchFamily="34" charset="0"/>
                        </a:rPr>
                        <a:t>(TA- 515)</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57886549"/>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16</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US" sz="1400" b="0" dirty="0">
                          <a:latin typeface="Calibri" panose="020F0502020204030204" pitchFamily="34" charset="0"/>
                          <a:ea typeface="Calibri" panose="020F0502020204030204" pitchFamily="34" charset="0"/>
                          <a:cs typeface="Calibri" panose="020F0502020204030204" pitchFamily="34" charset="0"/>
                        </a:rPr>
                        <a:t>765kV D/C Kurnool IV – Bidar Line (TA- 601)</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99491904"/>
                  </a:ext>
                </a:extLst>
              </a:tr>
              <a:tr h="261408">
                <a:tc>
                  <a:txBody>
                    <a:bodyPr/>
                    <a:lstStyle/>
                    <a:p>
                      <a:pPr algn="ctr">
                        <a:lnSpc>
                          <a:spcPct val="107000"/>
                        </a:lnSpc>
                        <a:spcAft>
                          <a:spcPts val="800"/>
                        </a:spcAft>
                      </a:pPr>
                      <a:r>
                        <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17</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US" sz="1400" b="0" dirty="0">
                          <a:latin typeface="Calibri" panose="020F0502020204030204" pitchFamily="34" charset="0"/>
                          <a:ea typeface="Calibri" panose="020F0502020204030204" pitchFamily="34" charset="0"/>
                          <a:cs typeface="Calibri" panose="020F0502020204030204" pitchFamily="34" charset="0"/>
                        </a:rPr>
                        <a:t>80800 KV HVDC KPS-II to Nagpur (TA- 602)</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54273036"/>
                  </a:ext>
                </a:extLst>
              </a:tr>
              <a:tr h="261408">
                <a:tc>
                  <a:txBody>
                    <a:bodyPr/>
                    <a:lstStyle/>
                    <a:p>
                      <a:pPr algn="ctr">
                        <a:lnSpc>
                          <a:spcPct val="107000"/>
                        </a:lnSpc>
                        <a:spcAft>
                          <a:spcPts val="800"/>
                        </a:spcAft>
                      </a:pPr>
                      <a:r>
                        <a:rPr lang="en-US"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18</a:t>
                      </a:r>
                      <a:endPar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US" sz="1400" b="0" dirty="0">
                          <a:effectLst/>
                          <a:latin typeface="Calibri" panose="020F0502020204030204" pitchFamily="34" charset="0"/>
                          <a:ea typeface="Calibri" panose="020F0502020204030204" pitchFamily="34" charset="0"/>
                          <a:cs typeface="Calibri" panose="020F0502020204030204" pitchFamily="34" charset="0"/>
                        </a:rPr>
                        <a:t>132 KV D/C </a:t>
                      </a:r>
                      <a:r>
                        <a:rPr lang="en-US" sz="1400" b="0" dirty="0" err="1">
                          <a:latin typeface="Calibri" panose="020F0502020204030204" pitchFamily="34" charset="0"/>
                          <a:ea typeface="Calibri" panose="020F0502020204030204" pitchFamily="34" charset="0"/>
                          <a:cs typeface="Calibri" panose="020F0502020204030204" pitchFamily="34" charset="0"/>
                        </a:rPr>
                        <a:t>Tawang-Lumla</a:t>
                      </a:r>
                      <a:r>
                        <a:rPr lang="en-US" sz="1400" b="0" dirty="0">
                          <a:latin typeface="Calibri" panose="020F0502020204030204" pitchFamily="34" charset="0"/>
                          <a:ea typeface="Calibri" panose="020F0502020204030204" pitchFamily="34" charset="0"/>
                          <a:cs typeface="Calibri" panose="020F0502020204030204" pitchFamily="34" charset="0"/>
                        </a:rPr>
                        <a:t> Line (A920)</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18656773"/>
                  </a:ext>
                </a:extLst>
              </a:tr>
              <a:tr h="261408">
                <a:tc>
                  <a:txBody>
                    <a:bodyPr/>
                    <a:lstStyle/>
                    <a:p>
                      <a:pPr algn="ctr">
                        <a:lnSpc>
                          <a:spcPct val="107000"/>
                        </a:lnSpc>
                        <a:spcAft>
                          <a:spcPts val="800"/>
                        </a:spcAft>
                      </a:pPr>
                      <a:r>
                        <a:rPr lang="en-US"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19</a:t>
                      </a:r>
                      <a:endPar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US" sz="1400" b="0" dirty="0">
                          <a:effectLst/>
                          <a:latin typeface="Calibri" panose="020F0502020204030204" pitchFamily="34" charset="0"/>
                          <a:ea typeface="Calibri" panose="020F0502020204030204" pitchFamily="34" charset="0"/>
                          <a:cs typeface="Calibri" panose="020F0502020204030204" pitchFamily="34" charset="0"/>
                        </a:rPr>
                        <a:t>400 KV D/C Twin Line </a:t>
                      </a:r>
                      <a:r>
                        <a:rPr lang="en-US" sz="1400" b="0" dirty="0" err="1">
                          <a:effectLst/>
                          <a:latin typeface="Calibri" panose="020F0502020204030204" pitchFamily="34" charset="0"/>
                          <a:ea typeface="Calibri" panose="020F0502020204030204" pitchFamily="34" charset="0"/>
                          <a:cs typeface="Calibri" panose="020F0502020204030204" pitchFamily="34" charset="0"/>
                        </a:rPr>
                        <a:t>Latehar</a:t>
                      </a:r>
                      <a:r>
                        <a:rPr lang="en-US" sz="1400" b="0" dirty="0">
                          <a:effectLst/>
                          <a:latin typeface="Calibri" panose="020F0502020204030204" pitchFamily="34" charset="0"/>
                          <a:ea typeface="Calibri" panose="020F0502020204030204" pitchFamily="34" charset="0"/>
                          <a:cs typeface="Calibri" panose="020F0502020204030204" pitchFamily="34" charset="0"/>
                        </a:rPr>
                        <a:t>- </a:t>
                      </a:r>
                      <a:r>
                        <a:rPr lang="en-US" sz="1400" b="0" dirty="0" err="1">
                          <a:effectLst/>
                          <a:latin typeface="Calibri" panose="020F0502020204030204" pitchFamily="34" charset="0"/>
                          <a:ea typeface="Calibri" panose="020F0502020204030204" pitchFamily="34" charset="0"/>
                          <a:cs typeface="Calibri" panose="020F0502020204030204" pitchFamily="34" charset="0"/>
                        </a:rPr>
                        <a:t>Patraru</a:t>
                      </a:r>
                      <a:r>
                        <a:rPr lang="en-US" sz="1400" b="0" dirty="0">
                          <a:effectLst/>
                          <a:latin typeface="Calibri" panose="020F0502020204030204" pitchFamily="34" charset="0"/>
                          <a:ea typeface="Calibri" panose="020F0502020204030204" pitchFamily="34" charset="0"/>
                          <a:cs typeface="Calibri" panose="020F0502020204030204" pitchFamily="34" charset="0"/>
                        </a:rPr>
                        <a:t> (A303/304) </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2237438"/>
                  </a:ext>
                </a:extLst>
              </a:tr>
              <a:tr h="261408">
                <a:tc>
                  <a:txBody>
                    <a:bodyPr/>
                    <a:lstStyle/>
                    <a:p>
                      <a:pPr algn="ctr">
                        <a:lnSpc>
                          <a:spcPct val="107000"/>
                        </a:lnSpc>
                        <a:spcAft>
                          <a:spcPts val="800"/>
                        </a:spcAft>
                      </a:pPr>
                      <a:r>
                        <a:rPr lang="en-US"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20</a:t>
                      </a:r>
                      <a:endParaRPr lang="en-IN" sz="14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US" sz="1400" b="0" dirty="0">
                          <a:effectLst/>
                          <a:latin typeface="Calibri" panose="020F0502020204030204" pitchFamily="34" charset="0"/>
                          <a:ea typeface="Calibri" panose="020F0502020204030204" pitchFamily="34" charset="0"/>
                          <a:cs typeface="Calibri" panose="020F0502020204030204" pitchFamily="34" charset="0"/>
                        </a:rPr>
                        <a:t>Sikkim Tower Pkg TK04 (A-722/723)</a:t>
                      </a: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4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10468694"/>
                  </a:ext>
                </a:extLst>
              </a:tr>
            </a:tbl>
          </a:graphicData>
        </a:graphic>
      </p:graphicFrame>
    </p:spTree>
    <p:extLst>
      <p:ext uri="{BB962C8B-B14F-4D97-AF65-F5344CB8AC3E}">
        <p14:creationId xmlns:p14="http://schemas.microsoft.com/office/powerpoint/2010/main" val="742126036"/>
      </p:ext>
    </p:extLst>
  </p:cSld>
  <p:clrMapOvr>
    <a:masterClrMapping/>
  </p:clrMapOvr>
  <p:transition spd="slow"/>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7FDEA39D-0B39-8DB9-D344-E063F25285DB}"/>
              </a:ext>
            </a:extLst>
          </p:cNvPr>
          <p:cNvSpPr>
            <a:spLocks noGrp="1"/>
          </p:cNvSpPr>
          <p:nvPr>
            <p:ph type="title"/>
          </p:nvPr>
        </p:nvSpPr>
        <p:spPr>
          <a:xfrm>
            <a:off x="257899" y="587171"/>
            <a:ext cx="11676203" cy="551809"/>
          </a:xfrm>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Summary of projects under Execution by KEC (SS Projects)</a:t>
            </a:r>
            <a:r>
              <a:rPr lang="en-US" sz="2400" dirty="0">
                <a:latin typeface="Calibri" panose="020F0502020204030204" pitchFamily="34" charset="0"/>
                <a:ea typeface="Calibri" panose="020F0502020204030204" pitchFamily="34" charset="0"/>
                <a:cs typeface="Calibri" panose="020F0502020204030204" pitchFamily="34" charset="0"/>
              </a:rPr>
              <a:t>  </a:t>
            </a:r>
          </a:p>
        </p:txBody>
      </p:sp>
      <p:graphicFrame>
        <p:nvGraphicFramePr>
          <p:cNvPr id="11" name="Table 10">
            <a:extLst>
              <a:ext uri="{FF2B5EF4-FFF2-40B4-BE49-F238E27FC236}">
                <a16:creationId xmlns:a16="http://schemas.microsoft.com/office/drawing/2014/main" id="{6DFC6FEA-3E1B-7A7E-224C-59A7489D5519}"/>
              </a:ext>
            </a:extLst>
          </p:cNvPr>
          <p:cNvGraphicFramePr>
            <a:graphicFrameLocks noGrp="1"/>
          </p:cNvGraphicFramePr>
          <p:nvPr>
            <p:extLst>
              <p:ext uri="{D42A27DB-BD31-4B8C-83A1-F6EECF244321}">
                <p14:modId xmlns:p14="http://schemas.microsoft.com/office/powerpoint/2010/main" val="3722409967"/>
              </p:ext>
            </p:extLst>
          </p:nvPr>
        </p:nvGraphicFramePr>
        <p:xfrm>
          <a:off x="257899" y="1924050"/>
          <a:ext cx="11676203" cy="4440719"/>
        </p:xfrm>
        <a:graphic>
          <a:graphicData uri="http://schemas.openxmlformats.org/drawingml/2006/table">
            <a:tbl>
              <a:tblPr firstRow="1" firstCol="1" bandRow="1">
                <a:tableStyleId>{5C22544A-7EE6-4342-B048-85BDC9FD1C3A}</a:tableStyleId>
              </a:tblPr>
              <a:tblGrid>
                <a:gridCol w="694603">
                  <a:extLst>
                    <a:ext uri="{9D8B030D-6E8A-4147-A177-3AD203B41FA5}">
                      <a16:colId xmlns:a16="http://schemas.microsoft.com/office/drawing/2014/main" val="2500757155"/>
                    </a:ext>
                  </a:extLst>
                </a:gridCol>
                <a:gridCol w="6299033">
                  <a:extLst>
                    <a:ext uri="{9D8B030D-6E8A-4147-A177-3AD203B41FA5}">
                      <a16:colId xmlns:a16="http://schemas.microsoft.com/office/drawing/2014/main" val="2830304214"/>
                    </a:ext>
                  </a:extLst>
                </a:gridCol>
                <a:gridCol w="2190750">
                  <a:extLst>
                    <a:ext uri="{9D8B030D-6E8A-4147-A177-3AD203B41FA5}">
                      <a16:colId xmlns:a16="http://schemas.microsoft.com/office/drawing/2014/main" val="1653483910"/>
                    </a:ext>
                  </a:extLst>
                </a:gridCol>
                <a:gridCol w="2491817">
                  <a:extLst>
                    <a:ext uri="{9D8B030D-6E8A-4147-A177-3AD203B41FA5}">
                      <a16:colId xmlns:a16="http://schemas.microsoft.com/office/drawing/2014/main" val="3359858020"/>
                    </a:ext>
                  </a:extLst>
                </a:gridCol>
              </a:tblGrid>
              <a:tr h="539307">
                <a:tc>
                  <a:txBody>
                    <a:bodyPr/>
                    <a:lstStyle/>
                    <a:p>
                      <a:pPr>
                        <a:lnSpc>
                          <a:spcPct val="107000"/>
                        </a:lnSpc>
                        <a:spcAft>
                          <a:spcPts val="800"/>
                        </a:spcAft>
                      </a:pPr>
                      <a:r>
                        <a:rPr lang="en-IN" sz="18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Sl. 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8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Name</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8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Scheduled Completion</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8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Expected Completion</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081802024"/>
                  </a:ext>
                </a:extLst>
              </a:tr>
              <a:tr h="539307">
                <a:tc>
                  <a:txBody>
                    <a:bodyPr/>
                    <a:lstStyle/>
                    <a:p>
                      <a:pPr algn="ctr">
                        <a:lnSpc>
                          <a:spcPct val="107000"/>
                        </a:lnSpc>
                        <a:spcAft>
                          <a:spcPts val="800"/>
                        </a:spcAft>
                      </a:pP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fr-FR" sz="1800" b="0" dirty="0">
                          <a:solidFill>
                            <a:schemeClr val="tx1"/>
                          </a:solidFill>
                          <a:latin typeface="Calibri" panose="020F0502020204030204" pitchFamily="34" charset="0"/>
                          <a:ea typeface="Calibri" panose="020F0502020204030204" pitchFamily="34" charset="0"/>
                          <a:cs typeface="Calibri" panose="020F0502020204030204" pitchFamily="34" charset="0"/>
                        </a:rPr>
                        <a:t>SA52C-SS118 </a:t>
                      </a:r>
                      <a:r>
                        <a:rPr lang="en-IN" sz="1800" b="0" dirty="0">
                          <a:solidFill>
                            <a:schemeClr val="tx1"/>
                          </a:solidFill>
                          <a:latin typeface="Calibri" panose="020F0502020204030204" pitchFamily="34" charset="0"/>
                          <a:ea typeface="Calibri" panose="020F0502020204030204" pitchFamily="34" charset="0"/>
                          <a:cs typeface="Calibri" panose="020F0502020204030204" pitchFamily="34" charset="0"/>
                        </a:rPr>
                        <a:t>220kV Bay Ext </a:t>
                      </a:r>
                      <a:r>
                        <a:rPr lang="en-IN" sz="1800" b="0" dirty="0" err="1">
                          <a:solidFill>
                            <a:schemeClr val="tx1"/>
                          </a:solidFill>
                          <a:latin typeface="Calibri" panose="020F0502020204030204" pitchFamily="34" charset="0"/>
                          <a:ea typeface="Calibri" panose="020F0502020204030204" pitchFamily="34" charset="0"/>
                          <a:cs typeface="Calibri" panose="020F0502020204030204" pitchFamily="34" charset="0"/>
                        </a:rPr>
                        <a:t>Raigarh</a:t>
                      </a:r>
                      <a:r>
                        <a:rPr lang="en-IN" sz="1800" b="0" dirty="0">
                          <a:solidFill>
                            <a:schemeClr val="tx1"/>
                          </a:solidFill>
                          <a:latin typeface="Calibri" panose="020F0502020204030204" pitchFamily="34" charset="0"/>
                          <a:ea typeface="Calibri" panose="020F0502020204030204" pitchFamily="34" charset="0"/>
                          <a:cs typeface="Calibri" panose="020F0502020204030204" pitchFamily="34" charset="0"/>
                        </a:rPr>
                        <a:t> GIS Sub-Sation </a:t>
                      </a: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(SA – 52C)</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24/05/26</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May’26</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0739472"/>
                  </a:ext>
                </a:extLst>
              </a:tr>
              <a:tr h="630900">
                <a:tc>
                  <a:txBody>
                    <a:bodyPr/>
                    <a:lstStyle/>
                    <a:p>
                      <a:pPr algn="ctr">
                        <a:lnSpc>
                          <a:spcPct val="107000"/>
                        </a:lnSpc>
                        <a:spcAft>
                          <a:spcPts val="800"/>
                        </a:spcAft>
                      </a:pP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fr-FR" sz="1800" b="0" dirty="0">
                          <a:solidFill>
                            <a:schemeClr val="tx1"/>
                          </a:solidFill>
                          <a:latin typeface="Calibri" panose="020F0502020204030204" pitchFamily="34" charset="0"/>
                          <a:ea typeface="Calibri" panose="020F0502020204030204" pitchFamily="34" charset="0"/>
                          <a:cs typeface="Calibri" panose="020F0502020204030204" pitchFamily="34" charset="0"/>
                        </a:rPr>
                        <a:t>765/400 kV KPS-2 Ext 39T </a:t>
                      </a: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(SA – 503)</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77381618"/>
                  </a:ext>
                </a:extLst>
              </a:tr>
              <a:tr h="539307">
                <a:tc>
                  <a:txBody>
                    <a:bodyPr/>
                    <a:lstStyle/>
                    <a:p>
                      <a:pPr algn="ctr">
                        <a:lnSpc>
                          <a:spcPct val="107000"/>
                        </a:lnSpc>
                        <a:spcAft>
                          <a:spcPts val="800"/>
                        </a:spcAft>
                      </a:pP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3</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fr-FR" sz="1800" b="0" dirty="0">
                          <a:solidFill>
                            <a:schemeClr val="tx1"/>
                          </a:solidFill>
                          <a:latin typeface="Calibri" panose="020F0502020204030204" pitchFamily="34" charset="0"/>
                          <a:ea typeface="Calibri" panose="020F0502020204030204" pitchFamily="34" charset="0"/>
                          <a:cs typeface="Calibri" panose="020F0502020204030204" pitchFamily="34" charset="0"/>
                        </a:rPr>
                        <a:t>SS33T </a:t>
                      </a:r>
                      <a:r>
                        <a:rPr lang="en-IN" sz="1800" b="0" dirty="0">
                          <a:solidFill>
                            <a:schemeClr val="tx1"/>
                          </a:solidFill>
                          <a:latin typeface="Calibri" panose="020F0502020204030204" pitchFamily="34" charset="0"/>
                          <a:ea typeface="Calibri" panose="020F0502020204030204" pitchFamily="34" charset="0"/>
                          <a:cs typeface="Calibri" panose="020F0502020204030204" pitchFamily="34" charset="0"/>
                        </a:rPr>
                        <a:t>765kV GIS South </a:t>
                      </a:r>
                      <a:r>
                        <a:rPr lang="en-IN" sz="1800" b="0" dirty="0" err="1">
                          <a:solidFill>
                            <a:schemeClr val="tx1"/>
                          </a:solidFill>
                          <a:latin typeface="Calibri" panose="020F0502020204030204" pitchFamily="34" charset="0"/>
                          <a:ea typeface="Calibri" panose="020F0502020204030204" pitchFamily="34" charset="0"/>
                          <a:cs typeface="Calibri" panose="020F0502020204030204" pitchFamily="34" charset="0"/>
                        </a:rPr>
                        <a:t>Olpad</a:t>
                      </a:r>
                      <a:r>
                        <a:rPr lang="en-IN" sz="1800" b="0" dirty="0">
                          <a:solidFill>
                            <a:schemeClr val="tx1"/>
                          </a:solidFill>
                          <a:latin typeface="Calibri" panose="020F0502020204030204" pitchFamily="34" charset="0"/>
                          <a:ea typeface="Calibri" panose="020F0502020204030204" pitchFamily="34" charset="0"/>
                          <a:cs typeface="Calibri" panose="020F0502020204030204" pitchFamily="34" charset="0"/>
                        </a:rPr>
                        <a:t> </a:t>
                      </a: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(SA – 508)</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5555729"/>
                  </a:ext>
                </a:extLst>
              </a:tr>
              <a:tr h="539307">
                <a:tc>
                  <a:txBody>
                    <a:bodyPr/>
                    <a:lstStyle/>
                    <a:p>
                      <a:pPr algn="ctr">
                        <a:lnSpc>
                          <a:spcPct val="107000"/>
                        </a:lnSpc>
                        <a:spcAft>
                          <a:spcPts val="800"/>
                        </a:spcAft>
                      </a:pP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4</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fr-FR" sz="1800" b="0" dirty="0">
                          <a:solidFill>
                            <a:schemeClr val="tx1"/>
                          </a:solidFill>
                          <a:latin typeface="Calibri" panose="020F0502020204030204" pitchFamily="34" charset="0"/>
                          <a:ea typeface="Calibri" panose="020F0502020204030204" pitchFamily="34" charset="0"/>
                          <a:cs typeface="Calibri" panose="020F0502020204030204" pitchFamily="34" charset="0"/>
                        </a:rPr>
                        <a:t>SS33T </a:t>
                      </a:r>
                      <a:r>
                        <a:rPr lang="en-IN" sz="1800" b="0" dirty="0">
                          <a:solidFill>
                            <a:schemeClr val="tx1"/>
                          </a:solidFill>
                          <a:latin typeface="Calibri" panose="020F0502020204030204" pitchFamily="34" charset="0"/>
                          <a:ea typeface="Calibri" panose="020F0502020204030204" pitchFamily="34" charset="0"/>
                          <a:cs typeface="Calibri" panose="020F0502020204030204" pitchFamily="34" charset="0"/>
                        </a:rPr>
                        <a:t>765kV AIS Ahmedabad Extn </a:t>
                      </a: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(SA – 5A8)</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93917130"/>
                  </a:ext>
                </a:extLst>
              </a:tr>
              <a:tr h="539307">
                <a:tc>
                  <a:txBody>
                    <a:bodyPr/>
                    <a:lstStyle/>
                    <a:p>
                      <a:pPr algn="ctr">
                        <a:lnSpc>
                          <a:spcPct val="107000"/>
                        </a:lnSpc>
                        <a:spcAft>
                          <a:spcPts val="800"/>
                        </a:spcAft>
                      </a:pP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5</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fr-FR" sz="1800" b="0" dirty="0">
                          <a:solidFill>
                            <a:schemeClr val="tx1"/>
                          </a:solidFill>
                          <a:latin typeface="Calibri" panose="020F0502020204030204" pitchFamily="34" charset="0"/>
                          <a:ea typeface="Calibri" panose="020F0502020204030204" pitchFamily="34" charset="0"/>
                          <a:cs typeface="Calibri" panose="020F0502020204030204" pitchFamily="34" charset="0"/>
                        </a:rPr>
                        <a:t>SS33T </a:t>
                      </a:r>
                      <a:r>
                        <a:rPr lang="en-IN" sz="1800" b="0" dirty="0">
                          <a:solidFill>
                            <a:schemeClr val="tx1"/>
                          </a:solidFill>
                          <a:latin typeface="Calibri" panose="020F0502020204030204" pitchFamily="34" charset="0"/>
                          <a:ea typeface="Calibri" panose="020F0502020204030204" pitchFamily="34" charset="0"/>
                          <a:cs typeface="Calibri" panose="020F0502020204030204" pitchFamily="34" charset="0"/>
                        </a:rPr>
                        <a:t>765kV GIS Vadodara Extn S/S </a:t>
                      </a: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(SA – 5V8)</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58330862"/>
                  </a:ext>
                </a:extLst>
              </a:tr>
              <a:tr h="539307">
                <a:tc>
                  <a:txBody>
                    <a:bodyPr/>
                    <a:lstStyle/>
                    <a:p>
                      <a:pPr algn="ctr">
                        <a:lnSpc>
                          <a:spcPct val="107000"/>
                        </a:lnSpc>
                        <a:spcAft>
                          <a:spcPts val="800"/>
                        </a:spcAft>
                      </a:pP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6</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fr-FR" sz="1800" b="0" dirty="0">
                          <a:solidFill>
                            <a:schemeClr val="tx1"/>
                          </a:solidFill>
                          <a:latin typeface="Calibri" panose="020F0502020204030204" pitchFamily="34" charset="0"/>
                          <a:ea typeface="Calibri" panose="020F0502020204030204" pitchFamily="34" charset="0"/>
                          <a:cs typeface="Calibri" panose="020F0502020204030204" pitchFamily="34" charset="0"/>
                        </a:rPr>
                        <a:t>SS64T </a:t>
                      </a:r>
                      <a:r>
                        <a:rPr lang="en-IN" sz="1800" b="0" dirty="0">
                          <a:solidFill>
                            <a:schemeClr val="tx1"/>
                          </a:solidFill>
                          <a:latin typeface="Calibri" panose="020F0502020204030204" pitchFamily="34" charset="0"/>
                          <a:ea typeface="Calibri" panose="020F0502020204030204" pitchFamily="34" charset="0"/>
                          <a:cs typeface="Calibri" panose="020F0502020204030204" pitchFamily="34" charset="0"/>
                        </a:rPr>
                        <a:t>765kV GIS Narendra Extn </a:t>
                      </a:r>
                      <a:r>
                        <a:rPr lang="en-US" sz="1800" b="0" dirty="0">
                          <a:solidFill>
                            <a:schemeClr val="tx1"/>
                          </a:solidFill>
                          <a:latin typeface="Calibri" panose="020F0502020204030204" pitchFamily="34" charset="0"/>
                          <a:ea typeface="Calibri" panose="020F0502020204030204" pitchFamily="34" charset="0"/>
                          <a:cs typeface="Calibri" panose="020F0502020204030204" pitchFamily="34" charset="0"/>
                        </a:rPr>
                        <a:t>(SA – 603)</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33620573"/>
                  </a:ext>
                </a:extLst>
              </a:tr>
              <a:tr h="539307">
                <a:tc>
                  <a:txBody>
                    <a:bodyPr/>
                    <a:lstStyle/>
                    <a:p>
                      <a:pPr algn="ctr">
                        <a:lnSpc>
                          <a:spcPct val="107000"/>
                        </a:lnSpc>
                        <a:spcAft>
                          <a:spcPts val="800"/>
                        </a:spcAft>
                      </a:pPr>
                      <a:r>
                        <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en-US" sz="1800" b="0" dirty="0">
                          <a:solidFill>
                            <a:schemeClr val="tx1"/>
                          </a:solidFill>
                          <a:latin typeface="Calibri" panose="020F0502020204030204" pitchFamily="34" charset="0"/>
                          <a:ea typeface="Calibri" panose="020F0502020204030204" pitchFamily="34" charset="0"/>
                          <a:cs typeface="Calibri" panose="020F0502020204030204" pitchFamily="34" charset="0"/>
                        </a:rPr>
                        <a:t>765KV Bay Extension GIS Sub-Station Narela (SA-417)</a:t>
                      </a: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51353944"/>
                  </a:ext>
                </a:extLst>
              </a:tr>
            </a:tbl>
          </a:graphicData>
        </a:graphic>
      </p:graphicFrame>
    </p:spTree>
    <p:extLst>
      <p:ext uri="{BB962C8B-B14F-4D97-AF65-F5344CB8AC3E}">
        <p14:creationId xmlns:p14="http://schemas.microsoft.com/office/powerpoint/2010/main" val="2433252466"/>
      </p:ext>
    </p:extLst>
  </p:cSld>
  <p:clrMapOvr>
    <a:masterClrMapping/>
  </p:clrMapOvr>
  <p:transition spd="slow"/>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0B5F5B-2DA9-FCBD-EC75-46A27FFCD82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5CADD31-C165-884E-E778-5E02ECEF6305}"/>
              </a:ext>
            </a:extLst>
          </p:cNvPr>
          <p:cNvSpPr>
            <a:spLocks noGrp="1"/>
          </p:cNvSpPr>
          <p:nvPr>
            <p:ph type="title"/>
          </p:nvPr>
        </p:nvSpPr>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Priority Projects to be completed </a:t>
            </a:r>
            <a:endParaRPr lang="en-US" sz="2400" b="1" dirty="0">
              <a:latin typeface="Calibri" panose="020F0502020204030204" pitchFamily="34" charset="0"/>
              <a:ea typeface="Calibri" panose="020F0502020204030204" pitchFamily="34" charset="0"/>
              <a:cs typeface="Calibri" panose="020F0502020204030204" pitchFamily="34" charset="0"/>
            </a:endParaRPr>
          </a:p>
        </p:txBody>
      </p:sp>
      <p:sp>
        <p:nvSpPr>
          <p:cNvPr id="3" name="Rectangle 2">
            <a:extLst>
              <a:ext uri="{FF2B5EF4-FFF2-40B4-BE49-F238E27FC236}">
                <a16:creationId xmlns:a16="http://schemas.microsoft.com/office/drawing/2014/main" id="{44A39D4D-E7BA-C3DE-BD8F-0A00D6FB3E12}"/>
              </a:ext>
            </a:extLst>
          </p:cNvPr>
          <p:cNvSpPr/>
          <p:nvPr/>
        </p:nvSpPr>
        <p:spPr>
          <a:xfrm>
            <a:off x="257898" y="1050354"/>
            <a:ext cx="11676203" cy="34672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lvl="0" indent="-285750">
              <a:buFont typeface="Wingdings" panose="05000000000000000000" pitchFamily="2" charset="2"/>
              <a:buChar char="q"/>
            </a:pPr>
            <a:endParaRPr lang="en-IN" dirty="0">
              <a:solidFill>
                <a:schemeClr val="tx1"/>
              </a:solidFill>
              <a:cs typeface="Mangal" panose="02040503050203030202" pitchFamily="18" charset="0"/>
            </a:endParaRPr>
          </a:p>
        </p:txBody>
      </p:sp>
      <p:graphicFrame>
        <p:nvGraphicFramePr>
          <p:cNvPr id="4" name="Table 3">
            <a:extLst>
              <a:ext uri="{FF2B5EF4-FFF2-40B4-BE49-F238E27FC236}">
                <a16:creationId xmlns:a16="http://schemas.microsoft.com/office/drawing/2014/main" id="{44C32755-CE1C-3E0C-354B-BE4E61AB25E6}"/>
              </a:ext>
            </a:extLst>
          </p:cNvPr>
          <p:cNvGraphicFramePr>
            <a:graphicFrameLocks noGrp="1"/>
          </p:cNvGraphicFramePr>
          <p:nvPr>
            <p:extLst>
              <p:ext uri="{D42A27DB-BD31-4B8C-83A1-F6EECF244321}">
                <p14:modId xmlns:p14="http://schemas.microsoft.com/office/powerpoint/2010/main" val="752326605"/>
              </p:ext>
            </p:extLst>
          </p:nvPr>
        </p:nvGraphicFramePr>
        <p:xfrm>
          <a:off x="257898" y="1419860"/>
          <a:ext cx="11676203" cy="4899298"/>
        </p:xfrm>
        <a:graphic>
          <a:graphicData uri="http://schemas.openxmlformats.org/drawingml/2006/table">
            <a:tbl>
              <a:tblPr firstRow="1" firstCol="1" bandRow="1">
                <a:tableStyleId>{5C22544A-7EE6-4342-B048-85BDC9FD1C3A}</a:tableStyleId>
              </a:tblPr>
              <a:tblGrid>
                <a:gridCol w="608878">
                  <a:extLst>
                    <a:ext uri="{9D8B030D-6E8A-4147-A177-3AD203B41FA5}">
                      <a16:colId xmlns:a16="http://schemas.microsoft.com/office/drawing/2014/main" val="2500757155"/>
                    </a:ext>
                  </a:extLst>
                </a:gridCol>
                <a:gridCol w="6919286">
                  <a:extLst>
                    <a:ext uri="{9D8B030D-6E8A-4147-A177-3AD203B41FA5}">
                      <a16:colId xmlns:a16="http://schemas.microsoft.com/office/drawing/2014/main" val="2830304214"/>
                    </a:ext>
                  </a:extLst>
                </a:gridCol>
                <a:gridCol w="1931787">
                  <a:extLst>
                    <a:ext uri="{9D8B030D-6E8A-4147-A177-3AD203B41FA5}">
                      <a16:colId xmlns:a16="http://schemas.microsoft.com/office/drawing/2014/main" val="1653483910"/>
                    </a:ext>
                  </a:extLst>
                </a:gridCol>
                <a:gridCol w="2216252">
                  <a:extLst>
                    <a:ext uri="{9D8B030D-6E8A-4147-A177-3AD203B41FA5}">
                      <a16:colId xmlns:a16="http://schemas.microsoft.com/office/drawing/2014/main" val="3359858020"/>
                    </a:ext>
                  </a:extLst>
                </a:gridCol>
              </a:tblGrid>
              <a:tr h="525645">
                <a:tc>
                  <a:txBody>
                    <a:bodyPr/>
                    <a:lstStyle/>
                    <a:p>
                      <a:pP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 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Name</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Type of Project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Estimated Completion</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081802024"/>
                  </a:ext>
                </a:extLst>
              </a:tr>
              <a:tr h="393211">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765/400  KV KPS3 Bay Extn (SA-52G)</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SS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Charged</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5555729"/>
                  </a:ext>
                </a:extLst>
              </a:tr>
              <a:tr h="393211">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Narendra Bay Extension SS( 07 T)(SA-420)- Ready for charging</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SS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1709789"/>
                  </a:ext>
                </a:extLst>
              </a:tr>
              <a:tr h="393211">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3</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220 KV </a:t>
                      </a:r>
                      <a:r>
                        <a:rPr lang="en-IN" sz="1800" dirty="0" err="1">
                          <a:effectLst/>
                          <a:latin typeface="Calibri" panose="020F0502020204030204" pitchFamily="34" charset="0"/>
                          <a:ea typeface="Calibri" panose="020F0502020204030204" pitchFamily="34" charset="0"/>
                          <a:cs typeface="Calibri" panose="020F0502020204030204" pitchFamily="34" charset="0"/>
                        </a:rPr>
                        <a:t>Raigarh</a:t>
                      </a:r>
                      <a:r>
                        <a:rPr lang="en-IN" sz="1800" dirty="0">
                          <a:effectLst/>
                          <a:latin typeface="Calibri" panose="020F0502020204030204" pitchFamily="34" charset="0"/>
                          <a:ea typeface="Calibri" panose="020F0502020204030204" pitchFamily="34" charset="0"/>
                          <a:cs typeface="Calibri" panose="020F0502020204030204" pitchFamily="34" charset="0"/>
                        </a:rPr>
                        <a:t> Bay Extn (SA- 52 C)</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a:effectLst/>
                          <a:latin typeface="Calibri" panose="020F0502020204030204" pitchFamily="34" charset="0"/>
                          <a:ea typeface="Calibri" panose="020F0502020204030204" pitchFamily="34" charset="0"/>
                          <a:cs typeface="Calibri" panose="020F0502020204030204" pitchFamily="34" charset="0"/>
                        </a:rPr>
                        <a:t>SS</a:t>
                      </a: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21712933"/>
                  </a:ext>
                </a:extLst>
              </a:tr>
              <a:tr h="393211">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4</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765/400  KV </a:t>
                      </a:r>
                      <a:r>
                        <a:rPr lang="en-IN" sz="1800" dirty="0" err="1">
                          <a:effectLst/>
                          <a:latin typeface="Calibri" panose="020F0502020204030204" pitchFamily="34" charset="0"/>
                          <a:ea typeface="Calibri" panose="020F0502020204030204" pitchFamily="34" charset="0"/>
                          <a:cs typeface="Calibri" panose="020F0502020204030204" pitchFamily="34" charset="0"/>
                        </a:rPr>
                        <a:t>Phadge</a:t>
                      </a:r>
                      <a:r>
                        <a:rPr lang="en-IN" sz="1800" dirty="0">
                          <a:effectLst/>
                          <a:latin typeface="Calibri" panose="020F0502020204030204" pitchFamily="34" charset="0"/>
                          <a:ea typeface="Calibri" panose="020F0502020204030204" pitchFamily="34" charset="0"/>
                          <a:cs typeface="Calibri" panose="020F0502020204030204" pitchFamily="34" charset="0"/>
                        </a:rPr>
                        <a:t> Bay Extn (SA- 52 M) </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a:effectLst/>
                          <a:latin typeface="Calibri" panose="020F0502020204030204" pitchFamily="34" charset="0"/>
                          <a:ea typeface="Calibri" panose="020F0502020204030204" pitchFamily="34" charset="0"/>
                          <a:cs typeface="Calibri" panose="020F0502020204030204" pitchFamily="34" charset="0"/>
                        </a:rPr>
                        <a:t>SS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90434437"/>
                  </a:ext>
                </a:extLst>
              </a:tr>
              <a:tr h="393211">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5</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765 KV D/C Bidar </a:t>
                      </a:r>
                      <a:r>
                        <a:rPr lang="en-IN" sz="1800" dirty="0" err="1">
                          <a:effectLst/>
                          <a:latin typeface="Calibri" panose="020F0502020204030204" pitchFamily="34" charset="0"/>
                          <a:ea typeface="Calibri" panose="020F0502020204030204" pitchFamily="34" charset="0"/>
                          <a:cs typeface="Calibri" panose="020F0502020204030204" pitchFamily="34" charset="0"/>
                        </a:rPr>
                        <a:t>Maheshwaram</a:t>
                      </a:r>
                      <a:r>
                        <a:rPr lang="en-IN" sz="1800" dirty="0">
                          <a:effectLst/>
                          <a:latin typeface="Calibri" panose="020F0502020204030204" pitchFamily="34" charset="0"/>
                          <a:ea typeface="Calibri" panose="020F0502020204030204" pitchFamily="34" charset="0"/>
                          <a:cs typeface="Calibri" panose="020F0502020204030204" pitchFamily="34" charset="0"/>
                        </a:rPr>
                        <a:t> (TA-421)</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T/L</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57886549"/>
                  </a:ext>
                </a:extLst>
              </a:tr>
              <a:tr h="393211">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6</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765 KV DC Neemrana Bareilly (TA-416)</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T/L</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54273036"/>
                  </a:ext>
                </a:extLst>
              </a:tr>
              <a:tr h="393211">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800" b="0" dirty="0">
                          <a:latin typeface="Calibri" panose="020F0502020204030204" pitchFamily="34" charset="0"/>
                          <a:ea typeface="Calibri" panose="020F0502020204030204" pitchFamily="34" charset="0"/>
                          <a:cs typeface="Calibri" panose="020F0502020204030204" pitchFamily="34" charset="0"/>
                        </a:rPr>
                        <a:t>765 /400 KV KPS-II Extension (SA- 503)</a:t>
                      </a: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SS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65827443"/>
                  </a:ext>
                </a:extLst>
              </a:tr>
              <a:tr h="393211">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8</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765 KV </a:t>
                      </a:r>
                      <a:r>
                        <a:rPr lang="en-IN" sz="1800" dirty="0" err="1">
                          <a:effectLst/>
                          <a:latin typeface="Calibri" panose="020F0502020204030204" pitchFamily="34" charset="0"/>
                          <a:ea typeface="Calibri" panose="020F0502020204030204" pitchFamily="34" charset="0"/>
                          <a:cs typeface="Calibri" panose="020F0502020204030204" pitchFamily="34" charset="0"/>
                        </a:rPr>
                        <a:t>Narela</a:t>
                      </a:r>
                      <a:r>
                        <a:rPr lang="en-IN" sz="1800" dirty="0">
                          <a:effectLst/>
                          <a:latin typeface="Calibri" panose="020F0502020204030204" pitchFamily="34" charset="0"/>
                          <a:ea typeface="Calibri" panose="020F0502020204030204" pitchFamily="34" charset="0"/>
                          <a:cs typeface="Calibri" panose="020F0502020204030204" pitchFamily="34" charset="0"/>
                        </a:rPr>
                        <a:t> Bay Extn (SA- 417)</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SS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3732002"/>
                  </a:ext>
                </a:extLst>
              </a:tr>
              <a:tr h="393211">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9</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765 KV DC </a:t>
                      </a:r>
                      <a:r>
                        <a:rPr lang="en-IN" sz="1800" dirty="0" err="1">
                          <a:effectLst/>
                          <a:latin typeface="Calibri" panose="020F0502020204030204" pitchFamily="34" charset="0"/>
                          <a:ea typeface="Calibri" panose="020F0502020204030204" pitchFamily="34" charset="0"/>
                          <a:cs typeface="Calibri" panose="020F0502020204030204" pitchFamily="34" charset="0"/>
                        </a:rPr>
                        <a:t>Koppal</a:t>
                      </a:r>
                      <a:r>
                        <a:rPr lang="en-IN" sz="1800" dirty="0">
                          <a:effectLst/>
                          <a:latin typeface="Calibri" panose="020F0502020204030204" pitchFamily="34" charset="0"/>
                          <a:ea typeface="Calibri" panose="020F0502020204030204" pitchFamily="34" charset="0"/>
                          <a:cs typeface="Calibri" panose="020F0502020204030204" pitchFamily="34" charset="0"/>
                        </a:rPr>
                        <a:t> Raichur TL (TA-418)</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T/L</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1893284"/>
                  </a:ext>
                </a:extLst>
              </a:tr>
              <a:tr h="393211">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10</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765 KV DC Bikaner Neemrana TL (TA-413)</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T/L</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3533"/>
                  </a:ext>
                </a:extLst>
              </a:tr>
              <a:tr h="393211">
                <a:tc>
                  <a:txBody>
                    <a:bodyPr/>
                    <a:lstStyle/>
                    <a:p>
                      <a:pPr algn="ctr">
                        <a:lnSpc>
                          <a:spcPct val="107000"/>
                        </a:lnSpc>
                        <a:spcAft>
                          <a:spcPts val="800"/>
                        </a:spcAft>
                      </a:pPr>
                      <a:r>
                        <a:rPr lang="en-IN" sz="18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11</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765 KV Bay Extn (16 T)at Navsari for </a:t>
                      </a:r>
                      <a:r>
                        <a:rPr lang="en-IN" sz="1800" dirty="0" err="1">
                          <a:effectLst/>
                          <a:latin typeface="Calibri" panose="020F0502020204030204" pitchFamily="34" charset="0"/>
                          <a:ea typeface="Calibri" panose="020F0502020204030204" pitchFamily="34" charset="0"/>
                          <a:cs typeface="Calibri" panose="020F0502020204030204" pitchFamily="34" charset="0"/>
                        </a:rPr>
                        <a:t>Vataman</a:t>
                      </a:r>
                      <a:r>
                        <a:rPr lang="en-IN" sz="1800" dirty="0">
                          <a:effectLst/>
                          <a:latin typeface="Calibri" panose="020F0502020204030204" pitchFamily="34" charset="0"/>
                          <a:ea typeface="Calibri" panose="020F0502020204030204" pitchFamily="34" charset="0"/>
                          <a:cs typeface="Calibri" panose="020F0502020204030204" pitchFamily="34" charset="0"/>
                        </a:rPr>
                        <a:t> Line(SA-422)</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800" dirty="0">
                          <a:effectLst/>
                          <a:latin typeface="Calibri" panose="020F0502020204030204" pitchFamily="34" charset="0"/>
                          <a:ea typeface="Calibri" panose="020F0502020204030204" pitchFamily="34" charset="0"/>
                          <a:cs typeface="Calibri" panose="020F0502020204030204" pitchFamily="34" charset="0"/>
                        </a:rPr>
                        <a:t>SS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8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24132643"/>
                  </a:ext>
                </a:extLst>
              </a:tr>
            </a:tbl>
          </a:graphicData>
        </a:graphic>
      </p:graphicFrame>
    </p:spTree>
    <p:extLst>
      <p:ext uri="{BB962C8B-B14F-4D97-AF65-F5344CB8AC3E}">
        <p14:creationId xmlns:p14="http://schemas.microsoft.com/office/powerpoint/2010/main" val="2916992756"/>
      </p:ext>
    </p:extLst>
  </p:cSld>
  <p:clrMapOvr>
    <a:masterClrMapping/>
  </p:clrMapOvr>
  <p:transition spd="slow"/>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0777E7-34C3-419C-DF42-EECDEE4B083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E732D16-6517-0528-C7AB-07680F6B3404}"/>
              </a:ext>
            </a:extLst>
          </p:cNvPr>
          <p:cNvSpPr>
            <a:spLocks noGrp="1"/>
          </p:cNvSpPr>
          <p:nvPr>
            <p:ph type="title"/>
          </p:nvPr>
        </p:nvSpPr>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Support Required  </a:t>
            </a:r>
            <a:endParaRPr lang="en-US" sz="2400" b="1" dirty="0">
              <a:latin typeface="Calibri" panose="020F0502020204030204" pitchFamily="34" charset="0"/>
              <a:ea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2F28CE92-DB66-2EE9-68B2-0073B7F4F91D}"/>
              </a:ext>
            </a:extLst>
          </p:cNvPr>
          <p:cNvSpPr txBox="1"/>
          <p:nvPr/>
        </p:nvSpPr>
        <p:spPr>
          <a:xfrm>
            <a:off x="257898" y="1296236"/>
            <a:ext cx="11676203" cy="4623830"/>
          </a:xfrm>
          <a:prstGeom prst="rect">
            <a:avLst/>
          </a:prstGeom>
          <a:solidFill>
            <a:schemeClr val="bg1"/>
          </a:solidFill>
        </p:spPr>
        <p:style>
          <a:lnRef idx="2">
            <a:schemeClr val="dk1"/>
          </a:lnRef>
          <a:fillRef idx="1">
            <a:schemeClr val="lt1"/>
          </a:fillRef>
          <a:effectRef idx="0">
            <a:schemeClr val="dk1"/>
          </a:effectRef>
          <a:fontRef idx="minor">
            <a:schemeClr val="dk1"/>
          </a:fontRef>
        </p:style>
        <p:txBody>
          <a:bodyPr wrap="square">
            <a:spAutoFit/>
          </a:bodyPr>
          <a:lstStyle/>
          <a:p>
            <a:pPr>
              <a:lnSpc>
                <a:spcPct val="107000"/>
              </a:lnSpc>
              <a:spcAft>
                <a:spcPts val="800"/>
              </a:spcAft>
            </a:pPr>
            <a:r>
              <a:rPr lang="en-IN" sz="2000" b="1" dirty="0">
                <a:effectLst/>
                <a:latin typeface="Calibri" panose="020F0502020204030204" pitchFamily="34" charset="0"/>
                <a:ea typeface="Calibri" panose="020F0502020204030204" pitchFamily="34" charset="0"/>
                <a:cs typeface="Calibri" panose="020F0502020204030204" pitchFamily="34" charset="0"/>
              </a:rPr>
              <a:t>Limited Front Availability where work is moving with </a:t>
            </a:r>
            <a:r>
              <a:rPr lang="en-IN" sz="2000" b="1" dirty="0">
                <a:latin typeface="Calibri" panose="020F0502020204030204" pitchFamily="34" charset="0"/>
                <a:ea typeface="Calibri" panose="020F0502020204030204" pitchFamily="34" charset="0"/>
                <a:cs typeface="Calibri" panose="020F0502020204030204" pitchFamily="34" charset="0"/>
              </a:rPr>
              <a:t>minimal</a:t>
            </a:r>
            <a:r>
              <a:rPr lang="en-IN" sz="2000" b="1" dirty="0">
                <a:effectLst/>
                <a:latin typeface="Calibri" panose="020F0502020204030204" pitchFamily="34" charset="0"/>
                <a:ea typeface="Calibri" panose="020F0502020204030204" pitchFamily="34" charset="0"/>
                <a:cs typeface="Calibri" panose="020F0502020204030204" pitchFamily="34" charset="0"/>
              </a:rPr>
              <a:t> Progress </a:t>
            </a:r>
            <a:endParaRPr lang="en-IN" sz="2000" dirty="0">
              <a:effectLst/>
              <a:latin typeface="Calibri" panose="020F0502020204030204" pitchFamily="34" charset="0"/>
              <a:ea typeface="Calibri" panose="020F0502020204030204" pitchFamily="34" charset="0"/>
              <a:cs typeface="Calibri" panose="020F0502020204030204" pitchFamily="34" charset="0"/>
            </a:endParaRPr>
          </a:p>
          <a:p>
            <a:pPr marL="342900" lvl="0" indent="-342900">
              <a:lnSpc>
                <a:spcPct val="107000"/>
              </a:lnSpc>
              <a:spcAft>
                <a:spcPts val="800"/>
              </a:spcAft>
              <a:buFont typeface="+mj-lt"/>
              <a:buAutoNum type="arabicPeriod"/>
            </a:pPr>
            <a:r>
              <a:rPr lang="en-IN" sz="2000" dirty="0">
                <a:effectLst/>
                <a:latin typeface="Calibri" panose="020F0502020204030204" pitchFamily="34" charset="0"/>
                <a:ea typeface="Calibri" panose="020F0502020204030204" pitchFamily="34" charset="0"/>
                <a:cs typeface="Calibri" panose="020F0502020204030204" pitchFamily="34" charset="0"/>
              </a:rPr>
              <a:t>800 KV HVDC TL-06  </a:t>
            </a:r>
            <a:r>
              <a:rPr lang="en-IN" sz="2000" dirty="0" err="1">
                <a:effectLst/>
                <a:latin typeface="Calibri" panose="020F0502020204030204" pitchFamily="34" charset="0"/>
                <a:ea typeface="Calibri" panose="020F0502020204030204" pitchFamily="34" charset="0"/>
                <a:cs typeface="Calibri" panose="020F0502020204030204" pitchFamily="34" charset="0"/>
              </a:rPr>
              <a:t>Khavda</a:t>
            </a:r>
            <a:r>
              <a:rPr lang="en-IN" sz="2000" dirty="0">
                <a:effectLst/>
                <a:latin typeface="Calibri" panose="020F0502020204030204" pitchFamily="34" charset="0"/>
                <a:ea typeface="Calibri" panose="020F0502020204030204" pitchFamily="34" charset="0"/>
                <a:cs typeface="Calibri" panose="020F0502020204030204" pitchFamily="34" charset="0"/>
              </a:rPr>
              <a:t> –Nagpur (TA- 602)</a:t>
            </a:r>
          </a:p>
          <a:p>
            <a:pPr marL="342900" lvl="0" indent="-342900">
              <a:spcAft>
                <a:spcPts val="800"/>
              </a:spcAft>
              <a:buFont typeface="+mj-lt"/>
              <a:buAutoNum type="arabicPeriod"/>
            </a:pPr>
            <a:r>
              <a:rPr lang="en-IN" sz="2000" dirty="0">
                <a:effectLst/>
                <a:latin typeface="Calibri" panose="020F0502020204030204" pitchFamily="34" charset="0"/>
                <a:ea typeface="Calibri" panose="020F0502020204030204" pitchFamily="34" charset="0"/>
                <a:cs typeface="Calibri" panose="020F0502020204030204" pitchFamily="34" charset="0"/>
              </a:rPr>
              <a:t>765 KV D/C Sikar Narela TL </a:t>
            </a:r>
            <a:r>
              <a:rPr lang="en-IN" sz="2000" dirty="0">
                <a:latin typeface="Calibri" panose="020F0502020204030204" pitchFamily="34" charset="0"/>
                <a:ea typeface="Calibri" panose="020F0502020204030204" pitchFamily="34" charset="0"/>
                <a:cs typeface="Calibri" panose="020F0502020204030204" pitchFamily="34" charset="0"/>
              </a:rPr>
              <a:t>(TA- 419)- Start of Stringing works, 2 TSEs available at site</a:t>
            </a:r>
          </a:p>
          <a:p>
            <a:pPr marL="342900" indent="-342900">
              <a:spcAft>
                <a:spcPts val="800"/>
              </a:spcAft>
              <a:buFont typeface="+mj-lt"/>
              <a:buAutoNum type="arabicPeriod"/>
            </a:pPr>
            <a:r>
              <a:rPr lang="en-IN" sz="2000" dirty="0">
                <a:latin typeface="Calibri" panose="020F0502020204030204" pitchFamily="34" charset="0"/>
                <a:ea typeface="Calibri" panose="020F0502020204030204" pitchFamily="34" charset="0"/>
                <a:cs typeface="Calibri" panose="020F0502020204030204" pitchFamily="34" charset="0"/>
              </a:rPr>
              <a:t>Finalization of Pile </a:t>
            </a:r>
            <a:r>
              <a:rPr lang="en-IN" sz="2000" dirty="0" err="1">
                <a:latin typeface="Calibri" panose="020F0502020204030204" pitchFamily="34" charset="0"/>
                <a:ea typeface="Calibri" panose="020F0502020204030204" pitchFamily="34" charset="0"/>
                <a:cs typeface="Calibri" panose="020F0502020204030204" pitchFamily="34" charset="0"/>
              </a:rPr>
              <a:t>Fdn</a:t>
            </a:r>
            <a:r>
              <a:rPr lang="en-IN" sz="2000" dirty="0">
                <a:latin typeface="Calibri" panose="020F0502020204030204" pitchFamily="34" charset="0"/>
                <a:ea typeface="Calibri" panose="020F0502020204030204" pitchFamily="34" charset="0"/>
                <a:cs typeface="Calibri" panose="020F0502020204030204" pitchFamily="34" charset="0"/>
              </a:rPr>
              <a:t> in South </a:t>
            </a:r>
            <a:r>
              <a:rPr lang="en-IN" sz="2000" dirty="0" err="1">
                <a:latin typeface="Calibri" panose="020F0502020204030204" pitchFamily="34" charset="0"/>
                <a:ea typeface="Calibri" panose="020F0502020204030204" pitchFamily="34" charset="0"/>
                <a:cs typeface="Calibri" panose="020F0502020204030204" pitchFamily="34" charset="0"/>
              </a:rPr>
              <a:t>Olpad</a:t>
            </a:r>
            <a:r>
              <a:rPr lang="en-IN" sz="2000" dirty="0">
                <a:latin typeface="Calibri" panose="020F0502020204030204" pitchFamily="34" charset="0"/>
                <a:ea typeface="Calibri" panose="020F0502020204030204" pitchFamily="34" charset="0"/>
                <a:cs typeface="Calibri" panose="020F0502020204030204" pitchFamily="34" charset="0"/>
              </a:rPr>
              <a:t> </a:t>
            </a:r>
            <a:r>
              <a:rPr lang="en-IN" sz="2000" dirty="0" err="1">
                <a:latin typeface="Calibri" panose="020F0502020204030204" pitchFamily="34" charset="0"/>
                <a:ea typeface="Calibri" panose="020F0502020204030204" pitchFamily="34" charset="0"/>
                <a:cs typeface="Calibri" panose="020F0502020204030204" pitchFamily="34" charset="0"/>
              </a:rPr>
              <a:t>Ahemdabad</a:t>
            </a:r>
            <a:r>
              <a:rPr lang="en-IN" sz="2000" dirty="0">
                <a:latin typeface="Calibri" panose="020F0502020204030204" pitchFamily="34" charset="0"/>
                <a:ea typeface="Calibri" panose="020F0502020204030204" pitchFamily="34" charset="0"/>
                <a:cs typeface="Calibri" panose="020F0502020204030204" pitchFamily="34" charset="0"/>
              </a:rPr>
              <a:t> TL- Reserve Forest Issues need to be resolved</a:t>
            </a:r>
            <a:endParaRPr lang="en-IN" sz="2000" b="1" dirty="0">
              <a:effectLst/>
              <a:latin typeface="Calibri" panose="020F0502020204030204" pitchFamily="34" charset="0"/>
              <a:ea typeface="Calibri" panose="020F0502020204030204" pitchFamily="34" charset="0"/>
              <a:cs typeface="Calibri" panose="020F0502020204030204" pitchFamily="34" charset="0"/>
            </a:endParaRPr>
          </a:p>
          <a:p>
            <a:pPr>
              <a:lnSpc>
                <a:spcPct val="107000"/>
              </a:lnSpc>
              <a:spcAft>
                <a:spcPts val="800"/>
              </a:spcAft>
            </a:pPr>
            <a:r>
              <a:rPr lang="en-IN" sz="2000" b="1" dirty="0">
                <a:effectLst/>
                <a:latin typeface="Calibri" panose="020F0502020204030204" pitchFamily="34" charset="0"/>
                <a:ea typeface="Calibri" panose="020F0502020204030204" pitchFamily="34" charset="0"/>
                <a:cs typeface="Calibri" panose="020F0502020204030204" pitchFamily="34" charset="0"/>
              </a:rPr>
              <a:t>  </a:t>
            </a:r>
          </a:p>
          <a:p>
            <a:pPr>
              <a:lnSpc>
                <a:spcPct val="107000"/>
              </a:lnSpc>
              <a:spcAft>
                <a:spcPts val="800"/>
              </a:spcAft>
            </a:pPr>
            <a:r>
              <a:rPr lang="en-IN" sz="2000" b="1" dirty="0">
                <a:effectLst/>
                <a:latin typeface="Calibri" panose="020F0502020204030204" pitchFamily="34" charset="0"/>
                <a:ea typeface="Calibri" panose="020F0502020204030204" pitchFamily="34" charset="0"/>
                <a:cs typeface="Calibri" panose="020F0502020204030204" pitchFamily="34" charset="0"/>
              </a:rPr>
              <a:t>Projects </a:t>
            </a:r>
            <a:r>
              <a:rPr lang="en-IN" sz="2000" b="1" dirty="0">
                <a:latin typeface="Calibri" panose="020F0502020204030204" pitchFamily="34" charset="0"/>
                <a:ea typeface="Calibri" panose="020F0502020204030204" pitchFamily="34" charset="0"/>
                <a:cs typeface="Calibri" panose="020F0502020204030204" pitchFamily="34" charset="0"/>
              </a:rPr>
              <a:t> - </a:t>
            </a:r>
            <a:r>
              <a:rPr lang="en-IN" sz="2000" b="1" dirty="0">
                <a:effectLst/>
                <a:latin typeface="Calibri" panose="020F0502020204030204" pitchFamily="34" charset="0"/>
                <a:ea typeface="Calibri" panose="020F0502020204030204" pitchFamily="34" charset="0"/>
                <a:cs typeface="Calibri" panose="020F0502020204030204" pitchFamily="34" charset="0"/>
              </a:rPr>
              <a:t>Non starter </a:t>
            </a:r>
          </a:p>
          <a:p>
            <a:pPr marL="342900" indent="-342900">
              <a:lnSpc>
                <a:spcPct val="107000"/>
              </a:lnSpc>
              <a:spcAft>
                <a:spcPts val="800"/>
              </a:spcAft>
              <a:buFont typeface="+mj-lt"/>
              <a:buAutoNum type="arabicPeriod"/>
            </a:pPr>
            <a:r>
              <a:rPr lang="en-IN" sz="2000" dirty="0">
                <a:latin typeface="Calibri" panose="020F0502020204030204" pitchFamily="34" charset="0"/>
                <a:ea typeface="Calibri" panose="020F0502020204030204" pitchFamily="34" charset="0"/>
                <a:cs typeface="Calibri" panose="020F0502020204030204" pitchFamily="34" charset="0"/>
              </a:rPr>
              <a:t>800 KV HVDC TL-02 </a:t>
            </a:r>
            <a:r>
              <a:rPr lang="en-IN" sz="2000" dirty="0" err="1">
                <a:latin typeface="Calibri" panose="020F0502020204030204" pitchFamily="34" charset="0"/>
                <a:ea typeface="Calibri" panose="020F0502020204030204" pitchFamily="34" charset="0"/>
                <a:cs typeface="Calibri" panose="020F0502020204030204" pitchFamily="34" charset="0"/>
              </a:rPr>
              <a:t>Khavda</a:t>
            </a:r>
            <a:r>
              <a:rPr lang="en-IN" sz="2000" dirty="0">
                <a:latin typeface="Calibri" panose="020F0502020204030204" pitchFamily="34" charset="0"/>
                <a:ea typeface="Calibri" panose="020F0502020204030204" pitchFamily="34" charset="0"/>
                <a:cs typeface="Calibri" panose="020F0502020204030204" pitchFamily="34" charset="0"/>
              </a:rPr>
              <a:t>-Nagpur  (TA- 514)</a:t>
            </a:r>
            <a:endParaRPr lang="en-IN" sz="2000" b="1" dirty="0">
              <a:effectLst/>
              <a:latin typeface="Calibri" panose="020F0502020204030204" pitchFamily="34" charset="0"/>
              <a:ea typeface="Calibri" panose="020F0502020204030204" pitchFamily="34" charset="0"/>
              <a:cs typeface="Calibri" panose="020F0502020204030204" pitchFamily="34" charset="0"/>
            </a:endParaRPr>
          </a:p>
          <a:p>
            <a:pPr marL="342900" lvl="0" indent="-342900">
              <a:lnSpc>
                <a:spcPct val="107000"/>
              </a:lnSpc>
              <a:spcAft>
                <a:spcPts val="800"/>
              </a:spcAft>
              <a:buFont typeface="+mj-lt"/>
              <a:buAutoNum type="arabicPeriod"/>
            </a:pPr>
            <a:r>
              <a:rPr lang="en-IN" sz="2000" dirty="0">
                <a:effectLst/>
                <a:latin typeface="Calibri" panose="020F0502020204030204" pitchFamily="34" charset="0"/>
                <a:ea typeface="Calibri" panose="020F0502020204030204" pitchFamily="34" charset="0"/>
                <a:cs typeface="Calibri" panose="020F0502020204030204" pitchFamily="34" charset="0"/>
              </a:rPr>
              <a:t>800 KV HVDC TL-03  </a:t>
            </a:r>
            <a:r>
              <a:rPr lang="en-IN" sz="2000" dirty="0" err="1">
                <a:effectLst/>
                <a:latin typeface="Calibri" panose="020F0502020204030204" pitchFamily="34" charset="0"/>
                <a:ea typeface="Calibri" panose="020F0502020204030204" pitchFamily="34" charset="0"/>
                <a:cs typeface="Calibri" panose="020F0502020204030204" pitchFamily="34" charset="0"/>
              </a:rPr>
              <a:t>Khavda</a:t>
            </a:r>
            <a:r>
              <a:rPr lang="en-IN" sz="2000" dirty="0">
                <a:effectLst/>
                <a:latin typeface="Calibri" panose="020F0502020204030204" pitchFamily="34" charset="0"/>
                <a:ea typeface="Calibri" panose="020F0502020204030204" pitchFamily="34" charset="0"/>
                <a:cs typeface="Calibri" panose="020F0502020204030204" pitchFamily="34" charset="0"/>
              </a:rPr>
              <a:t> Nagpur (TA- 515)</a:t>
            </a:r>
          </a:p>
          <a:p>
            <a:pPr marL="342900" lvl="0" indent="-342900">
              <a:lnSpc>
                <a:spcPct val="107000"/>
              </a:lnSpc>
              <a:spcAft>
                <a:spcPts val="800"/>
              </a:spcAft>
              <a:buFont typeface="+mj-lt"/>
              <a:buAutoNum type="arabicPeriod"/>
            </a:pPr>
            <a:r>
              <a:rPr lang="en-IN" sz="2000" dirty="0">
                <a:effectLst/>
                <a:latin typeface="Calibri" panose="020F0502020204030204" pitchFamily="34" charset="0"/>
                <a:ea typeface="Calibri" panose="020F0502020204030204" pitchFamily="34" charset="0"/>
                <a:cs typeface="Calibri" panose="020F0502020204030204" pitchFamily="34" charset="0"/>
              </a:rPr>
              <a:t>765 KV South OLPAD GIS – Land still not handed over ( as per L2-  Mar’25 )( SA-508)</a:t>
            </a:r>
          </a:p>
          <a:p>
            <a:pPr marL="342900" indent="-342900">
              <a:lnSpc>
                <a:spcPct val="107000"/>
              </a:lnSpc>
              <a:spcAft>
                <a:spcPts val="800"/>
              </a:spcAft>
              <a:buFont typeface="+mj-lt"/>
              <a:buAutoNum type="arabicPeriod"/>
            </a:pPr>
            <a:r>
              <a:rPr lang="en-IN" sz="2000" dirty="0">
                <a:effectLst/>
                <a:latin typeface="Calibri" panose="020F0502020204030204" pitchFamily="34" charset="0"/>
                <a:ea typeface="Calibri" panose="020F0502020204030204" pitchFamily="34" charset="0"/>
                <a:cs typeface="Calibri" panose="020F0502020204030204" pitchFamily="34" charset="0"/>
              </a:rPr>
              <a:t>400 KV D/C </a:t>
            </a:r>
            <a:r>
              <a:rPr lang="en-IN" sz="2000" dirty="0" err="1">
                <a:effectLst/>
                <a:latin typeface="Calibri" panose="020F0502020204030204" pitchFamily="34" charset="0"/>
                <a:ea typeface="Calibri" panose="020F0502020204030204" pitchFamily="34" charset="0"/>
                <a:cs typeface="Calibri" panose="020F0502020204030204" pitchFamily="34" charset="0"/>
              </a:rPr>
              <a:t>Siwani</a:t>
            </a:r>
            <a:r>
              <a:rPr lang="en-IN" sz="2000" dirty="0">
                <a:effectLst/>
                <a:latin typeface="Calibri" panose="020F0502020204030204" pitchFamily="34" charset="0"/>
                <a:ea typeface="Calibri" panose="020F0502020204030204" pitchFamily="34" charset="0"/>
                <a:cs typeface="Calibri" panose="020F0502020204030204" pitchFamily="34" charset="0"/>
              </a:rPr>
              <a:t> </a:t>
            </a:r>
            <a:r>
              <a:rPr lang="en-IN" sz="2000" dirty="0" err="1">
                <a:effectLst/>
                <a:latin typeface="Calibri" panose="020F0502020204030204" pitchFamily="34" charset="0"/>
                <a:ea typeface="Calibri" panose="020F0502020204030204" pitchFamily="34" charset="0"/>
                <a:cs typeface="Calibri" panose="020F0502020204030204" pitchFamily="34" charset="0"/>
              </a:rPr>
              <a:t>Fatehabad</a:t>
            </a:r>
            <a:r>
              <a:rPr lang="en-IN" sz="2000" dirty="0">
                <a:effectLst/>
                <a:latin typeface="Calibri" panose="020F0502020204030204" pitchFamily="34" charset="0"/>
                <a:ea typeface="Calibri" panose="020F0502020204030204" pitchFamily="34" charset="0"/>
                <a:cs typeface="Calibri" panose="020F0502020204030204" pitchFamily="34" charset="0"/>
              </a:rPr>
              <a:t> and </a:t>
            </a:r>
            <a:r>
              <a:rPr lang="en-IN" sz="2000" dirty="0" err="1">
                <a:effectLst/>
                <a:latin typeface="Calibri" panose="020F0502020204030204" pitchFamily="34" charset="0"/>
                <a:ea typeface="Calibri" panose="020F0502020204030204" pitchFamily="34" charset="0"/>
                <a:cs typeface="Calibri" panose="020F0502020204030204" pitchFamily="34" charset="0"/>
              </a:rPr>
              <a:t>Sivani</a:t>
            </a:r>
            <a:r>
              <a:rPr lang="en-IN" sz="2000" dirty="0">
                <a:effectLst/>
                <a:latin typeface="Calibri" panose="020F0502020204030204" pitchFamily="34" charset="0"/>
                <a:ea typeface="Calibri" panose="020F0502020204030204" pitchFamily="34" charset="0"/>
                <a:cs typeface="Calibri" panose="020F0502020204030204" pitchFamily="34" charset="0"/>
              </a:rPr>
              <a:t> </a:t>
            </a:r>
            <a:r>
              <a:rPr lang="en-IN" sz="2000" dirty="0" err="1">
                <a:effectLst/>
                <a:latin typeface="Calibri" panose="020F0502020204030204" pitchFamily="34" charset="0"/>
                <a:ea typeface="Calibri" panose="020F0502020204030204" pitchFamily="34" charset="0"/>
                <a:cs typeface="Calibri" panose="020F0502020204030204" pitchFamily="34" charset="0"/>
              </a:rPr>
              <a:t>Patran</a:t>
            </a:r>
            <a:r>
              <a:rPr lang="en-IN" sz="2000" dirty="0">
                <a:effectLst/>
                <a:latin typeface="Calibri" panose="020F0502020204030204" pitchFamily="34" charset="0"/>
                <a:ea typeface="Calibri" panose="020F0502020204030204" pitchFamily="34" charset="0"/>
                <a:cs typeface="Calibri" panose="020F0502020204030204" pitchFamily="34" charset="0"/>
              </a:rPr>
              <a:t>  (TA- 513)</a:t>
            </a:r>
          </a:p>
          <a:p>
            <a:pPr lvl="0">
              <a:lnSpc>
                <a:spcPct val="107000"/>
              </a:lnSpc>
              <a:spcAft>
                <a:spcPts val="800"/>
              </a:spcAft>
            </a:pPr>
            <a:endParaRPr lang="en-IN" sz="1800" dirty="0">
              <a:effectLst/>
              <a:ea typeface="Calibri" panose="020F0502020204030204" pitchFamily="34" charset="0"/>
              <a:cs typeface="Mangal" panose="02040503050203030202" pitchFamily="18" charset="0"/>
            </a:endParaRPr>
          </a:p>
        </p:txBody>
      </p:sp>
    </p:spTree>
    <p:extLst>
      <p:ext uri="{BB962C8B-B14F-4D97-AF65-F5344CB8AC3E}">
        <p14:creationId xmlns:p14="http://schemas.microsoft.com/office/powerpoint/2010/main" val="818147499"/>
      </p:ext>
    </p:extLst>
  </p:cSld>
  <p:clrMapOvr>
    <a:masterClrMapping/>
  </p:clrMapOvr>
  <p:transition spd="slow"/>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2BEC6F-38D0-1D42-9465-5C2C2F316A3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0F77EB6-AFBD-CFE8-7C2D-D34A9DFCED00}"/>
              </a:ext>
            </a:extLst>
          </p:cNvPr>
          <p:cNvSpPr>
            <a:spLocks noGrp="1"/>
          </p:cNvSpPr>
          <p:nvPr>
            <p:ph type="title"/>
          </p:nvPr>
        </p:nvSpPr>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Pending Amendments </a:t>
            </a:r>
            <a:endParaRPr lang="en-US" sz="2400" b="1" dirty="0">
              <a:latin typeface="Calibri" panose="020F0502020204030204" pitchFamily="34" charset="0"/>
              <a:ea typeface="Calibri" panose="020F0502020204030204" pitchFamily="34" charset="0"/>
              <a:cs typeface="Calibri" panose="020F0502020204030204" pitchFamily="34" charset="0"/>
            </a:endParaRPr>
          </a:p>
        </p:txBody>
      </p:sp>
      <p:sp>
        <p:nvSpPr>
          <p:cNvPr id="3" name="Rectangle 2">
            <a:extLst>
              <a:ext uri="{FF2B5EF4-FFF2-40B4-BE49-F238E27FC236}">
                <a16:creationId xmlns:a16="http://schemas.microsoft.com/office/drawing/2014/main" id="{DBB11BA9-9440-A422-E518-849AB4818002}"/>
              </a:ext>
            </a:extLst>
          </p:cNvPr>
          <p:cNvSpPr/>
          <p:nvPr/>
        </p:nvSpPr>
        <p:spPr>
          <a:xfrm>
            <a:off x="257899" y="1540211"/>
            <a:ext cx="11676203" cy="20431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600"/>
              </a:spcBef>
              <a:spcAft>
                <a:spcPts val="300"/>
              </a:spcAft>
            </a:pPr>
            <a:endParaRPr lang="en-US" dirty="0">
              <a:solidFill>
                <a:sysClr val="windowText" lastClr="000000"/>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4" name="Table 3">
            <a:extLst>
              <a:ext uri="{FF2B5EF4-FFF2-40B4-BE49-F238E27FC236}">
                <a16:creationId xmlns:a16="http://schemas.microsoft.com/office/drawing/2014/main" id="{FDAE9790-1B8C-34F3-2841-16248A7E3CE1}"/>
              </a:ext>
            </a:extLst>
          </p:cNvPr>
          <p:cNvGraphicFramePr>
            <a:graphicFrameLocks noGrp="1"/>
          </p:cNvGraphicFramePr>
          <p:nvPr>
            <p:extLst>
              <p:ext uri="{D42A27DB-BD31-4B8C-83A1-F6EECF244321}">
                <p14:modId xmlns:p14="http://schemas.microsoft.com/office/powerpoint/2010/main" val="1117056637"/>
              </p:ext>
            </p:extLst>
          </p:nvPr>
        </p:nvGraphicFramePr>
        <p:xfrm>
          <a:off x="257897" y="1219274"/>
          <a:ext cx="11676204" cy="3526221"/>
        </p:xfrm>
        <a:graphic>
          <a:graphicData uri="http://schemas.openxmlformats.org/drawingml/2006/table">
            <a:tbl>
              <a:tblPr firstRow="1" firstCol="1" bandRow="1">
                <a:tableStyleId>{5C22544A-7EE6-4342-B048-85BDC9FD1C3A}</a:tableStyleId>
              </a:tblPr>
              <a:tblGrid>
                <a:gridCol w="509834">
                  <a:extLst>
                    <a:ext uri="{9D8B030D-6E8A-4147-A177-3AD203B41FA5}">
                      <a16:colId xmlns:a16="http://schemas.microsoft.com/office/drawing/2014/main" val="54138199"/>
                    </a:ext>
                  </a:extLst>
                </a:gridCol>
                <a:gridCol w="3645841">
                  <a:extLst>
                    <a:ext uri="{9D8B030D-6E8A-4147-A177-3AD203B41FA5}">
                      <a16:colId xmlns:a16="http://schemas.microsoft.com/office/drawing/2014/main" val="2758383257"/>
                    </a:ext>
                  </a:extLst>
                </a:gridCol>
                <a:gridCol w="1526069">
                  <a:extLst>
                    <a:ext uri="{9D8B030D-6E8A-4147-A177-3AD203B41FA5}">
                      <a16:colId xmlns:a16="http://schemas.microsoft.com/office/drawing/2014/main" val="961967052"/>
                    </a:ext>
                  </a:extLst>
                </a:gridCol>
                <a:gridCol w="2997230">
                  <a:extLst>
                    <a:ext uri="{9D8B030D-6E8A-4147-A177-3AD203B41FA5}">
                      <a16:colId xmlns:a16="http://schemas.microsoft.com/office/drawing/2014/main" val="3320721864"/>
                    </a:ext>
                  </a:extLst>
                </a:gridCol>
                <a:gridCol w="2997230">
                  <a:extLst>
                    <a:ext uri="{9D8B030D-6E8A-4147-A177-3AD203B41FA5}">
                      <a16:colId xmlns:a16="http://schemas.microsoft.com/office/drawing/2014/main" val="2320647626"/>
                    </a:ext>
                  </a:extLst>
                </a:gridCol>
              </a:tblGrid>
              <a:tr h="509471">
                <a:tc>
                  <a:txBody>
                    <a:bodyPr/>
                    <a:lstStyle/>
                    <a:p>
                      <a:pPr algn="ctr">
                        <a:lnSpc>
                          <a:spcPct val="107000"/>
                        </a:lnSpc>
                        <a:spcAft>
                          <a:spcPts val="800"/>
                        </a:spcAft>
                      </a:pPr>
                      <a:r>
                        <a:rPr lang="en-IN"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 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Name(SS/ TL) </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Type of Project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Pending Since</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marL="0" algn="ctr" defTabSz="914400" rtl="0" eaLnBrk="1" latinLnBrk="0" hangingPunct="1">
                        <a:lnSpc>
                          <a:spcPct val="107000"/>
                        </a:lnSpc>
                        <a:spcAft>
                          <a:spcPts val="800"/>
                        </a:spcAft>
                      </a:pPr>
                      <a:r>
                        <a:rPr lang="en-IN"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Achievement Since Last Discussion</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1044520815"/>
                  </a:ext>
                </a:extLst>
              </a:tr>
              <a:tr h="363242">
                <a:tc>
                  <a:txBody>
                    <a:bodyPr/>
                    <a:lstStyle/>
                    <a:p>
                      <a:pPr algn="ctr">
                        <a:lnSpc>
                          <a:spcPct val="107000"/>
                        </a:lnSpc>
                        <a:spcAft>
                          <a:spcPts val="800"/>
                        </a:spcAft>
                      </a:pPr>
                      <a:r>
                        <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400 KV D/C </a:t>
                      </a:r>
                      <a:r>
                        <a:rPr lang="en-US" sz="1600" b="0"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Sirohi</a:t>
                      </a: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Chittorgarh TL  (TA-506)</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IN" sz="1600" b="0" i="0" u="none" strike="noStrike" kern="120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rPr>
                        <a:t>TL</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600" b="0">
                          <a:solidFill>
                            <a:schemeClr val="tx1"/>
                          </a:solidFill>
                          <a:effectLst/>
                          <a:latin typeface="Calibri" panose="020F0502020204030204" pitchFamily="34" charset="0"/>
                          <a:ea typeface="Calibri" panose="020F0502020204030204" pitchFamily="34" charset="0"/>
                          <a:cs typeface="Calibri" panose="020F0502020204030204" pitchFamily="34" charset="0"/>
                        </a:rPr>
                        <a:t>Jun’25</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71108113"/>
                  </a:ext>
                </a:extLst>
              </a:tr>
              <a:tr h="363242">
                <a:tc>
                  <a:txBody>
                    <a:bodyPr/>
                    <a:lstStyle/>
                    <a:p>
                      <a:pPr algn="ctr">
                        <a:lnSpc>
                          <a:spcPct val="107000"/>
                        </a:lnSpc>
                        <a:spcAft>
                          <a:spcPts val="800"/>
                        </a:spcAft>
                      </a:pPr>
                      <a:r>
                        <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765 KV Ahmedabad- Navsari TL(TA-325)</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IN" sz="1600" b="0" i="0" u="none" strike="noStrike" kern="120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rPr>
                        <a:t>TL</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75369008"/>
                  </a:ext>
                </a:extLst>
              </a:tr>
              <a:tr h="363242">
                <a:tc>
                  <a:txBody>
                    <a:bodyPr/>
                    <a:lstStyle/>
                    <a:p>
                      <a:pPr marL="0" algn="ctr" defTabSz="914400" rtl="0" eaLnBrk="1" latinLnBrk="0" hangingPunct="1">
                        <a:lnSpc>
                          <a:spcPct val="107000"/>
                        </a:lnSpc>
                        <a:spcAft>
                          <a:spcPts val="800"/>
                        </a:spcAft>
                        <a:buNone/>
                      </a:pPr>
                      <a:r>
                        <a:rPr lang="en-IN" sz="1600" b="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3</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l" defTabSz="914400" rtl="0" eaLnBrk="1" latinLnBrk="0" hangingPunct="1">
                        <a:lnSpc>
                          <a:spcPct val="107000"/>
                        </a:lnSpc>
                        <a:spcAft>
                          <a:spcPts val="800"/>
                        </a:spcAft>
                        <a:buNone/>
                      </a:pPr>
                      <a:r>
                        <a:rPr lang="en-US" sz="1600" b="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765KV Bikaner 3 – Neemrana 2 TL(TA-413)</a:t>
                      </a:r>
                      <a:endParaRPr lang="en-IN" sz="1600" b="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r>
                        <a:rPr lang="en-IN" sz="1600" b="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TL</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buNone/>
                      </a:pPr>
                      <a:r>
                        <a:rPr lang="en-IN" sz="1600" b="1" dirty="0">
                          <a:solidFill>
                            <a:srgbClr val="FFFFFF"/>
                          </a:solidFill>
                          <a:effectLst/>
                          <a:latin typeface="Calibri" panose="020F0502020204030204" pitchFamily="34" charset="0"/>
                          <a:ea typeface="Times New Roman" panose="02020603050405020304" pitchFamily="18" charset="0"/>
                          <a:cs typeface="Calibri" panose="020F0502020204030204" pitchFamily="34" charset="0"/>
                        </a:rPr>
                        <a:t> </a:t>
                      </a:r>
                      <a:endParaRPr lang="en-IN" sz="1600" dirty="0">
                        <a:effectLst/>
                        <a:latin typeface="Calibri" panose="020F0502020204030204" pitchFamily="34" charset="0"/>
                        <a:ea typeface="Calibri" panose="020F0502020204030204" pitchFamily="34" charset="0"/>
                        <a:cs typeface="Mangal" panose="02040503050203030202"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buNone/>
                      </a:pPr>
                      <a:endParaRPr lang="en-IN" sz="1600" dirty="0">
                        <a:effectLst/>
                        <a:latin typeface="Calibri" panose="020F0502020204030204" pitchFamily="34" charset="0"/>
                        <a:ea typeface="Calibri" panose="020F0502020204030204" pitchFamily="34" charset="0"/>
                        <a:cs typeface="Mangal" panose="02040503050203030202"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96950039"/>
                  </a:ext>
                </a:extLst>
              </a:tr>
              <a:tr h="426765">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4</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765kV/400 KV </a:t>
                      </a:r>
                      <a:r>
                        <a:rPr lang="en-US" sz="1600" b="0"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Bhadla</a:t>
                      </a: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3 SS</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96537962"/>
                  </a:ext>
                </a:extLst>
              </a:tr>
              <a:tr h="363242">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5</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765 KV </a:t>
                      </a:r>
                      <a:r>
                        <a:rPr lang="en-US" sz="1600" b="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Bidar </a:t>
                      </a:r>
                      <a:r>
                        <a:rPr lang="en-US" sz="1600" b="0" kern="1200"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Maheswaram</a:t>
                      </a:r>
                      <a:r>
                        <a:rPr lang="en-US" sz="1600" b="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TL(TA-421)</a:t>
                      </a:r>
                      <a:endParaRPr lang="en-IN" sz="1600" b="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TL</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53810018"/>
                  </a:ext>
                </a:extLst>
              </a:tr>
              <a:tr h="363242">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6</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IN" sz="1600" b="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765 KV Bikaner </a:t>
                      </a:r>
                      <a:r>
                        <a:rPr lang="en-IN" sz="1600" b="0" kern="1200"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Siwani</a:t>
                      </a:r>
                      <a:r>
                        <a:rPr lang="en-IN" sz="1600" b="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TL (TA- 512)</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TL</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93043184"/>
                  </a:ext>
                </a:extLst>
              </a:tr>
              <a:tr h="363242">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765/400 kV Ramgarh SS (Amendment VI)</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5554835"/>
                  </a:ext>
                </a:extLst>
              </a:tr>
              <a:tr h="40978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8</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765 KV D/C</a:t>
                      </a:r>
                      <a:r>
                        <a:rPr lang="en-IN" sz="16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 </a:t>
                      </a:r>
                      <a:r>
                        <a:rPr lang="en-IN" sz="1600" kern="1200" dirty="0" err="1">
                          <a:solidFill>
                            <a:schemeClr val="dk1"/>
                          </a:solidFill>
                          <a:effectLst/>
                          <a:latin typeface="Calibri" panose="020F0502020204030204" pitchFamily="34" charset="0"/>
                          <a:ea typeface="Calibri" panose="020F0502020204030204" pitchFamily="34" charset="0"/>
                          <a:cs typeface="Calibri" panose="020F0502020204030204" pitchFamily="34" charset="0"/>
                        </a:rPr>
                        <a:t>Rishabhdeo</a:t>
                      </a:r>
                      <a:r>
                        <a:rPr lang="en-IN" sz="16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 – </a:t>
                      </a:r>
                      <a:r>
                        <a:rPr lang="en-IN" sz="1600" kern="1200" dirty="0" err="1">
                          <a:solidFill>
                            <a:schemeClr val="dk1"/>
                          </a:solidFill>
                          <a:effectLst/>
                          <a:latin typeface="Calibri" panose="020F0502020204030204" pitchFamily="34" charset="0"/>
                          <a:ea typeface="Calibri" panose="020F0502020204030204" pitchFamily="34" charset="0"/>
                          <a:cs typeface="Calibri" panose="020F0502020204030204" pitchFamily="34" charset="0"/>
                        </a:rPr>
                        <a:t>Mandsaur</a:t>
                      </a:r>
                      <a:r>
                        <a:rPr lang="en-IN" sz="16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 </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r>
                        <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TL</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0292632"/>
                  </a:ext>
                </a:extLst>
              </a:tr>
            </a:tbl>
          </a:graphicData>
        </a:graphic>
      </p:graphicFrame>
      <p:sp>
        <p:nvSpPr>
          <p:cNvPr id="5" name="TextBox 4">
            <a:extLst>
              <a:ext uri="{FF2B5EF4-FFF2-40B4-BE49-F238E27FC236}">
                <a16:creationId xmlns:a16="http://schemas.microsoft.com/office/drawing/2014/main" id="{464D2CD3-3F34-FCD1-2B36-2E6BE5150D34}"/>
              </a:ext>
            </a:extLst>
          </p:cNvPr>
          <p:cNvSpPr txBox="1"/>
          <p:nvPr/>
        </p:nvSpPr>
        <p:spPr>
          <a:xfrm>
            <a:off x="257897" y="5225899"/>
            <a:ext cx="11676204" cy="1442254"/>
          </a:xfrm>
          <a:prstGeom prst="rect">
            <a:avLst/>
          </a:prstGeom>
          <a:solidFill>
            <a:schemeClr val="bg1"/>
          </a:solidFill>
          <a:ln>
            <a:solidFill>
              <a:schemeClr val="tx1"/>
            </a:solidFill>
          </a:ln>
        </p:spPr>
        <p:txBody>
          <a:bodyPr wrap="square">
            <a:spAutoFit/>
          </a:bodyPr>
          <a:lstStyle/>
          <a:p>
            <a:pPr>
              <a:lnSpc>
                <a:spcPct val="107000"/>
              </a:lnSpc>
              <a:spcAft>
                <a:spcPts val="800"/>
              </a:spcAft>
            </a:pPr>
            <a:r>
              <a:rPr lang="en-IN" sz="1600" dirty="0">
                <a:effectLst/>
                <a:latin typeface="Calibri" panose="020F0502020204030204" pitchFamily="34" charset="0"/>
                <a:ea typeface="Calibri" panose="020F0502020204030204" pitchFamily="34" charset="0"/>
                <a:cs typeface="Calibri" panose="020F0502020204030204" pitchFamily="34" charset="0"/>
              </a:rPr>
              <a:t>SS Projects :    </a:t>
            </a:r>
            <a:r>
              <a:rPr lang="en-IN" sz="1600" dirty="0">
                <a:latin typeface="Calibri" panose="020F0502020204030204" pitchFamily="34" charset="0"/>
                <a:ea typeface="Calibri" panose="020F0502020204030204" pitchFamily="34" charset="0"/>
                <a:cs typeface="Calibri" panose="020F0502020204030204" pitchFamily="34" charset="0"/>
              </a:rPr>
              <a:t>1986 </a:t>
            </a:r>
            <a:r>
              <a:rPr lang="en-IN" sz="1600" dirty="0">
                <a:effectLst/>
                <a:latin typeface="Calibri" panose="020F0502020204030204" pitchFamily="34" charset="0"/>
                <a:ea typeface="Calibri" panose="020F0502020204030204" pitchFamily="34" charset="0"/>
                <a:cs typeface="Calibri" panose="020F0502020204030204" pitchFamily="34" charset="0"/>
              </a:rPr>
              <a:t>( Civil- 1283 &amp; Electrical- 703)  </a:t>
            </a:r>
          </a:p>
          <a:p>
            <a:pPr>
              <a:lnSpc>
                <a:spcPct val="107000"/>
              </a:lnSpc>
              <a:spcAft>
                <a:spcPts val="800"/>
              </a:spcAft>
            </a:pPr>
            <a:r>
              <a:rPr lang="en-IN" sz="1600" dirty="0">
                <a:latin typeface="Calibri" panose="020F0502020204030204" pitchFamily="34" charset="0"/>
                <a:ea typeface="Calibri" panose="020F0502020204030204" pitchFamily="34" charset="0"/>
                <a:cs typeface="Calibri" panose="020F0502020204030204" pitchFamily="34" charset="0"/>
              </a:rPr>
              <a:t>Erection     :     1797 Manpower (50  Gangs) </a:t>
            </a:r>
          </a:p>
          <a:p>
            <a:pPr>
              <a:lnSpc>
                <a:spcPct val="107000"/>
              </a:lnSpc>
              <a:spcAft>
                <a:spcPts val="800"/>
              </a:spcAft>
            </a:pPr>
            <a:r>
              <a:rPr lang="en-IN" sz="1600" dirty="0">
                <a:effectLst/>
                <a:latin typeface="Calibri" panose="020F0502020204030204" pitchFamily="34" charset="0"/>
                <a:ea typeface="Calibri" panose="020F0502020204030204" pitchFamily="34" charset="0"/>
                <a:cs typeface="Calibri" panose="020F0502020204030204" pitchFamily="34" charset="0"/>
              </a:rPr>
              <a:t>Stringing    :      </a:t>
            </a:r>
            <a:r>
              <a:rPr lang="en-IN" sz="1600" dirty="0">
                <a:latin typeface="Calibri" panose="020F0502020204030204" pitchFamily="34" charset="0"/>
                <a:ea typeface="Calibri" panose="020F0502020204030204" pitchFamily="34" charset="0"/>
                <a:cs typeface="Calibri" panose="020F0502020204030204" pitchFamily="34" charset="0"/>
              </a:rPr>
              <a:t>970 </a:t>
            </a:r>
            <a:r>
              <a:rPr lang="en-IN" sz="1600" dirty="0">
                <a:effectLst/>
                <a:latin typeface="Calibri" panose="020F0502020204030204" pitchFamily="34" charset="0"/>
                <a:ea typeface="Calibri" panose="020F0502020204030204" pitchFamily="34" charset="0"/>
                <a:cs typeface="Calibri" panose="020F0502020204030204" pitchFamily="34" charset="0"/>
              </a:rPr>
              <a:t>Manpower</a:t>
            </a:r>
            <a:r>
              <a:rPr lang="en-IN" sz="1600" dirty="0">
                <a:latin typeface="Calibri" panose="020F0502020204030204" pitchFamily="34" charset="0"/>
                <a:ea typeface="Calibri" panose="020F0502020204030204" pitchFamily="34" charset="0"/>
                <a:cs typeface="Calibri" panose="020F0502020204030204" pitchFamily="34" charset="0"/>
              </a:rPr>
              <a:t>(12 TSE &amp; 8 Manual) </a:t>
            </a:r>
          </a:p>
          <a:p>
            <a:pPr>
              <a:lnSpc>
                <a:spcPct val="107000"/>
              </a:lnSpc>
              <a:spcAft>
                <a:spcPts val="800"/>
              </a:spcAft>
            </a:pPr>
            <a:r>
              <a:rPr lang="en-IN" sz="1600" b="1" dirty="0">
                <a:effectLst/>
                <a:latin typeface="Calibri" panose="020F0502020204030204" pitchFamily="34" charset="0"/>
                <a:ea typeface="Calibri" panose="020F0502020204030204" pitchFamily="34" charset="0"/>
                <a:cs typeface="Calibri" panose="020F0502020204030204" pitchFamily="34" charset="0"/>
              </a:rPr>
              <a:t>Total           :      </a:t>
            </a:r>
            <a:r>
              <a:rPr lang="en-IN" sz="1600" b="1" dirty="0">
                <a:latin typeface="Calibri" panose="020F0502020204030204" pitchFamily="34" charset="0"/>
                <a:ea typeface="Calibri" panose="020F0502020204030204" pitchFamily="34" charset="0"/>
                <a:cs typeface="Calibri" panose="020F0502020204030204" pitchFamily="34" charset="0"/>
              </a:rPr>
              <a:t>4753</a:t>
            </a:r>
            <a:r>
              <a:rPr lang="en-IN" sz="1600" b="1" dirty="0">
                <a:effectLst/>
                <a:latin typeface="Calibri" panose="020F0502020204030204" pitchFamily="34" charset="0"/>
                <a:ea typeface="Calibri" panose="020F0502020204030204" pitchFamily="34" charset="0"/>
                <a:cs typeface="Calibri" panose="020F0502020204030204" pitchFamily="34" charset="0"/>
              </a:rPr>
              <a:t>  Manpower</a:t>
            </a:r>
          </a:p>
        </p:txBody>
      </p:sp>
      <p:sp>
        <p:nvSpPr>
          <p:cNvPr id="7" name="TextBox 6">
            <a:extLst>
              <a:ext uri="{FF2B5EF4-FFF2-40B4-BE49-F238E27FC236}">
                <a16:creationId xmlns:a16="http://schemas.microsoft.com/office/drawing/2014/main" id="{D15CB8C9-6DF6-E28F-486E-B964F53DC239}"/>
              </a:ext>
            </a:extLst>
          </p:cNvPr>
          <p:cNvSpPr txBox="1"/>
          <p:nvPr/>
        </p:nvSpPr>
        <p:spPr>
          <a:xfrm>
            <a:off x="257897" y="4825789"/>
            <a:ext cx="11676204" cy="400110"/>
          </a:xfrm>
          <a:prstGeom prst="rect">
            <a:avLst/>
          </a:prstGeom>
          <a:solidFill>
            <a:schemeClr val="tx2">
              <a:lumMod val="10000"/>
              <a:lumOff val="90000"/>
            </a:schemeClr>
          </a:solidFill>
          <a:ln>
            <a:solidFill>
              <a:schemeClr val="tx1"/>
            </a:solidFill>
          </a:ln>
        </p:spPr>
        <p:txBody>
          <a:bodyPr wrap="square" rtlCol="0">
            <a:spAutoFit/>
          </a:bodyPr>
          <a:lstStyle/>
          <a:p>
            <a:r>
              <a:rPr lang="en-US" sz="2000" b="1" dirty="0">
                <a:latin typeface="Calibri" panose="020F0502020204030204" pitchFamily="34" charset="0"/>
                <a:ea typeface="Calibri" panose="020F0502020204030204" pitchFamily="34" charset="0"/>
                <a:cs typeface="Calibri" panose="020F0502020204030204" pitchFamily="34" charset="0"/>
              </a:rPr>
              <a:t>Manpower Status</a:t>
            </a:r>
          </a:p>
        </p:txBody>
      </p:sp>
    </p:spTree>
    <p:extLst>
      <p:ext uri="{BB962C8B-B14F-4D97-AF65-F5344CB8AC3E}">
        <p14:creationId xmlns:p14="http://schemas.microsoft.com/office/powerpoint/2010/main" val="2093910250"/>
      </p:ext>
    </p:extLst>
  </p:cSld>
  <p:clrMapOvr>
    <a:masterClrMapping/>
  </p:clrMapOvr>
  <p:transition spd="slow"/>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7F349C-6CDC-AF91-54CC-49E9EEFC454E}"/>
              </a:ext>
            </a:extLst>
          </p:cNvPr>
          <p:cNvSpPr>
            <a:spLocks noGrp="1"/>
          </p:cNvSpPr>
          <p:nvPr>
            <p:ph type="title"/>
          </p:nvPr>
        </p:nvSpPr>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List of Running Substation &amp; TL Project</a:t>
            </a:r>
            <a:r>
              <a:rPr lang="en-IN" sz="2400" b="1" dirty="0">
                <a:latin typeface="Calibri" panose="020F0502020204030204" pitchFamily="34" charset="0"/>
                <a:ea typeface="Calibri" panose="020F0502020204030204" pitchFamily="34" charset="0"/>
                <a:cs typeface="Calibri" panose="020F0502020204030204" pitchFamily="34" charset="0"/>
              </a:rPr>
              <a:t> (Cont..)</a:t>
            </a:r>
          </a:p>
        </p:txBody>
      </p:sp>
      <p:graphicFrame>
        <p:nvGraphicFramePr>
          <p:cNvPr id="4" name="Content Placeholder 3">
            <a:extLst>
              <a:ext uri="{FF2B5EF4-FFF2-40B4-BE49-F238E27FC236}">
                <a16:creationId xmlns:a16="http://schemas.microsoft.com/office/drawing/2014/main" id="{87CFAA40-8DBE-C589-B4B1-62967F424BEF}"/>
              </a:ext>
            </a:extLst>
          </p:cNvPr>
          <p:cNvGraphicFramePr>
            <a:graphicFrameLocks noGrp="1"/>
          </p:cNvGraphicFramePr>
          <p:nvPr>
            <p:ph sz="half" idx="2"/>
            <p:extLst>
              <p:ext uri="{D42A27DB-BD31-4B8C-83A1-F6EECF244321}">
                <p14:modId xmlns:p14="http://schemas.microsoft.com/office/powerpoint/2010/main" val="4049968518"/>
              </p:ext>
            </p:extLst>
          </p:nvPr>
        </p:nvGraphicFramePr>
        <p:xfrm>
          <a:off x="257899" y="1323496"/>
          <a:ext cx="11586169" cy="5292965"/>
        </p:xfrm>
        <a:graphic>
          <a:graphicData uri="http://schemas.openxmlformats.org/drawingml/2006/table">
            <a:tbl>
              <a:tblPr firstRow="1" firstCol="1" bandRow="1">
                <a:tableStyleId>{5C22544A-7EE6-4342-B048-85BDC9FD1C3A}</a:tableStyleId>
              </a:tblPr>
              <a:tblGrid>
                <a:gridCol w="449467">
                  <a:extLst>
                    <a:ext uri="{9D8B030D-6E8A-4147-A177-3AD203B41FA5}">
                      <a16:colId xmlns:a16="http://schemas.microsoft.com/office/drawing/2014/main" val="2616694591"/>
                    </a:ext>
                  </a:extLst>
                </a:gridCol>
                <a:gridCol w="1073894">
                  <a:extLst>
                    <a:ext uri="{9D8B030D-6E8A-4147-A177-3AD203B41FA5}">
                      <a16:colId xmlns:a16="http://schemas.microsoft.com/office/drawing/2014/main" val="3767120554"/>
                    </a:ext>
                  </a:extLst>
                </a:gridCol>
                <a:gridCol w="1046024">
                  <a:extLst>
                    <a:ext uri="{9D8B030D-6E8A-4147-A177-3AD203B41FA5}">
                      <a16:colId xmlns:a16="http://schemas.microsoft.com/office/drawing/2014/main" val="2605646480"/>
                    </a:ext>
                  </a:extLst>
                </a:gridCol>
                <a:gridCol w="5981941">
                  <a:extLst>
                    <a:ext uri="{9D8B030D-6E8A-4147-A177-3AD203B41FA5}">
                      <a16:colId xmlns:a16="http://schemas.microsoft.com/office/drawing/2014/main" val="184831426"/>
                    </a:ext>
                  </a:extLst>
                </a:gridCol>
                <a:gridCol w="621076">
                  <a:extLst>
                    <a:ext uri="{9D8B030D-6E8A-4147-A177-3AD203B41FA5}">
                      <a16:colId xmlns:a16="http://schemas.microsoft.com/office/drawing/2014/main" val="3381739747"/>
                    </a:ext>
                  </a:extLst>
                </a:gridCol>
                <a:gridCol w="1144087">
                  <a:extLst>
                    <a:ext uri="{9D8B030D-6E8A-4147-A177-3AD203B41FA5}">
                      <a16:colId xmlns:a16="http://schemas.microsoft.com/office/drawing/2014/main" val="3694315047"/>
                    </a:ext>
                  </a:extLst>
                </a:gridCol>
                <a:gridCol w="1269680">
                  <a:extLst>
                    <a:ext uri="{9D8B030D-6E8A-4147-A177-3AD203B41FA5}">
                      <a16:colId xmlns:a16="http://schemas.microsoft.com/office/drawing/2014/main" val="1927840876"/>
                    </a:ext>
                  </a:extLst>
                </a:gridCol>
              </a:tblGrid>
              <a:tr h="793447">
                <a:tc>
                  <a:txBody>
                    <a:bodyPr/>
                    <a:lstStyle/>
                    <a:p>
                      <a:pPr>
                        <a:lnSpc>
                          <a:spcPct val="107000"/>
                        </a:lnSpc>
                        <a:spcAft>
                          <a:spcPts val="800"/>
                        </a:spcAft>
                      </a:pPr>
                      <a:r>
                        <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Sl. 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Code</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Region</a:t>
                      </a:r>
                      <a:endPar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Details</a:t>
                      </a:r>
                      <a:endPar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TL/SS</a:t>
                      </a:r>
                      <a:endPar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Value (</a:t>
                      </a:r>
                      <a:r>
                        <a:rPr lang="en-IN" sz="1600" b="1"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Crs</a:t>
                      </a:r>
                      <a:r>
                        <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UEOB As on 1st May'26 (</a:t>
                      </a:r>
                      <a:r>
                        <a:rPr lang="en-US" sz="1600" b="1"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Crs</a:t>
                      </a: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67189081"/>
                  </a:ext>
                </a:extLst>
              </a:tr>
              <a:tr h="25651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A-303/304</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JSEB Lines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35120777"/>
                  </a:ext>
                </a:extLst>
              </a:tr>
              <a:tr h="25651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A-722/723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ER2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Sikkim Tower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PKg</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TK-04</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6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6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28179119"/>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3</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A920</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NER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132 KV D/C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Tawang</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Lumla</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Line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6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6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32857278"/>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4</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SA-417</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NR1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sv-SE"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765kV Narela GIS Extension - SS02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6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6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80270836"/>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5</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TA-419</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NR1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nn-NO"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D/C Sikar II  to Narela TL- TL02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6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6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23344134"/>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6</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TA-513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NR2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kv</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D/C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Siwani</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 Patran, part 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6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6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71213436"/>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TA-416</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NR3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D/C Neemrana-II-Bareilly , TL03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27366417"/>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8</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SA-410</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NWR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765/400/220 kV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Bhadla</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SS &amp; Sikar extn.</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41098261"/>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9</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TA-413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NWR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D/C Bikaner-III-Neemrana-II, TL02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9363784"/>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10</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TA-504</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NWR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US"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D/C Rishabdeo – Mandsaur Line (Part I) &amp; LILO</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80697741"/>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11</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TA-505</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NWR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D/C Beowar-Mandsaur 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81199748"/>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12</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TA-506</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NWR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400 KV D/C Sirohi – Chittorgarh Transmission Line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38461574"/>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13</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TA-512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NWR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nb-NO"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D/C Bikaner Siwani</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12013937"/>
                  </a:ext>
                </a:extLst>
              </a:tr>
              <a:tr h="332208">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14</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SA-420</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SR1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sv-SE"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765kV Narendra GIS Extn - SS07T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58551521"/>
                  </a:ext>
                </a:extLst>
              </a:tr>
            </a:tbl>
          </a:graphicData>
        </a:graphic>
      </p:graphicFrame>
    </p:spTree>
    <p:extLst>
      <p:ext uri="{BB962C8B-B14F-4D97-AF65-F5344CB8AC3E}">
        <p14:creationId xmlns:p14="http://schemas.microsoft.com/office/powerpoint/2010/main" val="4028921502"/>
      </p:ext>
    </p:extLst>
  </p:cSld>
  <p:clrMapOvr>
    <a:masterClrMapping/>
  </p:clrMapOvr>
  <p:transition spd="slow"/>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A89234-F2CB-B6F2-C7EA-297DB3CF3E96}"/>
              </a:ext>
            </a:extLst>
          </p:cNvPr>
          <p:cNvSpPr>
            <a:spLocks noGrp="1"/>
          </p:cNvSpPr>
          <p:nvPr>
            <p:ph type="title"/>
          </p:nvPr>
        </p:nvSpPr>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List of Running Substation &amp; TL Project</a:t>
            </a:r>
            <a:endParaRPr lang="en-IN" sz="2400" dirty="0"/>
          </a:p>
        </p:txBody>
      </p:sp>
      <p:graphicFrame>
        <p:nvGraphicFramePr>
          <p:cNvPr id="4" name="Content Placeholder 3">
            <a:extLst>
              <a:ext uri="{FF2B5EF4-FFF2-40B4-BE49-F238E27FC236}">
                <a16:creationId xmlns:a16="http://schemas.microsoft.com/office/drawing/2014/main" id="{1168D60B-5299-0EF2-F2BC-A3B6A4FF660C}"/>
              </a:ext>
            </a:extLst>
          </p:cNvPr>
          <p:cNvGraphicFramePr>
            <a:graphicFrameLocks noGrp="1"/>
          </p:cNvGraphicFramePr>
          <p:nvPr>
            <p:ph sz="half" idx="2"/>
            <p:extLst>
              <p:ext uri="{D42A27DB-BD31-4B8C-83A1-F6EECF244321}">
                <p14:modId xmlns:p14="http://schemas.microsoft.com/office/powerpoint/2010/main" val="683585583"/>
              </p:ext>
            </p:extLst>
          </p:nvPr>
        </p:nvGraphicFramePr>
        <p:xfrm>
          <a:off x="220964" y="1335236"/>
          <a:ext cx="11750071" cy="5315725"/>
        </p:xfrm>
        <a:graphic>
          <a:graphicData uri="http://schemas.openxmlformats.org/drawingml/2006/table">
            <a:tbl>
              <a:tblPr firstRow="1" firstCol="1" bandRow="1">
                <a:tableStyleId>{5C22544A-7EE6-4342-B048-85BDC9FD1C3A}</a:tableStyleId>
              </a:tblPr>
              <a:tblGrid>
                <a:gridCol w="400243">
                  <a:extLst>
                    <a:ext uri="{9D8B030D-6E8A-4147-A177-3AD203B41FA5}">
                      <a16:colId xmlns:a16="http://schemas.microsoft.com/office/drawing/2014/main" val="2616694591"/>
                    </a:ext>
                  </a:extLst>
                </a:gridCol>
                <a:gridCol w="1144668">
                  <a:extLst>
                    <a:ext uri="{9D8B030D-6E8A-4147-A177-3AD203B41FA5}">
                      <a16:colId xmlns:a16="http://schemas.microsoft.com/office/drawing/2014/main" val="3767120554"/>
                    </a:ext>
                  </a:extLst>
                </a:gridCol>
                <a:gridCol w="1060821">
                  <a:extLst>
                    <a:ext uri="{9D8B030D-6E8A-4147-A177-3AD203B41FA5}">
                      <a16:colId xmlns:a16="http://schemas.microsoft.com/office/drawing/2014/main" val="2605646480"/>
                    </a:ext>
                  </a:extLst>
                </a:gridCol>
                <a:gridCol w="6066564">
                  <a:extLst>
                    <a:ext uri="{9D8B030D-6E8A-4147-A177-3AD203B41FA5}">
                      <a16:colId xmlns:a16="http://schemas.microsoft.com/office/drawing/2014/main" val="184831426"/>
                    </a:ext>
                  </a:extLst>
                </a:gridCol>
                <a:gridCol w="629862">
                  <a:extLst>
                    <a:ext uri="{9D8B030D-6E8A-4147-A177-3AD203B41FA5}">
                      <a16:colId xmlns:a16="http://schemas.microsoft.com/office/drawing/2014/main" val="3381739747"/>
                    </a:ext>
                  </a:extLst>
                </a:gridCol>
                <a:gridCol w="1160272">
                  <a:extLst>
                    <a:ext uri="{9D8B030D-6E8A-4147-A177-3AD203B41FA5}">
                      <a16:colId xmlns:a16="http://schemas.microsoft.com/office/drawing/2014/main" val="3694315047"/>
                    </a:ext>
                  </a:extLst>
                </a:gridCol>
                <a:gridCol w="1287641">
                  <a:extLst>
                    <a:ext uri="{9D8B030D-6E8A-4147-A177-3AD203B41FA5}">
                      <a16:colId xmlns:a16="http://schemas.microsoft.com/office/drawing/2014/main" val="1927840876"/>
                    </a:ext>
                  </a:extLst>
                </a:gridCol>
              </a:tblGrid>
              <a:tr h="784415">
                <a:tc>
                  <a:txBody>
                    <a:bodyPr/>
                    <a:lstStyle/>
                    <a:p>
                      <a:pPr>
                        <a:lnSpc>
                          <a:spcPct val="107000"/>
                        </a:lnSpc>
                        <a:spcAft>
                          <a:spcPts val="800"/>
                        </a:spcAft>
                      </a:pPr>
                      <a:r>
                        <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Sl. 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Code</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Region</a:t>
                      </a:r>
                      <a:endPar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Details</a:t>
                      </a:r>
                      <a:endPar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TL/SS</a:t>
                      </a:r>
                      <a:endPar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Value (</a:t>
                      </a:r>
                      <a:r>
                        <a:rPr lang="en-IN" sz="1600" b="1"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Crs</a:t>
                      </a:r>
                      <a:r>
                        <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a:lnSpc>
                          <a:spcPct val="107000"/>
                        </a:lnSpc>
                        <a:spcAft>
                          <a:spcPts val="8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UEOB As on 1st May'26 (</a:t>
                      </a:r>
                      <a:r>
                        <a:rPr lang="en-US" sz="1600" b="1"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Crs</a:t>
                      </a: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67189081"/>
                  </a:ext>
                </a:extLst>
              </a:tr>
              <a:tr h="25359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15</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SA-603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SR1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sv-SE"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765kV New Narendra GIS extn. Pkg-SS-64T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38095204"/>
                  </a:ext>
                </a:extLst>
              </a:tr>
              <a:tr h="25359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16</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TA-418</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SR1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US"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D/C  Kopal 2 - Raichur, TL01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86935328"/>
                  </a:ext>
                </a:extLst>
              </a:tr>
              <a:tr h="25359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17</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TA-421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SR1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765kV D/C Bidar PS - Maheshwaram</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95948704"/>
                  </a:ext>
                </a:extLst>
              </a:tr>
              <a:tr h="25359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18</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TA-601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SR1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US"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D/C Kurnool IV - Bidar Line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19154650"/>
                  </a:ext>
                </a:extLst>
              </a:tr>
              <a:tr h="496073">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19</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SA-502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WR1/WR2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SS-118 (Extension of 765/400kV Maheshwaram, 765/400 KPS3, 765/400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Phadge</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&amp; 220kV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Raigarh</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GIS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90608750"/>
                  </a:ext>
                </a:extLst>
              </a:tr>
              <a:tr h="25359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20</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SA-503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WR2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SS-39T - (Extn of 765/400kV KPS-2 GIS)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38005990"/>
                  </a:ext>
                </a:extLst>
              </a:tr>
              <a:tr h="992145">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21</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SA-508</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WR2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SS-33T</a:t>
                      </a:r>
                      <a:b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 765kV South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Olpad</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GIS</a:t>
                      </a:r>
                      <a:b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 Extn. Of 765kV Vadodara GIS</a:t>
                      </a:r>
                      <a:b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 Extn. Of 765kV Ahmedabad SS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3649489"/>
                  </a:ext>
                </a:extLst>
              </a:tr>
              <a:tr h="25359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22</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TA-414</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WR2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fi-FI"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D/C Vataman Navsari Line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15639841"/>
                  </a:ext>
                </a:extLst>
              </a:tr>
              <a:tr h="25359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23</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TA-509</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WR2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D/C Mandsaur - Korawar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04044833"/>
                  </a:ext>
                </a:extLst>
              </a:tr>
              <a:tr h="25359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24</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TA-510</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WR2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D/C South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Olpad</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 Ahmedabad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04064405"/>
                  </a:ext>
                </a:extLst>
              </a:tr>
              <a:tr h="25359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25</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TA-514</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WR2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800 KV HVDC TL-02 KPS III Khavda - Nagpur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97053344"/>
                  </a:ext>
                </a:extLst>
              </a:tr>
              <a:tr h="25359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26</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TA-515</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WR2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800 KV HVDC TL-03  KPS III Khavda - Nagpur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33355450"/>
                  </a:ext>
                </a:extLst>
              </a:tr>
              <a:tr h="253591">
                <a:tc>
                  <a:txBody>
                    <a:bodyPr/>
                    <a:lstStyle/>
                    <a:p>
                      <a:pPr algn="ctr">
                        <a:lnSpc>
                          <a:spcPct val="107000"/>
                        </a:lnSpc>
                        <a:spcAft>
                          <a:spcPts val="800"/>
                        </a:spcAft>
                      </a:pPr>
                      <a:r>
                        <a:rPr lang="en-US"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27</a:t>
                      </a:r>
                      <a:endParaRPr lang="en-IN"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TA-602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WR2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800 KV HVDC TL06 KPS-III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Khavda</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to Nagpur</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66887291"/>
                  </a:ext>
                </a:extLst>
              </a:tr>
              <a:tr h="253591">
                <a:tc gridSpan="5">
                  <a:txBody>
                    <a:bodyPr/>
                    <a:lstStyle/>
                    <a:p>
                      <a:pPr algn="ctr">
                        <a:lnSpc>
                          <a:spcPct val="107000"/>
                        </a:lnSpc>
                        <a:spcAft>
                          <a:spcPts val="8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Total Amount in </a:t>
                      </a:r>
                      <a:r>
                        <a:rPr lang="en-US" sz="1600" b="1"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Crs</a:t>
                      </a:r>
                      <a:endParaRPr lang="en-I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nSpc>
                          <a:spcPct val="107000"/>
                        </a:lnSpc>
                        <a:spcAft>
                          <a:spcPts val="800"/>
                        </a:spcAft>
                      </a:pPr>
                      <a:endParaRPr lang="en-IN" sz="16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nSpc>
                          <a:spcPct val="107000"/>
                        </a:lnSpc>
                        <a:spcAft>
                          <a:spcPts val="800"/>
                        </a:spcAft>
                      </a:pPr>
                      <a:endParaRPr lang="en-IN" sz="16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nSpc>
                          <a:spcPct val="107000"/>
                        </a:lnSpc>
                        <a:spcAft>
                          <a:spcPts val="800"/>
                        </a:spcAft>
                      </a:pPr>
                      <a:endParaRPr lang="en-IN" sz="16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pPr>
                        <a:lnSpc>
                          <a:spcPct val="107000"/>
                        </a:lnSpc>
                        <a:spcAft>
                          <a:spcPts val="800"/>
                        </a:spcAft>
                      </a:pPr>
                      <a:endParaRPr lang="en-IN" sz="1600" b="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1"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600" b="1"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88964342"/>
                  </a:ext>
                </a:extLst>
              </a:tr>
            </a:tbl>
          </a:graphicData>
        </a:graphic>
      </p:graphicFrame>
    </p:spTree>
    <p:extLst>
      <p:ext uri="{BB962C8B-B14F-4D97-AF65-F5344CB8AC3E}">
        <p14:creationId xmlns:p14="http://schemas.microsoft.com/office/powerpoint/2010/main" val="2822910210"/>
      </p:ext>
    </p:extLst>
  </p:cSld>
  <p:clrMapOvr>
    <a:masterClrMapping/>
  </p:clrMapOvr>
  <p:transition spd="slow"/>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04502A-0AD5-E703-73F5-4F55CF42D78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DD4FBA3-8636-AE32-D213-F61073DC53EF}"/>
              </a:ext>
            </a:extLst>
          </p:cNvPr>
          <p:cNvSpPr>
            <a:spLocks noGrp="1"/>
          </p:cNvSpPr>
          <p:nvPr>
            <p:ph type="title"/>
          </p:nvPr>
        </p:nvSpPr>
        <p:spPr>
          <a:xfrm>
            <a:off x="342960" y="3153095"/>
            <a:ext cx="11676203" cy="551809"/>
          </a:xfrm>
        </p:spPr>
        <p:txBody>
          <a:bodyPr>
            <a:noAutofit/>
          </a:bodyPr>
          <a:lstStyle/>
          <a:p>
            <a:pPr algn="ctr"/>
            <a:r>
              <a:rPr lang="en-IN" sz="4000" dirty="0">
                <a:latin typeface="Calibri" panose="020F0502020204030204" pitchFamily="34" charset="0"/>
                <a:ea typeface="Calibri" panose="020F0502020204030204" pitchFamily="34" charset="0"/>
                <a:cs typeface="Calibri" panose="020F0502020204030204" pitchFamily="34" charset="0"/>
              </a:rPr>
              <a:t>Gujarat  Region (WR-II) </a:t>
            </a:r>
          </a:p>
        </p:txBody>
      </p:sp>
    </p:spTree>
    <p:extLst>
      <p:ext uri="{BB962C8B-B14F-4D97-AF65-F5344CB8AC3E}">
        <p14:creationId xmlns:p14="http://schemas.microsoft.com/office/powerpoint/2010/main" val="785010362"/>
      </p:ext>
    </p:extLst>
  </p:cSld>
  <p:clrMapOvr>
    <a:masterClrMapping/>
  </p:clrMapOvr>
  <p:transition spd="slow"/>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2C2B9E-3D27-3FC3-F50A-2477A32CA023}"/>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3B325FC4-C212-0BCB-8124-071BB4E34B0D}"/>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TL04 - 765KV D/C Vataman - Navsari Transmission Line </a:t>
            </a:r>
            <a:r>
              <a:rPr lang="en-US" sz="2400" b="1" dirty="0">
                <a:latin typeface="Calibri" panose="020F0502020204030204" pitchFamily="34" charset="0"/>
                <a:ea typeface="Calibri" panose="020F0502020204030204" pitchFamily="34" charset="0"/>
                <a:cs typeface="Calibri" panose="020F0502020204030204" pitchFamily="34" charset="0"/>
              </a:rPr>
              <a:t>(TA- 414)</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A1A774D2-659D-3EE6-5EC9-6F13A6AAD0FC}"/>
              </a:ext>
            </a:extLst>
          </p:cNvPr>
          <p:cNvGraphicFramePr>
            <a:graphicFrameLocks noGrp="1"/>
          </p:cNvGraphicFramePr>
          <p:nvPr>
            <p:extLst>
              <p:ext uri="{D42A27DB-BD31-4B8C-83A1-F6EECF244321}">
                <p14:modId xmlns:p14="http://schemas.microsoft.com/office/powerpoint/2010/main" val="1235914050"/>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12/03/2024</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11/12/2025</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7" name="Table 6">
            <a:extLst>
              <a:ext uri="{FF2B5EF4-FFF2-40B4-BE49-F238E27FC236}">
                <a16:creationId xmlns:a16="http://schemas.microsoft.com/office/drawing/2014/main" id="{639E9DE7-CE7A-90B5-BEDB-B0D6D6254181}"/>
              </a:ext>
            </a:extLst>
          </p:cNvPr>
          <p:cNvGraphicFramePr>
            <a:graphicFrameLocks noGrp="1"/>
          </p:cNvGraphicFramePr>
          <p:nvPr>
            <p:extLst>
              <p:ext uri="{D42A27DB-BD31-4B8C-83A1-F6EECF244321}">
                <p14:modId xmlns:p14="http://schemas.microsoft.com/office/powerpoint/2010/main" val="1196761483"/>
              </p:ext>
            </p:extLst>
          </p:nvPr>
        </p:nvGraphicFramePr>
        <p:xfrm>
          <a:off x="238963" y="5470115"/>
          <a:ext cx="11705008" cy="1228092"/>
        </p:xfrm>
        <a:graphic>
          <a:graphicData uri="http://schemas.openxmlformats.org/drawingml/2006/table">
            <a:tbl>
              <a:tblPr/>
              <a:tblGrid>
                <a:gridCol w="1249109">
                  <a:extLst>
                    <a:ext uri="{9D8B030D-6E8A-4147-A177-3AD203B41FA5}">
                      <a16:colId xmlns:a16="http://schemas.microsoft.com/office/drawing/2014/main" val="4144033618"/>
                    </a:ext>
                  </a:extLst>
                </a:gridCol>
                <a:gridCol w="1109123">
                  <a:extLst>
                    <a:ext uri="{9D8B030D-6E8A-4147-A177-3AD203B41FA5}">
                      <a16:colId xmlns:a16="http://schemas.microsoft.com/office/drawing/2014/main" val="2710662077"/>
                    </a:ext>
                  </a:extLst>
                </a:gridCol>
                <a:gridCol w="829150">
                  <a:extLst>
                    <a:ext uri="{9D8B030D-6E8A-4147-A177-3AD203B41FA5}">
                      <a16:colId xmlns:a16="http://schemas.microsoft.com/office/drawing/2014/main" val="3810854777"/>
                    </a:ext>
                  </a:extLst>
                </a:gridCol>
                <a:gridCol w="1270645">
                  <a:extLst>
                    <a:ext uri="{9D8B030D-6E8A-4147-A177-3AD203B41FA5}">
                      <a16:colId xmlns:a16="http://schemas.microsoft.com/office/drawing/2014/main" val="95352560"/>
                    </a:ext>
                  </a:extLst>
                </a:gridCol>
                <a:gridCol w="1249109">
                  <a:extLst>
                    <a:ext uri="{9D8B030D-6E8A-4147-A177-3AD203B41FA5}">
                      <a16:colId xmlns:a16="http://schemas.microsoft.com/office/drawing/2014/main" val="3482007332"/>
                    </a:ext>
                  </a:extLst>
                </a:gridCol>
                <a:gridCol w="904528">
                  <a:extLst>
                    <a:ext uri="{9D8B030D-6E8A-4147-A177-3AD203B41FA5}">
                      <a16:colId xmlns:a16="http://schemas.microsoft.com/office/drawing/2014/main" val="3780160470"/>
                    </a:ext>
                  </a:extLst>
                </a:gridCol>
                <a:gridCol w="1356790">
                  <a:extLst>
                    <a:ext uri="{9D8B030D-6E8A-4147-A177-3AD203B41FA5}">
                      <a16:colId xmlns:a16="http://schemas.microsoft.com/office/drawing/2014/main" val="4001841647"/>
                    </a:ext>
                  </a:extLst>
                </a:gridCol>
                <a:gridCol w="1162962">
                  <a:extLst>
                    <a:ext uri="{9D8B030D-6E8A-4147-A177-3AD203B41FA5}">
                      <a16:colId xmlns:a16="http://schemas.microsoft.com/office/drawing/2014/main" val="873345733"/>
                    </a:ext>
                  </a:extLst>
                </a:gridCol>
                <a:gridCol w="635322">
                  <a:extLst>
                    <a:ext uri="{9D8B030D-6E8A-4147-A177-3AD203B41FA5}">
                      <a16:colId xmlns:a16="http://schemas.microsoft.com/office/drawing/2014/main" val="983947984"/>
                    </a:ext>
                  </a:extLst>
                </a:gridCol>
                <a:gridCol w="1162962">
                  <a:extLst>
                    <a:ext uri="{9D8B030D-6E8A-4147-A177-3AD203B41FA5}">
                      <a16:colId xmlns:a16="http://schemas.microsoft.com/office/drawing/2014/main" val="3672483493"/>
                    </a:ext>
                  </a:extLst>
                </a:gridCol>
                <a:gridCol w="775308">
                  <a:extLst>
                    <a:ext uri="{9D8B030D-6E8A-4147-A177-3AD203B41FA5}">
                      <a16:colId xmlns:a16="http://schemas.microsoft.com/office/drawing/2014/main" val="1432498959"/>
                    </a:ext>
                  </a:extLst>
                </a:gridCol>
              </a:tblGrid>
              <a:tr h="204682">
                <a:tc gridSpan="11">
                  <a:txBody>
                    <a:bodyPr/>
                    <a:lstStyle/>
                    <a:p>
                      <a:pPr marL="0" algn="ctr" defTabSz="914400" rtl="0" eaLnBrk="1" fontAlgn="ctr" latinLnBrk="0" hangingPunct="1">
                        <a:buNone/>
                      </a:pPr>
                      <a:r>
                        <a:rPr lang="en-US" sz="1200" b="1" i="0" u="none" strike="noStrike"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204682">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marL="0" algn="ctr" defTabSz="914400" rtl="0" eaLnBrk="1" fontAlgn="ctr" latinLnBrk="0" hangingPunct="1">
                        <a:buNone/>
                      </a:pPr>
                      <a:r>
                        <a:rPr lang="en-US" sz="1200" b="1" i="0" u="none" strike="noStrike"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204682">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ctr" latinLnBrk="0" hangingPunct="1">
                        <a:buNone/>
                      </a:pPr>
                      <a:r>
                        <a:rPr lang="en-US" sz="1200" b="1" i="0" u="none" strike="noStrike"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20468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20468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20468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graphicFrame>
        <p:nvGraphicFramePr>
          <p:cNvPr id="2" name="Table 1">
            <a:extLst>
              <a:ext uri="{FF2B5EF4-FFF2-40B4-BE49-F238E27FC236}">
                <a16:creationId xmlns:a16="http://schemas.microsoft.com/office/drawing/2014/main" id="{0124AF05-8E77-2E74-918D-306E87145DDC}"/>
              </a:ext>
            </a:extLst>
          </p:cNvPr>
          <p:cNvGraphicFramePr>
            <a:graphicFrameLocks noGrp="1"/>
          </p:cNvGraphicFramePr>
          <p:nvPr>
            <p:extLst>
              <p:ext uri="{D42A27DB-BD31-4B8C-83A1-F6EECF244321}">
                <p14:modId xmlns:p14="http://schemas.microsoft.com/office/powerpoint/2010/main" val="225089934"/>
              </p:ext>
            </p:extLst>
          </p:nvPr>
        </p:nvGraphicFramePr>
        <p:xfrm>
          <a:off x="238964" y="1472185"/>
          <a:ext cx="11695862" cy="3929608"/>
        </p:xfrm>
        <a:graphic>
          <a:graphicData uri="http://schemas.openxmlformats.org/drawingml/2006/table">
            <a:tbl>
              <a:tblPr/>
              <a:tblGrid>
                <a:gridCol w="813262">
                  <a:extLst>
                    <a:ext uri="{9D8B030D-6E8A-4147-A177-3AD203B41FA5}">
                      <a16:colId xmlns:a16="http://schemas.microsoft.com/office/drawing/2014/main" val="135828591"/>
                    </a:ext>
                  </a:extLst>
                </a:gridCol>
                <a:gridCol w="275346">
                  <a:extLst>
                    <a:ext uri="{9D8B030D-6E8A-4147-A177-3AD203B41FA5}">
                      <a16:colId xmlns:a16="http://schemas.microsoft.com/office/drawing/2014/main" val="2721187810"/>
                    </a:ext>
                  </a:extLst>
                </a:gridCol>
                <a:gridCol w="203656">
                  <a:extLst>
                    <a:ext uri="{9D8B030D-6E8A-4147-A177-3AD203B41FA5}">
                      <a16:colId xmlns:a16="http://schemas.microsoft.com/office/drawing/2014/main" val="2022003594"/>
                    </a:ext>
                  </a:extLst>
                </a:gridCol>
                <a:gridCol w="152899">
                  <a:extLst>
                    <a:ext uri="{9D8B030D-6E8A-4147-A177-3AD203B41FA5}">
                      <a16:colId xmlns:a16="http://schemas.microsoft.com/office/drawing/2014/main" val="451487575"/>
                    </a:ext>
                  </a:extLst>
                </a:gridCol>
                <a:gridCol w="326104">
                  <a:extLst>
                    <a:ext uri="{9D8B030D-6E8A-4147-A177-3AD203B41FA5}">
                      <a16:colId xmlns:a16="http://schemas.microsoft.com/office/drawing/2014/main" val="1787263378"/>
                    </a:ext>
                  </a:extLst>
                </a:gridCol>
                <a:gridCol w="279411">
                  <a:extLst>
                    <a:ext uri="{9D8B030D-6E8A-4147-A177-3AD203B41FA5}">
                      <a16:colId xmlns:a16="http://schemas.microsoft.com/office/drawing/2014/main" val="1303606723"/>
                    </a:ext>
                  </a:extLst>
                </a:gridCol>
                <a:gridCol w="292030">
                  <a:extLst>
                    <a:ext uri="{9D8B030D-6E8A-4147-A177-3AD203B41FA5}">
                      <a16:colId xmlns:a16="http://schemas.microsoft.com/office/drawing/2014/main" val="2761194415"/>
                    </a:ext>
                  </a:extLst>
                </a:gridCol>
                <a:gridCol w="418440">
                  <a:extLst>
                    <a:ext uri="{9D8B030D-6E8A-4147-A177-3AD203B41FA5}">
                      <a16:colId xmlns:a16="http://schemas.microsoft.com/office/drawing/2014/main" val="3144831074"/>
                    </a:ext>
                  </a:extLst>
                </a:gridCol>
                <a:gridCol w="220229">
                  <a:extLst>
                    <a:ext uri="{9D8B030D-6E8A-4147-A177-3AD203B41FA5}">
                      <a16:colId xmlns:a16="http://schemas.microsoft.com/office/drawing/2014/main" val="460574447"/>
                    </a:ext>
                  </a:extLst>
                </a:gridCol>
                <a:gridCol w="490242">
                  <a:extLst>
                    <a:ext uri="{9D8B030D-6E8A-4147-A177-3AD203B41FA5}">
                      <a16:colId xmlns:a16="http://schemas.microsoft.com/office/drawing/2014/main" val="324232320"/>
                    </a:ext>
                  </a:extLst>
                </a:gridCol>
                <a:gridCol w="182043">
                  <a:extLst>
                    <a:ext uri="{9D8B030D-6E8A-4147-A177-3AD203B41FA5}">
                      <a16:colId xmlns:a16="http://schemas.microsoft.com/office/drawing/2014/main" val="1115951725"/>
                    </a:ext>
                  </a:extLst>
                </a:gridCol>
                <a:gridCol w="528428">
                  <a:extLst>
                    <a:ext uri="{9D8B030D-6E8A-4147-A177-3AD203B41FA5}">
                      <a16:colId xmlns:a16="http://schemas.microsoft.com/office/drawing/2014/main" val="1723929459"/>
                    </a:ext>
                  </a:extLst>
                </a:gridCol>
                <a:gridCol w="152259">
                  <a:extLst>
                    <a:ext uri="{9D8B030D-6E8A-4147-A177-3AD203B41FA5}">
                      <a16:colId xmlns:a16="http://schemas.microsoft.com/office/drawing/2014/main" val="50973896"/>
                    </a:ext>
                  </a:extLst>
                </a:gridCol>
                <a:gridCol w="558211">
                  <a:extLst>
                    <a:ext uri="{9D8B030D-6E8A-4147-A177-3AD203B41FA5}">
                      <a16:colId xmlns:a16="http://schemas.microsoft.com/office/drawing/2014/main" val="245322394"/>
                    </a:ext>
                  </a:extLst>
                </a:gridCol>
                <a:gridCol w="609881">
                  <a:extLst>
                    <a:ext uri="{9D8B030D-6E8A-4147-A177-3AD203B41FA5}">
                      <a16:colId xmlns:a16="http://schemas.microsoft.com/office/drawing/2014/main" val="475803913"/>
                    </a:ext>
                  </a:extLst>
                </a:gridCol>
                <a:gridCol w="314088">
                  <a:extLst>
                    <a:ext uri="{9D8B030D-6E8A-4147-A177-3AD203B41FA5}">
                      <a16:colId xmlns:a16="http://schemas.microsoft.com/office/drawing/2014/main" val="1160610277"/>
                    </a:ext>
                  </a:extLst>
                </a:gridCol>
                <a:gridCol w="206933">
                  <a:extLst>
                    <a:ext uri="{9D8B030D-6E8A-4147-A177-3AD203B41FA5}">
                      <a16:colId xmlns:a16="http://schemas.microsoft.com/office/drawing/2014/main" val="2267264020"/>
                    </a:ext>
                  </a:extLst>
                </a:gridCol>
                <a:gridCol w="594567">
                  <a:extLst>
                    <a:ext uri="{9D8B030D-6E8A-4147-A177-3AD203B41FA5}">
                      <a16:colId xmlns:a16="http://schemas.microsoft.com/office/drawing/2014/main" val="2453680468"/>
                    </a:ext>
                  </a:extLst>
                </a:gridCol>
                <a:gridCol w="489335">
                  <a:extLst>
                    <a:ext uri="{9D8B030D-6E8A-4147-A177-3AD203B41FA5}">
                      <a16:colId xmlns:a16="http://schemas.microsoft.com/office/drawing/2014/main" val="1192068078"/>
                    </a:ext>
                  </a:extLst>
                </a:gridCol>
                <a:gridCol w="344703">
                  <a:extLst>
                    <a:ext uri="{9D8B030D-6E8A-4147-A177-3AD203B41FA5}">
                      <a16:colId xmlns:a16="http://schemas.microsoft.com/office/drawing/2014/main" val="126166695"/>
                    </a:ext>
                  </a:extLst>
                </a:gridCol>
                <a:gridCol w="529424">
                  <a:extLst>
                    <a:ext uri="{9D8B030D-6E8A-4147-A177-3AD203B41FA5}">
                      <a16:colId xmlns:a16="http://schemas.microsoft.com/office/drawing/2014/main" val="3935500210"/>
                    </a:ext>
                  </a:extLst>
                </a:gridCol>
                <a:gridCol w="487406">
                  <a:extLst>
                    <a:ext uri="{9D8B030D-6E8A-4147-A177-3AD203B41FA5}">
                      <a16:colId xmlns:a16="http://schemas.microsoft.com/office/drawing/2014/main" val="3714652486"/>
                    </a:ext>
                  </a:extLst>
                </a:gridCol>
                <a:gridCol w="3226965">
                  <a:extLst>
                    <a:ext uri="{9D8B030D-6E8A-4147-A177-3AD203B41FA5}">
                      <a16:colId xmlns:a16="http://schemas.microsoft.com/office/drawing/2014/main" val="1604112735"/>
                    </a:ext>
                  </a:extLst>
                </a:gridCol>
              </a:tblGrid>
              <a:tr h="338861">
                <a:tc rowSpan="2" gridSpan="2">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Activity</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endParaRPr lang="en-IN" sz="1200" b="1"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endParaRPr lang="en-IN" sz="1200" b="1"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endParaRPr lang="en-IN" sz="1200" b="1"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Revised</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endParaRPr lang="en-IN" sz="1200" b="1"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 </a:t>
                      </a:r>
                      <a:r>
                        <a:rPr lang="en-IN" sz="1200" b="1"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(April'26)</a:t>
                      </a:r>
                    </a:p>
                    <a:p>
                      <a:pPr algn="ctr" rtl="0" fontAlgn="ctr">
                        <a:buNone/>
                      </a:pPr>
                      <a:endPar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endParaRPr lang="en-IN" sz="1200" b="1"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till 30.04.26</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endParaRPr lang="en-IN" sz="1200" b="1"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As on 01.05.26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endParaRPr lang="en-IN" sz="1200" b="1"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endParaRPr lang="en-IN" sz="1200" b="1"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algn="ct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a:endParaRPr lang="en-US" dirty="0"/>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gridSpan="2">
                  <a:txBody>
                    <a:bodyPr/>
                    <a:lstStyle/>
                    <a:p>
                      <a:pPr algn="ct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Plan May-26</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hMerge="1">
                  <a:txBody>
                    <a:bodyPr/>
                    <a:lstStyle/>
                    <a:p>
                      <a:endParaRPr lang="en-US"/>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Plan Jun-26</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Plan Jul-26</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4092408917"/>
                  </a:ext>
                </a:extLst>
              </a:tr>
              <a:tr h="313024">
                <a:tc gridSpan="2" vMerge="1">
                  <a:txBody>
                    <a:bodyPr/>
                    <a:lstStyle/>
                    <a:p>
                      <a:endParaRPr lang="en-IN"/>
                    </a:p>
                  </a:txBody>
                  <a:tcPr/>
                </a:tc>
                <a:tc hMerge="1"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IN"/>
                    </a:p>
                  </a:txBody>
                  <a:tcPr/>
                </a:tc>
                <a:tc hMerge="1" vMerge="1">
                  <a:txBody>
                    <a:bodyPr/>
                    <a:lstStyle/>
                    <a:p>
                      <a:endParaRPr lang="en-US"/>
                    </a:p>
                  </a:txBody>
                  <a:tcPr/>
                </a:tc>
                <a:tc gridSpan="2" vMerge="1">
                  <a:txBody>
                    <a:bodyPr/>
                    <a:lstStyle/>
                    <a:p>
                      <a:endParaRPr lang="en-IN"/>
                    </a:p>
                  </a:txBody>
                  <a:tcPr/>
                </a:tc>
                <a:tc hMerge="1" vMerge="1">
                  <a:txBody>
                    <a:bodyPr/>
                    <a:lstStyle/>
                    <a:p>
                      <a:endParaRPr lang="en-US"/>
                    </a:p>
                  </a:txBody>
                  <a:tcPr/>
                </a:tc>
                <a:tc gridSpan="2" vMerge="1">
                  <a:txBody>
                    <a:bodyPr/>
                    <a:lstStyle/>
                    <a:p>
                      <a:endParaRPr lang="en-IN"/>
                    </a:p>
                  </a:txBody>
                  <a:tcPr/>
                </a:tc>
                <a:tc hMerge="1" vMerge="1">
                  <a:txBody>
                    <a:bodyPr/>
                    <a:lstStyle/>
                    <a:p>
                      <a:endParaRPr lang="en-US"/>
                    </a:p>
                  </a:txBody>
                  <a:tcPr/>
                </a:tc>
                <a:tc gridSpan="2" vMerge="1">
                  <a:txBody>
                    <a:bodyPr/>
                    <a:lstStyle/>
                    <a:p>
                      <a:endParaRPr lang="en-IN"/>
                    </a:p>
                  </a:txBody>
                  <a:tcPr/>
                </a:tc>
                <a:tc hMerge="1" vMerge="1">
                  <a:txBody>
                    <a:bodyPr/>
                    <a:lstStyle/>
                    <a:p>
                      <a:endParaRPr lang="en-US"/>
                    </a:p>
                  </a:txBody>
                  <a:tcPr/>
                </a:tc>
                <a:tc gridSpan="2" vMerge="1">
                  <a:txBody>
                    <a:bodyPr/>
                    <a:lstStyle/>
                    <a:p>
                      <a:endParaRPr lang="en-IN"/>
                    </a:p>
                  </a:txBody>
                  <a:tcPr/>
                </a:tc>
                <a:tc hMerge="1" vMerge="1">
                  <a:txBody>
                    <a:bodyPr/>
                    <a:lstStyle/>
                    <a:p>
                      <a:endParaRPr lang="en-US"/>
                    </a:p>
                  </a:txBody>
                  <a:tcPr/>
                </a:tc>
                <a:tc gridSpan="2" vMerge="1">
                  <a:txBody>
                    <a:bodyPr/>
                    <a:lstStyle/>
                    <a:p>
                      <a:endParaRPr lang="en-IN"/>
                    </a:p>
                  </a:txBody>
                  <a:tcPr/>
                </a:tc>
                <a:tc hMerge="1" vMerge="1">
                  <a:txBody>
                    <a:bodyPr/>
                    <a:lstStyle/>
                    <a:p>
                      <a:endParaRPr lang="en-US"/>
                    </a:p>
                  </a:txBody>
                  <a:tcPr/>
                </a:tc>
                <a:tc gridSpan="2" vMerge="1">
                  <a:txBody>
                    <a:bodyPr/>
                    <a:lstStyle/>
                    <a:p>
                      <a:endParaRPr lang="en-US"/>
                    </a:p>
                  </a:txBody>
                  <a:tcPr/>
                </a:tc>
                <a:tc hMerge="1" vMerge="1">
                  <a:txBody>
                    <a:bodyPr/>
                    <a:lstStyle/>
                    <a:p>
                      <a:endParaRPr lang="en-US"/>
                    </a:p>
                  </a:txBody>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Plan</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Act</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lang="en-IN"/>
                    </a:p>
                  </a:txBody>
                  <a:tcPr/>
                </a:tc>
                <a:tc vMerge="1">
                  <a:txBody>
                    <a:bodyPr/>
                    <a:lstStyle/>
                    <a:p>
                      <a:endParaRPr lang="en-IN"/>
                    </a:p>
                  </a:txBody>
                  <a:tcPr/>
                </a:tc>
                <a:tc vMerge="1">
                  <a:txBody>
                    <a:bodyPr/>
                    <a:lstStyle/>
                    <a:p>
                      <a:endParaRPr lang="en-IN"/>
                    </a:p>
                  </a:txBody>
                  <a:tcPr/>
                </a:tc>
                <a:extLst>
                  <a:ext uri="{0D108BD9-81ED-4DB2-BD59-A6C34878D82A}">
                    <a16:rowId xmlns:a16="http://schemas.microsoft.com/office/drawing/2014/main" val="2840914600"/>
                  </a:ext>
                </a:extLst>
              </a:tr>
              <a:tr h="174785">
                <a:tc gridSpan="2">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l" rtl="0" fontAlgn="ctr">
                        <a:buNone/>
                      </a:pPr>
                      <a:endParaRPr lang="en-IN" sz="1200" b="0"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127.799</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127.799</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a:endParaRPr lang="en-US"/>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667194498"/>
                  </a:ext>
                </a:extLst>
              </a:tr>
              <a:tr h="174785">
                <a:tc gridSpan="2">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l" rtl="0" fontAlgn="ctr">
                        <a:buNone/>
                      </a:pPr>
                      <a:endParaRPr lang="en-IN" sz="1200" b="0"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316</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36</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a:endParaRPr lang="en-US"/>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34</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rtl="0" fontAlgn="t">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83237002"/>
                  </a:ext>
                </a:extLst>
              </a:tr>
              <a:tr h="174785">
                <a:tc gridSpan="2">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l" rtl="0" fontAlgn="ctr">
                        <a:buNone/>
                      </a:pPr>
                      <a:endParaRPr lang="en-IN" sz="1200" b="0"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225</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127</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a:endParaRPr lang="en-US"/>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55</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13</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52</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800593650"/>
                  </a:ext>
                </a:extLst>
              </a:tr>
              <a:tr h="319241">
                <a:tc gridSpan="2">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l" rtl="0" fontAlgn="ctr">
                        <a:buNone/>
                      </a:pPr>
                      <a:endParaRPr lang="en-IN" sz="1200" b="0"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127.799</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10.396</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117.403</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a:endParaRPr lang="en-US"/>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22</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6023368"/>
                  </a:ext>
                </a:extLst>
              </a:tr>
              <a:tr h="174785">
                <a:tc gridSpan="2">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l" rtl="0" fontAlgn="ctr">
                        <a:buNone/>
                      </a:pPr>
                      <a:endParaRPr lang="en-IN" sz="1200" b="0" i="0" u="none" strike="noStrike">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127.799</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127.799</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a:endParaRPr lang="en-US" dirty="0"/>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76168714"/>
                  </a:ext>
                </a:extLst>
              </a:tr>
              <a:tr h="172729">
                <a:tc gridSpan="23">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7262" marR="7262" marT="7262" marB="0" anchor="ctr">
                    <a:lnL>
                      <a:noFill/>
                    </a:lnL>
                    <a:lnR>
                      <a:noFill/>
                    </a:lnR>
                    <a:lnT w="6350" cap="flat" cmpd="sng" algn="ctr">
                      <a:solidFill>
                        <a:srgbClr val="000000"/>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rgbClr val="DCEAF7"/>
                    </a:solidFill>
                  </a:tcPr>
                </a:tc>
                <a:tc hMerge="1">
                  <a:txBody>
                    <a:bodyPr/>
                    <a:lstStyle/>
                    <a:p>
                      <a:endParaRPr lang="en-US"/>
                    </a:p>
                  </a:txBody>
                  <a:tcPr/>
                </a:tc>
                <a:tc hMerge="1">
                  <a:txBody>
                    <a:bodyPr/>
                    <a:lstStyle/>
                    <a:p>
                      <a:endParaRPr lang="en-US"/>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lang="en-US"/>
                    </a:p>
                  </a:txBody>
                  <a:tcPr/>
                </a:tc>
                <a:tc hMerge="1">
                  <a:txBody>
                    <a:bodyPr/>
                    <a:lstStyle/>
                    <a:p>
                      <a:endParaRPr lang="en-IN"/>
                    </a:p>
                  </a:txBody>
                  <a:tcPr/>
                </a:tc>
                <a:tc hMerge="1">
                  <a:txBody>
                    <a:bodyPr/>
                    <a:lstStyle/>
                    <a:p>
                      <a:endParaRPr lang="en-US"/>
                    </a:p>
                  </a:txBody>
                  <a:tcPr/>
                </a:tc>
                <a:tc hMerge="1">
                  <a:txBody>
                    <a:bodyPr/>
                    <a:lstStyle/>
                    <a:p>
                      <a:endParaRPr lang="en-IN"/>
                    </a:p>
                  </a:txBody>
                  <a:tcPr/>
                </a:tc>
                <a:tc hMerge="1">
                  <a:txBody>
                    <a:bodyPr/>
                    <a:lstStyle/>
                    <a:p>
                      <a:endParaRPr lang="en-US"/>
                    </a:p>
                  </a:txBody>
                  <a:tcPr/>
                </a:tc>
                <a:tc hMerge="1">
                  <a:txBody>
                    <a:bodyPr/>
                    <a:lstStyle/>
                    <a:p>
                      <a:endParaRPr lang="en-IN"/>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lang="en-US"/>
                    </a:p>
                  </a:txBody>
                  <a:tcPr/>
                </a:tc>
                <a:tc hMerge="1">
                  <a:txBody>
                    <a:bodyPr/>
                    <a:lstStyle/>
                    <a:p>
                      <a:endParaRPr lang="en-IN"/>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lang="en-US"/>
                    </a:p>
                  </a:txBody>
                  <a:tcPr/>
                </a:tc>
                <a:tc hMerge="1">
                  <a:txBody>
                    <a:bodyPr/>
                    <a:lstStyle/>
                    <a:p>
                      <a:endParaRPr lang="en-IN"/>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lang="en-US"/>
                    </a:p>
                  </a:txBody>
                  <a:tcPr/>
                </a:tc>
                <a:tc hMerge="1">
                  <a:txBody>
                    <a:bodyPr/>
                    <a:lstStyle/>
                    <a:p>
                      <a:endParaRPr lang="en-IN"/>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lang="en-US"/>
                    </a:p>
                  </a:txBody>
                  <a:tcPr/>
                </a:tc>
                <a:tc hMerge="1">
                  <a:txBody>
                    <a:bodyPr/>
                    <a:lstStyle/>
                    <a:p>
                      <a:endParaRPr lang="en-US"/>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lang="en-US"/>
                    </a:p>
                  </a:txBody>
                  <a:tcPr/>
                </a:tc>
                <a:tc hMerge="1">
                  <a:txBody>
                    <a:bodyPr/>
                    <a:lstStyle/>
                    <a:p>
                      <a:endParaRPr lang="en-US"/>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lang="en-US"/>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633170800"/>
                  </a:ext>
                </a:extLst>
              </a:tr>
              <a:tr h="338861">
                <a:tc rowSpan="2">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Item</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algn="ctr" rtl="0" fontAlgn="ctr">
                        <a:buNone/>
                      </a:pPr>
                      <a:endPar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r>
                        <a:rPr lang="en-IN" sz="1200" b="1" i="0" u="none" strike="noStrike">
                          <a:solidFill>
                            <a:srgbClr val="000000"/>
                          </a:solidFill>
                          <a:effectLst/>
                          <a:latin typeface="+mn-lt"/>
                        </a:rPr>
                        <a:t>As Per LOA (Qty)</a:t>
                      </a:r>
                      <a:endParaRPr lang="en-IN" sz="1200" b="1"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r>
                        <a:rPr lang="en-IN" sz="1200" b="1" i="0" u="none" strike="noStrike" dirty="0">
                          <a:solidFill>
                            <a:srgbClr val="000000"/>
                          </a:solidFill>
                          <a:effectLst/>
                          <a:latin typeface="+mn-lt"/>
                        </a:rPr>
                        <a:t>As Per LOA (Qty)</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a:noFill/>
                    </a:lnB>
                    <a:solidFill>
                      <a:srgbClr val="DCEAF7"/>
                    </a:solidFill>
                  </a:tcPr>
                </a:tc>
                <a:tc hMerge="1">
                  <a:txBody>
                    <a:bodyPr/>
                    <a:lstStyle/>
                    <a:p>
                      <a:pPr algn="ctr" rtl="0" fontAlgn="ctr">
                        <a:buNone/>
                      </a:pPr>
                      <a:r>
                        <a:rPr lang="en-IN" sz="1200" b="1" i="0" u="none" strike="noStrike">
                          <a:solidFill>
                            <a:srgbClr val="000000"/>
                          </a:solidFill>
                          <a:effectLst/>
                          <a:latin typeface="+mn-lt"/>
                        </a:rPr>
                        <a:t>Revised</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DCEAF7"/>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a:noFill/>
                    </a:lnB>
                    <a:solidFill>
                      <a:srgbClr val="DCEAF7"/>
                    </a:solidFill>
                  </a:tcPr>
                </a:tc>
                <a:tc hMerge="1">
                  <a:txBody>
                    <a:bodyPr/>
                    <a:lstStyle/>
                    <a:p>
                      <a:pPr algn="ctr" rtl="0" fontAlgn="ctr">
                        <a:buNone/>
                      </a:pPr>
                      <a:r>
                        <a:rPr lang="en-IN" sz="1200" b="1" i="0" u="none" strike="noStrike">
                          <a:solidFill>
                            <a:srgbClr val="000000"/>
                          </a:solidFill>
                          <a:effectLst/>
                          <a:latin typeface="+mn-lt"/>
                        </a:rPr>
                        <a:t>As per L2</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a:noFill/>
                    </a:lnB>
                    <a:solidFill>
                      <a:srgbClr val="DCEAF7"/>
                    </a:solidFill>
                  </a:tcPr>
                </a:tc>
                <a:tc rowSpan="2"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r>
                        <a:rPr lang="en-IN" sz="1200" b="1" i="0" u="none" strike="noStrike">
                          <a:solidFill>
                            <a:srgbClr val="000000"/>
                          </a:solidFill>
                          <a:effectLst/>
                          <a:latin typeface="+mn-lt"/>
                        </a:rPr>
                        <a:t>Balance</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r>
                        <a:rPr lang="en-IN" sz="1200" b="1" i="0" u="none" strike="noStrike">
                          <a:solidFill>
                            <a:srgbClr val="000000"/>
                          </a:solidFill>
                          <a:effectLst/>
                          <a:latin typeface="+mn-lt"/>
                        </a:rPr>
                        <a:t>Plan for May'26</a:t>
                      </a:r>
                      <a:endParaRPr lang="en-IN" sz="1200" b="1"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rgbClr val="DCEAF7"/>
                    </a:solidFill>
                  </a:tcPr>
                </a:tc>
                <a:tc row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endPar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endParaRPr lang="en-IN" sz="1200" b="1"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rgbClr val="DCEAF7"/>
                    </a:solidFill>
                  </a:tcPr>
                </a:tc>
                <a:tc rowSpan="2" gridSpan="6">
                  <a:txBody>
                    <a:bodyPr/>
                    <a:lstStyle/>
                    <a:p>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hMerge="1">
                  <a:txBody>
                    <a:bodyPr/>
                    <a:lstStyle/>
                    <a:p>
                      <a:pPr algn="ctr" rtl="0" fontAlgn="ctr">
                        <a:buNone/>
                      </a:pPr>
                      <a:r>
                        <a:rPr lang="en-IN" sz="1200" b="1" i="0" u="none" strike="noStrike" dirty="0">
                          <a:solidFill>
                            <a:srgbClr val="000000"/>
                          </a:solidFill>
                          <a:effectLst/>
                          <a:latin typeface="+mn-lt"/>
                        </a:rPr>
                        <a:t>Remarks</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rgbClr val="DCEAF7"/>
                    </a:solidFill>
                  </a:tcPr>
                </a:tc>
                <a:tc rowSpan="2" hMerge="1">
                  <a:txBody>
                    <a:bodyPr/>
                    <a:lstStyle/>
                    <a:p>
                      <a:endParaRPr lang="en-US"/>
                    </a:p>
                  </a:txBody>
                  <a:tcPr>
                    <a:lnL w="6350" cap="flat" cmpd="sng" algn="ctr">
                      <a:solidFill>
                        <a:srgbClr val="000000"/>
                      </a:solidFill>
                      <a:prstDash val="solid"/>
                      <a:round/>
                      <a:headEnd type="none" w="med" len="med"/>
                      <a:tailEnd type="none" w="med" len="med"/>
                    </a:lnL>
                  </a:tcPr>
                </a:tc>
                <a:tc rowSpan="2" hMerge="1">
                  <a:txBody>
                    <a:bodyPr/>
                    <a:lstStyle/>
                    <a:p>
                      <a:endParaRPr lang="en-IN"/>
                    </a:p>
                  </a:txBody>
                  <a:tcPr/>
                </a:tc>
                <a:tc rowSpan="2" hMerge="1">
                  <a:txBody>
                    <a:bodyPr/>
                    <a:lstStyle/>
                    <a:p>
                      <a:endParaRPr lang="en-IN"/>
                    </a:p>
                  </a:txBody>
                  <a:tcPr/>
                </a:tc>
                <a:tc rowSpan="2" hMerge="1">
                  <a:txBody>
                    <a:bodyPr/>
                    <a:lstStyle/>
                    <a:p>
                      <a:endParaRPr lang="en-IN"/>
                    </a:p>
                  </a:txBody>
                  <a:tcPr/>
                </a:tc>
                <a:extLst>
                  <a:ext uri="{0D108BD9-81ED-4DB2-BD59-A6C34878D82A}">
                    <a16:rowId xmlns:a16="http://schemas.microsoft.com/office/drawing/2014/main" val="2121566168"/>
                  </a:ext>
                </a:extLst>
              </a:tr>
              <a:tr h="313024">
                <a:tc vMerge="1">
                  <a:txBody>
                    <a:bodyPr/>
                    <a:lstStyle/>
                    <a:p>
                      <a:endParaRPr lang="en-IN"/>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endParaRPr lang="en-IN"/>
                    </a:p>
                  </a:txBody>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DCEAF7"/>
                    </a:solidFill>
                  </a:tcPr>
                </a:tc>
                <a:tc hMerge="1">
                  <a:txBody>
                    <a:bodyPr/>
                    <a:lstStyle/>
                    <a:p>
                      <a:pPr algn="ctr" rtl="0" fontAlgn="ctr">
                        <a:buNone/>
                      </a:pPr>
                      <a:r>
                        <a:rPr lang="en-IN" sz="1200" b="1" i="0" u="none" strike="noStrike" dirty="0">
                          <a:solidFill>
                            <a:srgbClr val="000000"/>
                          </a:solidFill>
                          <a:effectLst/>
                          <a:latin typeface="+mn-lt"/>
                        </a:rPr>
                        <a:t>(Qty)</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DCEAF7"/>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DCEAF7"/>
                    </a:solidFill>
                  </a:tcPr>
                </a:tc>
                <a:tc hMerge="1">
                  <a:txBody>
                    <a:bodyPr/>
                    <a:lstStyle/>
                    <a:p>
                      <a:pPr algn="ctr" rtl="0" fontAlgn="ctr">
                        <a:buNone/>
                      </a:pPr>
                      <a:r>
                        <a:rPr lang="en-IN" sz="1200" b="1" i="0" u="none" strike="noStrike" dirty="0">
                          <a:solidFill>
                            <a:srgbClr val="000000"/>
                          </a:solidFill>
                          <a:effectLst/>
                          <a:latin typeface="+mn-lt"/>
                        </a:rPr>
                        <a:t>(April'26)</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DCEAF7"/>
                    </a:solidFill>
                  </a:tcPr>
                </a:tc>
                <a:tc gridSpan="2" vMerge="1">
                  <a:txBody>
                    <a:bodyPr/>
                    <a:lstStyle/>
                    <a:p>
                      <a:endParaRPr lang="en-US"/>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DCEAF7"/>
                    </a:solidFill>
                  </a:tcPr>
                </a:tc>
                <a:tc hMerge="1" vMerge="1">
                  <a:txBody>
                    <a:bodyPr/>
                    <a:lstStyle/>
                    <a:p>
                      <a:endParaRPr lang="en-IN"/>
                    </a:p>
                  </a:txBody>
                  <a:tcPr/>
                </a:tc>
                <a:tc gridSpan="2" vMerge="1">
                  <a:txBody>
                    <a:bodyPr/>
                    <a:lstStyle/>
                    <a:p>
                      <a:endParaRPr lang="en-US"/>
                    </a:p>
                  </a:txBody>
                  <a:tcPr/>
                </a:tc>
                <a:tc hMerge="1" vMerge="1">
                  <a:txBody>
                    <a:bodyPr/>
                    <a:lstStyle/>
                    <a:p>
                      <a:endParaRPr lang="en-IN"/>
                    </a:p>
                  </a:txBody>
                  <a:tcPr/>
                </a:tc>
                <a:tc vMerge="1">
                  <a:txBody>
                    <a:bodyPr/>
                    <a:lstStyle/>
                    <a:p>
                      <a:endParaRPr lang="en-US"/>
                    </a:p>
                  </a:txBody>
                  <a:tcPr/>
                </a:tc>
                <a:tc vMerge="1">
                  <a:txBody>
                    <a:bodyPr/>
                    <a:lstStyle/>
                    <a:p>
                      <a:endParaRPr lang="en-IN"/>
                    </a:p>
                  </a:txBody>
                  <a:tcPr/>
                </a:tc>
                <a:tc gridSpan="2" vMerge="1">
                  <a:txBody>
                    <a:bodyPr/>
                    <a:lstStyle/>
                    <a:p>
                      <a:endParaRPr lang="en-US"/>
                    </a:p>
                  </a:txBody>
                  <a:tcPr/>
                </a:tc>
                <a:tc hMerge="1" vMerge="1">
                  <a:txBody>
                    <a:bodyPr/>
                    <a:lstStyle/>
                    <a:p>
                      <a:endParaRPr lang="en-US"/>
                    </a:p>
                  </a:txBody>
                  <a:tcPr/>
                </a:tc>
                <a:tc gridSpan="6"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IN"/>
                    </a:p>
                  </a:txBody>
                  <a:tcPr/>
                </a:tc>
                <a:tc hMerge="1" vMerge="1">
                  <a:txBody>
                    <a:bodyPr/>
                    <a:lstStyle/>
                    <a:p>
                      <a:endParaRPr lang="en-IN"/>
                    </a:p>
                  </a:txBody>
                  <a:tcPr/>
                </a:tc>
                <a:tc hMerge="1" vMerge="1">
                  <a:txBody>
                    <a:bodyPr/>
                    <a:lstStyle/>
                    <a:p>
                      <a:endParaRPr lang="en-IN"/>
                    </a:p>
                  </a:txBody>
                  <a:tcPr/>
                </a:tc>
                <a:extLst>
                  <a:ext uri="{0D108BD9-81ED-4DB2-BD59-A6C34878D82A}">
                    <a16:rowId xmlns:a16="http://schemas.microsoft.com/office/drawing/2014/main" val="2187136242"/>
                  </a:ext>
                </a:extLst>
              </a:tr>
              <a:tr h="174785">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340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dirty="0">
                          <a:solidFill>
                            <a:srgbClr val="000000"/>
                          </a:solidFill>
                          <a:effectLst/>
                          <a:latin typeface="+mn-lt"/>
                        </a:rPr>
                        <a:t>340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dirty="0">
                          <a:solidFill>
                            <a:srgbClr val="000000"/>
                          </a:solidFill>
                          <a:effectLst/>
                          <a:latin typeface="+mn-lt"/>
                        </a:rPr>
                        <a:t>352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dirty="0">
                          <a:solidFill>
                            <a:srgbClr val="000000"/>
                          </a:solidFill>
                          <a:effectLst/>
                          <a:latin typeface="+mn-lt"/>
                        </a:rPr>
                        <a:t>352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US" sz="1200" b="0" i="0" u="none" strike="noStrike">
                          <a:solidFill>
                            <a:srgbClr val="000000"/>
                          </a:solidFill>
                          <a:effectLst/>
                          <a:latin typeface="+mn-lt"/>
                        </a:rPr>
                        <a:t>1</a:t>
                      </a:r>
                      <a:r>
                        <a:rPr lang="en-IN" sz="1200" b="0" i="0" u="none" strike="noStrike">
                          <a:solidFill>
                            <a:srgbClr val="000000"/>
                          </a:solidFill>
                          <a:effectLst/>
                          <a:latin typeface="+mn-lt"/>
                        </a:rPr>
                        <a:t>1</a:t>
                      </a: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US" sz="1200" b="0" i="0" u="none" strike="noStrike">
                          <a:solidFill>
                            <a:srgbClr val="000000"/>
                          </a:solidFill>
                          <a:effectLst/>
                          <a:latin typeface="+mn-lt"/>
                        </a:rPr>
                        <a:t>7</a:t>
                      </a: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6">
                  <a:txBody>
                    <a:bodyPr/>
                    <a:lstStyle/>
                    <a:p>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Total 12.5 sets stubs required; where 8 sets were excess/1 Nos Clearnce pending </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l" fontAlgn="ctr">
                        <a:buNone/>
                      </a:pPr>
                      <a:r>
                        <a:rPr lang="en-US" sz="1200" b="0" i="0" u="none" strike="noStrike">
                          <a:solidFill>
                            <a:srgbClr val="000000"/>
                          </a:solidFill>
                          <a:effectLst/>
                          <a:latin typeface="+mn-lt"/>
                        </a:rPr>
                        <a:t>Total 12.5 sets stubs required; where 8 sets were excess/1 Nos Clearnce pending </a:t>
                      </a: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2152400953"/>
                  </a:ext>
                </a:extLst>
              </a:tr>
              <a:tr h="174785">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340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dirty="0">
                          <a:solidFill>
                            <a:srgbClr val="000000"/>
                          </a:solidFill>
                          <a:effectLst/>
                          <a:latin typeface="+mn-lt"/>
                        </a:rPr>
                        <a:t>340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dirty="0">
                          <a:solidFill>
                            <a:srgbClr val="000000"/>
                          </a:solidFill>
                          <a:effectLst/>
                          <a:latin typeface="+mn-lt"/>
                        </a:rPr>
                        <a:t>352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dirty="0">
                          <a:solidFill>
                            <a:srgbClr val="000000"/>
                          </a:solidFill>
                          <a:effectLst/>
                          <a:latin typeface="+mn-lt"/>
                        </a:rPr>
                        <a:t>352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US" sz="1200" b="0" i="0" u="none" strike="noStrike">
                          <a:solidFill>
                            <a:srgbClr val="000000"/>
                          </a:solidFill>
                          <a:effectLst/>
                          <a:latin typeface="+mn-lt"/>
                        </a:rPr>
                        <a:t>1</a:t>
                      </a:r>
                      <a:r>
                        <a:rPr lang="en-IN" sz="1200" b="0" i="0" u="none" strike="noStrike">
                          <a:solidFill>
                            <a:srgbClr val="000000"/>
                          </a:solidFill>
                          <a:effectLst/>
                          <a:latin typeface="+mn-lt"/>
                        </a:rPr>
                        <a:t>0</a:t>
                      </a: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 4</a:t>
                      </a: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6">
                  <a:txBody>
                    <a:bodyPr/>
                    <a:lstStyle/>
                    <a:p>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14 Towers balance to supply; DB Type 3 tower excess/ 4 Nos Hold , 2 Nos Plan Jul</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l" fontAlgn="ctr">
                        <a:buNone/>
                      </a:pPr>
                      <a:r>
                        <a:rPr lang="en-US" sz="1200" b="0" i="0" u="none" strike="noStrike">
                          <a:solidFill>
                            <a:srgbClr val="000000"/>
                          </a:solidFill>
                          <a:effectLst/>
                          <a:latin typeface="+mn-lt"/>
                        </a:rPr>
                        <a:t>12 Towers balance to supply; DB Type 3 tower excess/ 4 Nos Hold , 2 Nos Plan Jul</a:t>
                      </a: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3923247723"/>
                  </a:ext>
                </a:extLst>
              </a:tr>
              <a:tr h="174785">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4664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4664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4647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4664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6">
                  <a:txBody>
                    <a:bodyPr/>
                    <a:lstStyle/>
                    <a:p>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 kms Conductor excess supplied due to route diversion</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l" fontAlgn="ctr">
                        <a:buNone/>
                      </a:pPr>
                      <a:r>
                        <a:rPr lang="en-US" sz="1200" b="0" i="0" u="none" strike="noStrike">
                          <a:solidFill>
                            <a:srgbClr val="000000"/>
                          </a:solidFill>
                          <a:effectLst/>
                          <a:latin typeface="+mn-lt"/>
                        </a:rPr>
                        <a:t>10 kms Conductor excess supplied due to route diversion</a:t>
                      </a: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2460884508"/>
                  </a:ext>
                </a:extLst>
              </a:tr>
              <a:tr h="174785">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dirty="0">
                          <a:solidFill>
                            <a:srgbClr val="000000"/>
                          </a:solidFill>
                          <a:effectLst/>
                          <a:latin typeface="+mn-lt"/>
                        </a:rPr>
                        <a:t>134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 </a:t>
                      </a: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6">
                  <a:txBody>
                    <a:bodyPr/>
                    <a:lstStyle/>
                    <a:p>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Qty Confirmation awaited from client.</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l" fontAlgn="ctr">
                        <a:buNone/>
                      </a:pPr>
                      <a:r>
                        <a:rPr lang="en-IN" sz="1200" b="0" i="0" u="none" strike="noStrike" dirty="0">
                          <a:solidFill>
                            <a:srgbClr val="000000"/>
                          </a:solidFill>
                          <a:effectLst/>
                          <a:latin typeface="+mn-lt"/>
                        </a:rPr>
                        <a:t>QCS  pending –due to additional earthing /After finalization of location from client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259076422"/>
                  </a:ext>
                </a:extLst>
              </a:tr>
              <a:tr h="174785">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5528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5528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5356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5528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992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 </a:t>
                      </a: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rowSpan="3" gridSpan="6">
                  <a:txBody>
                    <a:bodyPr/>
                    <a:lstStyle/>
                    <a:p>
                      <a:pPr algn="l"/>
                      <a:r>
                        <a:rPr lang="en-US" sz="1200" dirty="0">
                          <a:latin typeface="Calibri" panose="020F0502020204030204" pitchFamily="34" charset="0"/>
                          <a:ea typeface="Calibri" panose="020F0502020204030204" pitchFamily="34" charset="0"/>
                          <a:cs typeface="Calibri" panose="020F0502020204030204" pitchFamily="34" charset="0"/>
                        </a:rPr>
                        <a:t>Pending due to Amendment from client</a:t>
                      </a:r>
                    </a:p>
                  </a:txBody>
                  <a:tcPr marL="7262" marR="7262" marT="7262" marB="0" anchor="ct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3" hMerge="1">
                  <a:txBody>
                    <a:bodyPr/>
                    <a:lstStyle/>
                    <a:p>
                      <a:pPr algn="l" fontAlgn="ctr">
                        <a:buNone/>
                      </a:pPr>
                      <a:r>
                        <a:rPr lang="en-US" sz="1200" b="0" i="0" u="none" strike="noStrike">
                          <a:solidFill>
                            <a:srgbClr val="000000"/>
                          </a:solidFill>
                          <a:effectLst/>
                          <a:latin typeface="+mn-lt"/>
                        </a:rPr>
                        <a:t>C</a:t>
                      </a:r>
                      <a:r>
                        <a:rPr lang="en-IN" sz="1200" b="0" i="0" u="none" strike="noStrike">
                          <a:solidFill>
                            <a:srgbClr val="000000"/>
                          </a:solidFill>
                          <a:effectLst/>
                          <a:latin typeface="+mn-lt"/>
                        </a:rPr>
                        <a:t>ost proposal approval from PCH awaited </a:t>
                      </a: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rowSpan="3" hMerge="1">
                  <a:txBody>
                    <a:bodyPr/>
                    <a:lstStyle/>
                    <a:p>
                      <a:endParaRPr lang="en-US"/>
                    </a:p>
                  </a:txBody>
                  <a:tcPr>
                    <a:lnL w="6350" cap="flat" cmpd="sng" algn="ctr">
                      <a:solidFill>
                        <a:srgbClr val="000000"/>
                      </a:solidFill>
                      <a:prstDash val="solid"/>
                      <a:round/>
                      <a:headEnd type="none" w="med" len="med"/>
                      <a:tailEnd type="none" w="med" len="med"/>
                    </a:lnL>
                  </a:tcPr>
                </a:tc>
                <a:tc rowSpan="3" hMerge="1">
                  <a:txBody>
                    <a:bodyPr/>
                    <a:lstStyle/>
                    <a:p>
                      <a:endParaRPr lang="en-IN"/>
                    </a:p>
                  </a:txBody>
                  <a:tcPr/>
                </a:tc>
                <a:tc rowSpan="3" hMerge="1">
                  <a:txBody>
                    <a:bodyPr/>
                    <a:lstStyle/>
                    <a:p>
                      <a:endParaRPr lang="en-IN"/>
                    </a:p>
                  </a:txBody>
                  <a:tcPr/>
                </a:tc>
                <a:tc rowSpan="3" hMerge="1">
                  <a:txBody>
                    <a:bodyPr/>
                    <a:lstStyle/>
                    <a:p>
                      <a:endParaRPr lang="en-IN"/>
                    </a:p>
                  </a:txBody>
                  <a:tcPr/>
                </a:tc>
                <a:extLst>
                  <a:ext uri="{0D108BD9-81ED-4DB2-BD59-A6C34878D82A}">
                    <a16:rowId xmlns:a16="http://schemas.microsoft.com/office/drawing/2014/main" val="1008396191"/>
                  </a:ext>
                </a:extLst>
              </a:tr>
              <a:tr h="174785">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15888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15888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16320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15888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1199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6" vMerge="1">
                  <a:txBody>
                    <a:bodyPr/>
                    <a:lstStyle/>
                    <a:p>
                      <a:endParaRPr lang="en-US" dirty="0"/>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pPr algn="l" fontAlgn="ctr">
                        <a:buNone/>
                      </a:pPr>
                      <a:r>
                        <a:rPr lang="en-IN" sz="1200" b="0" i="0" u="none" strike="noStrike" kern="1200" dirty="0">
                          <a:solidFill>
                            <a:srgbClr val="000000"/>
                          </a:solidFill>
                          <a:effectLst/>
                          <a:latin typeface="+mn-lt"/>
                          <a:ea typeface="+mn-ea"/>
                          <a:cs typeface="+mn-cs"/>
                        </a:rPr>
                        <a:t>QCS to be released after amendment ,</a:t>
                      </a:r>
                      <a:r>
                        <a:rPr lang="en-US" sz="1200" b="0" i="0" u="none" strike="noStrike" kern="1200" dirty="0">
                          <a:solidFill>
                            <a:srgbClr val="000000"/>
                          </a:solidFill>
                          <a:effectLst/>
                          <a:latin typeface="+mn-lt"/>
                          <a:ea typeface="+mn-ea"/>
                          <a:cs typeface="+mn-cs"/>
                        </a:rPr>
                        <a:t>C</a:t>
                      </a:r>
                      <a:r>
                        <a:rPr lang="en-IN" sz="1200" b="0" i="0" u="none" strike="noStrike" kern="1200" dirty="0" err="1">
                          <a:solidFill>
                            <a:srgbClr val="000000"/>
                          </a:solidFill>
                          <a:effectLst/>
                          <a:latin typeface="+mn-lt"/>
                          <a:ea typeface="+mn-ea"/>
                          <a:cs typeface="+mn-cs"/>
                        </a:rPr>
                        <a:t>ost</a:t>
                      </a:r>
                      <a:r>
                        <a:rPr lang="en-IN" sz="1200" b="0" i="0" u="none" strike="noStrike" kern="1200" dirty="0">
                          <a:solidFill>
                            <a:srgbClr val="000000"/>
                          </a:solidFill>
                          <a:effectLst/>
                          <a:latin typeface="+mn-lt"/>
                          <a:ea typeface="+mn-ea"/>
                          <a:cs typeface="+mn-cs"/>
                        </a:rPr>
                        <a:t> proposal approval from PCH awaited </a:t>
                      </a: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lnL w="6350" cap="flat" cmpd="sng" algn="ctr">
                      <a:solidFill>
                        <a:srgbClr val="000000"/>
                      </a:solidFill>
                      <a:prstDash val="solid"/>
                      <a:round/>
                      <a:headEnd type="none" w="med" len="med"/>
                      <a:tailEnd type="none" w="med" len="med"/>
                    </a:lnL>
                  </a:tcPr>
                </a:tc>
                <a:tc hMerge="1" vMerge="1">
                  <a:txBody>
                    <a:bodyPr/>
                    <a:lstStyle/>
                    <a:p>
                      <a:endParaRPr lang="en-IN"/>
                    </a:p>
                  </a:txBody>
                  <a:tcPr/>
                </a:tc>
                <a:tc hMerge="1" vMerge="1">
                  <a:txBody>
                    <a:bodyPr/>
                    <a:lstStyle/>
                    <a:p>
                      <a:endParaRPr lang="en-IN"/>
                    </a:p>
                  </a:txBody>
                  <a:tcPr/>
                </a:tc>
                <a:tc hMerge="1" vMerge="1">
                  <a:txBody>
                    <a:bodyPr/>
                    <a:lstStyle/>
                    <a:p>
                      <a:endParaRPr lang="en-IN"/>
                    </a:p>
                  </a:txBody>
                  <a:tcPr/>
                </a:tc>
                <a:extLst>
                  <a:ext uri="{0D108BD9-81ED-4DB2-BD59-A6C34878D82A}">
                    <a16:rowId xmlns:a16="http://schemas.microsoft.com/office/drawing/2014/main" val="2563226229"/>
                  </a:ext>
                </a:extLst>
              </a:tr>
              <a:tr h="174785">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dirty="0">
                          <a:solidFill>
                            <a:srgbClr val="000000"/>
                          </a:solidFill>
                          <a:effectLst/>
                          <a:latin typeface="+mn-lt"/>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a:solidFill>
                            <a:srgbClr val="000000"/>
                          </a:solidFill>
                          <a:effectLst/>
                          <a:latin typeface="+mn-lt"/>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dirty="0">
                          <a:solidFill>
                            <a:srgbClr val="000000"/>
                          </a:solidFill>
                          <a:effectLst/>
                          <a:latin typeface="+mn-lt"/>
                        </a:rPr>
                        <a:t>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rtl="0" fontAlgn="ctr">
                        <a:buNone/>
                      </a:pPr>
                      <a:r>
                        <a:rPr lang="en-IN" sz="1200" b="0" i="0" u="none" strike="noStrike" dirty="0">
                          <a:solidFill>
                            <a:srgbClr val="000000"/>
                          </a:solidFill>
                          <a:effectLst/>
                          <a:latin typeface="+mn-lt"/>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6" vMerge="1">
                  <a:txBody>
                    <a:bodyPr/>
                    <a:lstStyle/>
                    <a:p>
                      <a:endParaRPr lang="en-US" dirty="0"/>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pPr algn="l" fontAlgn="ctr">
                        <a:buNone/>
                      </a:pPr>
                      <a:r>
                        <a:rPr lang="en-IN" sz="1200" b="0" i="0" u="none" strike="noStrike" dirty="0">
                          <a:solidFill>
                            <a:srgbClr val="000000"/>
                          </a:solidFill>
                          <a:effectLst/>
                          <a:latin typeface="+mn-lt"/>
                        </a:rPr>
                        <a:t> </a:t>
                      </a:r>
                      <a:r>
                        <a:rPr lang="en-US" sz="1200" b="0" i="0" u="none" strike="noStrike" kern="1200" dirty="0">
                          <a:solidFill>
                            <a:srgbClr val="000000"/>
                          </a:solidFill>
                          <a:effectLst/>
                          <a:latin typeface="+mn-lt"/>
                          <a:ea typeface="+mn-ea"/>
                          <a:cs typeface="+mn-cs"/>
                        </a:rPr>
                        <a:t>C</a:t>
                      </a:r>
                      <a:r>
                        <a:rPr lang="en-IN" sz="1200" b="0" i="0" u="none" strike="noStrike" kern="1200" dirty="0" err="1">
                          <a:solidFill>
                            <a:srgbClr val="000000"/>
                          </a:solidFill>
                          <a:effectLst/>
                          <a:latin typeface="+mn-lt"/>
                          <a:ea typeface="+mn-ea"/>
                          <a:cs typeface="+mn-cs"/>
                        </a:rPr>
                        <a:t>ost</a:t>
                      </a:r>
                      <a:r>
                        <a:rPr lang="en-IN" sz="1200" b="0" i="0" u="none" strike="noStrike" kern="1200" dirty="0">
                          <a:solidFill>
                            <a:srgbClr val="000000"/>
                          </a:solidFill>
                          <a:effectLst/>
                          <a:latin typeface="+mn-lt"/>
                          <a:ea typeface="+mn-ea"/>
                          <a:cs typeface="+mn-cs"/>
                        </a:rPr>
                        <a:t> proposal approval from PCH awaited </a:t>
                      </a:r>
                      <a:endParaRPr lang="en-IN" sz="1200" b="0" i="0" u="none" strike="noStrike" dirty="0">
                        <a:solidFill>
                          <a:srgbClr val="000000"/>
                        </a:solidFill>
                        <a:effectLst/>
                        <a:latin typeface="+mn-lt"/>
                      </a:endParaRPr>
                    </a:p>
                  </a:txBody>
                  <a:tcPr marL="7262" marR="7262" marT="72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lnL w="6350" cap="flat" cmpd="sng" algn="ctr">
                      <a:solidFill>
                        <a:srgbClr val="000000"/>
                      </a:solidFill>
                      <a:prstDash val="solid"/>
                      <a:round/>
                      <a:headEnd type="none" w="med" len="med"/>
                      <a:tailEnd type="none" w="med" len="med"/>
                    </a:lnL>
                  </a:tcPr>
                </a:tc>
                <a:tc hMerge="1" vMerge="1">
                  <a:txBody>
                    <a:bodyPr/>
                    <a:lstStyle/>
                    <a:p>
                      <a:endParaRPr lang="en-IN"/>
                    </a:p>
                  </a:txBody>
                  <a:tcPr/>
                </a:tc>
                <a:tc hMerge="1" vMerge="1">
                  <a:txBody>
                    <a:bodyPr/>
                    <a:lstStyle/>
                    <a:p>
                      <a:endParaRPr lang="en-IN"/>
                    </a:p>
                  </a:txBody>
                  <a:tcPr/>
                </a:tc>
                <a:tc hMerge="1" vMerge="1">
                  <a:txBody>
                    <a:bodyPr/>
                    <a:lstStyle/>
                    <a:p>
                      <a:endParaRPr lang="en-IN"/>
                    </a:p>
                  </a:txBody>
                  <a:tcPr/>
                </a:tc>
                <a:extLst>
                  <a:ext uri="{0D108BD9-81ED-4DB2-BD59-A6C34878D82A}">
                    <a16:rowId xmlns:a16="http://schemas.microsoft.com/office/drawing/2014/main" val="660529511"/>
                  </a:ext>
                </a:extLst>
              </a:tr>
            </a:tbl>
          </a:graphicData>
        </a:graphic>
      </p:graphicFrame>
    </p:spTree>
    <p:extLst>
      <p:ext uri="{BB962C8B-B14F-4D97-AF65-F5344CB8AC3E}">
        <p14:creationId xmlns:p14="http://schemas.microsoft.com/office/powerpoint/2010/main" val="2933574798"/>
      </p:ext>
    </p:extLst>
  </p:cSld>
  <p:clrMapOvr>
    <a:masterClrMapping/>
  </p:clrMapOvr>
  <p:transition spd="slow"/>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66D3ED-DEA6-5A7E-6A32-61EB4EDC2F7D}"/>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99403E10-9877-2A69-8840-1BC94FBF7C91}"/>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TL04 - 765KV D/C Vataman - Navsari Transmission Line </a:t>
            </a:r>
            <a:r>
              <a:rPr lang="en-US" sz="2400" b="1" dirty="0">
                <a:latin typeface="Calibri" panose="020F0502020204030204" pitchFamily="34" charset="0"/>
                <a:ea typeface="Calibri" panose="020F0502020204030204" pitchFamily="34" charset="0"/>
                <a:cs typeface="Calibri" panose="020F0502020204030204" pitchFamily="34" charset="0"/>
              </a:rPr>
              <a:t>(TA- 414)</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5FA69629-3D67-0032-E7D8-1A13CF1995B5}"/>
              </a:ext>
            </a:extLst>
          </p:cNvPr>
          <p:cNvGraphicFramePr>
            <a:graphicFrameLocks noGrp="1"/>
          </p:cNvGraphicFramePr>
          <p:nvPr>
            <p:extLst>
              <p:ext uri="{D42A27DB-BD31-4B8C-83A1-F6EECF244321}">
                <p14:modId xmlns:p14="http://schemas.microsoft.com/office/powerpoint/2010/main" val="2666444923"/>
              </p:ext>
            </p:extLst>
          </p:nvPr>
        </p:nvGraphicFramePr>
        <p:xfrm>
          <a:off x="257175" y="1234440"/>
          <a:ext cx="11686796" cy="237744"/>
        </p:xfrm>
        <a:graphic>
          <a:graphicData uri="http://schemas.openxmlformats.org/drawingml/2006/table">
            <a:tbl>
              <a:tblPr/>
              <a:tblGrid>
                <a:gridCol w="2921699">
                  <a:extLst>
                    <a:ext uri="{9D8B030D-6E8A-4147-A177-3AD203B41FA5}">
                      <a16:colId xmlns:a16="http://schemas.microsoft.com/office/drawing/2014/main" val="906577857"/>
                    </a:ext>
                  </a:extLst>
                </a:gridCol>
                <a:gridCol w="2921699">
                  <a:extLst>
                    <a:ext uri="{9D8B030D-6E8A-4147-A177-3AD203B41FA5}">
                      <a16:colId xmlns:a16="http://schemas.microsoft.com/office/drawing/2014/main" val="1761629044"/>
                    </a:ext>
                  </a:extLst>
                </a:gridCol>
                <a:gridCol w="2921699">
                  <a:extLst>
                    <a:ext uri="{9D8B030D-6E8A-4147-A177-3AD203B41FA5}">
                      <a16:colId xmlns:a16="http://schemas.microsoft.com/office/drawing/2014/main" val="949399120"/>
                    </a:ext>
                  </a:extLst>
                </a:gridCol>
                <a:gridCol w="2921699">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12/03/2024</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11/12/2025</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8" name="Table 7">
            <a:extLst>
              <a:ext uri="{FF2B5EF4-FFF2-40B4-BE49-F238E27FC236}">
                <a16:creationId xmlns:a16="http://schemas.microsoft.com/office/drawing/2014/main" id="{8F064EA3-B072-78F4-5BD6-43CA2A4DD8F4}"/>
              </a:ext>
            </a:extLst>
          </p:cNvPr>
          <p:cNvGraphicFramePr>
            <a:graphicFrameLocks noGrp="1"/>
          </p:cNvGraphicFramePr>
          <p:nvPr>
            <p:extLst>
              <p:ext uri="{D42A27DB-BD31-4B8C-83A1-F6EECF244321}">
                <p14:modId xmlns:p14="http://schemas.microsoft.com/office/powerpoint/2010/main" val="512219486"/>
              </p:ext>
            </p:extLst>
          </p:nvPr>
        </p:nvGraphicFramePr>
        <p:xfrm>
          <a:off x="238963" y="1472188"/>
          <a:ext cx="11714069" cy="5263925"/>
        </p:xfrm>
        <a:graphic>
          <a:graphicData uri="http://schemas.openxmlformats.org/drawingml/2006/table">
            <a:tbl>
              <a:tblPr/>
              <a:tblGrid>
                <a:gridCol w="921145">
                  <a:extLst>
                    <a:ext uri="{9D8B030D-6E8A-4147-A177-3AD203B41FA5}">
                      <a16:colId xmlns:a16="http://schemas.microsoft.com/office/drawing/2014/main" val="854431734"/>
                    </a:ext>
                  </a:extLst>
                </a:gridCol>
                <a:gridCol w="2315490">
                  <a:extLst>
                    <a:ext uri="{9D8B030D-6E8A-4147-A177-3AD203B41FA5}">
                      <a16:colId xmlns:a16="http://schemas.microsoft.com/office/drawing/2014/main" val="3520950014"/>
                    </a:ext>
                  </a:extLst>
                </a:gridCol>
                <a:gridCol w="832672">
                  <a:extLst>
                    <a:ext uri="{9D8B030D-6E8A-4147-A177-3AD203B41FA5}">
                      <a16:colId xmlns:a16="http://schemas.microsoft.com/office/drawing/2014/main" val="177218870"/>
                    </a:ext>
                  </a:extLst>
                </a:gridCol>
                <a:gridCol w="517352">
                  <a:extLst>
                    <a:ext uri="{9D8B030D-6E8A-4147-A177-3AD203B41FA5}">
                      <a16:colId xmlns:a16="http://schemas.microsoft.com/office/drawing/2014/main" val="3824366669"/>
                    </a:ext>
                  </a:extLst>
                </a:gridCol>
                <a:gridCol w="512668">
                  <a:extLst>
                    <a:ext uri="{9D8B030D-6E8A-4147-A177-3AD203B41FA5}">
                      <a16:colId xmlns:a16="http://schemas.microsoft.com/office/drawing/2014/main" val="2414673589"/>
                    </a:ext>
                  </a:extLst>
                </a:gridCol>
                <a:gridCol w="512668">
                  <a:extLst>
                    <a:ext uri="{9D8B030D-6E8A-4147-A177-3AD203B41FA5}">
                      <a16:colId xmlns:a16="http://schemas.microsoft.com/office/drawing/2014/main" val="2718287453"/>
                    </a:ext>
                  </a:extLst>
                </a:gridCol>
                <a:gridCol w="567095">
                  <a:extLst>
                    <a:ext uri="{9D8B030D-6E8A-4147-A177-3AD203B41FA5}">
                      <a16:colId xmlns:a16="http://schemas.microsoft.com/office/drawing/2014/main" val="3051476610"/>
                    </a:ext>
                  </a:extLst>
                </a:gridCol>
                <a:gridCol w="458241">
                  <a:extLst>
                    <a:ext uri="{9D8B030D-6E8A-4147-A177-3AD203B41FA5}">
                      <a16:colId xmlns:a16="http://schemas.microsoft.com/office/drawing/2014/main" val="905408353"/>
                    </a:ext>
                  </a:extLst>
                </a:gridCol>
                <a:gridCol w="512668">
                  <a:extLst>
                    <a:ext uri="{9D8B030D-6E8A-4147-A177-3AD203B41FA5}">
                      <a16:colId xmlns:a16="http://schemas.microsoft.com/office/drawing/2014/main" val="1987061261"/>
                    </a:ext>
                  </a:extLst>
                </a:gridCol>
                <a:gridCol w="512668">
                  <a:extLst>
                    <a:ext uri="{9D8B030D-6E8A-4147-A177-3AD203B41FA5}">
                      <a16:colId xmlns:a16="http://schemas.microsoft.com/office/drawing/2014/main" val="3138216092"/>
                    </a:ext>
                  </a:extLst>
                </a:gridCol>
                <a:gridCol w="512668">
                  <a:extLst>
                    <a:ext uri="{9D8B030D-6E8A-4147-A177-3AD203B41FA5}">
                      <a16:colId xmlns:a16="http://schemas.microsoft.com/office/drawing/2014/main" val="1839078296"/>
                    </a:ext>
                  </a:extLst>
                </a:gridCol>
                <a:gridCol w="512668">
                  <a:extLst>
                    <a:ext uri="{9D8B030D-6E8A-4147-A177-3AD203B41FA5}">
                      <a16:colId xmlns:a16="http://schemas.microsoft.com/office/drawing/2014/main" val="3468779818"/>
                    </a:ext>
                  </a:extLst>
                </a:gridCol>
                <a:gridCol w="485701">
                  <a:extLst>
                    <a:ext uri="{9D8B030D-6E8A-4147-A177-3AD203B41FA5}">
                      <a16:colId xmlns:a16="http://schemas.microsoft.com/office/drawing/2014/main" val="1279497627"/>
                    </a:ext>
                  </a:extLst>
                </a:gridCol>
                <a:gridCol w="518152">
                  <a:extLst>
                    <a:ext uri="{9D8B030D-6E8A-4147-A177-3AD203B41FA5}">
                      <a16:colId xmlns:a16="http://schemas.microsoft.com/office/drawing/2014/main" val="3573535955"/>
                    </a:ext>
                  </a:extLst>
                </a:gridCol>
                <a:gridCol w="518151">
                  <a:extLst>
                    <a:ext uri="{9D8B030D-6E8A-4147-A177-3AD203B41FA5}">
                      <a16:colId xmlns:a16="http://schemas.microsoft.com/office/drawing/2014/main" val="1991229967"/>
                    </a:ext>
                  </a:extLst>
                </a:gridCol>
                <a:gridCol w="478726">
                  <a:extLst>
                    <a:ext uri="{9D8B030D-6E8A-4147-A177-3AD203B41FA5}">
                      <a16:colId xmlns:a16="http://schemas.microsoft.com/office/drawing/2014/main" val="2750404750"/>
                    </a:ext>
                  </a:extLst>
                </a:gridCol>
                <a:gridCol w="512668">
                  <a:extLst>
                    <a:ext uri="{9D8B030D-6E8A-4147-A177-3AD203B41FA5}">
                      <a16:colId xmlns:a16="http://schemas.microsoft.com/office/drawing/2014/main" val="1845596504"/>
                    </a:ext>
                  </a:extLst>
                </a:gridCol>
                <a:gridCol w="512668">
                  <a:extLst>
                    <a:ext uri="{9D8B030D-6E8A-4147-A177-3AD203B41FA5}">
                      <a16:colId xmlns:a16="http://schemas.microsoft.com/office/drawing/2014/main" val="446686252"/>
                    </a:ext>
                  </a:extLst>
                </a:gridCol>
              </a:tblGrid>
              <a:tr h="182061">
                <a:tc gridSpan="2">
                  <a:txBody>
                    <a:bodyPr/>
                    <a:lstStyle/>
                    <a:p>
                      <a:pPr algn="ctr" rtl="0"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 of month from NOA</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hMerge="1">
                  <a:txBody>
                    <a:bodyPr/>
                    <a:lstStyle/>
                    <a:p>
                      <a:endParaRPr lang="en-IN"/>
                    </a:p>
                  </a:txBody>
                  <a:tcPr/>
                </a:tc>
                <a:tc rowSpan="2">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Qty.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Upto Apr-26</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As on 01.05.26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Jul-26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Aug-26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Sep-26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Oct-26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Nov-26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Dec-26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Jan-27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Feb-27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Mar-27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3125416448"/>
                  </a:ext>
                </a:extLst>
              </a:tr>
              <a:tr h="182061">
                <a:tc gridSpan="2">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Activity</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h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lang="en-IN"/>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3305366052"/>
                  </a:ext>
                </a:extLst>
              </a:tr>
              <a:tr h="182061">
                <a:tc rowSpan="6">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761598095"/>
                  </a:ext>
                </a:extLst>
              </a:tr>
              <a:tr h="182061">
                <a:tc vMerge="1">
                  <a:txBody>
                    <a:bodyPr/>
                    <a:lstStyle/>
                    <a:p>
                      <a:endParaRPr lang="en-IN"/>
                    </a:p>
                  </a:txBody>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623418175"/>
                  </a:ext>
                </a:extLst>
              </a:tr>
              <a:tr h="183560">
                <a:tc vMerge="1">
                  <a:txBody>
                    <a:bodyPr/>
                    <a:lstStyle/>
                    <a:p>
                      <a:endParaRPr lang="en-IN"/>
                    </a:p>
                  </a:txBody>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805384205"/>
                  </a:ext>
                </a:extLst>
              </a:tr>
              <a:tr h="182061">
                <a:tc vMerge="1">
                  <a:txBody>
                    <a:bodyPr/>
                    <a:lstStyle/>
                    <a:p>
                      <a:endParaRPr lang="en-IN"/>
                    </a:p>
                  </a:txBody>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912441595"/>
                  </a:ext>
                </a:extLst>
              </a:tr>
              <a:tr h="182061">
                <a:tc vMerge="1">
                  <a:txBody>
                    <a:bodyPr/>
                    <a:lstStyle/>
                    <a:p>
                      <a:endParaRPr lang="en-IN"/>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Stubs Supply as per L2</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594401878"/>
                  </a:ext>
                </a:extLst>
              </a:tr>
              <a:tr h="182061">
                <a:tc vMerge="1">
                  <a:txBody>
                    <a:bodyPr/>
                    <a:lstStyle/>
                    <a:p>
                      <a:endParaRPr lang="en-IN"/>
                    </a:p>
                  </a:txBody>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Stub Supply Actual</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537806162"/>
                  </a:ext>
                </a:extLst>
              </a:tr>
              <a:tr h="182061">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401373131"/>
                  </a:ext>
                </a:extLst>
              </a:tr>
              <a:tr h="182061">
                <a:tc rowSpan="6">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89792408"/>
                  </a:ext>
                </a:extLst>
              </a:tr>
              <a:tr h="182061">
                <a:tc vMerge="1">
                  <a:txBody>
                    <a:bodyPr/>
                    <a:lstStyle/>
                    <a:p>
                      <a:endParaRPr lang="en-IN"/>
                    </a:p>
                  </a:txBody>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17548523"/>
                  </a:ext>
                </a:extLst>
              </a:tr>
              <a:tr h="183560">
                <a:tc vMerge="1">
                  <a:txBody>
                    <a:bodyPr/>
                    <a:lstStyle/>
                    <a:p>
                      <a:endParaRPr lang="en-IN"/>
                    </a:p>
                  </a:txBody>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730990731"/>
                  </a:ext>
                </a:extLst>
              </a:tr>
              <a:tr h="182061">
                <a:tc vMerge="1">
                  <a:txBody>
                    <a:bodyPr/>
                    <a:lstStyle/>
                    <a:p>
                      <a:endParaRPr lang="en-IN"/>
                    </a:p>
                  </a:txBody>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65143696"/>
                  </a:ext>
                </a:extLst>
              </a:tr>
              <a:tr h="182061">
                <a:tc vMerge="1">
                  <a:txBody>
                    <a:bodyPr/>
                    <a:lstStyle/>
                    <a:p>
                      <a:endParaRPr lang="en-IN"/>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as per L2</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578064446"/>
                  </a:ext>
                </a:extLst>
              </a:tr>
              <a:tr h="182061">
                <a:tc vMerge="1">
                  <a:txBody>
                    <a:bodyPr/>
                    <a:lstStyle/>
                    <a:p>
                      <a:endParaRPr lang="en-IN"/>
                    </a:p>
                  </a:txBody>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Actual</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714411803"/>
                  </a:ext>
                </a:extLst>
              </a:tr>
              <a:tr h="182061">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2322033457"/>
                  </a:ext>
                </a:extLst>
              </a:tr>
              <a:tr h="182061">
                <a:tc rowSpan="11">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862771125"/>
                  </a:ext>
                </a:extLst>
              </a:tr>
              <a:tr h="182061">
                <a:tc vMerge="1">
                  <a:txBody>
                    <a:bodyPr/>
                    <a:lstStyle/>
                    <a:p>
                      <a:endParaRPr lang="en-IN"/>
                    </a:p>
                  </a:txBody>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59217554"/>
                  </a:ext>
                </a:extLst>
              </a:tr>
              <a:tr h="183560">
                <a:tc vMerge="1">
                  <a:txBody>
                    <a:bodyPr/>
                    <a:lstStyle/>
                    <a:p>
                      <a:endParaRPr lang="en-IN"/>
                    </a:p>
                  </a:txBody>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67447976"/>
                  </a:ext>
                </a:extLst>
              </a:tr>
              <a:tr h="182061">
                <a:tc vMerge="1">
                  <a:txBody>
                    <a:bodyPr/>
                    <a:lstStyle/>
                    <a:p>
                      <a:endParaRPr lang="en-IN"/>
                    </a:p>
                  </a:txBody>
                  <a:tcPr/>
                </a:tc>
                <a:tc rowSpan="2">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TSE (Nos)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141003999"/>
                  </a:ext>
                </a:extLst>
              </a:tr>
              <a:tr h="182061">
                <a:tc vMerge="1">
                  <a:txBody>
                    <a:bodyPr/>
                    <a:lstStyle/>
                    <a:p>
                      <a:endParaRPr lang="en-IN"/>
                    </a:p>
                  </a:txBody>
                  <a:tcPr/>
                </a:tc>
                <a:tc vMerge="1">
                  <a:txBody>
                    <a:bodyPr/>
                    <a:lstStyle/>
                    <a:p>
                      <a:endParaRPr lang="en-IN"/>
                    </a:p>
                  </a:txBody>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Manual(Nos)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184136373"/>
                  </a:ext>
                </a:extLst>
              </a:tr>
              <a:tr h="182061">
                <a:tc vMerge="1">
                  <a:txBody>
                    <a:bodyPr/>
                    <a:lstStyle/>
                    <a:p>
                      <a:endParaRPr lang="en-IN"/>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as per L2</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315663431"/>
                  </a:ext>
                </a:extLst>
              </a:tr>
              <a:tr h="182061">
                <a:tc vMerge="1">
                  <a:txBody>
                    <a:bodyPr/>
                    <a:lstStyle/>
                    <a:p>
                      <a:endParaRPr lang="en-IN"/>
                    </a:p>
                  </a:txBody>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Actual</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943688688"/>
                  </a:ext>
                </a:extLst>
              </a:tr>
              <a:tr h="182061">
                <a:tc vMerge="1">
                  <a:txBody>
                    <a:bodyPr/>
                    <a:lstStyle/>
                    <a:p>
                      <a:endParaRPr lang="en-IN"/>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as per L2</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379528166"/>
                  </a:ext>
                </a:extLst>
              </a:tr>
              <a:tr h="182061">
                <a:tc vMerge="1">
                  <a:txBody>
                    <a:bodyPr/>
                    <a:lstStyle/>
                    <a:p>
                      <a:endParaRPr lang="en-IN"/>
                    </a:p>
                  </a:txBody>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Actual</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899892513"/>
                  </a:ext>
                </a:extLst>
              </a:tr>
              <a:tr h="182061">
                <a:tc vMerge="1">
                  <a:txBody>
                    <a:bodyPr/>
                    <a:lstStyle/>
                    <a:p>
                      <a:endParaRPr lang="en-IN"/>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as per L2</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439003181"/>
                  </a:ext>
                </a:extLst>
              </a:tr>
              <a:tr h="182061">
                <a:tc vMerge="1">
                  <a:txBody>
                    <a:bodyPr/>
                    <a:lstStyle/>
                    <a:p>
                      <a:endParaRPr lang="en-IN"/>
                    </a:p>
                  </a:txBody>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Actual</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59" marR="5559" marT="55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993030284"/>
                  </a:ext>
                </a:extLst>
              </a:tr>
            </a:tbl>
          </a:graphicData>
        </a:graphic>
      </p:graphicFrame>
    </p:spTree>
    <p:extLst>
      <p:ext uri="{BB962C8B-B14F-4D97-AF65-F5344CB8AC3E}">
        <p14:creationId xmlns:p14="http://schemas.microsoft.com/office/powerpoint/2010/main" val="3329295925"/>
      </p:ext>
    </p:extLst>
  </p:cSld>
  <p:clrMapOvr>
    <a:masterClrMapping/>
  </p:clrMapOvr>
  <p:transition spd="slow"/>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F475A4-A056-1A60-9CDD-0387B500F2CF}"/>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102F6882-74C6-1495-B39C-87B0B8C35ED4}"/>
              </a:ext>
            </a:extLst>
          </p:cNvPr>
          <p:cNvSpPr txBox="1"/>
          <p:nvPr/>
        </p:nvSpPr>
        <p:spPr>
          <a:xfrm>
            <a:off x="257175" y="1568386"/>
            <a:ext cx="11934825" cy="4524315"/>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pPr lvl="0">
              <a:tabLst>
                <a:tab pos="457200" algn="l"/>
              </a:tabLst>
            </a:pPr>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1. Fdn:33 loc under hold due to ROW-9, Railway clearance-2, forest-1, </a:t>
            </a:r>
            <a:r>
              <a:rPr lang="en-IN" dirty="0" err="1">
                <a:latin typeface="Calibri" panose="020F0502020204030204" pitchFamily="34" charset="0"/>
                <a:ea typeface="Calibri" panose="020F0502020204030204" pitchFamily="34" charset="0"/>
                <a:cs typeface="Calibri" panose="020F0502020204030204" pitchFamily="34" charset="0"/>
              </a:rPr>
              <a:t>Nilgiri</a:t>
            </a:r>
            <a:r>
              <a:rPr lang="en-IN" dirty="0">
                <a:latin typeface="Calibri" panose="020F0502020204030204" pitchFamily="34" charset="0"/>
                <a:ea typeface="Calibri" panose="020F0502020204030204" pitchFamily="34" charset="0"/>
                <a:cs typeface="Calibri" panose="020F0502020204030204" pitchFamily="34" charset="0"/>
              </a:rPr>
              <a:t> tree cutting issues-5, Stub NA-6, Solar plant-2. Additionally, 08 loc under hold, which are falling inside GOPIN Industrial Park. Location availability not available to complete in the month of May, Police Protection required for all locations</a:t>
            </a:r>
          </a:p>
          <a:p>
            <a:pPr marL="342900" indent="-342900">
              <a:buAutoNum type="arabicPeriod"/>
            </a:pPr>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2. Erection: Out of balance 134 loc in erection, 56 loc are under ROW as on date, Front available-18 and WIP 14</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3. Cable bypass agency needs to be </a:t>
            </a:r>
            <a:r>
              <a:rPr lang="en-US" dirty="0" err="1">
                <a:latin typeface="Calibri" panose="020F0502020204030204" pitchFamily="34" charset="0"/>
                <a:ea typeface="Calibri" panose="020F0502020204030204" pitchFamily="34" charset="0"/>
                <a:cs typeface="Calibri" panose="020F0502020204030204" pitchFamily="34" charset="0"/>
              </a:rPr>
              <a:t>fina</a:t>
            </a:r>
            <a:r>
              <a:rPr lang="en-IN" dirty="0" err="1">
                <a:latin typeface="Calibri" panose="020F0502020204030204" pitchFamily="34" charset="0"/>
                <a:ea typeface="Calibri" panose="020F0502020204030204" pitchFamily="34" charset="0"/>
                <a:cs typeface="Calibri" panose="020F0502020204030204" pitchFamily="34" charset="0"/>
              </a:rPr>
              <a:t>lized</a:t>
            </a:r>
            <a:r>
              <a:rPr lang="en-IN" dirty="0">
                <a:latin typeface="Calibri" panose="020F0502020204030204" pitchFamily="34" charset="0"/>
                <a:ea typeface="Calibri" panose="020F0502020204030204" pitchFamily="34" charset="0"/>
                <a:cs typeface="Calibri" panose="020F0502020204030204" pitchFamily="34" charset="0"/>
              </a:rPr>
              <a:t> by PGCIL. Shutdown needs to be expedited</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4. Hotline stringing approval is required for 66 KV and above, wherever shut down is critical. (Total qty- 48 and in the BOQ, only 01 qty is approved). Tree cutting needs to be expedited for ready stinging stretches (131/3,131/4,131/5,132/2,165/1, 232/1 &amp; 247/0)</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5. 02 nos of Railway and 02 PLC Xing approval pending </a:t>
            </a:r>
            <a:endParaRPr lang="en-IN" dirty="0">
              <a:effectLst/>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	</a:t>
            </a:r>
            <a:endParaRPr lang="en-IN" dirty="0">
              <a:latin typeface="Calibri" panose="020F0502020204030204" pitchFamily="34" charset="0"/>
              <a:ea typeface="Calibri" panose="020F0502020204030204" pitchFamily="34" charset="0"/>
              <a:cs typeface="Calibri" panose="020F0502020204030204" pitchFamily="34" charset="0"/>
            </a:endParaRPr>
          </a:p>
        </p:txBody>
      </p:sp>
      <p:sp>
        <p:nvSpPr>
          <p:cNvPr id="4" name="Title 1">
            <a:extLst>
              <a:ext uri="{FF2B5EF4-FFF2-40B4-BE49-F238E27FC236}">
                <a16:creationId xmlns:a16="http://schemas.microsoft.com/office/drawing/2014/main" id="{E702302B-9830-05F5-C4AB-30D2A18B187F}"/>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TL04 - 765KV D/C Vataman - Navsari Transmission Line </a:t>
            </a:r>
            <a:r>
              <a:rPr lang="en-US" sz="2400" b="1" dirty="0">
                <a:latin typeface="Calibri" panose="020F0502020204030204" pitchFamily="34" charset="0"/>
                <a:ea typeface="Calibri" panose="020F0502020204030204" pitchFamily="34" charset="0"/>
                <a:cs typeface="Calibri" panose="020F0502020204030204" pitchFamily="34" charset="0"/>
              </a:rPr>
              <a:t>(TA- 414)</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738091D4-9B78-2362-0AFE-0726191FB4E5}"/>
              </a:ext>
            </a:extLst>
          </p:cNvPr>
          <p:cNvGraphicFramePr>
            <a:graphicFrameLocks noGrp="1"/>
          </p:cNvGraphicFramePr>
          <p:nvPr>
            <p:extLst>
              <p:ext uri="{D42A27DB-BD31-4B8C-83A1-F6EECF244321}">
                <p14:modId xmlns:p14="http://schemas.microsoft.com/office/powerpoint/2010/main" val="1242803620"/>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12/03/2024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Cr.:- 632</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11/12/25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30/10/26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1088491427"/>
      </p:ext>
    </p:extLst>
  </p:cSld>
  <p:clrMapOvr>
    <a:masterClrMapping/>
  </p:clrMapOvr>
  <p:transition spd="slow"/>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C7F666-7D6E-9424-CEE7-CD72F9EAE45C}"/>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9BA52CEB-1CC7-D928-E7C2-2FD948C74818}"/>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a:t>
            </a:r>
            <a:r>
              <a:rPr lang="en-US" sz="2400" b="1" dirty="0" err="1">
                <a:latin typeface="Calibri" panose="020F0502020204030204" pitchFamily="34" charset="0"/>
                <a:ea typeface="Calibri" panose="020F0502020204030204" pitchFamily="34" charset="0"/>
                <a:cs typeface="Calibri" panose="020F0502020204030204" pitchFamily="34" charset="0"/>
              </a:rPr>
              <a:t>Mandsaur</a:t>
            </a:r>
            <a:r>
              <a:rPr lang="en-US" sz="2400" b="1" dirty="0">
                <a:latin typeface="Calibri" panose="020F0502020204030204" pitchFamily="34" charset="0"/>
                <a:ea typeface="Calibri" panose="020F0502020204030204" pitchFamily="34" charset="0"/>
                <a:cs typeface="Calibri" panose="020F0502020204030204" pitchFamily="34" charset="0"/>
              </a:rPr>
              <a:t> – </a:t>
            </a:r>
            <a:r>
              <a:rPr lang="en-US" sz="2400" b="1" dirty="0" err="1">
                <a:latin typeface="Calibri" panose="020F0502020204030204" pitchFamily="34" charset="0"/>
                <a:ea typeface="Calibri" panose="020F0502020204030204" pitchFamily="34" charset="0"/>
                <a:cs typeface="Calibri" panose="020F0502020204030204" pitchFamily="34" charset="0"/>
              </a:rPr>
              <a:t>Kurawar</a:t>
            </a:r>
            <a:r>
              <a:rPr lang="en-US" sz="2400" b="1" dirty="0">
                <a:latin typeface="Calibri" panose="020F0502020204030204" pitchFamily="34" charset="0"/>
                <a:ea typeface="Calibri" panose="020F0502020204030204" pitchFamily="34" charset="0"/>
                <a:cs typeface="Calibri" panose="020F0502020204030204" pitchFamily="34" charset="0"/>
              </a:rPr>
              <a:t> Part I (TA- 509)</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3" name="Table 2">
            <a:extLst>
              <a:ext uri="{FF2B5EF4-FFF2-40B4-BE49-F238E27FC236}">
                <a16:creationId xmlns:a16="http://schemas.microsoft.com/office/drawing/2014/main" id="{8933ADC4-79AD-E32C-7355-359A146A029D}"/>
              </a:ext>
            </a:extLst>
          </p:cNvPr>
          <p:cNvGraphicFramePr>
            <a:graphicFrameLocks noGrp="1"/>
          </p:cNvGraphicFramePr>
          <p:nvPr>
            <p:extLst>
              <p:ext uri="{D42A27DB-BD31-4B8C-83A1-F6EECF244321}">
                <p14:modId xmlns:p14="http://schemas.microsoft.com/office/powerpoint/2010/main" val="1966414587"/>
              </p:ext>
            </p:extLst>
          </p:nvPr>
        </p:nvGraphicFramePr>
        <p:xfrm>
          <a:off x="257175" y="1472183"/>
          <a:ext cx="11737224" cy="5038689"/>
        </p:xfrm>
        <a:graphic>
          <a:graphicData uri="http://schemas.openxmlformats.org/drawingml/2006/table">
            <a:tbl>
              <a:tblPr/>
              <a:tblGrid>
                <a:gridCol w="1140300">
                  <a:extLst>
                    <a:ext uri="{9D8B030D-6E8A-4147-A177-3AD203B41FA5}">
                      <a16:colId xmlns:a16="http://schemas.microsoft.com/office/drawing/2014/main" val="3134568255"/>
                    </a:ext>
                  </a:extLst>
                </a:gridCol>
                <a:gridCol w="1009230">
                  <a:extLst>
                    <a:ext uri="{9D8B030D-6E8A-4147-A177-3AD203B41FA5}">
                      <a16:colId xmlns:a16="http://schemas.microsoft.com/office/drawing/2014/main" val="529650208"/>
                    </a:ext>
                  </a:extLst>
                </a:gridCol>
                <a:gridCol w="760200">
                  <a:extLst>
                    <a:ext uri="{9D8B030D-6E8A-4147-A177-3AD203B41FA5}">
                      <a16:colId xmlns:a16="http://schemas.microsoft.com/office/drawing/2014/main" val="92458083"/>
                    </a:ext>
                  </a:extLst>
                </a:gridCol>
                <a:gridCol w="773307">
                  <a:extLst>
                    <a:ext uri="{9D8B030D-6E8A-4147-A177-3AD203B41FA5}">
                      <a16:colId xmlns:a16="http://schemas.microsoft.com/office/drawing/2014/main" val="1261093951"/>
                    </a:ext>
                  </a:extLst>
                </a:gridCol>
                <a:gridCol w="760200">
                  <a:extLst>
                    <a:ext uri="{9D8B030D-6E8A-4147-A177-3AD203B41FA5}">
                      <a16:colId xmlns:a16="http://schemas.microsoft.com/office/drawing/2014/main" val="3845723164"/>
                    </a:ext>
                  </a:extLst>
                </a:gridCol>
                <a:gridCol w="825733">
                  <a:extLst>
                    <a:ext uri="{9D8B030D-6E8A-4147-A177-3AD203B41FA5}">
                      <a16:colId xmlns:a16="http://schemas.microsoft.com/office/drawing/2014/main" val="2426758173"/>
                    </a:ext>
                  </a:extLst>
                </a:gridCol>
                <a:gridCol w="825733">
                  <a:extLst>
                    <a:ext uri="{9D8B030D-6E8A-4147-A177-3AD203B41FA5}">
                      <a16:colId xmlns:a16="http://schemas.microsoft.com/office/drawing/2014/main" val="7475768"/>
                    </a:ext>
                  </a:extLst>
                </a:gridCol>
                <a:gridCol w="707773">
                  <a:extLst>
                    <a:ext uri="{9D8B030D-6E8A-4147-A177-3AD203B41FA5}">
                      <a16:colId xmlns:a16="http://schemas.microsoft.com/office/drawing/2014/main" val="2676474225"/>
                    </a:ext>
                  </a:extLst>
                </a:gridCol>
                <a:gridCol w="245356">
                  <a:extLst>
                    <a:ext uri="{9D8B030D-6E8A-4147-A177-3AD203B41FA5}">
                      <a16:colId xmlns:a16="http://schemas.microsoft.com/office/drawing/2014/main" val="3819434327"/>
                    </a:ext>
                  </a:extLst>
                </a:gridCol>
                <a:gridCol w="331348">
                  <a:extLst>
                    <a:ext uri="{9D8B030D-6E8A-4147-A177-3AD203B41FA5}">
                      <a16:colId xmlns:a16="http://schemas.microsoft.com/office/drawing/2014/main" val="797465032"/>
                    </a:ext>
                  </a:extLst>
                </a:gridCol>
                <a:gridCol w="430652">
                  <a:extLst>
                    <a:ext uri="{9D8B030D-6E8A-4147-A177-3AD203B41FA5}">
                      <a16:colId xmlns:a16="http://schemas.microsoft.com/office/drawing/2014/main" val="3306756722"/>
                    </a:ext>
                  </a:extLst>
                </a:gridCol>
                <a:gridCol w="277121">
                  <a:extLst>
                    <a:ext uri="{9D8B030D-6E8A-4147-A177-3AD203B41FA5}">
                      <a16:colId xmlns:a16="http://schemas.microsoft.com/office/drawing/2014/main" val="1175406552"/>
                    </a:ext>
                  </a:extLst>
                </a:gridCol>
                <a:gridCol w="171612">
                  <a:extLst>
                    <a:ext uri="{9D8B030D-6E8A-4147-A177-3AD203B41FA5}">
                      <a16:colId xmlns:a16="http://schemas.microsoft.com/office/drawing/2014/main" val="706361869"/>
                    </a:ext>
                  </a:extLst>
                </a:gridCol>
                <a:gridCol w="423333">
                  <a:extLst>
                    <a:ext uri="{9D8B030D-6E8A-4147-A177-3AD203B41FA5}">
                      <a16:colId xmlns:a16="http://schemas.microsoft.com/office/drawing/2014/main" val="2888611340"/>
                    </a:ext>
                  </a:extLst>
                </a:gridCol>
                <a:gridCol w="499534">
                  <a:extLst>
                    <a:ext uri="{9D8B030D-6E8A-4147-A177-3AD203B41FA5}">
                      <a16:colId xmlns:a16="http://schemas.microsoft.com/office/drawing/2014/main" val="3438594745"/>
                    </a:ext>
                  </a:extLst>
                </a:gridCol>
                <a:gridCol w="491066">
                  <a:extLst>
                    <a:ext uri="{9D8B030D-6E8A-4147-A177-3AD203B41FA5}">
                      <a16:colId xmlns:a16="http://schemas.microsoft.com/office/drawing/2014/main" val="2391851116"/>
                    </a:ext>
                  </a:extLst>
                </a:gridCol>
                <a:gridCol w="2064726">
                  <a:extLst>
                    <a:ext uri="{9D8B030D-6E8A-4147-A177-3AD203B41FA5}">
                      <a16:colId xmlns:a16="http://schemas.microsoft.com/office/drawing/2014/main" val="3502179738"/>
                    </a:ext>
                  </a:extLst>
                </a:gridCol>
              </a:tblGrid>
              <a:tr h="467393">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a:solidFill>
                            <a:schemeClr val="tx1"/>
                          </a:solidFill>
                          <a:effectLst/>
                          <a:latin typeface="+mn-lt"/>
                        </a:rPr>
                        <a:t>Gangs Available</a:t>
                      </a: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April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April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pPr algn="ctr"/>
                      <a:endParaRPr lang="en-US"/>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236214">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a:solidFill>
                            <a:schemeClr val="tx1"/>
                          </a:solidFill>
                          <a:effectLst/>
                          <a:latin typeface="+mn-lt"/>
                        </a:rPr>
                        <a:t>Plan</a:t>
                      </a:r>
                      <a:endParaRPr lang="en-US" sz="1200" b="1" i="0" u="none" strike="noStrike" dirty="0">
                        <a:solidFill>
                          <a:schemeClr val="tx1"/>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t">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a:solidFill>
                            <a:schemeClr val="tx1"/>
                          </a:solidFill>
                          <a:effectLst/>
                          <a:latin typeface="+mn-lt"/>
                        </a:rPr>
                        <a:t>Act</a:t>
                      </a: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35180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236214">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264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19</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19</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mn-lt"/>
                        </a:rPr>
                        <a:t>13</a:t>
                      </a: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352350">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46739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118.397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118.397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118.4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0.0</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mn-lt"/>
                        </a:rPr>
                        <a:t>0</a:t>
                      </a: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351804">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mn-lt"/>
                        </a:rPr>
                        <a:t>0</a:t>
                      </a: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236214">
                <a:tc gridSpan="17">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467393">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46739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GB" sz="1200" b="1" dirty="0">
                          <a:effectLst/>
                          <a:latin typeface="Calibri" panose="020F0502020204030204" pitchFamily="34" charset="0"/>
                          <a:ea typeface="Calibri" panose="020F0502020204030204" pitchFamily="34" charset="0"/>
                          <a:cs typeface="Calibri" panose="020F0502020204030204" pitchFamily="34" charset="0"/>
                        </a:rPr>
                        <a:t>Raised Chimney: Drawings related issue 10 locations</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22344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236214">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495535454"/>
                  </a:ext>
                </a:extLst>
              </a:tr>
              <a:tr h="236214">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96488407"/>
                  </a:ext>
                </a:extLst>
              </a:tr>
              <a:tr h="236214">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19053964"/>
                  </a:ext>
                </a:extLst>
              </a:tr>
              <a:tr h="23621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005780108"/>
                  </a:ext>
                </a:extLst>
              </a:tr>
              <a:tr h="23621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5" name="Table 4">
            <a:extLst>
              <a:ext uri="{FF2B5EF4-FFF2-40B4-BE49-F238E27FC236}">
                <a16:creationId xmlns:a16="http://schemas.microsoft.com/office/drawing/2014/main" id="{43711D86-9C07-DDBD-5861-9648C8994CC6}"/>
              </a:ext>
            </a:extLst>
          </p:cNvPr>
          <p:cNvGraphicFramePr>
            <a:graphicFrameLocks noGrp="1"/>
          </p:cNvGraphicFramePr>
          <p:nvPr>
            <p:extLst>
              <p:ext uri="{D42A27DB-BD31-4B8C-83A1-F6EECF244321}">
                <p14:modId xmlns:p14="http://schemas.microsoft.com/office/powerpoint/2010/main" val="2631109913"/>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960614551"/>
      </p:ext>
    </p:extLst>
  </p:cSld>
  <p:clrMapOvr>
    <a:masterClrMapping/>
  </p:clrMapOvr>
  <p:transition spd="slow"/>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D45740-EABC-72A3-5F1D-B32FC64CA3BE}"/>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ECF73908-C2ED-5268-F819-7F6AAE943B86}"/>
              </a:ext>
            </a:extLst>
          </p:cNvPr>
          <p:cNvSpPr txBox="1"/>
          <p:nvPr/>
        </p:nvSpPr>
        <p:spPr>
          <a:xfrm>
            <a:off x="257175" y="1592770"/>
            <a:ext cx="11677650" cy="2677656"/>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pPr marL="285750" lvl="0" indent="-285750">
              <a:buFont typeface="+mj-lt"/>
              <a:buAutoNum type="arabicPeriod"/>
              <a:defRPr/>
            </a:pPr>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1. Drawings required for Raised Chimney – 10 locations are affected on account of same. This is affecting 9 km of stringing stretch</a:t>
            </a:r>
          </a:p>
          <a:p>
            <a:pPr marL="342900" indent="-342900">
              <a:buAutoNum type="arabicPeriod"/>
            </a:pPr>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2. 10 locations under Right of Way</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3. Approval of Diversion proposal</a:t>
            </a:r>
          </a:p>
          <a:p>
            <a:pPr fontAlgn="ctr"/>
            <a:endParaRPr lang="en-US" sz="1200" dirty="0"/>
          </a:p>
          <a:p>
            <a:r>
              <a:rPr lang="en-US" sz="1200" dirty="0">
                <a:ea typeface="Calibri" panose="020F0502020204030204" pitchFamily="34" charset="0"/>
                <a:cs typeface="Calibri" panose="020F0502020204030204" pitchFamily="34" charset="0"/>
              </a:rPr>
              <a:t>	</a:t>
            </a:r>
            <a:endParaRPr lang="en-IN" sz="1200" dirty="0">
              <a:ea typeface="Calibri" panose="020F0502020204030204" pitchFamily="34" charset="0"/>
              <a:cs typeface="Calibri" panose="020F0502020204030204" pitchFamily="34" charset="0"/>
            </a:endParaRPr>
          </a:p>
        </p:txBody>
      </p:sp>
      <p:sp>
        <p:nvSpPr>
          <p:cNvPr id="4" name="Title 1">
            <a:extLst>
              <a:ext uri="{FF2B5EF4-FFF2-40B4-BE49-F238E27FC236}">
                <a16:creationId xmlns:a16="http://schemas.microsoft.com/office/drawing/2014/main" id="{1914DEE9-4640-3261-8E95-5BF7D519CF9A}"/>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a:t>
            </a:r>
            <a:r>
              <a:rPr lang="en-US" sz="2400" b="1" dirty="0" err="1">
                <a:latin typeface="Calibri" panose="020F0502020204030204" pitchFamily="34" charset="0"/>
                <a:ea typeface="Calibri" panose="020F0502020204030204" pitchFamily="34" charset="0"/>
                <a:cs typeface="Calibri" panose="020F0502020204030204" pitchFamily="34" charset="0"/>
              </a:rPr>
              <a:t>Mandsaur</a:t>
            </a:r>
            <a:r>
              <a:rPr lang="en-US" sz="2400" b="1" dirty="0">
                <a:latin typeface="Calibri" panose="020F0502020204030204" pitchFamily="34" charset="0"/>
                <a:ea typeface="Calibri" panose="020F0502020204030204" pitchFamily="34" charset="0"/>
                <a:cs typeface="Calibri" panose="020F0502020204030204" pitchFamily="34" charset="0"/>
              </a:rPr>
              <a:t> – </a:t>
            </a:r>
            <a:r>
              <a:rPr lang="en-US" sz="2400" b="1" dirty="0" err="1">
                <a:latin typeface="Calibri" panose="020F0502020204030204" pitchFamily="34" charset="0"/>
                <a:ea typeface="Calibri" panose="020F0502020204030204" pitchFamily="34" charset="0"/>
                <a:cs typeface="Calibri" panose="020F0502020204030204" pitchFamily="34" charset="0"/>
              </a:rPr>
              <a:t>Kurawar</a:t>
            </a:r>
            <a:r>
              <a:rPr lang="en-US" sz="2400" b="1" dirty="0">
                <a:latin typeface="Calibri" panose="020F0502020204030204" pitchFamily="34" charset="0"/>
                <a:ea typeface="Calibri" panose="020F0502020204030204" pitchFamily="34" charset="0"/>
                <a:cs typeface="Calibri" panose="020F0502020204030204" pitchFamily="34" charset="0"/>
              </a:rPr>
              <a:t> Part I (TA- 509)</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BE562518-4DA6-68E1-C2D2-79BF8036A933}"/>
              </a:ext>
            </a:extLst>
          </p:cNvPr>
          <p:cNvGraphicFramePr>
            <a:graphicFrameLocks noGrp="1"/>
          </p:cNvGraphicFramePr>
          <p:nvPr>
            <p:extLst>
              <p:ext uri="{D42A27DB-BD31-4B8C-83A1-F6EECF244321}">
                <p14:modId xmlns:p14="http://schemas.microsoft.com/office/powerpoint/2010/main" val="3175272556"/>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26/11/24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a:t>
                      </a:r>
                      <a:r>
                        <a:rPr kumimoji="0" lang="en-US" sz="1200" b="1" i="0" u="none" strike="noStrike" kern="120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rPr>
                        <a:t>474.37</a:t>
                      </a: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25/10/2026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COMPLETION:25/10/2026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243543998"/>
      </p:ext>
    </p:extLst>
  </p:cSld>
  <p:clrMapOvr>
    <a:masterClrMapping/>
  </p:clrMapOvr>
  <p:transition spd="slow"/>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570800-9695-8B70-2029-A066C962EEF8}"/>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A6BD8F5A-ACA9-16C8-6CB5-9951E3EC6770}"/>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TL04- </a:t>
            </a:r>
            <a:r>
              <a:rPr lang="en-IN" sz="2400" b="1" dirty="0">
                <a:latin typeface="Calibri" panose="020F0502020204030204" pitchFamily="34" charset="0"/>
                <a:ea typeface="Calibri" panose="020F0502020204030204" pitchFamily="34" charset="0"/>
                <a:cs typeface="Calibri" panose="020F0502020204030204" pitchFamily="34" charset="0"/>
              </a:rPr>
              <a:t>765 kV D/C  Ahmedabad - South </a:t>
            </a:r>
            <a:r>
              <a:rPr lang="en-IN" sz="2400" b="1" dirty="0" err="1">
                <a:latin typeface="Calibri" panose="020F0502020204030204" pitchFamily="34" charset="0"/>
                <a:ea typeface="Calibri" panose="020F0502020204030204" pitchFamily="34" charset="0"/>
                <a:cs typeface="Calibri" panose="020F0502020204030204" pitchFamily="34" charset="0"/>
              </a:rPr>
              <a:t>Olpad</a:t>
            </a:r>
            <a:r>
              <a:rPr lang="en-IN" sz="2400" b="1" dirty="0">
                <a:latin typeface="Calibri" panose="020F0502020204030204" pitchFamily="34" charset="0"/>
                <a:ea typeface="Calibri" panose="020F0502020204030204" pitchFamily="34" charset="0"/>
                <a:cs typeface="Calibri" panose="020F0502020204030204" pitchFamily="34" charset="0"/>
              </a:rPr>
              <a:t> Transmission Line</a:t>
            </a:r>
            <a:r>
              <a:rPr lang="en-US" sz="2400" b="1" dirty="0">
                <a:latin typeface="Calibri" panose="020F0502020204030204" pitchFamily="34" charset="0"/>
                <a:ea typeface="Calibri" panose="020F0502020204030204" pitchFamily="34" charset="0"/>
                <a:cs typeface="Calibri" panose="020F0502020204030204" pitchFamily="34" charset="0"/>
              </a:rPr>
              <a:t> (TA- 510)</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C4A5AB1A-1251-3F3F-D63F-7D77347FA683}"/>
              </a:ext>
            </a:extLst>
          </p:cNvPr>
          <p:cNvGraphicFramePr>
            <a:graphicFrameLocks noGrp="1"/>
          </p:cNvGraphicFramePr>
          <p:nvPr>
            <p:extLst>
              <p:ext uri="{D42A27DB-BD31-4B8C-83A1-F6EECF244321}">
                <p14:modId xmlns:p14="http://schemas.microsoft.com/office/powerpoint/2010/main" val="2977982056"/>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26/11/2024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25/10/26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2" name="Table 1">
            <a:extLst>
              <a:ext uri="{FF2B5EF4-FFF2-40B4-BE49-F238E27FC236}">
                <a16:creationId xmlns:a16="http://schemas.microsoft.com/office/drawing/2014/main" id="{21047CAF-F28B-94CE-CEBA-8A9FEDD808CA}"/>
              </a:ext>
            </a:extLst>
          </p:cNvPr>
          <p:cNvGraphicFramePr>
            <a:graphicFrameLocks noGrp="1"/>
          </p:cNvGraphicFramePr>
          <p:nvPr>
            <p:extLst>
              <p:ext uri="{D42A27DB-BD31-4B8C-83A1-F6EECF244321}">
                <p14:modId xmlns:p14="http://schemas.microsoft.com/office/powerpoint/2010/main" val="935471645"/>
              </p:ext>
            </p:extLst>
          </p:nvPr>
        </p:nvGraphicFramePr>
        <p:xfrm>
          <a:off x="238963" y="1472184"/>
          <a:ext cx="11624752" cy="3862014"/>
        </p:xfrm>
        <a:graphic>
          <a:graphicData uri="http://schemas.openxmlformats.org/drawingml/2006/table">
            <a:tbl>
              <a:tblPr/>
              <a:tblGrid>
                <a:gridCol w="1140300">
                  <a:extLst>
                    <a:ext uri="{9D8B030D-6E8A-4147-A177-3AD203B41FA5}">
                      <a16:colId xmlns:a16="http://schemas.microsoft.com/office/drawing/2014/main" val="3134568255"/>
                    </a:ext>
                  </a:extLst>
                </a:gridCol>
                <a:gridCol w="1009230">
                  <a:extLst>
                    <a:ext uri="{9D8B030D-6E8A-4147-A177-3AD203B41FA5}">
                      <a16:colId xmlns:a16="http://schemas.microsoft.com/office/drawing/2014/main" val="529650208"/>
                    </a:ext>
                  </a:extLst>
                </a:gridCol>
                <a:gridCol w="760200">
                  <a:extLst>
                    <a:ext uri="{9D8B030D-6E8A-4147-A177-3AD203B41FA5}">
                      <a16:colId xmlns:a16="http://schemas.microsoft.com/office/drawing/2014/main" val="92458083"/>
                    </a:ext>
                  </a:extLst>
                </a:gridCol>
                <a:gridCol w="773307">
                  <a:extLst>
                    <a:ext uri="{9D8B030D-6E8A-4147-A177-3AD203B41FA5}">
                      <a16:colId xmlns:a16="http://schemas.microsoft.com/office/drawing/2014/main" val="1261093951"/>
                    </a:ext>
                  </a:extLst>
                </a:gridCol>
                <a:gridCol w="647728">
                  <a:extLst>
                    <a:ext uri="{9D8B030D-6E8A-4147-A177-3AD203B41FA5}">
                      <a16:colId xmlns:a16="http://schemas.microsoft.com/office/drawing/2014/main" val="3845723164"/>
                    </a:ext>
                  </a:extLst>
                </a:gridCol>
                <a:gridCol w="825733">
                  <a:extLst>
                    <a:ext uri="{9D8B030D-6E8A-4147-A177-3AD203B41FA5}">
                      <a16:colId xmlns:a16="http://schemas.microsoft.com/office/drawing/2014/main" val="2426758173"/>
                    </a:ext>
                  </a:extLst>
                </a:gridCol>
                <a:gridCol w="658206">
                  <a:extLst>
                    <a:ext uri="{9D8B030D-6E8A-4147-A177-3AD203B41FA5}">
                      <a16:colId xmlns:a16="http://schemas.microsoft.com/office/drawing/2014/main" val="7475768"/>
                    </a:ext>
                  </a:extLst>
                </a:gridCol>
                <a:gridCol w="167527">
                  <a:extLst>
                    <a:ext uri="{9D8B030D-6E8A-4147-A177-3AD203B41FA5}">
                      <a16:colId xmlns:a16="http://schemas.microsoft.com/office/drawing/2014/main" val="12315453"/>
                    </a:ext>
                  </a:extLst>
                </a:gridCol>
                <a:gridCol w="501339">
                  <a:extLst>
                    <a:ext uri="{9D8B030D-6E8A-4147-A177-3AD203B41FA5}">
                      <a16:colId xmlns:a16="http://schemas.microsoft.com/office/drawing/2014/main" val="2676474225"/>
                    </a:ext>
                  </a:extLst>
                </a:gridCol>
                <a:gridCol w="420328">
                  <a:extLst>
                    <a:ext uri="{9D8B030D-6E8A-4147-A177-3AD203B41FA5}">
                      <a16:colId xmlns:a16="http://schemas.microsoft.com/office/drawing/2014/main" val="3819434327"/>
                    </a:ext>
                  </a:extLst>
                </a:gridCol>
                <a:gridCol w="206206">
                  <a:extLst>
                    <a:ext uri="{9D8B030D-6E8A-4147-A177-3AD203B41FA5}">
                      <a16:colId xmlns:a16="http://schemas.microsoft.com/office/drawing/2014/main" val="1861442625"/>
                    </a:ext>
                  </a:extLst>
                </a:gridCol>
                <a:gridCol w="606594">
                  <a:extLst>
                    <a:ext uri="{9D8B030D-6E8A-4147-A177-3AD203B41FA5}">
                      <a16:colId xmlns:a16="http://schemas.microsoft.com/office/drawing/2014/main" val="3306756722"/>
                    </a:ext>
                  </a:extLst>
                </a:gridCol>
                <a:gridCol w="431800">
                  <a:extLst>
                    <a:ext uri="{9D8B030D-6E8A-4147-A177-3AD203B41FA5}">
                      <a16:colId xmlns:a16="http://schemas.microsoft.com/office/drawing/2014/main" val="4151437261"/>
                    </a:ext>
                  </a:extLst>
                </a:gridCol>
                <a:gridCol w="313267">
                  <a:extLst>
                    <a:ext uri="{9D8B030D-6E8A-4147-A177-3AD203B41FA5}">
                      <a16:colId xmlns:a16="http://schemas.microsoft.com/office/drawing/2014/main" val="444051629"/>
                    </a:ext>
                  </a:extLst>
                </a:gridCol>
                <a:gridCol w="457200">
                  <a:extLst>
                    <a:ext uri="{9D8B030D-6E8A-4147-A177-3AD203B41FA5}">
                      <a16:colId xmlns:a16="http://schemas.microsoft.com/office/drawing/2014/main" val="3438594745"/>
                    </a:ext>
                  </a:extLst>
                </a:gridCol>
                <a:gridCol w="497128">
                  <a:extLst>
                    <a:ext uri="{9D8B030D-6E8A-4147-A177-3AD203B41FA5}">
                      <a16:colId xmlns:a16="http://schemas.microsoft.com/office/drawing/2014/main" val="2391851116"/>
                    </a:ext>
                  </a:extLst>
                </a:gridCol>
                <a:gridCol w="2208659">
                  <a:extLst>
                    <a:ext uri="{9D8B030D-6E8A-4147-A177-3AD203B41FA5}">
                      <a16:colId xmlns:a16="http://schemas.microsoft.com/office/drawing/2014/main" val="3502179738"/>
                    </a:ext>
                  </a:extLst>
                </a:gridCol>
              </a:tblGrid>
              <a:tr h="341115">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17239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n-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25675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114.516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90.949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23.567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23.567</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23.567</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23.567</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17239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293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42</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42</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17239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293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30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25675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114.516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114.516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25675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114.516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114.516</a:t>
                      </a: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mn-lt"/>
                        <a:ea typeface="+mn-ea"/>
                        <a:cs typeface="+mn-cs"/>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72395">
                <a:tc gridSpan="17">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lang="en-US"/>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41115">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dirty="0">
                          <a:solidFill>
                            <a:schemeClr val="tx1"/>
                          </a:solidFill>
                          <a:effectLst/>
                          <a:latin typeface="+mn-lt"/>
                        </a:rPr>
                        <a:t>Plan for May'26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17239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5">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17239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5">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177507">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5">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to be supply after final Amendment .</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495535454"/>
                  </a:ext>
                </a:extLst>
              </a:tr>
              <a:tr h="17239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5">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96488407"/>
                  </a:ext>
                </a:extLst>
              </a:tr>
              <a:tr h="24103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5">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QCS Released -500 Nos &amp; 774 is pending to be released </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19053964"/>
                  </a:ext>
                </a:extLst>
              </a:tr>
              <a:tr h="24103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5">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QCS Released -500 Nos &amp; 2320 is pending to be released </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005780108"/>
                  </a:ext>
                </a:extLst>
              </a:tr>
              <a:tr h="34111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5">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Qty confirmation to be given after approval of Check survey.</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6" name="Table 5">
            <a:extLst>
              <a:ext uri="{FF2B5EF4-FFF2-40B4-BE49-F238E27FC236}">
                <a16:creationId xmlns:a16="http://schemas.microsoft.com/office/drawing/2014/main" id="{EED6DAA9-FF31-32DE-28C5-A1C856A80289}"/>
              </a:ext>
            </a:extLst>
          </p:cNvPr>
          <p:cNvGraphicFramePr>
            <a:graphicFrameLocks noGrp="1"/>
          </p:cNvGraphicFramePr>
          <p:nvPr>
            <p:extLst>
              <p:ext uri="{D42A27DB-BD31-4B8C-83A1-F6EECF244321}">
                <p14:modId xmlns:p14="http://schemas.microsoft.com/office/powerpoint/2010/main" val="3760234195"/>
              </p:ext>
            </p:extLst>
          </p:nvPr>
        </p:nvGraphicFramePr>
        <p:xfrm>
          <a:off x="257175" y="5423745"/>
          <a:ext cx="11624752" cy="1146423"/>
        </p:xfrm>
        <a:graphic>
          <a:graphicData uri="http://schemas.openxmlformats.org/drawingml/2006/table">
            <a:tbl>
              <a:tblPr/>
              <a:tblGrid>
                <a:gridCol w="1240544">
                  <a:extLst>
                    <a:ext uri="{9D8B030D-6E8A-4147-A177-3AD203B41FA5}">
                      <a16:colId xmlns:a16="http://schemas.microsoft.com/office/drawing/2014/main" val="4144033618"/>
                    </a:ext>
                  </a:extLst>
                </a:gridCol>
                <a:gridCol w="1101518">
                  <a:extLst>
                    <a:ext uri="{9D8B030D-6E8A-4147-A177-3AD203B41FA5}">
                      <a16:colId xmlns:a16="http://schemas.microsoft.com/office/drawing/2014/main" val="2710662077"/>
                    </a:ext>
                  </a:extLst>
                </a:gridCol>
                <a:gridCol w="823466">
                  <a:extLst>
                    <a:ext uri="{9D8B030D-6E8A-4147-A177-3AD203B41FA5}">
                      <a16:colId xmlns:a16="http://schemas.microsoft.com/office/drawing/2014/main" val="3810854777"/>
                    </a:ext>
                  </a:extLst>
                </a:gridCol>
                <a:gridCol w="1261933">
                  <a:extLst>
                    <a:ext uri="{9D8B030D-6E8A-4147-A177-3AD203B41FA5}">
                      <a16:colId xmlns:a16="http://schemas.microsoft.com/office/drawing/2014/main" val="95352560"/>
                    </a:ext>
                  </a:extLst>
                </a:gridCol>
                <a:gridCol w="1240544">
                  <a:extLst>
                    <a:ext uri="{9D8B030D-6E8A-4147-A177-3AD203B41FA5}">
                      <a16:colId xmlns:a16="http://schemas.microsoft.com/office/drawing/2014/main" val="3482007332"/>
                    </a:ext>
                  </a:extLst>
                </a:gridCol>
                <a:gridCol w="898325">
                  <a:extLst>
                    <a:ext uri="{9D8B030D-6E8A-4147-A177-3AD203B41FA5}">
                      <a16:colId xmlns:a16="http://schemas.microsoft.com/office/drawing/2014/main" val="3780160470"/>
                    </a:ext>
                  </a:extLst>
                </a:gridCol>
                <a:gridCol w="1347487">
                  <a:extLst>
                    <a:ext uri="{9D8B030D-6E8A-4147-A177-3AD203B41FA5}">
                      <a16:colId xmlns:a16="http://schemas.microsoft.com/office/drawing/2014/main" val="4001841647"/>
                    </a:ext>
                  </a:extLst>
                </a:gridCol>
                <a:gridCol w="1154988">
                  <a:extLst>
                    <a:ext uri="{9D8B030D-6E8A-4147-A177-3AD203B41FA5}">
                      <a16:colId xmlns:a16="http://schemas.microsoft.com/office/drawing/2014/main" val="873345733"/>
                    </a:ext>
                  </a:extLst>
                </a:gridCol>
                <a:gridCol w="630966">
                  <a:extLst>
                    <a:ext uri="{9D8B030D-6E8A-4147-A177-3AD203B41FA5}">
                      <a16:colId xmlns:a16="http://schemas.microsoft.com/office/drawing/2014/main" val="983947984"/>
                    </a:ext>
                  </a:extLst>
                </a:gridCol>
                <a:gridCol w="1154988">
                  <a:extLst>
                    <a:ext uri="{9D8B030D-6E8A-4147-A177-3AD203B41FA5}">
                      <a16:colId xmlns:a16="http://schemas.microsoft.com/office/drawing/2014/main" val="3672483493"/>
                    </a:ext>
                  </a:extLst>
                </a:gridCol>
                <a:gridCol w="769993">
                  <a:extLst>
                    <a:ext uri="{9D8B030D-6E8A-4147-A177-3AD203B41FA5}">
                      <a16:colId xmlns:a16="http://schemas.microsoft.com/office/drawing/2014/main" val="1432498959"/>
                    </a:ext>
                  </a:extLst>
                </a:gridCol>
              </a:tblGrid>
              <a:tr h="49456">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183092">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183092">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20556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18309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18309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2715089470"/>
      </p:ext>
    </p:extLst>
  </p:cSld>
  <p:clrMapOvr>
    <a:masterClrMapping/>
  </p:clrMapOvr>
  <p:transition spd="slow"/>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995C25-5B31-FDD1-AC1A-5864AD42A83D}"/>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25B31424-07DA-CC5F-827C-79C4980A9D2D}"/>
              </a:ext>
            </a:extLst>
          </p:cNvPr>
          <p:cNvSpPr txBox="1"/>
          <p:nvPr/>
        </p:nvSpPr>
        <p:spPr>
          <a:xfrm>
            <a:off x="229817" y="1647825"/>
            <a:ext cx="11705008" cy="2215991"/>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1. 16 kms Detailed Survey approval pending</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2. Pile foundation work stopped due to reserve forest approval pending</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3. Continuous Front required to maximize the output</a:t>
            </a:r>
            <a:endParaRPr lang="en-US" dirty="0">
              <a:latin typeface="Calibri" panose="020F0502020204030204" pitchFamily="34" charset="0"/>
              <a:ea typeface="Calibri" panose="020F0502020204030204" pitchFamily="34" charset="0"/>
              <a:cs typeface="Calibri" panose="020F0502020204030204" pitchFamily="34" charset="0"/>
            </a:endParaRPr>
          </a:p>
          <a:p>
            <a:r>
              <a:rPr lang="en-US" sz="1200" dirty="0">
                <a:ea typeface="Calibri" panose="020F0502020204030204" pitchFamily="34" charset="0"/>
                <a:cs typeface="Calibri" panose="020F0502020204030204" pitchFamily="34" charset="0"/>
              </a:rPr>
              <a:t>	</a:t>
            </a:r>
            <a:endParaRPr lang="en-IN" sz="1200" dirty="0">
              <a:ea typeface="Calibri" panose="020F0502020204030204" pitchFamily="34" charset="0"/>
              <a:cs typeface="Calibri" panose="020F0502020204030204" pitchFamily="34" charset="0"/>
            </a:endParaRPr>
          </a:p>
        </p:txBody>
      </p:sp>
      <p:sp>
        <p:nvSpPr>
          <p:cNvPr id="7" name="Title 1">
            <a:extLst>
              <a:ext uri="{FF2B5EF4-FFF2-40B4-BE49-F238E27FC236}">
                <a16:creationId xmlns:a16="http://schemas.microsoft.com/office/drawing/2014/main" id="{4D9F423B-CB1A-4767-056C-F2755922D0C6}"/>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TL04- </a:t>
            </a:r>
            <a:r>
              <a:rPr lang="en-IN" sz="2400" b="1" dirty="0">
                <a:latin typeface="Calibri" panose="020F0502020204030204" pitchFamily="34" charset="0"/>
                <a:ea typeface="Calibri" panose="020F0502020204030204" pitchFamily="34" charset="0"/>
                <a:cs typeface="Calibri" panose="020F0502020204030204" pitchFamily="34" charset="0"/>
              </a:rPr>
              <a:t>765 kV D/C  Ahmedabad - South </a:t>
            </a:r>
            <a:r>
              <a:rPr lang="en-IN" sz="2400" b="1" dirty="0" err="1">
                <a:latin typeface="Calibri" panose="020F0502020204030204" pitchFamily="34" charset="0"/>
                <a:ea typeface="Calibri" panose="020F0502020204030204" pitchFamily="34" charset="0"/>
                <a:cs typeface="Calibri" panose="020F0502020204030204" pitchFamily="34" charset="0"/>
              </a:rPr>
              <a:t>Olpad</a:t>
            </a:r>
            <a:r>
              <a:rPr lang="en-IN" sz="2400" b="1" dirty="0">
                <a:latin typeface="Calibri" panose="020F0502020204030204" pitchFamily="34" charset="0"/>
                <a:ea typeface="Calibri" panose="020F0502020204030204" pitchFamily="34" charset="0"/>
                <a:cs typeface="Calibri" panose="020F0502020204030204" pitchFamily="34" charset="0"/>
              </a:rPr>
              <a:t> Transmission Line</a:t>
            </a:r>
            <a:r>
              <a:rPr lang="en-US" sz="2400" b="1" dirty="0">
                <a:latin typeface="Calibri" panose="020F0502020204030204" pitchFamily="34" charset="0"/>
                <a:ea typeface="Calibri" panose="020F0502020204030204" pitchFamily="34" charset="0"/>
                <a:cs typeface="Calibri" panose="020F0502020204030204" pitchFamily="34" charset="0"/>
              </a:rPr>
              <a:t> (TA- 510)</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le 7">
            <a:extLst>
              <a:ext uri="{FF2B5EF4-FFF2-40B4-BE49-F238E27FC236}">
                <a16:creationId xmlns:a16="http://schemas.microsoft.com/office/drawing/2014/main" id="{7E18D332-AB30-4B8C-059E-D0955D451C36}"/>
              </a:ext>
            </a:extLst>
          </p:cNvPr>
          <p:cNvGraphicFramePr>
            <a:graphicFrameLocks noGrp="1"/>
          </p:cNvGraphicFramePr>
          <p:nvPr>
            <p:extLst>
              <p:ext uri="{D42A27DB-BD31-4B8C-83A1-F6EECF244321}">
                <p14:modId xmlns:p14="http://schemas.microsoft.com/office/powerpoint/2010/main" val="2439969672"/>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26/11/2024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578.78</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25/10/26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15/03/27</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1459906899"/>
      </p:ext>
    </p:extLst>
  </p:cSld>
  <p:clrMapOvr>
    <a:masterClrMapping/>
  </p:clrMapOvr>
  <p:transition spd="slow"/>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212C46-B078-5E4D-AB2D-82108F276BF2}"/>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2A8AEAF4-3E89-0262-8A8F-DF5C7C9012A9}"/>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TL02 - </a:t>
            </a:r>
            <a:r>
              <a:rPr lang="en-US" sz="2400" b="1" dirty="0">
                <a:latin typeface="Calibri" panose="020F0502020204030204" pitchFamily="34" charset="0"/>
                <a:ea typeface="Calibri" panose="020F0502020204030204" pitchFamily="34" charset="0"/>
                <a:cs typeface="Calibri" panose="020F0502020204030204" pitchFamily="34" charset="0"/>
              </a:rPr>
              <a:t>800kV HVDC </a:t>
            </a:r>
            <a:r>
              <a:rPr lang="en-US" sz="2400" b="1" dirty="0" err="1">
                <a:latin typeface="Calibri" panose="020F0502020204030204" pitchFamily="34" charset="0"/>
                <a:ea typeface="Calibri" panose="020F0502020204030204" pitchFamily="34" charset="0"/>
                <a:cs typeface="Calibri" panose="020F0502020204030204" pitchFamily="34" charset="0"/>
              </a:rPr>
              <a:t>Bipole</a:t>
            </a:r>
            <a:r>
              <a:rPr lang="en-US" sz="2400" b="1" dirty="0">
                <a:latin typeface="Calibri" panose="020F0502020204030204" pitchFamily="34" charset="0"/>
                <a:ea typeface="Calibri" panose="020F0502020204030204" pitchFamily="34" charset="0"/>
                <a:cs typeface="Calibri" panose="020F0502020204030204" pitchFamily="34" charset="0"/>
              </a:rPr>
              <a:t> Line between KPS2 (HVDC) &amp; Nagpur (HVDC)</a:t>
            </a:r>
            <a:r>
              <a:rPr lang="fr-FR" sz="2400" b="1" dirty="0">
                <a:latin typeface="Calibri" panose="020F0502020204030204" pitchFamily="34" charset="0"/>
                <a:ea typeface="Calibri" panose="020F0502020204030204" pitchFamily="34" charset="0"/>
                <a:cs typeface="Calibri" panose="020F0502020204030204" pitchFamily="34" charset="0"/>
              </a:rPr>
              <a:t> </a:t>
            </a:r>
            <a:r>
              <a:rPr lang="en-US" sz="2400" b="1" dirty="0">
                <a:latin typeface="Calibri" panose="020F0502020204030204" pitchFamily="34" charset="0"/>
                <a:ea typeface="Calibri" panose="020F0502020204030204" pitchFamily="34" charset="0"/>
                <a:cs typeface="Calibri" panose="020F0502020204030204" pitchFamily="34" charset="0"/>
              </a:rPr>
              <a:t>(TA- 514)</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6A108A9B-E425-9F6A-17BA-EF46673772E5}"/>
              </a:ext>
            </a:extLst>
          </p:cNvPr>
          <p:cNvGraphicFramePr>
            <a:graphicFrameLocks noGrp="1"/>
          </p:cNvGraphicFramePr>
          <p:nvPr>
            <p:extLst>
              <p:ext uri="{D42A27DB-BD31-4B8C-83A1-F6EECF244321}">
                <p14:modId xmlns:p14="http://schemas.microsoft.com/office/powerpoint/2010/main" val="1947293766"/>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3" name="Table 2">
            <a:extLst>
              <a:ext uri="{FF2B5EF4-FFF2-40B4-BE49-F238E27FC236}">
                <a16:creationId xmlns:a16="http://schemas.microsoft.com/office/drawing/2014/main" id="{19F14544-EBA6-3699-F68F-F3B5AA02702E}"/>
              </a:ext>
            </a:extLst>
          </p:cNvPr>
          <p:cNvGraphicFramePr>
            <a:graphicFrameLocks noGrp="1"/>
          </p:cNvGraphicFramePr>
          <p:nvPr>
            <p:extLst>
              <p:ext uri="{D42A27DB-BD31-4B8C-83A1-F6EECF244321}">
                <p14:modId xmlns:p14="http://schemas.microsoft.com/office/powerpoint/2010/main" val="1042424935"/>
              </p:ext>
            </p:extLst>
          </p:nvPr>
        </p:nvGraphicFramePr>
        <p:xfrm>
          <a:off x="206746" y="1484486"/>
          <a:ext cx="11737225" cy="5172818"/>
        </p:xfrm>
        <a:graphic>
          <a:graphicData uri="http://schemas.openxmlformats.org/drawingml/2006/table">
            <a:tbl>
              <a:tblPr/>
              <a:tblGrid>
                <a:gridCol w="1140300">
                  <a:extLst>
                    <a:ext uri="{9D8B030D-6E8A-4147-A177-3AD203B41FA5}">
                      <a16:colId xmlns:a16="http://schemas.microsoft.com/office/drawing/2014/main" val="3134568255"/>
                    </a:ext>
                  </a:extLst>
                </a:gridCol>
                <a:gridCol w="1009230">
                  <a:extLst>
                    <a:ext uri="{9D8B030D-6E8A-4147-A177-3AD203B41FA5}">
                      <a16:colId xmlns:a16="http://schemas.microsoft.com/office/drawing/2014/main" val="529650208"/>
                    </a:ext>
                  </a:extLst>
                </a:gridCol>
                <a:gridCol w="760200">
                  <a:extLst>
                    <a:ext uri="{9D8B030D-6E8A-4147-A177-3AD203B41FA5}">
                      <a16:colId xmlns:a16="http://schemas.microsoft.com/office/drawing/2014/main" val="92458083"/>
                    </a:ext>
                  </a:extLst>
                </a:gridCol>
                <a:gridCol w="773307">
                  <a:extLst>
                    <a:ext uri="{9D8B030D-6E8A-4147-A177-3AD203B41FA5}">
                      <a16:colId xmlns:a16="http://schemas.microsoft.com/office/drawing/2014/main" val="1261093951"/>
                    </a:ext>
                  </a:extLst>
                </a:gridCol>
                <a:gridCol w="760200">
                  <a:extLst>
                    <a:ext uri="{9D8B030D-6E8A-4147-A177-3AD203B41FA5}">
                      <a16:colId xmlns:a16="http://schemas.microsoft.com/office/drawing/2014/main" val="3845723164"/>
                    </a:ext>
                  </a:extLst>
                </a:gridCol>
                <a:gridCol w="825733">
                  <a:extLst>
                    <a:ext uri="{9D8B030D-6E8A-4147-A177-3AD203B41FA5}">
                      <a16:colId xmlns:a16="http://schemas.microsoft.com/office/drawing/2014/main" val="2426758173"/>
                    </a:ext>
                  </a:extLst>
                </a:gridCol>
                <a:gridCol w="825733">
                  <a:extLst>
                    <a:ext uri="{9D8B030D-6E8A-4147-A177-3AD203B41FA5}">
                      <a16:colId xmlns:a16="http://schemas.microsoft.com/office/drawing/2014/main" val="7475768"/>
                    </a:ext>
                  </a:extLst>
                </a:gridCol>
                <a:gridCol w="707773">
                  <a:extLst>
                    <a:ext uri="{9D8B030D-6E8A-4147-A177-3AD203B41FA5}">
                      <a16:colId xmlns:a16="http://schemas.microsoft.com/office/drawing/2014/main" val="2676474225"/>
                    </a:ext>
                  </a:extLst>
                </a:gridCol>
                <a:gridCol w="209659">
                  <a:extLst>
                    <a:ext uri="{9D8B030D-6E8A-4147-A177-3AD203B41FA5}">
                      <a16:colId xmlns:a16="http://schemas.microsoft.com/office/drawing/2014/main" val="3819434327"/>
                    </a:ext>
                  </a:extLst>
                </a:gridCol>
                <a:gridCol w="367045">
                  <a:extLst>
                    <a:ext uri="{9D8B030D-6E8A-4147-A177-3AD203B41FA5}">
                      <a16:colId xmlns:a16="http://schemas.microsoft.com/office/drawing/2014/main" val="2792904018"/>
                    </a:ext>
                  </a:extLst>
                </a:gridCol>
                <a:gridCol w="435061">
                  <a:extLst>
                    <a:ext uri="{9D8B030D-6E8A-4147-A177-3AD203B41FA5}">
                      <a16:colId xmlns:a16="http://schemas.microsoft.com/office/drawing/2014/main" val="3306756722"/>
                    </a:ext>
                  </a:extLst>
                </a:gridCol>
                <a:gridCol w="272712">
                  <a:extLst>
                    <a:ext uri="{9D8B030D-6E8A-4147-A177-3AD203B41FA5}">
                      <a16:colId xmlns:a16="http://schemas.microsoft.com/office/drawing/2014/main" val="3380696680"/>
                    </a:ext>
                  </a:extLst>
                </a:gridCol>
                <a:gridCol w="192509">
                  <a:extLst>
                    <a:ext uri="{9D8B030D-6E8A-4147-A177-3AD203B41FA5}">
                      <a16:colId xmlns:a16="http://schemas.microsoft.com/office/drawing/2014/main" val="706361869"/>
                    </a:ext>
                  </a:extLst>
                </a:gridCol>
                <a:gridCol w="304800">
                  <a:extLst>
                    <a:ext uri="{9D8B030D-6E8A-4147-A177-3AD203B41FA5}">
                      <a16:colId xmlns:a16="http://schemas.microsoft.com/office/drawing/2014/main" val="304753780"/>
                    </a:ext>
                  </a:extLst>
                </a:gridCol>
                <a:gridCol w="465221">
                  <a:extLst>
                    <a:ext uri="{9D8B030D-6E8A-4147-A177-3AD203B41FA5}">
                      <a16:colId xmlns:a16="http://schemas.microsoft.com/office/drawing/2014/main" val="3438594745"/>
                    </a:ext>
                  </a:extLst>
                </a:gridCol>
                <a:gridCol w="479082">
                  <a:extLst>
                    <a:ext uri="{9D8B030D-6E8A-4147-A177-3AD203B41FA5}">
                      <a16:colId xmlns:a16="http://schemas.microsoft.com/office/drawing/2014/main" val="2391851116"/>
                    </a:ext>
                  </a:extLst>
                </a:gridCol>
                <a:gridCol w="2208660">
                  <a:extLst>
                    <a:ext uri="{9D8B030D-6E8A-4147-A177-3AD203B41FA5}">
                      <a16:colId xmlns:a16="http://schemas.microsoft.com/office/drawing/2014/main" val="3502179738"/>
                    </a:ext>
                  </a:extLst>
                </a:gridCol>
              </a:tblGrid>
              <a:tr h="373048">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j-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j-lt"/>
                        </a:rPr>
                        <a:t>Plan</a:t>
                      </a:r>
                      <a:br>
                        <a:rPr lang="en-US" sz="1200" b="1" i="0" u="none" strike="noStrike" dirty="0">
                          <a:solidFill>
                            <a:schemeClr val="tx1"/>
                          </a:solidFill>
                          <a:effectLst/>
                          <a:latin typeface="+mj-lt"/>
                        </a:rPr>
                      </a:br>
                      <a:r>
                        <a:rPr lang="en-US" sz="1200" b="1" i="0" u="none" strike="noStrike" dirty="0">
                          <a:solidFill>
                            <a:schemeClr val="tx1"/>
                          </a:solidFill>
                          <a:effectLst/>
                          <a:latin typeface="+mj-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pPr algn="ctr" fontAlgn="ctr">
                        <a:buNone/>
                      </a:pPr>
                      <a:endParaRPr lang="en-US" sz="1200" b="1" i="0" u="none" strike="noStrike" dirty="0">
                        <a:solidFill>
                          <a:schemeClr val="tx1"/>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208208">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j-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dirty="0">
                          <a:solidFill>
                            <a:schemeClr val="tx1"/>
                          </a:solidFill>
                          <a:effectLst/>
                          <a:latin typeface="+mj-lt"/>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586878">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j-lt"/>
                          <a:ea typeface="+mn-ea"/>
                          <a:cs typeface="+mn-cs"/>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j-lt"/>
                          <a:ea typeface="+mn-ea"/>
                          <a:cs typeface="+mn-cs"/>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j-lt"/>
                          <a:ea typeface="+mn-ea"/>
                          <a:cs typeface="+mn-cs"/>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a:lnSpc>
                          <a:spcPct val="107000"/>
                        </a:lnSpc>
                        <a:spcAft>
                          <a:spcPts val="800"/>
                        </a:spcAft>
                      </a:pPr>
                      <a:endParaRPr lang="en-IN" sz="1200" kern="1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54626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j-lt"/>
                          <a:ea typeface="+mn-ea"/>
                          <a:cs typeface="+mn-cs"/>
                        </a:rPr>
                        <a:t>10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j-lt"/>
                          <a:ea typeface="+mn-ea"/>
                          <a:cs typeface="+mn-cs"/>
                        </a:rPr>
                        <a:t>15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j-lt"/>
                          <a:ea typeface="+mn-ea"/>
                          <a:cs typeface="+mn-cs"/>
                        </a:rPr>
                        <a:t>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endParaRPr lang="en-IN" sz="1200" dirty="0">
                        <a:solidFill>
                          <a:srgbClr val="000000"/>
                        </a:solidFill>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742079">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j-lt"/>
                          <a:ea typeface="+mn-ea"/>
                          <a:cs typeface="+mn-cs"/>
                        </a:rPr>
                        <a:t>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j-lt"/>
                          <a:ea typeface="+mn-ea"/>
                          <a:cs typeface="+mn-cs"/>
                        </a:rPr>
                        <a:t>10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j-lt"/>
                          <a:ea typeface="+mn-ea"/>
                          <a:cs typeface="+mn-cs"/>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l"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18471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j-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j-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j-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endParaRPr lang="en-US" sz="1200" kern="1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188534">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j-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j-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j-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vMerge="1">
                  <a:txBody>
                    <a:bodyPr/>
                    <a:lstStyle/>
                    <a:p>
                      <a:endParaRPr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38969537"/>
                  </a:ext>
                </a:extLst>
              </a:tr>
              <a:tr h="188534">
                <a:tc gridSpan="17">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73048">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365488">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39084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marL="0" algn="l"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19739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marL="0" marR="0" lvl="0" indent="0" algn="l" defTabSz="914400" rtl="0" eaLnBrk="1" fontAlgn="ctr" latinLnBrk="0" hangingPunct="1">
                        <a:lnSpc>
                          <a:spcPct val="107000"/>
                        </a:lnSpc>
                        <a:spcBef>
                          <a:spcPts val="0"/>
                        </a:spcBef>
                        <a:spcAft>
                          <a:spcPts val="80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495535454"/>
                  </a:ext>
                </a:extLst>
              </a:tr>
              <a:tr h="19739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07000"/>
                        </a:lnSpc>
                        <a:spcAft>
                          <a:spcPts val="800"/>
                        </a:spcAft>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marL="0" marR="0" lvl="0" indent="0" algn="l" defTabSz="914400" rtl="0" eaLnBrk="1" fontAlgn="ctr" latinLnBrk="0" hangingPunct="1">
                        <a:lnSpc>
                          <a:spcPct val="107000"/>
                        </a:lnSpc>
                        <a:spcBef>
                          <a:spcPts val="0"/>
                        </a:spcBef>
                        <a:spcAft>
                          <a:spcPts val="80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96488407"/>
                  </a:ext>
                </a:extLst>
              </a:tr>
              <a:tr h="19739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rowSpan="2" gridSpan="5">
                  <a:txBody>
                    <a:bodyPr/>
                    <a:lstStyle/>
                    <a:p>
                      <a:pPr marL="0" algn="l"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hMerge="1">
                  <a:txBody>
                    <a:bodyPr/>
                    <a:lstStyle/>
                    <a:p>
                      <a:endParaRPr lang="en-US"/>
                    </a:p>
                  </a:txBody>
                  <a:tcPr/>
                </a:tc>
                <a:tc rowSpan="2" hMerge="1">
                  <a:txBody>
                    <a:bodyPr/>
                    <a:lstStyle/>
                    <a:p>
                      <a:endParaRPr lang="en-US"/>
                    </a:p>
                  </a:txBody>
                  <a:tcPr/>
                </a:tc>
                <a:tc rowSpan="2" hMerge="1">
                  <a:txBody>
                    <a:bodyPr/>
                    <a:lstStyle/>
                    <a:p>
                      <a:endParaRPr lang="en-US"/>
                    </a:p>
                  </a:txBody>
                  <a:tcPr/>
                </a:tc>
                <a:tc rowSpan="2" hMerge="1">
                  <a:txBody>
                    <a:bodyPr/>
                    <a:lstStyle/>
                    <a:p>
                      <a:endParaRPr lang="en-US"/>
                    </a:p>
                  </a:txBody>
                  <a:tcPr/>
                </a:tc>
                <a:extLst>
                  <a:ext uri="{0D108BD9-81ED-4DB2-BD59-A6C34878D82A}">
                    <a16:rowId xmlns:a16="http://schemas.microsoft.com/office/drawing/2014/main" val="419053964"/>
                  </a:ext>
                </a:extLst>
              </a:tr>
              <a:tr h="19739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endParaRPr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4005780108"/>
                  </a:ext>
                </a:extLst>
              </a:tr>
              <a:tr h="19739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j-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marL="0" marR="0" lvl="0" indent="0" algn="l" defTabSz="914400" rtl="0" eaLnBrk="1" fontAlgn="ctr" latinLnBrk="0" hangingPunct="1">
                        <a:lnSpc>
                          <a:spcPct val="107000"/>
                        </a:lnSpc>
                        <a:spcBef>
                          <a:spcPts val="0"/>
                        </a:spcBef>
                        <a:spcAft>
                          <a:spcPts val="80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03982265"/>
                  </a:ext>
                </a:extLst>
              </a:tr>
            </a:tbl>
          </a:graphicData>
        </a:graphic>
      </p:graphicFrame>
    </p:spTree>
    <p:extLst>
      <p:ext uri="{BB962C8B-B14F-4D97-AF65-F5344CB8AC3E}">
        <p14:creationId xmlns:p14="http://schemas.microsoft.com/office/powerpoint/2010/main" val="1407369403"/>
      </p:ext>
    </p:extLst>
  </p:cSld>
  <p:clrMapOvr>
    <a:masterClrMapping/>
  </p:clrMapOvr>
  <p:transition spd="slow"/>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260EC3-AF52-DA3B-512E-ECD5182262CE}"/>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95BBA35D-0E9A-DA0C-CD7A-D067551CE1E5}"/>
              </a:ext>
            </a:extLst>
          </p:cNvPr>
          <p:cNvSpPr txBox="1"/>
          <p:nvPr/>
        </p:nvSpPr>
        <p:spPr>
          <a:xfrm>
            <a:off x="266321" y="1643634"/>
            <a:ext cx="11677650" cy="1969770"/>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br>
              <a:rPr lang="en-IN" b="1" dirty="0">
                <a:latin typeface="Calibri" panose="020F0502020204030204" pitchFamily="34" charset="0"/>
                <a:ea typeface="Calibri" panose="020F0502020204030204" pitchFamily="34" charset="0"/>
                <a:cs typeface="Calibri" panose="020F0502020204030204" pitchFamily="34" charset="0"/>
              </a:rPr>
            </a:br>
            <a:endParaRPr lang="en-IN" b="1"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1. Locations under severe ROW,</a:t>
            </a:r>
            <a:r>
              <a:rPr lang="en-IN" dirty="0">
                <a:latin typeface="Calibri" panose="020F0502020204030204" pitchFamily="34" charset="0"/>
                <a:ea typeface="Calibri" panose="020F0502020204030204" pitchFamily="34" charset="0"/>
                <a:cs typeface="Calibri" panose="020F0502020204030204" pitchFamily="34" charset="0"/>
              </a:rPr>
              <a:t> Land Compensation and crop compensation not yet finalized by committee (DLVC committee)</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2. Section -16 pending, this is crucial to use administrative support to clear locations</a:t>
            </a:r>
          </a:p>
          <a:p>
            <a:r>
              <a:rPr lang="en-US" sz="1400" dirty="0">
                <a:ea typeface="Calibri" panose="020F0502020204030204" pitchFamily="34" charset="0"/>
                <a:cs typeface="Calibri" panose="020F0502020204030204" pitchFamily="34" charset="0"/>
              </a:rPr>
              <a:t>	</a:t>
            </a:r>
            <a:endParaRPr lang="en-IN" sz="1400" dirty="0">
              <a:ea typeface="Calibri" panose="020F0502020204030204" pitchFamily="34" charset="0"/>
              <a:cs typeface="Calibri" panose="020F0502020204030204" pitchFamily="34" charset="0"/>
            </a:endParaRPr>
          </a:p>
        </p:txBody>
      </p:sp>
      <p:sp>
        <p:nvSpPr>
          <p:cNvPr id="7" name="Title 1">
            <a:extLst>
              <a:ext uri="{FF2B5EF4-FFF2-40B4-BE49-F238E27FC236}">
                <a16:creationId xmlns:a16="http://schemas.microsoft.com/office/drawing/2014/main" id="{35C96186-31CE-73EF-5C4C-96437AFA8501}"/>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TL02 - </a:t>
            </a:r>
            <a:r>
              <a:rPr lang="en-US" sz="2400" b="1" dirty="0">
                <a:latin typeface="Calibri" panose="020F0502020204030204" pitchFamily="34" charset="0"/>
                <a:ea typeface="Calibri" panose="020F0502020204030204" pitchFamily="34" charset="0"/>
                <a:cs typeface="Calibri" panose="020F0502020204030204" pitchFamily="34" charset="0"/>
              </a:rPr>
              <a:t>800kV HVDC </a:t>
            </a:r>
            <a:r>
              <a:rPr lang="en-US" sz="2400" b="1" dirty="0" err="1">
                <a:latin typeface="Calibri" panose="020F0502020204030204" pitchFamily="34" charset="0"/>
                <a:ea typeface="Calibri" panose="020F0502020204030204" pitchFamily="34" charset="0"/>
                <a:cs typeface="Calibri" panose="020F0502020204030204" pitchFamily="34" charset="0"/>
              </a:rPr>
              <a:t>Bipole</a:t>
            </a:r>
            <a:r>
              <a:rPr lang="en-US" sz="2400" b="1" dirty="0">
                <a:latin typeface="Calibri" panose="020F0502020204030204" pitchFamily="34" charset="0"/>
                <a:ea typeface="Calibri" panose="020F0502020204030204" pitchFamily="34" charset="0"/>
                <a:cs typeface="Calibri" panose="020F0502020204030204" pitchFamily="34" charset="0"/>
              </a:rPr>
              <a:t> Line between KPS2 (HVDC) &amp; Nagpur (HVDC)</a:t>
            </a:r>
            <a:r>
              <a:rPr lang="fr-FR" sz="2400" b="1" dirty="0">
                <a:latin typeface="Calibri" panose="020F0502020204030204" pitchFamily="34" charset="0"/>
                <a:ea typeface="Calibri" panose="020F0502020204030204" pitchFamily="34" charset="0"/>
                <a:cs typeface="Calibri" panose="020F0502020204030204" pitchFamily="34" charset="0"/>
              </a:rPr>
              <a:t> </a:t>
            </a:r>
            <a:r>
              <a:rPr lang="en-US" sz="2400" b="1" dirty="0">
                <a:latin typeface="Calibri" panose="020F0502020204030204" pitchFamily="34" charset="0"/>
                <a:ea typeface="Calibri" panose="020F0502020204030204" pitchFamily="34" charset="0"/>
                <a:cs typeface="Calibri" panose="020F0502020204030204" pitchFamily="34" charset="0"/>
              </a:rPr>
              <a:t>(TA- 514)</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le 7">
            <a:extLst>
              <a:ext uri="{FF2B5EF4-FFF2-40B4-BE49-F238E27FC236}">
                <a16:creationId xmlns:a16="http://schemas.microsoft.com/office/drawing/2014/main" id="{E2923BBA-D949-356F-0573-573D511322F5}"/>
              </a:ext>
            </a:extLst>
          </p:cNvPr>
          <p:cNvGraphicFramePr>
            <a:graphicFrameLocks noGrp="1"/>
          </p:cNvGraphicFramePr>
          <p:nvPr>
            <p:extLst>
              <p:ext uri="{D42A27DB-BD31-4B8C-83A1-F6EECF244321}">
                <p14:modId xmlns:p14="http://schemas.microsoft.com/office/powerpoint/2010/main" val="3503901319"/>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23/01/25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a:t>
                      </a: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269.93 Cr </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22/07/28</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22/07/28</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3402247606"/>
      </p:ext>
    </p:extLst>
  </p:cSld>
  <p:clrMapOvr>
    <a:masterClrMapping/>
  </p:clrMapOvr>
  <p:transition spd="slow"/>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9466D2-9628-4ECE-54A5-B971B187C4A8}"/>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FFB6FE27-0EA0-1E9D-312E-BB4F6E5DA46A}"/>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TL03 - </a:t>
            </a:r>
            <a:r>
              <a:rPr lang="fr-FR" sz="2400" b="1" dirty="0">
                <a:latin typeface="Calibri" panose="020F0502020204030204" pitchFamily="34" charset="0"/>
                <a:ea typeface="Calibri" panose="020F0502020204030204" pitchFamily="34" charset="0"/>
                <a:cs typeface="Calibri" panose="020F0502020204030204" pitchFamily="34" charset="0"/>
              </a:rPr>
              <a:t>800 kV HVDC KPS2 - Nagpur T/L Project (Part -3) </a:t>
            </a:r>
            <a:r>
              <a:rPr lang="en-US" sz="2400" b="1" dirty="0">
                <a:latin typeface="Calibri" panose="020F0502020204030204" pitchFamily="34" charset="0"/>
                <a:ea typeface="Calibri" panose="020F0502020204030204" pitchFamily="34" charset="0"/>
                <a:cs typeface="Calibri" panose="020F0502020204030204" pitchFamily="34" charset="0"/>
              </a:rPr>
              <a:t>(TA- 515)</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9902B529-7AC7-46BC-97DB-8B5ABD1E84F8}"/>
              </a:ext>
            </a:extLst>
          </p:cNvPr>
          <p:cNvGraphicFramePr>
            <a:graphicFrameLocks noGrp="1"/>
          </p:cNvGraphicFramePr>
          <p:nvPr>
            <p:extLst>
              <p:ext uri="{D42A27DB-BD31-4B8C-83A1-F6EECF244321}">
                <p14:modId xmlns:p14="http://schemas.microsoft.com/office/powerpoint/2010/main" val="747619716"/>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kern="1200" dirty="0">
                        <a:solidFill>
                          <a:srgbClr val="FFFFFF"/>
                        </a:solidFill>
                        <a:effectLst/>
                        <a:latin typeface="Calibri" panose="020F0502020204030204" pitchFamily="34" charset="0"/>
                        <a:ea typeface="+mn-ea"/>
                        <a:cs typeface="+mn-cs"/>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5" name="Table 4">
            <a:extLst>
              <a:ext uri="{FF2B5EF4-FFF2-40B4-BE49-F238E27FC236}">
                <a16:creationId xmlns:a16="http://schemas.microsoft.com/office/drawing/2014/main" id="{FEBCA038-6529-93E3-545E-293085E23B49}"/>
              </a:ext>
            </a:extLst>
          </p:cNvPr>
          <p:cNvGraphicFramePr>
            <a:graphicFrameLocks noGrp="1"/>
          </p:cNvGraphicFramePr>
          <p:nvPr>
            <p:extLst>
              <p:ext uri="{D42A27DB-BD31-4B8C-83A1-F6EECF244321}">
                <p14:modId xmlns:p14="http://schemas.microsoft.com/office/powerpoint/2010/main" val="579647522"/>
              </p:ext>
            </p:extLst>
          </p:nvPr>
        </p:nvGraphicFramePr>
        <p:xfrm>
          <a:off x="238963" y="1472188"/>
          <a:ext cx="11693276" cy="5200652"/>
        </p:xfrm>
        <a:graphic>
          <a:graphicData uri="http://schemas.openxmlformats.org/drawingml/2006/table">
            <a:tbl>
              <a:tblPr/>
              <a:tblGrid>
                <a:gridCol w="1140300">
                  <a:extLst>
                    <a:ext uri="{9D8B030D-6E8A-4147-A177-3AD203B41FA5}">
                      <a16:colId xmlns:a16="http://schemas.microsoft.com/office/drawing/2014/main" val="3134568255"/>
                    </a:ext>
                  </a:extLst>
                </a:gridCol>
                <a:gridCol w="626000">
                  <a:extLst>
                    <a:ext uri="{9D8B030D-6E8A-4147-A177-3AD203B41FA5}">
                      <a16:colId xmlns:a16="http://schemas.microsoft.com/office/drawing/2014/main" val="529650208"/>
                    </a:ext>
                  </a:extLst>
                </a:gridCol>
                <a:gridCol w="383230">
                  <a:extLst>
                    <a:ext uri="{9D8B030D-6E8A-4147-A177-3AD203B41FA5}">
                      <a16:colId xmlns:a16="http://schemas.microsoft.com/office/drawing/2014/main" val="2985836475"/>
                    </a:ext>
                  </a:extLst>
                </a:gridCol>
                <a:gridCol w="242412">
                  <a:extLst>
                    <a:ext uri="{9D8B030D-6E8A-4147-A177-3AD203B41FA5}">
                      <a16:colId xmlns:a16="http://schemas.microsoft.com/office/drawing/2014/main" val="92458083"/>
                    </a:ext>
                  </a:extLst>
                </a:gridCol>
                <a:gridCol w="517788">
                  <a:extLst>
                    <a:ext uri="{9D8B030D-6E8A-4147-A177-3AD203B41FA5}">
                      <a16:colId xmlns:a16="http://schemas.microsoft.com/office/drawing/2014/main" val="3036595795"/>
                    </a:ext>
                  </a:extLst>
                </a:gridCol>
                <a:gridCol w="172023">
                  <a:extLst>
                    <a:ext uri="{9D8B030D-6E8A-4147-A177-3AD203B41FA5}">
                      <a16:colId xmlns:a16="http://schemas.microsoft.com/office/drawing/2014/main" val="1261093951"/>
                    </a:ext>
                  </a:extLst>
                </a:gridCol>
                <a:gridCol w="525525">
                  <a:extLst>
                    <a:ext uri="{9D8B030D-6E8A-4147-A177-3AD203B41FA5}">
                      <a16:colId xmlns:a16="http://schemas.microsoft.com/office/drawing/2014/main" val="957857268"/>
                    </a:ext>
                  </a:extLst>
                </a:gridCol>
                <a:gridCol w="180327">
                  <a:extLst>
                    <a:ext uri="{9D8B030D-6E8A-4147-A177-3AD203B41FA5}">
                      <a16:colId xmlns:a16="http://schemas.microsoft.com/office/drawing/2014/main" val="3845723164"/>
                    </a:ext>
                  </a:extLst>
                </a:gridCol>
                <a:gridCol w="579873">
                  <a:extLst>
                    <a:ext uri="{9D8B030D-6E8A-4147-A177-3AD203B41FA5}">
                      <a16:colId xmlns:a16="http://schemas.microsoft.com/office/drawing/2014/main" val="2644590197"/>
                    </a:ext>
                  </a:extLst>
                </a:gridCol>
                <a:gridCol w="270359">
                  <a:extLst>
                    <a:ext uri="{9D8B030D-6E8A-4147-A177-3AD203B41FA5}">
                      <a16:colId xmlns:a16="http://schemas.microsoft.com/office/drawing/2014/main" val="2426758173"/>
                    </a:ext>
                  </a:extLst>
                </a:gridCol>
                <a:gridCol w="555374">
                  <a:extLst>
                    <a:ext uri="{9D8B030D-6E8A-4147-A177-3AD203B41FA5}">
                      <a16:colId xmlns:a16="http://schemas.microsoft.com/office/drawing/2014/main" val="154843008"/>
                    </a:ext>
                  </a:extLst>
                </a:gridCol>
                <a:gridCol w="359026">
                  <a:extLst>
                    <a:ext uri="{9D8B030D-6E8A-4147-A177-3AD203B41FA5}">
                      <a16:colId xmlns:a16="http://schemas.microsoft.com/office/drawing/2014/main" val="7475768"/>
                    </a:ext>
                  </a:extLst>
                </a:gridCol>
                <a:gridCol w="293210">
                  <a:extLst>
                    <a:ext uri="{9D8B030D-6E8A-4147-A177-3AD203B41FA5}">
                      <a16:colId xmlns:a16="http://schemas.microsoft.com/office/drawing/2014/main" val="4093368561"/>
                    </a:ext>
                  </a:extLst>
                </a:gridCol>
                <a:gridCol w="577516">
                  <a:extLst>
                    <a:ext uri="{9D8B030D-6E8A-4147-A177-3AD203B41FA5}">
                      <a16:colId xmlns:a16="http://schemas.microsoft.com/office/drawing/2014/main" val="3992659473"/>
                    </a:ext>
                  </a:extLst>
                </a:gridCol>
                <a:gridCol w="561539">
                  <a:extLst>
                    <a:ext uri="{9D8B030D-6E8A-4147-A177-3AD203B41FA5}">
                      <a16:colId xmlns:a16="http://schemas.microsoft.com/office/drawing/2014/main" val="3819434327"/>
                    </a:ext>
                  </a:extLst>
                </a:gridCol>
                <a:gridCol w="171946">
                  <a:extLst>
                    <a:ext uri="{9D8B030D-6E8A-4147-A177-3AD203B41FA5}">
                      <a16:colId xmlns:a16="http://schemas.microsoft.com/office/drawing/2014/main" val="2386432482"/>
                    </a:ext>
                  </a:extLst>
                </a:gridCol>
                <a:gridCol w="565991">
                  <a:extLst>
                    <a:ext uri="{9D8B030D-6E8A-4147-A177-3AD203B41FA5}">
                      <a16:colId xmlns:a16="http://schemas.microsoft.com/office/drawing/2014/main" val="464698369"/>
                    </a:ext>
                  </a:extLst>
                </a:gridCol>
                <a:gridCol w="540914">
                  <a:extLst>
                    <a:ext uri="{9D8B030D-6E8A-4147-A177-3AD203B41FA5}">
                      <a16:colId xmlns:a16="http://schemas.microsoft.com/office/drawing/2014/main" val="3621033884"/>
                    </a:ext>
                  </a:extLst>
                </a:gridCol>
                <a:gridCol w="449179">
                  <a:extLst>
                    <a:ext uri="{9D8B030D-6E8A-4147-A177-3AD203B41FA5}">
                      <a16:colId xmlns:a16="http://schemas.microsoft.com/office/drawing/2014/main" val="3438594745"/>
                    </a:ext>
                  </a:extLst>
                </a:gridCol>
                <a:gridCol w="497305">
                  <a:extLst>
                    <a:ext uri="{9D8B030D-6E8A-4147-A177-3AD203B41FA5}">
                      <a16:colId xmlns:a16="http://schemas.microsoft.com/office/drawing/2014/main" val="2391851116"/>
                    </a:ext>
                  </a:extLst>
                </a:gridCol>
                <a:gridCol w="2483439">
                  <a:extLst>
                    <a:ext uri="{9D8B030D-6E8A-4147-A177-3AD203B41FA5}">
                      <a16:colId xmlns:a16="http://schemas.microsoft.com/office/drawing/2014/main" val="3502179738"/>
                    </a:ext>
                  </a:extLst>
                </a:gridCol>
              </a:tblGrid>
              <a:tr h="335687">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a:solidFill>
                            <a:schemeClr val="tx1"/>
                          </a:solidFill>
                          <a:effectLst/>
                          <a:latin typeface="+mn-lt"/>
                        </a:rPr>
                        <a:t>As per L2</a:t>
                      </a:r>
                      <a:br>
                        <a:rPr lang="en-US" sz="1200" b="1" i="0" u="none" strike="noStrike">
                          <a:solidFill>
                            <a:schemeClr val="tx1"/>
                          </a:solidFill>
                          <a:effectLst/>
                          <a:latin typeface="+mn-lt"/>
                        </a:rPr>
                      </a:br>
                      <a:r>
                        <a:rPr lang="en-US" sz="1200" b="1" i="0" u="none" strike="noStrike">
                          <a:solidFill>
                            <a:schemeClr val="tx1"/>
                          </a:solidFill>
                          <a:effectLst/>
                          <a:latin typeface="+mn-lt"/>
                        </a:rPr>
                        <a:t>(April'26)</a:t>
                      </a: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As per L2</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a:solidFill>
                            <a:schemeClr val="tx1"/>
                          </a:solidFill>
                          <a:effectLst/>
                          <a:latin typeface="+mn-lt"/>
                        </a:rPr>
                        <a:t>Balance</a:t>
                      </a:r>
                      <a:br>
                        <a:rPr lang="en-US" sz="1200" b="1" i="0" u="none" strike="noStrike">
                          <a:solidFill>
                            <a:schemeClr val="tx1"/>
                          </a:solidFill>
                          <a:effectLst/>
                          <a:latin typeface="+mn-lt"/>
                        </a:rPr>
                      </a:br>
                      <a:r>
                        <a:rPr lang="en-US" sz="1200" b="1" i="0" u="none" strike="noStrike">
                          <a:solidFill>
                            <a:schemeClr val="tx1"/>
                          </a:solidFill>
                          <a:effectLst/>
                          <a:latin typeface="+mn-lt"/>
                        </a:rPr>
                        <a:t>(Up to 01.05.26)</a:t>
                      </a: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Balance</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(Up to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a:r>
                        <a:rPr lang="en-US" sz="1200" b="1" i="0" u="none" strike="noStrike">
                          <a:solidFill>
                            <a:schemeClr val="tx1"/>
                          </a:solidFill>
                          <a:effectLst/>
                          <a:latin typeface="+mn-lt"/>
                        </a:rPr>
                        <a:t>Plan</a:t>
                      </a:r>
                      <a:br>
                        <a:rPr lang="en-US" sz="1200" b="1" i="0" u="none" strike="noStrike">
                          <a:solidFill>
                            <a:schemeClr val="tx1"/>
                          </a:solidFill>
                          <a:effectLst/>
                          <a:latin typeface="+mn-lt"/>
                        </a:rPr>
                      </a:br>
                      <a:r>
                        <a:rPr lang="en-US" sz="1200" b="1" i="0" u="none" strike="noStrike">
                          <a:solidFill>
                            <a:schemeClr val="tx1"/>
                          </a:solidFill>
                          <a:effectLst/>
                          <a:latin typeface="+mn-lt"/>
                        </a:rPr>
                        <a:t>May 26</a:t>
                      </a:r>
                      <a:endParaRPr lang="en-US"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endParaRPr lang="en-US"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169652">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r>
                        <a:rPr lang="en-US" sz="1200" b="1" i="0" u="none" strike="noStrike">
                          <a:solidFill>
                            <a:schemeClr val="tx1"/>
                          </a:solidFill>
                          <a:effectLst/>
                          <a:latin typeface="+mn-lt"/>
                        </a:rPr>
                        <a:t>Plan</a:t>
                      </a:r>
                      <a:endParaRPr lang="en-US"/>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83379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mn-lt"/>
                          <a:ea typeface="+mn-ea"/>
                          <a:cs typeface="+mn-cs"/>
                        </a:rPr>
                        <a:t>83.14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mn-lt"/>
                          <a:ea typeface="+mn-ea"/>
                          <a:cs typeface="+mn-cs"/>
                        </a:rPr>
                        <a:t>83.14</a:t>
                      </a:r>
                      <a:endParaRPr lang="en-IN" sz="1200" b="0" i="0" u="none" strike="noStrike" kern="1200" dirty="0">
                        <a:solidFill>
                          <a:srgbClr val="000000"/>
                        </a:solidFill>
                        <a:effectLst/>
                        <a:latin typeface="+mn-lt"/>
                        <a:ea typeface="+mn-ea"/>
                        <a:cs typeface="+mn-cs"/>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IN" sz="1200" b="0" i="0" u="none" strike="noStrike" kern="1200" dirty="0">
                          <a:solidFill>
                            <a:srgbClr val="000000"/>
                          </a:solidFill>
                          <a:effectLst/>
                          <a:latin typeface="+mn-lt"/>
                          <a:ea typeface="+mn-ea"/>
                          <a:cs typeface="+mn-cs"/>
                        </a:rPr>
                        <a:t>83.14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a:solidFill>
                            <a:srgbClr val="000000"/>
                          </a:solidFill>
                          <a:effectLst/>
                          <a:latin typeface="+mn-lt"/>
                          <a:ea typeface="+mn-ea"/>
                          <a:cs typeface="+mn-cs"/>
                        </a:rPr>
                        <a:t>-</a:t>
                      </a:r>
                      <a:endParaRPr lang="en-IN"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n-lt"/>
                          <a:ea typeface="+mn-ea"/>
                          <a:cs typeface="+mn-cs"/>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a:r>
                        <a:rPr lang="en-US" sz="1200" b="0" i="0" u="none" strike="noStrike" kern="1200">
                          <a:solidFill>
                            <a:srgbClr val="000000"/>
                          </a:solidFill>
                          <a:effectLst/>
                          <a:latin typeface="+mn-lt"/>
                          <a:ea typeface="+mn-ea"/>
                          <a:cs typeface="+mn-cs"/>
                        </a:rPr>
                        <a:t>-</a:t>
                      </a:r>
                      <a:endParaRPr lang="en-US"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l"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833794">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IN" sz="1200" b="0" i="0" u="none" strike="noStrike" kern="1200" dirty="0">
                          <a:solidFill>
                            <a:srgbClr val="000000"/>
                          </a:solidFill>
                          <a:effectLst/>
                          <a:latin typeface="+mn-lt"/>
                          <a:ea typeface="+mn-ea"/>
                          <a:cs typeface="+mn-cs"/>
                        </a:rPr>
                        <a:t>215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IN" sz="1200" b="0" i="0" u="none" strike="noStrike" kern="1200">
                          <a:solidFill>
                            <a:srgbClr val="000000"/>
                          </a:solidFill>
                          <a:effectLst/>
                          <a:latin typeface="+mn-lt"/>
                          <a:ea typeface="+mn-ea"/>
                          <a:cs typeface="+mn-cs"/>
                        </a:rPr>
                        <a:t>84</a:t>
                      </a:r>
                      <a:endParaRPr lang="en-US" sz="1200" b="0" i="0" u="none" strike="noStrike" kern="1200" dirty="0">
                        <a:solidFill>
                          <a:srgbClr val="000000"/>
                        </a:solidFill>
                        <a:effectLst/>
                        <a:latin typeface="+mn-lt"/>
                        <a:ea typeface="+mn-ea"/>
                        <a:cs typeface="+mn-cs"/>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IN" sz="1200" b="0" i="0" u="none" strike="noStrike" kern="1200" dirty="0">
                          <a:solidFill>
                            <a:srgbClr val="000000"/>
                          </a:solidFill>
                          <a:effectLst/>
                          <a:latin typeface="+mn-lt"/>
                          <a:ea typeface="+mn-ea"/>
                          <a:cs typeface="+mn-cs"/>
                        </a:rPr>
                        <a:t>84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a:solidFill>
                            <a:srgbClr val="000000"/>
                          </a:solidFill>
                          <a:effectLst/>
                          <a:latin typeface="+mn-lt"/>
                          <a:ea typeface="+mn-ea"/>
                          <a:cs typeface="+mn-cs"/>
                        </a:rPr>
                        <a:t>208</a:t>
                      </a: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n-lt"/>
                          <a:ea typeface="+mn-ea"/>
                          <a:cs typeface="+mn-cs"/>
                        </a:rPr>
                        <a:t>208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a:r>
                        <a:rPr lang="en-US" sz="1200" b="0" i="0" u="none" strike="noStrike" kern="1200">
                          <a:solidFill>
                            <a:srgbClr val="000000"/>
                          </a:solidFill>
                          <a:effectLst/>
                          <a:latin typeface="+mn-lt"/>
                          <a:ea typeface="+mn-ea"/>
                          <a:cs typeface="+mn-cs"/>
                        </a:rPr>
                        <a:t>15</a:t>
                      </a:r>
                      <a:endParaRPr lang="en-US"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l"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17468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IN" sz="1200" b="0" i="0" u="none" strike="noStrike" kern="1200" dirty="0">
                          <a:solidFill>
                            <a:srgbClr val="000000"/>
                          </a:solidFill>
                          <a:effectLst/>
                          <a:latin typeface="+mn-lt"/>
                          <a:ea typeface="+mn-ea"/>
                          <a:cs typeface="+mn-cs"/>
                        </a:rPr>
                        <a:t>215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a:solidFill>
                            <a:srgbClr val="000000"/>
                          </a:solidFill>
                          <a:effectLst/>
                          <a:latin typeface="+mn-lt"/>
                          <a:ea typeface="+mn-ea"/>
                          <a:cs typeface="+mn-cs"/>
                        </a:rPr>
                        <a:t>60</a:t>
                      </a: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n-lt"/>
                          <a:ea typeface="+mn-ea"/>
                          <a:cs typeface="+mn-cs"/>
                        </a:rPr>
                        <a:t>60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a:solidFill>
                            <a:srgbClr val="000000"/>
                          </a:solidFill>
                          <a:effectLst/>
                          <a:latin typeface="+mn-lt"/>
                          <a:ea typeface="+mn-ea"/>
                          <a:cs typeface="+mn-cs"/>
                        </a:rPr>
                        <a:t>215</a:t>
                      </a: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r>
                        <a:rPr lang="en-US" sz="1200" b="0" i="0" u="none" strike="noStrike" kern="1200" dirty="0">
                          <a:solidFill>
                            <a:srgbClr val="000000"/>
                          </a:solidFill>
                          <a:effectLst/>
                          <a:latin typeface="+mn-lt"/>
                          <a:ea typeface="+mn-ea"/>
                          <a:cs typeface="+mn-cs"/>
                        </a:rPr>
                        <a:t>215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a:r>
                        <a:rPr lang="en-US" sz="1200" b="0" i="0" u="none" strike="noStrike" kern="1200">
                          <a:solidFill>
                            <a:srgbClr val="000000"/>
                          </a:solidFill>
                          <a:effectLst/>
                          <a:latin typeface="+mn-lt"/>
                          <a:ea typeface="+mn-ea"/>
                          <a:cs typeface="+mn-cs"/>
                        </a:rPr>
                        <a:t>6</a:t>
                      </a:r>
                      <a:endParaRPr lang="en-US"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3">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17468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dirty="0">
                          <a:solidFill>
                            <a:srgbClr val="000000"/>
                          </a:solidFill>
                          <a:effectLst/>
                          <a:latin typeface="+mn-lt"/>
                        </a:rPr>
                        <a:t>83.14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mn-lt"/>
                        </a:rPr>
                        <a:t>8</a:t>
                      </a:r>
                      <a:endParaRPr lang="en-IN"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83.331</a:t>
                      </a:r>
                      <a:endParaRPr lang="en-US"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dirty="0">
                          <a:solidFill>
                            <a:srgbClr val="000000"/>
                          </a:solidFill>
                          <a:effectLst/>
                          <a:latin typeface="+mn-lt"/>
                        </a:rPr>
                        <a:t>83.331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a:r>
                        <a:rPr lang="en-US" sz="1200" b="0" i="0" u="none" strike="noStrike">
                          <a:solidFill>
                            <a:srgbClr val="000000"/>
                          </a:solidFill>
                          <a:effectLst/>
                          <a:latin typeface="+mn-lt"/>
                        </a:rPr>
                        <a:t>-</a:t>
                      </a:r>
                      <a:endParaRPr lang="en-US"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vMerge="1">
                  <a:txBody>
                    <a:bodyPr/>
                    <a:lstStyle/>
                    <a:p>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605590560"/>
                  </a:ext>
                </a:extLst>
              </a:tr>
              <a:tr h="16965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83.14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83.331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83.331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a:r>
                        <a:rPr lang="en-US" sz="1200" b="0" i="0" u="none" strike="noStrike" dirty="0">
                          <a:solidFill>
                            <a:srgbClr val="000000"/>
                          </a:solidFill>
                          <a:effectLst/>
                          <a:latin typeface="+mn-lt"/>
                        </a:rPr>
                        <a:t>-</a:t>
                      </a:r>
                      <a:endParaRPr lang="en-US"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vMerge="1">
                  <a:txBody>
                    <a:bodyPr/>
                    <a:lstStyle/>
                    <a:p>
                      <a:endParaRPr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438969537"/>
                  </a:ext>
                </a:extLst>
              </a:tr>
              <a:tr h="169652">
                <a:tc gridSpan="21">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lang="en-US"/>
                    </a:p>
                  </a:txBody>
                  <a:tcPr/>
                </a:tc>
                <a:tc hMerge="1">
                  <a:txBody>
                    <a:bodyPr/>
                    <a:lstStyle/>
                    <a:p>
                      <a:endParaRPr lang="en-US"/>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35687">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4">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335687">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r>
                        <a:rPr lang="en-IN"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Due to non approval of Amendment &amp; unavailability of drawings &amp; BOM</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358978">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marL="0" algn="ctr" defTabSz="914400" rtl="0" eaLnBrk="1" fontAlgn="ctr" latinLnBrk="0" hangingPunct="1">
                        <a:lnSpc>
                          <a:spcPct val="107000"/>
                        </a:lnSpc>
                        <a:spcAft>
                          <a:spcPts val="800"/>
                        </a:spcAft>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Due to non approval of Amendment &amp; unavailability of drawings &amp; BOM</a:t>
                      </a: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18129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marL="0" algn="ctr" defTabSz="914400" rtl="0" eaLnBrk="1" fontAlgn="ctr" latinLnBrk="0" hangingPunct="1">
                        <a:lnSpc>
                          <a:spcPct val="107000"/>
                        </a:lnSpc>
                        <a:spcAft>
                          <a:spcPts val="800"/>
                        </a:spcAft>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Suppled as per L2.Bal: Q2,Q3 </a:t>
                      </a: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495535454"/>
                  </a:ext>
                </a:extLst>
              </a:tr>
              <a:tr h="18129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marL="0" algn="ctr" defTabSz="914400" rtl="0" eaLnBrk="1" fontAlgn="ctr" latinLnBrk="0" hangingPunct="1">
                        <a:lnSpc>
                          <a:spcPct val="107000"/>
                        </a:lnSpc>
                        <a:spcAft>
                          <a:spcPts val="800"/>
                        </a:spcAft>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 be supplied as per L2.</a:t>
                      </a: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96488407"/>
                  </a:ext>
                </a:extLst>
              </a:tr>
              <a:tr h="18129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rowSpan="2" gridSpan="4">
                  <a:txBody>
                    <a:bodyPr/>
                    <a:lstStyle/>
                    <a:p>
                      <a:pPr marL="0" algn="ctr" defTabSz="914400" rtl="0" eaLnBrk="1" fontAlgn="ctr" latinLnBrk="0" hangingPunct="1">
                        <a:lnSpc>
                          <a:spcPct val="107000"/>
                        </a:lnSpc>
                        <a:spcAft>
                          <a:spcPts val="800"/>
                        </a:spcAft>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39</a:t>
                      </a: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has been released, balance to be supplied as per L2.</a:t>
                      </a: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hMerge="1">
                  <a:txBody>
                    <a:bodyPr/>
                    <a:lstStyle/>
                    <a:p>
                      <a:endParaRPr lang="en-US"/>
                    </a:p>
                  </a:txBody>
                  <a:tcPr>
                    <a:lnL w="6350" cap="flat" cmpd="sng" algn="ctr">
                      <a:solidFill>
                        <a:srgbClr val="000000"/>
                      </a:solidFill>
                      <a:prstDash val="solid"/>
                      <a:round/>
                      <a:headEnd type="none" w="med" len="med"/>
                      <a:tailEnd type="none" w="med" len="med"/>
                    </a:lnL>
                  </a:tcPr>
                </a:tc>
                <a:tc rowSpan="2" hMerge="1">
                  <a:txBody>
                    <a:bodyPr/>
                    <a:lstStyle/>
                    <a:p>
                      <a:endParaRPr lang="en-US"/>
                    </a:p>
                  </a:txBody>
                  <a:tcPr/>
                </a:tc>
                <a:tc rowSpan="2" hMerge="1">
                  <a:txBody>
                    <a:bodyPr/>
                    <a:lstStyle/>
                    <a:p>
                      <a:endParaRPr lang="en-US"/>
                    </a:p>
                  </a:txBody>
                  <a:tcPr/>
                </a:tc>
                <a:extLst>
                  <a:ext uri="{0D108BD9-81ED-4DB2-BD59-A6C34878D82A}">
                    <a16:rowId xmlns:a16="http://schemas.microsoft.com/office/drawing/2014/main" val="419053964"/>
                  </a:ext>
                </a:extLst>
              </a:tr>
              <a:tr h="18129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v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4005780108"/>
                  </a:ext>
                </a:extLst>
              </a:tr>
              <a:tr h="181297">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IN" sz="1200" b="0" i="0" u="none" strike="noStrike" kern="1200" dirty="0">
                        <a:solidFill>
                          <a:srgbClr val="000000"/>
                        </a:solidFill>
                        <a:effectLst/>
                        <a:latin typeface="+mn-lt"/>
                        <a:ea typeface="+mn-ea"/>
                        <a:cs typeface="+mn-cs"/>
                      </a:endParaRPr>
                    </a:p>
                  </a:txBody>
                  <a:tcPr marL="6858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lnSpc>
                          <a:spcPct val="107000"/>
                        </a:lnSpc>
                        <a:spcAft>
                          <a:spcPts val="800"/>
                        </a:spcAft>
                        <a:buNone/>
                      </a:pPr>
                      <a:endParaRPr lang="en-US" sz="1200" b="0" i="0" u="none" strike="noStrike" kern="1200" dirty="0">
                        <a:solidFill>
                          <a:srgbClr val="000000"/>
                        </a:solidFill>
                        <a:effectLst/>
                        <a:latin typeface="+mn-lt"/>
                        <a:ea typeface="+mn-ea"/>
                        <a:cs typeface="+mn-cs"/>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marL="0" algn="ctr" defTabSz="914400" rtl="0" eaLnBrk="1" fontAlgn="ctr" latinLnBrk="0" hangingPunct="1">
                        <a:lnSpc>
                          <a:spcPct val="107000"/>
                        </a:lnSpc>
                        <a:spcAft>
                          <a:spcPts val="800"/>
                        </a:spcAft>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65% has been released, balance to be supplied as per L2.</a:t>
                      </a: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03982265"/>
                  </a:ext>
                </a:extLst>
              </a:tr>
            </a:tbl>
          </a:graphicData>
        </a:graphic>
      </p:graphicFrame>
    </p:spTree>
    <p:extLst>
      <p:ext uri="{BB962C8B-B14F-4D97-AF65-F5344CB8AC3E}">
        <p14:creationId xmlns:p14="http://schemas.microsoft.com/office/powerpoint/2010/main" val="3486601522"/>
      </p:ext>
    </p:extLst>
  </p:cSld>
  <p:clrMapOvr>
    <a:masterClrMapping/>
  </p:clrMapOvr>
  <p:transition spd="slow"/>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1E5F0C-6581-7BAB-0069-9E3CCC7A376A}"/>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A80EFACC-F293-A40E-1169-D1A5773F57EF}"/>
              </a:ext>
            </a:extLst>
          </p:cNvPr>
          <p:cNvSpPr txBox="1"/>
          <p:nvPr/>
        </p:nvSpPr>
        <p:spPr>
          <a:xfrm>
            <a:off x="252642" y="1659445"/>
            <a:ext cx="11677650" cy="1661993"/>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br>
              <a:rPr lang="en-IN" b="1" dirty="0">
                <a:latin typeface="Calibri" panose="020F0502020204030204" pitchFamily="34" charset="0"/>
                <a:ea typeface="Calibri" panose="020F0502020204030204" pitchFamily="34" charset="0"/>
                <a:cs typeface="Calibri" panose="020F0502020204030204" pitchFamily="34" charset="0"/>
              </a:rPr>
            </a:br>
            <a:endParaRPr lang="en-IN" b="1"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1. Locations under severe ROW, and no front available</a:t>
            </a:r>
          </a:p>
          <a:p>
            <a:r>
              <a:rPr lang="en-US" dirty="0">
                <a:latin typeface="Calibri" panose="020F0502020204030204" pitchFamily="34" charset="0"/>
                <a:ea typeface="Calibri" panose="020F0502020204030204" pitchFamily="34" charset="0"/>
                <a:cs typeface="Calibri" panose="020F0502020204030204" pitchFamily="34" charset="0"/>
              </a:rPr>
              <a:t> </a:t>
            </a:r>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2. PGCIL Establishment</a:t>
            </a:r>
          </a:p>
          <a:p>
            <a:r>
              <a:rPr lang="en-US" sz="1200" dirty="0">
                <a:ea typeface="Calibri" panose="020F0502020204030204" pitchFamily="34" charset="0"/>
                <a:cs typeface="Calibri" panose="020F0502020204030204" pitchFamily="34" charset="0"/>
              </a:rPr>
              <a:t>	</a:t>
            </a:r>
            <a:endParaRPr lang="en-IN" sz="1200" dirty="0">
              <a:ea typeface="Calibri" panose="020F0502020204030204" pitchFamily="34" charset="0"/>
              <a:cs typeface="Calibri" panose="020F0502020204030204" pitchFamily="34" charset="0"/>
            </a:endParaRPr>
          </a:p>
        </p:txBody>
      </p:sp>
      <p:sp>
        <p:nvSpPr>
          <p:cNvPr id="4" name="Title 1">
            <a:extLst>
              <a:ext uri="{FF2B5EF4-FFF2-40B4-BE49-F238E27FC236}">
                <a16:creationId xmlns:a16="http://schemas.microsoft.com/office/drawing/2014/main" id="{3D9A1FB7-A58E-E38A-E101-85FEAC59C3FD}"/>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TL03 - </a:t>
            </a:r>
            <a:r>
              <a:rPr lang="fr-FR" sz="2400" b="1" dirty="0">
                <a:latin typeface="Calibri" panose="020F0502020204030204" pitchFamily="34" charset="0"/>
                <a:ea typeface="Calibri" panose="020F0502020204030204" pitchFamily="34" charset="0"/>
                <a:cs typeface="Calibri" panose="020F0502020204030204" pitchFamily="34" charset="0"/>
              </a:rPr>
              <a:t>800 kV HVDC KPS2 - Nagpur T/L Project (Part -3) </a:t>
            </a:r>
            <a:r>
              <a:rPr lang="en-US" sz="2400" b="1" dirty="0">
                <a:latin typeface="Calibri" panose="020F0502020204030204" pitchFamily="34" charset="0"/>
                <a:ea typeface="Calibri" panose="020F0502020204030204" pitchFamily="34" charset="0"/>
                <a:cs typeface="Calibri" panose="020F0502020204030204" pitchFamily="34" charset="0"/>
              </a:rPr>
              <a:t>(TA- 515)</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C516C71E-84F1-4937-300D-E82CE2C91667}"/>
              </a:ext>
            </a:extLst>
          </p:cNvPr>
          <p:cNvGraphicFramePr>
            <a:graphicFrameLocks noGrp="1"/>
          </p:cNvGraphicFramePr>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rPr>
                        <a:t>LOA DATE: 12/02/25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rPr>
                        <a:t>LOA Value in Cr.: </a:t>
                      </a:r>
                      <a:r>
                        <a:rPr lang="en-US" sz="1200" b="1" i="0" u="none" strike="noStrike" kern="1200" dirty="0">
                          <a:solidFill>
                            <a:srgbClr val="FFFFFF"/>
                          </a:solidFill>
                          <a:effectLst/>
                          <a:latin typeface="Calibri" panose="020F0502020204030204" pitchFamily="34" charset="0"/>
                          <a:ea typeface="+mn-ea"/>
                          <a:cs typeface="+mn-cs"/>
                        </a:rPr>
                        <a:t>349.3 Cr </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rPr>
                        <a:t>CONTRACTUAL COMPLETION: 11/08/28</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rPr>
                        <a:t>PLANNED COMPLETION:11/08/28</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3782087788"/>
      </p:ext>
    </p:extLst>
  </p:cSld>
  <p:clrMapOvr>
    <a:masterClrMapping/>
  </p:clrMapOvr>
  <p:transition spd="slow"/>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D7F0D2-B070-2A06-7CE6-3F03445490E5}"/>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53E495DB-F3B0-5180-63CF-2673D4A4CD66}"/>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TL06 - </a:t>
            </a:r>
            <a:r>
              <a:rPr lang="en-US" sz="2400" b="1" dirty="0">
                <a:latin typeface="Calibri" panose="020F0502020204030204" pitchFamily="34" charset="0"/>
                <a:ea typeface="Calibri" panose="020F0502020204030204" pitchFamily="34" charset="0"/>
                <a:cs typeface="Calibri" panose="020F0502020204030204" pitchFamily="34" charset="0"/>
              </a:rPr>
              <a:t>800 KV HVDC KPS-II to Nagpur (TA- 602)</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3F84D5FA-2A73-B815-D06B-30733E1EB2F6}"/>
              </a:ext>
            </a:extLst>
          </p:cNvPr>
          <p:cNvGraphicFramePr>
            <a:graphicFrameLocks noGrp="1"/>
          </p:cNvGraphicFramePr>
          <p:nvPr>
            <p:extLst>
              <p:ext uri="{D42A27DB-BD31-4B8C-83A1-F6EECF244321}">
                <p14:modId xmlns:p14="http://schemas.microsoft.com/office/powerpoint/2010/main" val="99623418"/>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12/11/28</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6" name="Table 5">
            <a:extLst>
              <a:ext uri="{FF2B5EF4-FFF2-40B4-BE49-F238E27FC236}">
                <a16:creationId xmlns:a16="http://schemas.microsoft.com/office/drawing/2014/main" id="{28568DDC-0C08-F4FC-CDF9-04866DD7C396}"/>
              </a:ext>
            </a:extLst>
          </p:cNvPr>
          <p:cNvGraphicFramePr>
            <a:graphicFrameLocks noGrp="1"/>
          </p:cNvGraphicFramePr>
          <p:nvPr>
            <p:extLst>
              <p:ext uri="{D42A27DB-BD31-4B8C-83A1-F6EECF244321}">
                <p14:modId xmlns:p14="http://schemas.microsoft.com/office/powerpoint/2010/main" val="1945409578"/>
              </p:ext>
            </p:extLst>
          </p:nvPr>
        </p:nvGraphicFramePr>
        <p:xfrm>
          <a:off x="247430" y="1472184"/>
          <a:ext cx="11687394" cy="3836387"/>
        </p:xfrm>
        <a:graphic>
          <a:graphicData uri="http://schemas.openxmlformats.org/drawingml/2006/table">
            <a:tbl>
              <a:tblPr/>
              <a:tblGrid>
                <a:gridCol w="1135459">
                  <a:extLst>
                    <a:ext uri="{9D8B030D-6E8A-4147-A177-3AD203B41FA5}">
                      <a16:colId xmlns:a16="http://schemas.microsoft.com/office/drawing/2014/main" val="3134568255"/>
                    </a:ext>
                  </a:extLst>
                </a:gridCol>
                <a:gridCol w="1004946">
                  <a:extLst>
                    <a:ext uri="{9D8B030D-6E8A-4147-A177-3AD203B41FA5}">
                      <a16:colId xmlns:a16="http://schemas.microsoft.com/office/drawing/2014/main" val="529650208"/>
                    </a:ext>
                  </a:extLst>
                </a:gridCol>
                <a:gridCol w="756973">
                  <a:extLst>
                    <a:ext uri="{9D8B030D-6E8A-4147-A177-3AD203B41FA5}">
                      <a16:colId xmlns:a16="http://schemas.microsoft.com/office/drawing/2014/main" val="92458083"/>
                    </a:ext>
                  </a:extLst>
                </a:gridCol>
                <a:gridCol w="770024">
                  <a:extLst>
                    <a:ext uri="{9D8B030D-6E8A-4147-A177-3AD203B41FA5}">
                      <a16:colId xmlns:a16="http://schemas.microsoft.com/office/drawing/2014/main" val="1261093951"/>
                    </a:ext>
                  </a:extLst>
                </a:gridCol>
                <a:gridCol w="756973">
                  <a:extLst>
                    <a:ext uri="{9D8B030D-6E8A-4147-A177-3AD203B41FA5}">
                      <a16:colId xmlns:a16="http://schemas.microsoft.com/office/drawing/2014/main" val="3845723164"/>
                    </a:ext>
                  </a:extLst>
                </a:gridCol>
                <a:gridCol w="822228">
                  <a:extLst>
                    <a:ext uri="{9D8B030D-6E8A-4147-A177-3AD203B41FA5}">
                      <a16:colId xmlns:a16="http://schemas.microsoft.com/office/drawing/2014/main" val="2426758173"/>
                    </a:ext>
                  </a:extLst>
                </a:gridCol>
                <a:gridCol w="822228">
                  <a:extLst>
                    <a:ext uri="{9D8B030D-6E8A-4147-A177-3AD203B41FA5}">
                      <a16:colId xmlns:a16="http://schemas.microsoft.com/office/drawing/2014/main" val="7475768"/>
                    </a:ext>
                  </a:extLst>
                </a:gridCol>
                <a:gridCol w="704766">
                  <a:extLst>
                    <a:ext uri="{9D8B030D-6E8A-4147-A177-3AD203B41FA5}">
                      <a16:colId xmlns:a16="http://schemas.microsoft.com/office/drawing/2014/main" val="2676474225"/>
                    </a:ext>
                  </a:extLst>
                </a:gridCol>
                <a:gridCol w="192573">
                  <a:extLst>
                    <a:ext uri="{9D8B030D-6E8A-4147-A177-3AD203B41FA5}">
                      <a16:colId xmlns:a16="http://schemas.microsoft.com/office/drawing/2014/main" val="3819434327"/>
                    </a:ext>
                  </a:extLst>
                </a:gridCol>
                <a:gridCol w="381684">
                  <a:extLst>
                    <a:ext uri="{9D8B030D-6E8A-4147-A177-3AD203B41FA5}">
                      <a16:colId xmlns:a16="http://schemas.microsoft.com/office/drawing/2014/main" val="3456980184"/>
                    </a:ext>
                  </a:extLst>
                </a:gridCol>
                <a:gridCol w="312583">
                  <a:extLst>
                    <a:ext uri="{9D8B030D-6E8A-4147-A177-3AD203B41FA5}">
                      <a16:colId xmlns:a16="http://schemas.microsoft.com/office/drawing/2014/main" val="3306756722"/>
                    </a:ext>
                  </a:extLst>
                </a:gridCol>
                <a:gridCol w="392183">
                  <a:extLst>
                    <a:ext uri="{9D8B030D-6E8A-4147-A177-3AD203B41FA5}">
                      <a16:colId xmlns:a16="http://schemas.microsoft.com/office/drawing/2014/main" val="2238485008"/>
                    </a:ext>
                  </a:extLst>
                </a:gridCol>
                <a:gridCol w="166617">
                  <a:extLst>
                    <a:ext uri="{9D8B030D-6E8A-4147-A177-3AD203B41FA5}">
                      <a16:colId xmlns:a16="http://schemas.microsoft.com/office/drawing/2014/main" val="706361869"/>
                    </a:ext>
                  </a:extLst>
                </a:gridCol>
                <a:gridCol w="330200">
                  <a:extLst>
                    <a:ext uri="{9D8B030D-6E8A-4147-A177-3AD203B41FA5}">
                      <a16:colId xmlns:a16="http://schemas.microsoft.com/office/drawing/2014/main" val="2252801827"/>
                    </a:ext>
                  </a:extLst>
                </a:gridCol>
                <a:gridCol w="465666">
                  <a:extLst>
                    <a:ext uri="{9D8B030D-6E8A-4147-A177-3AD203B41FA5}">
                      <a16:colId xmlns:a16="http://schemas.microsoft.com/office/drawing/2014/main" val="3438594745"/>
                    </a:ext>
                  </a:extLst>
                </a:gridCol>
                <a:gridCol w="473008">
                  <a:extLst>
                    <a:ext uri="{9D8B030D-6E8A-4147-A177-3AD203B41FA5}">
                      <a16:colId xmlns:a16="http://schemas.microsoft.com/office/drawing/2014/main" val="2391851116"/>
                    </a:ext>
                  </a:extLst>
                </a:gridCol>
                <a:gridCol w="2199283">
                  <a:extLst>
                    <a:ext uri="{9D8B030D-6E8A-4147-A177-3AD203B41FA5}">
                      <a16:colId xmlns:a16="http://schemas.microsoft.com/office/drawing/2014/main" val="3502179738"/>
                    </a:ext>
                  </a:extLst>
                </a:gridCol>
              </a:tblGrid>
              <a:tr h="361325">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195043">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n-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dirty="0">
                          <a:solidFill>
                            <a:schemeClr val="tx1"/>
                          </a:solidFill>
                          <a:effectLst/>
                          <a:latin typeface="+mn-lt"/>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182609">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50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230957">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494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478</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333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35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20131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494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478</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434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182609">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182609">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82609">
                <a:tc gridSpan="17">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61325">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182609">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235198">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182609">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495535454"/>
                  </a:ext>
                </a:extLst>
              </a:tr>
              <a:tr h="182609">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51.715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96488407"/>
                  </a:ext>
                </a:extLst>
              </a:tr>
              <a:tr h="36132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4144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being delayed due to delay in Design/Type Testing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19053964"/>
                  </a:ext>
                </a:extLst>
              </a:tr>
              <a:tr h="36132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being delayed due to delay in Design/Type Testing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005780108"/>
                  </a:ext>
                </a:extLst>
              </a:tr>
              <a:tr h="182609">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8" name="Table 7">
            <a:extLst>
              <a:ext uri="{FF2B5EF4-FFF2-40B4-BE49-F238E27FC236}">
                <a16:creationId xmlns:a16="http://schemas.microsoft.com/office/drawing/2014/main" id="{D8A0AC8A-D15A-FDC6-DC83-468D54AC33F0}"/>
              </a:ext>
            </a:extLst>
          </p:cNvPr>
          <p:cNvGraphicFramePr>
            <a:graphicFrameLocks noGrp="1"/>
          </p:cNvGraphicFramePr>
          <p:nvPr>
            <p:extLst>
              <p:ext uri="{D42A27DB-BD31-4B8C-83A1-F6EECF244321}">
                <p14:modId xmlns:p14="http://schemas.microsoft.com/office/powerpoint/2010/main" val="44577946"/>
              </p:ext>
            </p:extLst>
          </p:nvPr>
        </p:nvGraphicFramePr>
        <p:xfrm>
          <a:off x="238963" y="5308571"/>
          <a:ext cx="11687394" cy="1278498"/>
        </p:xfrm>
        <a:graphic>
          <a:graphicData uri="http://schemas.openxmlformats.org/drawingml/2006/table">
            <a:tbl>
              <a:tblPr/>
              <a:tblGrid>
                <a:gridCol w="1247229">
                  <a:extLst>
                    <a:ext uri="{9D8B030D-6E8A-4147-A177-3AD203B41FA5}">
                      <a16:colId xmlns:a16="http://schemas.microsoft.com/office/drawing/2014/main" val="4144033618"/>
                    </a:ext>
                  </a:extLst>
                </a:gridCol>
                <a:gridCol w="1107454">
                  <a:extLst>
                    <a:ext uri="{9D8B030D-6E8A-4147-A177-3AD203B41FA5}">
                      <a16:colId xmlns:a16="http://schemas.microsoft.com/office/drawing/2014/main" val="2710662077"/>
                    </a:ext>
                  </a:extLst>
                </a:gridCol>
                <a:gridCol w="827903">
                  <a:extLst>
                    <a:ext uri="{9D8B030D-6E8A-4147-A177-3AD203B41FA5}">
                      <a16:colId xmlns:a16="http://schemas.microsoft.com/office/drawing/2014/main" val="3810854777"/>
                    </a:ext>
                  </a:extLst>
                </a:gridCol>
                <a:gridCol w="1268733">
                  <a:extLst>
                    <a:ext uri="{9D8B030D-6E8A-4147-A177-3AD203B41FA5}">
                      <a16:colId xmlns:a16="http://schemas.microsoft.com/office/drawing/2014/main" val="95352560"/>
                    </a:ext>
                  </a:extLst>
                </a:gridCol>
                <a:gridCol w="1247229">
                  <a:extLst>
                    <a:ext uri="{9D8B030D-6E8A-4147-A177-3AD203B41FA5}">
                      <a16:colId xmlns:a16="http://schemas.microsoft.com/office/drawing/2014/main" val="3482007332"/>
                    </a:ext>
                  </a:extLst>
                </a:gridCol>
                <a:gridCol w="903166">
                  <a:extLst>
                    <a:ext uri="{9D8B030D-6E8A-4147-A177-3AD203B41FA5}">
                      <a16:colId xmlns:a16="http://schemas.microsoft.com/office/drawing/2014/main" val="3780160470"/>
                    </a:ext>
                  </a:extLst>
                </a:gridCol>
                <a:gridCol w="1354748">
                  <a:extLst>
                    <a:ext uri="{9D8B030D-6E8A-4147-A177-3AD203B41FA5}">
                      <a16:colId xmlns:a16="http://schemas.microsoft.com/office/drawing/2014/main" val="4001841647"/>
                    </a:ext>
                  </a:extLst>
                </a:gridCol>
                <a:gridCol w="1161212">
                  <a:extLst>
                    <a:ext uri="{9D8B030D-6E8A-4147-A177-3AD203B41FA5}">
                      <a16:colId xmlns:a16="http://schemas.microsoft.com/office/drawing/2014/main" val="873345733"/>
                    </a:ext>
                  </a:extLst>
                </a:gridCol>
                <a:gridCol w="634366">
                  <a:extLst>
                    <a:ext uri="{9D8B030D-6E8A-4147-A177-3AD203B41FA5}">
                      <a16:colId xmlns:a16="http://schemas.microsoft.com/office/drawing/2014/main" val="983947984"/>
                    </a:ext>
                  </a:extLst>
                </a:gridCol>
                <a:gridCol w="1161212">
                  <a:extLst>
                    <a:ext uri="{9D8B030D-6E8A-4147-A177-3AD203B41FA5}">
                      <a16:colId xmlns:a16="http://schemas.microsoft.com/office/drawing/2014/main" val="3672483493"/>
                    </a:ext>
                  </a:extLst>
                </a:gridCol>
                <a:gridCol w="774142">
                  <a:extLst>
                    <a:ext uri="{9D8B030D-6E8A-4147-A177-3AD203B41FA5}">
                      <a16:colId xmlns:a16="http://schemas.microsoft.com/office/drawing/2014/main" val="1432498959"/>
                    </a:ext>
                  </a:extLst>
                </a:gridCol>
              </a:tblGrid>
              <a:tr h="213083">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213083">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213083">
                <a:tc vMerge="1">
                  <a:txBody>
                    <a:bodyPr/>
                    <a:lstStyle/>
                    <a:p>
                      <a:endParaRPr dirty="0"/>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21308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21308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21308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2553458170"/>
      </p:ext>
    </p:extLst>
  </p:cSld>
  <p:clrMapOvr>
    <a:masterClrMapping/>
  </p:clrMapOvr>
  <p:transition spd="slow"/>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D5DEAB-5BF2-9272-EE4B-EC92D9B310EC}"/>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4470B16B-ACA6-D686-4CCF-760909C7C6CA}"/>
              </a:ext>
            </a:extLst>
          </p:cNvPr>
          <p:cNvSpPr txBox="1"/>
          <p:nvPr/>
        </p:nvSpPr>
        <p:spPr>
          <a:xfrm>
            <a:off x="266321" y="1700784"/>
            <a:ext cx="11677650" cy="2308324"/>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endParaRPr lang="en-IN" b="1"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1. Power Line Crossing Approval. (In which 9 No's Site Visit done) Total-12 No’s | Submitted-11| Balance-1| Approval Required-11</a:t>
            </a:r>
          </a:p>
          <a:p>
            <a:pPr marL="342900" indent="-342900">
              <a:buAutoNum type="arabicPeriod"/>
            </a:pPr>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2. NH Crossing Site Inspection (Submitted-3 No’s) Total-4 No’s | Submitted-3| Balance-1| Approval Required-3</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3. Finalization of river crossing Proposal (Narmada River Crossing)</a:t>
            </a:r>
            <a:r>
              <a:rPr lang="en-US" sz="1200" dirty="0">
                <a:ea typeface="Calibri" panose="020F0502020204030204" pitchFamily="34" charset="0"/>
                <a:cs typeface="Calibri" panose="020F0502020204030204" pitchFamily="34" charset="0"/>
              </a:rPr>
              <a:t>	</a:t>
            </a:r>
            <a:endParaRPr lang="en-IN" sz="1200" dirty="0">
              <a:ea typeface="Calibri" panose="020F0502020204030204" pitchFamily="34" charset="0"/>
              <a:cs typeface="Calibri" panose="020F0502020204030204" pitchFamily="34" charset="0"/>
            </a:endParaRPr>
          </a:p>
        </p:txBody>
      </p:sp>
      <p:sp>
        <p:nvSpPr>
          <p:cNvPr id="9" name="Title 1">
            <a:extLst>
              <a:ext uri="{FF2B5EF4-FFF2-40B4-BE49-F238E27FC236}">
                <a16:creationId xmlns:a16="http://schemas.microsoft.com/office/drawing/2014/main" id="{3FDE4165-E530-7E51-C2A2-9FB5870EEBB7}"/>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TL06 - </a:t>
            </a:r>
            <a:r>
              <a:rPr lang="en-US" sz="2400" b="1" dirty="0">
                <a:latin typeface="Calibri" panose="020F0502020204030204" pitchFamily="34" charset="0"/>
                <a:ea typeface="Calibri" panose="020F0502020204030204" pitchFamily="34" charset="0"/>
                <a:cs typeface="Calibri" panose="020F0502020204030204" pitchFamily="34" charset="0"/>
              </a:rPr>
              <a:t>800 KV HVDC KPS-II to Nagpur (TA- 602)</a:t>
            </a:r>
            <a:endParaRPr lang="en-IN" sz="16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0" name="Table 9">
            <a:extLst>
              <a:ext uri="{FF2B5EF4-FFF2-40B4-BE49-F238E27FC236}">
                <a16:creationId xmlns:a16="http://schemas.microsoft.com/office/drawing/2014/main" id="{B469A209-5B67-816F-C73C-D6DDB2B9F90F}"/>
              </a:ext>
            </a:extLst>
          </p:cNvPr>
          <p:cNvGraphicFramePr>
            <a:graphicFrameLocks noGrp="1"/>
          </p:cNvGraphicFramePr>
          <p:nvPr>
            <p:extLst>
              <p:ext uri="{D42A27DB-BD31-4B8C-83A1-F6EECF244321}">
                <p14:modId xmlns:p14="http://schemas.microsoft.com/office/powerpoint/2010/main" val="1604377783"/>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13/05/2025 </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613</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12/11/28</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12/09/28</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1415781379"/>
      </p:ext>
    </p:extLst>
  </p:cSld>
  <p:clrMapOvr>
    <a:masterClrMapping/>
  </p:clrMapOvr>
  <p:transition spd="slow"/>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E4AEF1-EF71-108E-5A58-6817AB7399D6}"/>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FBA05A42-EA7D-3162-A14D-FBC3777F48C1}"/>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SS118</a:t>
            </a:r>
            <a:r>
              <a:rPr lang="fr-FR" sz="2400" b="1" dirty="0">
                <a:solidFill>
                  <a:srgbClr val="7030A0"/>
                </a:solidFill>
                <a:latin typeface="Calibri" panose="020F0502020204030204" pitchFamily="34" charset="0"/>
                <a:ea typeface="Calibri" panose="020F0502020204030204" pitchFamily="34" charset="0"/>
                <a:cs typeface="Calibri" panose="020F0502020204030204" pitchFamily="34" charset="0"/>
              </a:rPr>
              <a:t> </a:t>
            </a:r>
            <a:r>
              <a:rPr lang="en-IN" sz="2400" b="1" dirty="0">
                <a:latin typeface="Calibri" panose="020F0502020204030204" pitchFamily="34" charset="0"/>
                <a:ea typeface="Calibri" panose="020F0502020204030204" pitchFamily="34" charset="0"/>
                <a:cs typeface="Calibri" panose="020F0502020204030204" pitchFamily="34" charset="0"/>
              </a:rPr>
              <a:t>220kV Bay Ext </a:t>
            </a:r>
            <a:r>
              <a:rPr lang="en-IN" sz="2400" b="1" dirty="0" err="1">
                <a:latin typeface="Calibri" panose="020F0502020204030204" pitchFamily="34" charset="0"/>
                <a:ea typeface="Calibri" panose="020F0502020204030204" pitchFamily="34" charset="0"/>
                <a:cs typeface="Calibri" panose="020F0502020204030204" pitchFamily="34" charset="0"/>
              </a:rPr>
              <a:t>Raigarh</a:t>
            </a:r>
            <a:r>
              <a:rPr lang="en-IN" sz="2400" b="1" dirty="0">
                <a:latin typeface="Calibri" panose="020F0502020204030204" pitchFamily="34" charset="0"/>
                <a:ea typeface="Calibri" panose="020F0502020204030204" pitchFamily="34" charset="0"/>
                <a:cs typeface="Calibri" panose="020F0502020204030204" pitchFamily="34" charset="0"/>
              </a:rPr>
              <a:t> GIS Sub-Sation (</a:t>
            </a:r>
            <a:r>
              <a:rPr lang="fr-FR" sz="2400" b="1" dirty="0">
                <a:latin typeface="Calibri" panose="020F0502020204030204" pitchFamily="34" charset="0"/>
                <a:ea typeface="Calibri" panose="020F0502020204030204" pitchFamily="34" charset="0"/>
                <a:cs typeface="Calibri" panose="020F0502020204030204" pitchFamily="34" charset="0"/>
              </a:rPr>
              <a:t>SA52C)</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C6BCDF5F-A44D-D011-2548-C405F9EF55EF}"/>
              </a:ext>
            </a:extLst>
          </p:cNvPr>
          <p:cNvGraphicFramePr>
            <a:graphicFrameLocks noGrp="1"/>
          </p:cNvGraphicFramePr>
          <p:nvPr>
            <p:extLst>
              <p:ext uri="{D42A27DB-BD31-4B8C-83A1-F6EECF244321}">
                <p14:modId xmlns:p14="http://schemas.microsoft.com/office/powerpoint/2010/main" val="3949417316"/>
              </p:ext>
            </p:extLst>
          </p:nvPr>
        </p:nvGraphicFramePr>
        <p:xfrm>
          <a:off x="240241" y="1234440"/>
          <a:ext cx="11740092" cy="328159"/>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328159">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Date: 26.06.2024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rtl="0" eaLnBrk="1" fontAlgn="auto" latinLnBrk="0" hangingPunct="1"/>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a:t>
                      </a:r>
                      <a:r>
                        <a:rPr lang="en-US" sz="1200" b="1" i="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t>
                      </a: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Completion Sch: </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23-10-2025</a:t>
                      </a:r>
                      <a:endPar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l" rtl="0">
                        <a:lnSpc>
                          <a:spcPct val="80000"/>
                        </a:lnSpc>
                        <a:spcBef>
                          <a:spcPts val="0"/>
                        </a:spcBef>
                        <a:spcAft>
                          <a:spcPts val="0"/>
                        </a:spcAft>
                        <a:buClr>
                          <a:srgbClr val="000000"/>
                        </a:buClr>
                        <a:buSzPts val="1200"/>
                        <a:buFont typeface="Arial"/>
                        <a:buNone/>
                      </a:pP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     Target Comp Date: 24-05-2026</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    Planned Completion: May’26</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2" name="Table 1">
            <a:extLst>
              <a:ext uri="{FF2B5EF4-FFF2-40B4-BE49-F238E27FC236}">
                <a16:creationId xmlns:a16="http://schemas.microsoft.com/office/drawing/2014/main" id="{E0D4F8EB-9D49-7D1F-A6CF-83706DE0A3B1}"/>
              </a:ext>
            </a:extLst>
          </p:cNvPr>
          <p:cNvGraphicFramePr>
            <a:graphicFrameLocks noGrp="1"/>
          </p:cNvGraphicFramePr>
          <p:nvPr>
            <p:extLst>
              <p:ext uri="{D42A27DB-BD31-4B8C-83A1-F6EECF244321}">
                <p14:modId xmlns:p14="http://schemas.microsoft.com/office/powerpoint/2010/main" val="3482439459"/>
              </p:ext>
            </p:extLst>
          </p:nvPr>
        </p:nvGraphicFramePr>
        <p:xfrm>
          <a:off x="231774" y="1562599"/>
          <a:ext cx="11703051" cy="4781049"/>
        </p:xfrm>
        <a:graphic>
          <a:graphicData uri="http://schemas.openxmlformats.org/drawingml/2006/table">
            <a:tbl>
              <a:tblPr/>
              <a:tblGrid>
                <a:gridCol w="543357">
                  <a:extLst>
                    <a:ext uri="{9D8B030D-6E8A-4147-A177-3AD203B41FA5}">
                      <a16:colId xmlns:a16="http://schemas.microsoft.com/office/drawing/2014/main" val="2747693423"/>
                    </a:ext>
                  </a:extLst>
                </a:gridCol>
                <a:gridCol w="2326678">
                  <a:extLst>
                    <a:ext uri="{9D8B030D-6E8A-4147-A177-3AD203B41FA5}">
                      <a16:colId xmlns:a16="http://schemas.microsoft.com/office/drawing/2014/main" val="2118575720"/>
                    </a:ext>
                  </a:extLst>
                </a:gridCol>
                <a:gridCol w="445831">
                  <a:extLst>
                    <a:ext uri="{9D8B030D-6E8A-4147-A177-3AD203B41FA5}">
                      <a16:colId xmlns:a16="http://schemas.microsoft.com/office/drawing/2014/main" val="75543708"/>
                    </a:ext>
                  </a:extLst>
                </a:gridCol>
                <a:gridCol w="808067">
                  <a:extLst>
                    <a:ext uri="{9D8B030D-6E8A-4147-A177-3AD203B41FA5}">
                      <a16:colId xmlns:a16="http://schemas.microsoft.com/office/drawing/2014/main" val="3267813495"/>
                    </a:ext>
                  </a:extLst>
                </a:gridCol>
                <a:gridCol w="863796">
                  <a:extLst>
                    <a:ext uri="{9D8B030D-6E8A-4147-A177-3AD203B41FA5}">
                      <a16:colId xmlns:a16="http://schemas.microsoft.com/office/drawing/2014/main" val="2937612411"/>
                    </a:ext>
                  </a:extLst>
                </a:gridCol>
                <a:gridCol w="1058847">
                  <a:extLst>
                    <a:ext uri="{9D8B030D-6E8A-4147-A177-3AD203B41FA5}">
                      <a16:colId xmlns:a16="http://schemas.microsoft.com/office/drawing/2014/main" val="2028488864"/>
                    </a:ext>
                  </a:extLst>
                </a:gridCol>
                <a:gridCol w="863796">
                  <a:extLst>
                    <a:ext uri="{9D8B030D-6E8A-4147-A177-3AD203B41FA5}">
                      <a16:colId xmlns:a16="http://schemas.microsoft.com/office/drawing/2014/main" val="3458515463"/>
                    </a:ext>
                  </a:extLst>
                </a:gridCol>
                <a:gridCol w="640881">
                  <a:extLst>
                    <a:ext uri="{9D8B030D-6E8A-4147-A177-3AD203B41FA5}">
                      <a16:colId xmlns:a16="http://schemas.microsoft.com/office/drawing/2014/main" val="662830486"/>
                    </a:ext>
                  </a:extLst>
                </a:gridCol>
                <a:gridCol w="849865">
                  <a:extLst>
                    <a:ext uri="{9D8B030D-6E8A-4147-A177-3AD203B41FA5}">
                      <a16:colId xmlns:a16="http://schemas.microsoft.com/office/drawing/2014/main" val="2257800543"/>
                    </a:ext>
                  </a:extLst>
                </a:gridCol>
                <a:gridCol w="1114576">
                  <a:extLst>
                    <a:ext uri="{9D8B030D-6E8A-4147-A177-3AD203B41FA5}">
                      <a16:colId xmlns:a16="http://schemas.microsoft.com/office/drawing/2014/main" val="3125479606"/>
                    </a:ext>
                  </a:extLst>
                </a:gridCol>
                <a:gridCol w="1163610">
                  <a:extLst>
                    <a:ext uri="{9D8B030D-6E8A-4147-A177-3AD203B41FA5}">
                      <a16:colId xmlns:a16="http://schemas.microsoft.com/office/drawing/2014/main" val="1117980032"/>
                    </a:ext>
                  </a:extLst>
                </a:gridCol>
                <a:gridCol w="1023747">
                  <a:extLst>
                    <a:ext uri="{9D8B030D-6E8A-4147-A177-3AD203B41FA5}">
                      <a16:colId xmlns:a16="http://schemas.microsoft.com/office/drawing/2014/main" val="3055491068"/>
                    </a:ext>
                  </a:extLst>
                </a:gridCol>
              </a:tblGrid>
              <a:tr h="1323303">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Sl. No.</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Qtys as per Actual</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w.r.t Actual</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Gang Available</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980988871"/>
                  </a:ext>
                </a:extLst>
              </a:tr>
              <a:tr h="57689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Drain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RM</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600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600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360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240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15-05-2026</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1686534"/>
                  </a:ext>
                </a:extLst>
              </a:tr>
              <a:tr h="57689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Gravel Spreading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M2</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5000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4100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4100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4100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30-05-2026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12739568"/>
                  </a:ext>
                </a:extLst>
              </a:tr>
              <a:tr h="58418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GIS Equipment and GIB Testing</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78</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78</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78</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78</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01252047"/>
                  </a:ext>
                </a:extLst>
              </a:tr>
              <a:tr h="1161660">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HV Testing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Lot</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0.9</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Y Phase Bus -2 Issue Resolution WIP</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15-05-2026</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79526572"/>
                  </a:ext>
                </a:extLst>
              </a:tr>
              <a:tr h="558117">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Final Testing and commissioning</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24-05-2026</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259" marR="6259" marT="625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04328927"/>
                  </a:ext>
                </a:extLst>
              </a:tr>
            </a:tbl>
          </a:graphicData>
        </a:graphic>
      </p:graphicFrame>
    </p:spTree>
    <p:extLst>
      <p:ext uri="{BB962C8B-B14F-4D97-AF65-F5344CB8AC3E}">
        <p14:creationId xmlns:p14="http://schemas.microsoft.com/office/powerpoint/2010/main" val="409102499"/>
      </p:ext>
    </p:extLst>
  </p:cSld>
  <p:clrMapOvr>
    <a:masterClrMapping/>
  </p:clrMapOvr>
  <p:transition spd="slow"/>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AA2CE327-8704-6D73-E048-56DC776D1E62}"/>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765/400 kV KPS-2 Ext 39T (SA-503)</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C5858BA5-310F-70E7-887A-A1E116196F34}"/>
              </a:ext>
            </a:extLst>
          </p:cNvPr>
          <p:cNvGraphicFramePr>
            <a:graphicFrameLocks noGrp="1"/>
          </p:cNvGraphicFramePr>
          <p:nvPr>
            <p:extLst>
              <p:ext uri="{D42A27DB-BD31-4B8C-83A1-F6EECF244321}">
                <p14:modId xmlns:p14="http://schemas.microsoft.com/office/powerpoint/2010/main" val="2011419382"/>
              </p:ext>
            </p:extLst>
          </p:nvPr>
        </p:nvGraphicFramePr>
        <p:xfrm>
          <a:off x="240241"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ctr" latinLnBrk="0" hangingPunct="1">
                        <a:lnSpc>
                          <a:spcPct val="80000"/>
                        </a:lnSpc>
                        <a:spcBef>
                          <a:spcPts val="0"/>
                        </a:spcBef>
                        <a:spcAft>
                          <a:spcPts val="0"/>
                        </a:spcAft>
                        <a:buClr>
                          <a:srgbClr val="000000"/>
                        </a:buClr>
                        <a:buSzPts val="1200"/>
                        <a:buFont typeface="Arial"/>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Date: July’24</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ctr" latinLnBrk="0" hangingPunct="1">
                        <a:lnSpc>
                          <a:spcPct val="80000"/>
                        </a:lnSpc>
                        <a:spcBef>
                          <a:spcPts val="0"/>
                        </a:spcBef>
                        <a:spcAft>
                          <a:spcPts val="0"/>
                        </a:spcAft>
                        <a:buClr>
                          <a:srgbClr val="0F243E"/>
                        </a:buClr>
                        <a:buSzPts val="1200"/>
                        <a:buFont typeface="Calibri"/>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March’26</a:t>
                      </a:r>
                      <a:endParaRPr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l" rtl="0">
                        <a:lnSpc>
                          <a:spcPct val="80000"/>
                        </a:lnSpc>
                        <a:spcBef>
                          <a:spcPts val="0"/>
                        </a:spcBef>
                        <a:spcAft>
                          <a:spcPts val="0"/>
                        </a:spcAft>
                        <a:buClr>
                          <a:srgbClr val="000000"/>
                        </a:buClr>
                        <a:buSzPts val="1200"/>
                        <a:buFont typeface="Arial"/>
                        <a:buNone/>
                      </a:pP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Target Comp Date: 400 kV : June/765kV :July</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a:rPr>
                        <a:t>                       </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Project Value: 390 </a:t>
                      </a:r>
                      <a:r>
                        <a:rPr lang="en-GB" sz="1200" b="1" i="0" u="none" strike="noStrike" kern="1200" dirty="0" err="1">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Crs</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6" name="Table 5">
            <a:extLst>
              <a:ext uri="{FF2B5EF4-FFF2-40B4-BE49-F238E27FC236}">
                <a16:creationId xmlns:a16="http://schemas.microsoft.com/office/drawing/2014/main" id="{18454F30-45F8-BA0E-C12B-DB5F32A2158F}"/>
              </a:ext>
            </a:extLst>
          </p:cNvPr>
          <p:cNvGraphicFramePr>
            <a:graphicFrameLocks noGrp="1"/>
          </p:cNvGraphicFramePr>
          <p:nvPr>
            <p:extLst>
              <p:ext uri="{D42A27DB-BD31-4B8C-83A1-F6EECF244321}">
                <p14:modId xmlns:p14="http://schemas.microsoft.com/office/powerpoint/2010/main" val="1296091192"/>
              </p:ext>
            </p:extLst>
          </p:nvPr>
        </p:nvGraphicFramePr>
        <p:xfrm>
          <a:off x="240241" y="1488301"/>
          <a:ext cx="11740093" cy="5073366"/>
        </p:xfrm>
        <a:graphic>
          <a:graphicData uri="http://schemas.openxmlformats.org/drawingml/2006/table">
            <a:tbl>
              <a:tblPr/>
              <a:tblGrid>
                <a:gridCol w="530467">
                  <a:extLst>
                    <a:ext uri="{9D8B030D-6E8A-4147-A177-3AD203B41FA5}">
                      <a16:colId xmlns:a16="http://schemas.microsoft.com/office/drawing/2014/main" val="1866683649"/>
                    </a:ext>
                  </a:extLst>
                </a:gridCol>
                <a:gridCol w="1814759">
                  <a:extLst>
                    <a:ext uri="{9D8B030D-6E8A-4147-A177-3AD203B41FA5}">
                      <a16:colId xmlns:a16="http://schemas.microsoft.com/office/drawing/2014/main" val="469263185"/>
                    </a:ext>
                  </a:extLst>
                </a:gridCol>
                <a:gridCol w="418791">
                  <a:extLst>
                    <a:ext uri="{9D8B030D-6E8A-4147-A177-3AD203B41FA5}">
                      <a16:colId xmlns:a16="http://schemas.microsoft.com/office/drawing/2014/main" val="982729650"/>
                    </a:ext>
                  </a:extLst>
                </a:gridCol>
                <a:gridCol w="656106">
                  <a:extLst>
                    <a:ext uri="{9D8B030D-6E8A-4147-A177-3AD203B41FA5}">
                      <a16:colId xmlns:a16="http://schemas.microsoft.com/office/drawing/2014/main" val="836853619"/>
                    </a:ext>
                  </a:extLst>
                </a:gridCol>
                <a:gridCol w="642145">
                  <a:extLst>
                    <a:ext uri="{9D8B030D-6E8A-4147-A177-3AD203B41FA5}">
                      <a16:colId xmlns:a16="http://schemas.microsoft.com/office/drawing/2014/main" val="3878396167"/>
                    </a:ext>
                  </a:extLst>
                </a:gridCol>
                <a:gridCol w="1005097">
                  <a:extLst>
                    <a:ext uri="{9D8B030D-6E8A-4147-A177-3AD203B41FA5}">
                      <a16:colId xmlns:a16="http://schemas.microsoft.com/office/drawing/2014/main" val="2867205349"/>
                    </a:ext>
                  </a:extLst>
                </a:gridCol>
                <a:gridCol w="798285">
                  <a:extLst>
                    <a:ext uri="{9D8B030D-6E8A-4147-A177-3AD203B41FA5}">
                      <a16:colId xmlns:a16="http://schemas.microsoft.com/office/drawing/2014/main" val="311722030"/>
                    </a:ext>
                  </a:extLst>
                </a:gridCol>
                <a:gridCol w="580851">
                  <a:extLst>
                    <a:ext uri="{9D8B030D-6E8A-4147-A177-3AD203B41FA5}">
                      <a16:colId xmlns:a16="http://schemas.microsoft.com/office/drawing/2014/main" val="2151926357"/>
                    </a:ext>
                  </a:extLst>
                </a:gridCol>
                <a:gridCol w="763454">
                  <a:extLst>
                    <a:ext uri="{9D8B030D-6E8A-4147-A177-3AD203B41FA5}">
                      <a16:colId xmlns:a16="http://schemas.microsoft.com/office/drawing/2014/main" val="4104235525"/>
                    </a:ext>
                  </a:extLst>
                </a:gridCol>
                <a:gridCol w="1719517">
                  <a:extLst>
                    <a:ext uri="{9D8B030D-6E8A-4147-A177-3AD203B41FA5}">
                      <a16:colId xmlns:a16="http://schemas.microsoft.com/office/drawing/2014/main" val="2084293778"/>
                    </a:ext>
                  </a:extLst>
                </a:gridCol>
                <a:gridCol w="1475934">
                  <a:extLst>
                    <a:ext uri="{9D8B030D-6E8A-4147-A177-3AD203B41FA5}">
                      <a16:colId xmlns:a16="http://schemas.microsoft.com/office/drawing/2014/main" val="1907232567"/>
                    </a:ext>
                  </a:extLst>
                </a:gridCol>
                <a:gridCol w="1334687">
                  <a:extLst>
                    <a:ext uri="{9D8B030D-6E8A-4147-A177-3AD203B41FA5}">
                      <a16:colId xmlns:a16="http://schemas.microsoft.com/office/drawing/2014/main" val="1519381057"/>
                    </a:ext>
                  </a:extLst>
                </a:gridCol>
              </a:tblGrid>
              <a:tr h="817581">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Sl. No.</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Qtys</a:t>
                      </a: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as per Actual</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w.r.t Actual</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 Available</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78746980"/>
                  </a:ext>
                </a:extLst>
              </a:tr>
              <a:tr h="325093">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nSpc>
                          <a:spcPct val="107000"/>
                        </a:lnSpc>
                        <a:spcAft>
                          <a:spcPts val="800"/>
                        </a:spcAft>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Stone Column Work</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RM</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56512</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56512</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56512</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56512</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11">
                  <a:txBody>
                    <a:bodyPr/>
                    <a:lstStyle/>
                    <a:p>
                      <a:pPr algn="ctr" fontAlgn="b">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Civil Manpower-130 nos.</a:t>
                      </a:r>
                    </a:p>
                    <a:p>
                      <a:pPr algn="ctr" fontAlgn="b">
                        <a:buNone/>
                      </a:pPr>
                      <a:endPar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noFill/>
                  </a:tcPr>
                </a:tc>
                <a:tc>
                  <a:txBody>
                    <a:bodyPr/>
                    <a:lstStyle/>
                    <a:p>
                      <a:pP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Completed</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11">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Scope yet to be finalized</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09355206"/>
                  </a:ext>
                </a:extLst>
              </a:tr>
              <a:tr h="325093">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nSpc>
                          <a:spcPct val="107000"/>
                        </a:lnSpc>
                        <a:spcAft>
                          <a:spcPts val="800"/>
                        </a:spcAft>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ICT Foundation</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Nos.</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12</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12</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12</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12</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100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pPr algn="ctr" fontAlgn="ctr">
                        <a:buNone/>
                      </a:pPr>
                      <a:endParaRPr lang="en-US" sz="1200" b="1" i="0" u="none" strike="noStrike" dirty="0">
                        <a:solidFill>
                          <a:srgbClr val="000000"/>
                        </a:solidFill>
                        <a:effectLst/>
                        <a:latin typeface="+mj-lt"/>
                      </a:endParaRP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Completed</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594671076"/>
                  </a:ext>
                </a:extLst>
              </a:tr>
              <a:tr h="328556">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Fire Wall</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Nos.</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100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a:lnSpc>
                          <a:spcPct val="107000"/>
                        </a:lnSpc>
                        <a:spcAft>
                          <a:spcPts val="800"/>
                        </a:spcAft>
                      </a:pPr>
                      <a:r>
                        <a:rPr lang="en-IN"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Painting</a:t>
                      </a:r>
                      <a:r>
                        <a:rPr lang="en-IN" sz="1200" dirty="0">
                          <a:effectLst/>
                          <a:latin typeface="Calibri" panose="020F0502020204030204" pitchFamily="34" charset="0"/>
                          <a:ea typeface="Calibri" panose="020F0502020204030204" pitchFamily="34" charset="0"/>
                          <a:cs typeface="Calibri" panose="020F0502020204030204" pitchFamily="34" charset="0"/>
                        </a:rPr>
                        <a:t> balance</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236585832"/>
                  </a:ext>
                </a:extLst>
              </a:tr>
              <a:tr h="449176">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Tower Foundation</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Nos.</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8</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8</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8</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8</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100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rowSpan="2">
                  <a:txBody>
                    <a:bodyPr/>
                    <a:lstStyle/>
                    <a:p>
                      <a:pP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Completed</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3247213450"/>
                  </a:ext>
                </a:extLst>
              </a:tr>
              <a:tr h="193896">
                <a:tc row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2">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765kV GIS Building-A</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2">
                  <a:txBody>
                    <a:bodyPr/>
                    <a:lstStyle/>
                    <a:p>
                      <a:pPr algn="ctr">
                        <a:lnSpc>
                          <a:spcPct val="107000"/>
                        </a:lnSpc>
                        <a:spcAft>
                          <a:spcPts val="800"/>
                        </a:spcAft>
                      </a:pPr>
                      <a:r>
                        <a:rPr lang="en-IN" sz="1200">
                          <a:effectLst/>
                          <a:latin typeface="Calibri" panose="020F0502020204030204" pitchFamily="34" charset="0"/>
                          <a:ea typeface="Calibri" panose="020F0502020204030204" pitchFamily="34" charset="0"/>
                          <a:cs typeface="Calibri" panose="020F0502020204030204" pitchFamily="34" charset="0"/>
                        </a:rPr>
                        <a:t>LS</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2">
                  <a:txBody>
                    <a:bodyPr/>
                    <a:lstStyle/>
                    <a:p>
                      <a:pPr algn="ctr">
                        <a:lnSpc>
                          <a:spcPct val="107000"/>
                        </a:lnSpc>
                        <a:spcAft>
                          <a:spcPts val="800"/>
                        </a:spcAft>
                      </a:pPr>
                      <a:r>
                        <a:rPr lang="en-IN" sz="1200">
                          <a:effectLst/>
                          <a:latin typeface="Calibri" panose="020F0502020204030204" pitchFamily="34" charset="0"/>
                          <a:ea typeface="Calibri" panose="020F0502020204030204" pitchFamily="34" charset="0"/>
                          <a:cs typeface="Calibri" panose="020F0502020204030204" pitchFamily="34" charset="0"/>
                        </a:rPr>
                        <a:t>100%</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2">
                  <a:txBody>
                    <a:bodyPr/>
                    <a:lstStyle/>
                    <a:p>
                      <a:pPr algn="ctr">
                        <a:lnSpc>
                          <a:spcPct val="107000"/>
                        </a:lnSpc>
                        <a:spcAft>
                          <a:spcPts val="800"/>
                        </a:spcAft>
                      </a:pPr>
                      <a:r>
                        <a:rPr lang="en-IN" sz="1200">
                          <a:effectLst/>
                          <a:latin typeface="Calibri" panose="020F0502020204030204" pitchFamily="34" charset="0"/>
                          <a:ea typeface="Calibri" panose="020F0502020204030204" pitchFamily="34" charset="0"/>
                          <a:cs typeface="Calibri" panose="020F0502020204030204" pitchFamily="34" charset="0"/>
                        </a:rPr>
                        <a:t>100%</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2">
                  <a:txBody>
                    <a:bodyPr/>
                    <a:lstStyle/>
                    <a:p>
                      <a:pPr algn="ctr">
                        <a:lnSpc>
                          <a:spcPct val="107000"/>
                        </a:lnSpc>
                        <a:spcAft>
                          <a:spcPts val="800"/>
                        </a:spcAft>
                      </a:pPr>
                      <a:r>
                        <a:rPr lang="en-IN" sz="1200">
                          <a:effectLst/>
                          <a:latin typeface="Calibri" panose="020F0502020204030204" pitchFamily="34" charset="0"/>
                          <a:ea typeface="Calibri" panose="020F0502020204030204" pitchFamily="34" charset="0"/>
                          <a:cs typeface="Calibri" panose="020F0502020204030204" pitchFamily="34" charset="0"/>
                        </a:rPr>
                        <a:t>100%</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2">
                  <a:txBody>
                    <a:bodyPr/>
                    <a:lstStyle/>
                    <a:p>
                      <a:pPr algn="ctr">
                        <a:lnSpc>
                          <a:spcPct val="107000"/>
                        </a:lnSpc>
                        <a:spcAft>
                          <a:spcPts val="800"/>
                        </a:spcAft>
                      </a:pPr>
                      <a:r>
                        <a:rPr lang="en-IN" sz="1200">
                          <a:effectLst/>
                          <a:latin typeface="Calibri" panose="020F0502020204030204" pitchFamily="34" charset="0"/>
                          <a:ea typeface="Calibri" panose="020F0502020204030204" pitchFamily="34" charset="0"/>
                          <a:cs typeface="Calibri" panose="020F0502020204030204" pitchFamily="34" charset="0"/>
                        </a:rPr>
                        <a:t>95%</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rowSpan="2">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5%</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rowSpan="2">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95</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US"/>
                    </a:p>
                  </a:txBody>
                  <a:tcPr/>
                </a:tc>
                <a:tc vMerge="1">
                  <a:txBody>
                    <a:bodyPr/>
                    <a:lstStyle/>
                    <a:p>
                      <a:pPr>
                        <a:lnSpc>
                          <a:spcPct val="107000"/>
                        </a:lnSpc>
                        <a:spcAft>
                          <a:spcPts val="800"/>
                        </a:spcAft>
                      </a:pPr>
                      <a:endParaRPr lang="en-IN" sz="1200" dirty="0">
                        <a:effectLst/>
                        <a:latin typeface="+mn-lt"/>
                        <a:ea typeface="Calibri" panose="020F0502020204030204" pitchFamily="34" charset="0"/>
                        <a:cs typeface="Mangal" panose="02040503050203030202" pitchFamily="18"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US"/>
                    </a:p>
                  </a:txBody>
                  <a:tcPr/>
                </a:tc>
                <a:extLst>
                  <a:ext uri="{0D108BD9-81ED-4DB2-BD59-A6C34878D82A}">
                    <a16:rowId xmlns:a16="http://schemas.microsoft.com/office/drawing/2014/main" val="3529952568"/>
                  </a:ext>
                </a:extLst>
              </a:tr>
              <a:tr h="328556">
                <a:tc vMerge="1">
                  <a:txBody>
                    <a:bodyPr/>
                    <a:lstStyle/>
                    <a:p>
                      <a:pPr algn="ctr" fontAlgn="ctr">
                        <a:buNone/>
                      </a:pPr>
                      <a:r>
                        <a:rPr lang="en-IN" sz="1200" b="0" i="0" u="none" strike="noStrike">
                          <a:solidFill>
                            <a:srgbClr val="000000"/>
                          </a:solidFill>
                          <a:effectLst/>
                          <a:latin typeface="+mn-lt"/>
                        </a:rPr>
                        <a:t>5</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pPr marL="0" marR="0">
                        <a:buNone/>
                      </a:pPr>
                      <a:r>
                        <a:rPr lang="en-US" sz="1200" dirty="0">
                          <a:solidFill>
                            <a:srgbClr val="000000"/>
                          </a:solidFill>
                          <a:effectLst/>
                          <a:latin typeface="+mn-lt"/>
                          <a:ea typeface="Times New Roman" panose="02020603050405020304" pitchFamily="18" charset="0"/>
                          <a:cs typeface="Aptos" panose="020B0004020202020204" pitchFamily="34" charset="0"/>
                        </a:rPr>
                        <a:t>765kV GIS Building-A</a:t>
                      </a:r>
                      <a:endParaRPr lang="en-US" sz="1200" dirty="0">
                        <a:effectLst/>
                        <a:latin typeface="+mn-lt"/>
                        <a:ea typeface="Calibri" panose="020F0502020204030204" pitchFamily="34" charset="0"/>
                        <a:cs typeface="Aptos" panose="020B00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pPr algn="ctr">
                        <a:lnSpc>
                          <a:spcPct val="107000"/>
                        </a:lnSpc>
                        <a:spcAft>
                          <a:spcPts val="800"/>
                        </a:spcAft>
                      </a:pPr>
                      <a:r>
                        <a:rPr lang="en-IN" sz="1200" dirty="0">
                          <a:effectLst/>
                          <a:latin typeface="+mn-lt"/>
                          <a:ea typeface="Calibri" panose="020F0502020204030204" pitchFamily="34" charset="0"/>
                          <a:cs typeface="Mangal" panose="02040503050203030202" pitchFamily="18" charset="0"/>
                        </a:rPr>
                        <a:t>LS</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pPr algn="ctr">
                        <a:lnSpc>
                          <a:spcPct val="107000"/>
                        </a:lnSpc>
                        <a:spcAft>
                          <a:spcPts val="800"/>
                        </a:spcAft>
                      </a:pPr>
                      <a:r>
                        <a:rPr lang="en-IN" sz="1200" dirty="0">
                          <a:effectLst/>
                          <a:latin typeface="+mn-lt"/>
                          <a:ea typeface="Calibri" panose="020F0502020204030204" pitchFamily="34" charset="0"/>
                          <a:cs typeface="Mangal" panose="02040503050203030202" pitchFamily="18"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pPr algn="ctr">
                        <a:lnSpc>
                          <a:spcPct val="107000"/>
                        </a:lnSpc>
                        <a:spcAft>
                          <a:spcPts val="800"/>
                        </a:spcAft>
                      </a:pPr>
                      <a:r>
                        <a:rPr lang="en-IN" sz="1200" dirty="0">
                          <a:effectLst/>
                          <a:latin typeface="+mn-lt"/>
                          <a:ea typeface="Calibri" panose="020F0502020204030204" pitchFamily="34" charset="0"/>
                          <a:cs typeface="Mangal" panose="02040503050203030202" pitchFamily="18"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pPr algn="ctr">
                        <a:lnSpc>
                          <a:spcPct val="107000"/>
                        </a:lnSpc>
                        <a:spcAft>
                          <a:spcPts val="800"/>
                        </a:spcAft>
                      </a:pPr>
                      <a:r>
                        <a:rPr lang="en-IN" sz="1200" dirty="0">
                          <a:effectLst/>
                          <a:latin typeface="+mn-lt"/>
                          <a:ea typeface="Calibri" panose="020F0502020204030204" pitchFamily="34" charset="0"/>
                          <a:cs typeface="Mangal" panose="02040503050203030202" pitchFamily="18"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pPr algn="ctr">
                        <a:lnSpc>
                          <a:spcPct val="107000"/>
                        </a:lnSpc>
                        <a:spcAft>
                          <a:spcPts val="800"/>
                        </a:spcAft>
                      </a:pPr>
                      <a:r>
                        <a:rPr lang="en-IN" sz="1200" dirty="0">
                          <a:effectLst/>
                          <a:latin typeface="+mn-lt"/>
                          <a:ea typeface="Calibri" panose="020F0502020204030204" pitchFamily="34" charset="0"/>
                          <a:cs typeface="Mangal" panose="02040503050203030202" pitchFamily="18" charset="0"/>
                        </a:rPr>
                        <a:t>95%</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vMerge="1">
                  <a:txBody>
                    <a:bodyPr/>
                    <a:lstStyle/>
                    <a:p>
                      <a:pPr algn="ctr">
                        <a:lnSpc>
                          <a:spcPct val="107000"/>
                        </a:lnSpc>
                        <a:spcAft>
                          <a:spcPts val="800"/>
                        </a:spcAft>
                      </a:pPr>
                      <a:r>
                        <a:rPr lang="en-IN" sz="1200" dirty="0">
                          <a:effectLst/>
                          <a:latin typeface="+mn-lt"/>
                          <a:ea typeface="Calibri" panose="020F0502020204030204" pitchFamily="34" charset="0"/>
                          <a:cs typeface="Mangal" panose="02040503050203030202" pitchFamily="18" charset="0"/>
                        </a:rPr>
                        <a:t>5%</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vMerge="1">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mn-lt"/>
                          <a:ea typeface="+mn-ea"/>
                          <a:cs typeface="+mn-cs"/>
                        </a:rPr>
                        <a:t>95</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marL="0" marR="0">
                        <a:buNone/>
                      </a:pP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3137241404"/>
                  </a:ext>
                </a:extLst>
              </a:tr>
              <a:tr h="328556">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GIS Building-B</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LS</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97%</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3%</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97</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marL="0" marR="0" algn="l" defTabSz="914400" rtl="0" eaLnBrk="1" latinLnBrk="0" hangingPunct="1">
                        <a:lnSpc>
                          <a:spcPct val="107000"/>
                        </a:lnSpc>
                        <a:spcAft>
                          <a:spcPts val="800"/>
                        </a:spcAft>
                        <a:buNone/>
                      </a:pPr>
                      <a:endParaRPr lang="en-IN" sz="1200"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1526206634"/>
                  </a:ext>
                </a:extLst>
              </a:tr>
              <a:tr h="328556">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GIS Building-C</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LS</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97%</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3%</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97</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marL="0" marR="0" algn="l" defTabSz="914400" rtl="0" eaLnBrk="1" latinLnBrk="0" hangingPunct="1">
                        <a:lnSpc>
                          <a:spcPct val="107000"/>
                        </a:lnSpc>
                        <a:spcAft>
                          <a:spcPts val="800"/>
                        </a:spcAft>
                        <a:buNone/>
                      </a:pPr>
                      <a:endParaRPr lang="en-IN" sz="1200"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495276751"/>
                  </a:ext>
                </a:extLst>
              </a:tr>
              <a:tr h="661605">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 kV GIS Building-D</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LS</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ct val="107000"/>
                        </a:lnSpc>
                        <a:spcAft>
                          <a:spcPts val="800"/>
                        </a:spcAft>
                      </a:pPr>
                      <a:r>
                        <a:rPr lang="en-IN"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80%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algn="ctr" defTabSz="914400" rtl="0" eaLnBrk="1" latinLnBrk="0" hangingPunct="1">
                        <a:lnSpc>
                          <a:spcPct val="107000"/>
                        </a:lnSpc>
                        <a:spcAft>
                          <a:spcPts val="800"/>
                        </a:spcAft>
                      </a:pPr>
                      <a:r>
                        <a:rPr lang="en-IN"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20%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80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15/05/2026 , Grade Slab WIP</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246131620"/>
                  </a:ext>
                </a:extLst>
              </a:tr>
              <a:tr h="661605">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nSpc>
                          <a:spcPct val="107000"/>
                        </a:lnSpc>
                        <a:spcAft>
                          <a:spcPts val="800"/>
                        </a:spcAft>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Equipment foundation</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Nos.</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307</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307</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307</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248</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59</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a:lnSpc>
                          <a:spcPct val="107000"/>
                        </a:lnSpc>
                        <a:spcAft>
                          <a:spcPts val="800"/>
                        </a:spcAft>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2674022904"/>
                  </a:ext>
                </a:extLst>
              </a:tr>
              <a:tr h="325093">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nSpc>
                          <a:spcPct val="107000"/>
                        </a:lnSpc>
                        <a:spcAft>
                          <a:spcPts val="800"/>
                        </a:spcAft>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Bus duct foundation</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Nos.</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215</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215</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215</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105</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110</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48</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a:txBody>
                    <a:bodyPr/>
                    <a:lstStyle/>
                    <a:p>
                      <a:pP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 </a:t>
                      </a: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20/06/2026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32876" marR="32876" marT="0" marB="0" anchor="ctr">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extLst>
                  <a:ext uri="{0D108BD9-81ED-4DB2-BD59-A6C34878D82A}">
                    <a16:rowId xmlns:a16="http://schemas.microsoft.com/office/drawing/2014/main" val="2448732915"/>
                  </a:ext>
                </a:extLst>
              </a:tr>
            </a:tbl>
          </a:graphicData>
        </a:graphic>
      </p:graphicFrame>
    </p:spTree>
    <p:extLst>
      <p:ext uri="{BB962C8B-B14F-4D97-AF65-F5344CB8AC3E}">
        <p14:creationId xmlns:p14="http://schemas.microsoft.com/office/powerpoint/2010/main" val="3740136169"/>
      </p:ext>
    </p:extLst>
  </p:cSld>
  <p:clrMapOvr>
    <a:masterClrMapping/>
  </p:clrMapOvr>
  <p:transition spd="slow"/>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a:extLst>
              <a:ext uri="{FF2B5EF4-FFF2-40B4-BE49-F238E27FC236}">
                <a16:creationId xmlns:a16="http://schemas.microsoft.com/office/drawing/2014/main" id="{F510B2C6-ADBB-AF6B-216F-AAAEE5568F61}"/>
              </a:ext>
            </a:extLst>
          </p:cNvPr>
          <p:cNvGraphicFramePr>
            <a:graphicFrameLocks noGrp="1"/>
          </p:cNvGraphicFramePr>
          <p:nvPr>
            <p:extLst>
              <p:ext uri="{D42A27DB-BD31-4B8C-83A1-F6EECF244321}">
                <p14:modId xmlns:p14="http://schemas.microsoft.com/office/powerpoint/2010/main" val="4170083913"/>
              </p:ext>
            </p:extLst>
          </p:nvPr>
        </p:nvGraphicFramePr>
        <p:xfrm>
          <a:off x="240241"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ctr" latinLnBrk="0" hangingPunct="1">
                        <a:lnSpc>
                          <a:spcPct val="80000"/>
                        </a:lnSpc>
                        <a:spcBef>
                          <a:spcPts val="0"/>
                        </a:spcBef>
                        <a:spcAft>
                          <a:spcPts val="0"/>
                        </a:spcAft>
                        <a:buClr>
                          <a:srgbClr val="000000"/>
                        </a:buClr>
                        <a:buSzPts val="1200"/>
                        <a:buFont typeface="Arial"/>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Date: July’24</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ctr" latinLnBrk="0" hangingPunct="1">
                        <a:lnSpc>
                          <a:spcPct val="80000"/>
                        </a:lnSpc>
                        <a:spcBef>
                          <a:spcPts val="0"/>
                        </a:spcBef>
                        <a:spcAft>
                          <a:spcPts val="0"/>
                        </a:spcAft>
                        <a:buClr>
                          <a:srgbClr val="0F243E"/>
                        </a:buClr>
                        <a:buSzPts val="1200"/>
                        <a:buFont typeface="Calibri"/>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March’26</a:t>
                      </a:r>
                      <a:endParaRPr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l" rtl="0">
                        <a:lnSpc>
                          <a:spcPct val="80000"/>
                        </a:lnSpc>
                        <a:spcBef>
                          <a:spcPts val="0"/>
                        </a:spcBef>
                        <a:spcAft>
                          <a:spcPts val="0"/>
                        </a:spcAft>
                        <a:buClr>
                          <a:srgbClr val="000000"/>
                        </a:buClr>
                        <a:buSzPts val="1200"/>
                        <a:buFont typeface="Arial"/>
                        <a:buNone/>
                      </a:pP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Target Comp Date: 400 kV : June/765kV :July</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a:rPr>
                        <a:t>                       </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Project Value: 390 </a:t>
                      </a:r>
                      <a:r>
                        <a:rPr lang="en-GB" sz="1200" b="1" i="0" u="none" strike="noStrike" kern="1200" dirty="0" err="1">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Crs</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
        <p:nvSpPr>
          <p:cNvPr id="11" name="Title 1">
            <a:extLst>
              <a:ext uri="{FF2B5EF4-FFF2-40B4-BE49-F238E27FC236}">
                <a16:creationId xmlns:a16="http://schemas.microsoft.com/office/drawing/2014/main" id="{993F57D1-BCBA-11C1-27AF-C0F4547B7047}"/>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765/400 kV KPS-2 Ext 39T (SA-503)</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2" name="Table 11">
            <a:extLst>
              <a:ext uri="{FF2B5EF4-FFF2-40B4-BE49-F238E27FC236}">
                <a16:creationId xmlns:a16="http://schemas.microsoft.com/office/drawing/2014/main" id="{00D653D5-FD9E-FD71-7A00-F28E6D0C2984}"/>
              </a:ext>
            </a:extLst>
          </p:cNvPr>
          <p:cNvGraphicFramePr>
            <a:graphicFrameLocks noGrp="1"/>
          </p:cNvGraphicFramePr>
          <p:nvPr>
            <p:extLst>
              <p:ext uri="{D42A27DB-BD31-4B8C-83A1-F6EECF244321}">
                <p14:modId xmlns:p14="http://schemas.microsoft.com/office/powerpoint/2010/main" val="1070847252"/>
              </p:ext>
            </p:extLst>
          </p:nvPr>
        </p:nvGraphicFramePr>
        <p:xfrm>
          <a:off x="257175" y="1488300"/>
          <a:ext cx="11723158" cy="5056432"/>
        </p:xfrm>
        <a:graphic>
          <a:graphicData uri="http://schemas.openxmlformats.org/drawingml/2006/table">
            <a:tbl>
              <a:tblPr/>
              <a:tblGrid>
                <a:gridCol w="529702">
                  <a:extLst>
                    <a:ext uri="{9D8B030D-6E8A-4147-A177-3AD203B41FA5}">
                      <a16:colId xmlns:a16="http://schemas.microsoft.com/office/drawing/2014/main" val="1866683649"/>
                    </a:ext>
                  </a:extLst>
                </a:gridCol>
                <a:gridCol w="1812141">
                  <a:extLst>
                    <a:ext uri="{9D8B030D-6E8A-4147-A177-3AD203B41FA5}">
                      <a16:colId xmlns:a16="http://schemas.microsoft.com/office/drawing/2014/main" val="469263185"/>
                    </a:ext>
                  </a:extLst>
                </a:gridCol>
                <a:gridCol w="418187">
                  <a:extLst>
                    <a:ext uri="{9D8B030D-6E8A-4147-A177-3AD203B41FA5}">
                      <a16:colId xmlns:a16="http://schemas.microsoft.com/office/drawing/2014/main" val="982729650"/>
                    </a:ext>
                  </a:extLst>
                </a:gridCol>
                <a:gridCol w="655159">
                  <a:extLst>
                    <a:ext uri="{9D8B030D-6E8A-4147-A177-3AD203B41FA5}">
                      <a16:colId xmlns:a16="http://schemas.microsoft.com/office/drawing/2014/main" val="836853619"/>
                    </a:ext>
                  </a:extLst>
                </a:gridCol>
                <a:gridCol w="641218">
                  <a:extLst>
                    <a:ext uri="{9D8B030D-6E8A-4147-A177-3AD203B41FA5}">
                      <a16:colId xmlns:a16="http://schemas.microsoft.com/office/drawing/2014/main" val="3878396167"/>
                    </a:ext>
                  </a:extLst>
                </a:gridCol>
                <a:gridCol w="1003647">
                  <a:extLst>
                    <a:ext uri="{9D8B030D-6E8A-4147-A177-3AD203B41FA5}">
                      <a16:colId xmlns:a16="http://schemas.microsoft.com/office/drawing/2014/main" val="2867205349"/>
                    </a:ext>
                  </a:extLst>
                </a:gridCol>
                <a:gridCol w="797134">
                  <a:extLst>
                    <a:ext uri="{9D8B030D-6E8A-4147-A177-3AD203B41FA5}">
                      <a16:colId xmlns:a16="http://schemas.microsoft.com/office/drawing/2014/main" val="311722030"/>
                    </a:ext>
                  </a:extLst>
                </a:gridCol>
                <a:gridCol w="580013">
                  <a:extLst>
                    <a:ext uri="{9D8B030D-6E8A-4147-A177-3AD203B41FA5}">
                      <a16:colId xmlns:a16="http://schemas.microsoft.com/office/drawing/2014/main" val="2151926357"/>
                    </a:ext>
                  </a:extLst>
                </a:gridCol>
                <a:gridCol w="762353">
                  <a:extLst>
                    <a:ext uri="{9D8B030D-6E8A-4147-A177-3AD203B41FA5}">
                      <a16:colId xmlns:a16="http://schemas.microsoft.com/office/drawing/2014/main" val="4104235525"/>
                    </a:ext>
                  </a:extLst>
                </a:gridCol>
                <a:gridCol w="1717037">
                  <a:extLst>
                    <a:ext uri="{9D8B030D-6E8A-4147-A177-3AD203B41FA5}">
                      <a16:colId xmlns:a16="http://schemas.microsoft.com/office/drawing/2014/main" val="2084293778"/>
                    </a:ext>
                  </a:extLst>
                </a:gridCol>
                <a:gridCol w="1473805">
                  <a:extLst>
                    <a:ext uri="{9D8B030D-6E8A-4147-A177-3AD203B41FA5}">
                      <a16:colId xmlns:a16="http://schemas.microsoft.com/office/drawing/2014/main" val="1907232567"/>
                    </a:ext>
                  </a:extLst>
                </a:gridCol>
                <a:gridCol w="1332762">
                  <a:extLst>
                    <a:ext uri="{9D8B030D-6E8A-4147-A177-3AD203B41FA5}">
                      <a16:colId xmlns:a16="http://schemas.microsoft.com/office/drawing/2014/main" val="1519381057"/>
                    </a:ext>
                  </a:extLst>
                </a:gridCol>
              </a:tblGrid>
              <a:tr h="572778">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Sl. No.</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Qtys</a:t>
                      </a: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as per Actual</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w.r.t Actual</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 Available</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78746980"/>
                  </a:ext>
                </a:extLst>
              </a:tr>
              <a:tr h="200022">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GIS-B Bay Erection</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9 </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11">
                  <a:txBody>
                    <a:bodyPr/>
                    <a:lstStyle/>
                    <a:p>
                      <a:pPr algn="ctr" fontAlgn="b">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Electrical:85</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Completed</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11">
                  <a:txBody>
                    <a:bodyPr/>
                    <a:lstStyle/>
                    <a:p>
                      <a:pPr algn="ctr" fontAlgn="ctr">
                        <a:buNone/>
                      </a:pPr>
                      <a:endPar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09355206"/>
                  </a:ext>
                </a:extLst>
              </a:tr>
              <a:tr h="200022">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GIS-C Bay Erection</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6</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US"/>
                    </a:p>
                  </a:txBody>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Completed</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US"/>
                    </a:p>
                  </a:txBody>
                  <a:tcPr/>
                </a:tc>
                <a:extLst>
                  <a:ext uri="{0D108BD9-81ED-4DB2-BD59-A6C34878D82A}">
                    <a16:rowId xmlns:a16="http://schemas.microsoft.com/office/drawing/2014/main" val="810276288"/>
                  </a:ext>
                </a:extLst>
              </a:tr>
              <a:tr h="200022">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Tower Erection</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100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pPr algn="ctr" fontAlgn="ctr">
                        <a:buNone/>
                      </a:pPr>
                      <a:endParaRPr lang="en-US" sz="1200" b="1" i="0" u="none" strike="noStrike" dirty="0">
                        <a:solidFill>
                          <a:srgbClr val="000000"/>
                        </a:solidFill>
                        <a:effectLst/>
                        <a:latin typeface="+mj-lt"/>
                      </a:endParaRP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Completed</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594671076"/>
                  </a:ext>
                </a:extLst>
              </a:tr>
              <a:tr h="387566">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a:solidFill>
                            <a:srgbClr val="000000"/>
                          </a:solidFill>
                          <a:effectLst/>
                          <a:latin typeface="Calibri" panose="020F0502020204030204" pitchFamily="34" charset="0"/>
                          <a:ea typeface="Calibri" panose="020F0502020204030204" pitchFamily="34" charset="0"/>
                          <a:cs typeface="Calibri" panose="020F0502020204030204" pitchFamily="34" charset="0"/>
                        </a:rPr>
                        <a:t>Outdoor Earthing - Main Mat Laying</a:t>
                      </a:r>
                      <a:endParaRPr lang="en-US" sz="120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RM</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4620</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4620</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4620</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1723</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2897</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37</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30.06.2026</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236585832"/>
                  </a:ext>
                </a:extLst>
              </a:tr>
              <a:tr h="395666">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Sec 1 :- GIB </a:t>
                      </a:r>
                      <a:r>
                        <a:rPr lang="en-US"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Outside Building)</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RM</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1,343</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1,343</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1,343</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950</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393</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70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May</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3247213450"/>
                  </a:ext>
                </a:extLst>
              </a:tr>
              <a:tr h="387566">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Sec 1 :- GIB Length</a:t>
                      </a:r>
                      <a:r>
                        <a:rPr lang="en-US"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 Inside Building)</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RM</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endParaRPr lang="en-US" sz="120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endParaRPr lang="en-US" sz="120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endParaRPr lang="en-US" sz="120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100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marL="0" marR="0" algn="ctr">
                        <a:buNone/>
                      </a:pPr>
                      <a:r>
                        <a:rPr lang="en-US" sz="1200" dirty="0">
                          <a:effectLst/>
                          <a:latin typeface="Calibri" panose="020F0502020204030204" pitchFamily="34" charset="0"/>
                          <a:ea typeface="Calibri" panose="020F0502020204030204" pitchFamily="34" charset="0"/>
                          <a:cs typeface="Calibri" panose="020F0502020204030204" pitchFamily="34" charset="0"/>
                        </a:rPr>
                        <a:t>May</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3137241404"/>
                  </a:ext>
                </a:extLst>
              </a:tr>
              <a:tr h="576430">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Sec 1 :- Main Bus </a:t>
                      </a:r>
                      <a:r>
                        <a:rPr lang="en-US"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Outside Building) BHEL TO C Building</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RM</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439</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439</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439</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439</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May</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1526206634"/>
                  </a:ext>
                </a:extLst>
              </a:tr>
              <a:tr h="576430">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Sec 2 :- GIB </a:t>
                      </a:r>
                      <a:r>
                        <a:rPr lang="en-US"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 Outside Building)</a:t>
                      </a: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B </a:t>
                      </a:r>
                      <a:r>
                        <a:rPr lang="en-US" sz="1200"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Buliding</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RM</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884</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884</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884</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884</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May</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495276751"/>
                  </a:ext>
                </a:extLst>
              </a:tr>
              <a:tr h="407070">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Sec 2 :- GIB               </a:t>
                      </a:r>
                      <a:r>
                        <a:rPr lang="en-US"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Inside Building)</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RM</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81</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81</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81</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0</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81</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May</a:t>
                      </a:r>
                    </a:p>
                  </a:txBody>
                  <a:tcPr marL="32876" marR="32876"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246131620"/>
                  </a:ext>
                </a:extLst>
              </a:tr>
              <a:tr h="576430">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Sec 2 :- Main Bus </a:t>
                      </a:r>
                      <a:r>
                        <a:rPr lang="en-US"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Outside Building)</a:t>
                      </a: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BHEL to B Building</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RM</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451</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451</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451</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0</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451</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May</a:t>
                      </a:r>
                    </a:p>
                  </a:txBody>
                  <a:tcPr marL="32876" marR="32876"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2674022904"/>
                  </a:ext>
                </a:extLst>
              </a:tr>
              <a:tr h="576430">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400kV Sec 1 C :Cable Laying </a:t>
                      </a:r>
                      <a:r>
                        <a:rPr lang="en-US"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&amp; Termination:- C building </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Runs</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695</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695</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695</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400</a:t>
                      </a:r>
                      <a:endParaRPr lang="en-US" sz="1200" dirty="0">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295</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58</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May</a:t>
                      </a:r>
                    </a:p>
                  </a:txBody>
                  <a:tcPr marL="32876" marR="32876" marT="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extLst>
                  <a:ext uri="{0D108BD9-81ED-4DB2-BD59-A6C34878D82A}">
                    <a16:rowId xmlns:a16="http://schemas.microsoft.com/office/drawing/2014/main" val="2448732915"/>
                  </a:ext>
                </a:extLst>
              </a:tr>
            </a:tbl>
          </a:graphicData>
        </a:graphic>
      </p:graphicFrame>
    </p:spTree>
    <p:extLst>
      <p:ext uri="{BB962C8B-B14F-4D97-AF65-F5344CB8AC3E}">
        <p14:creationId xmlns:p14="http://schemas.microsoft.com/office/powerpoint/2010/main" val="3435655072"/>
      </p:ext>
    </p:extLst>
  </p:cSld>
  <p:clrMapOvr>
    <a:masterClrMapping/>
  </p:clrMapOvr>
  <p:transition spd="slow"/>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9D95A8-3C56-E8C9-D22F-0660BC4BD658}"/>
            </a:ext>
          </a:extLst>
        </p:cNvPr>
        <p:cNvGrpSpPr/>
        <p:nvPr/>
      </p:nvGrpSpPr>
      <p:grpSpPr>
        <a:xfrm>
          <a:off x="0" y="0"/>
          <a:ext cx="0" cy="0"/>
          <a:chOff x="0" y="0"/>
          <a:chExt cx="0" cy="0"/>
        </a:xfrm>
      </p:grpSpPr>
      <p:graphicFrame>
        <p:nvGraphicFramePr>
          <p:cNvPr id="7" name="Table 6">
            <a:extLst>
              <a:ext uri="{FF2B5EF4-FFF2-40B4-BE49-F238E27FC236}">
                <a16:creationId xmlns:a16="http://schemas.microsoft.com/office/drawing/2014/main" id="{0AEC10E6-EFAC-FB9F-E5D0-9E3EE23F72C6}"/>
              </a:ext>
            </a:extLst>
          </p:cNvPr>
          <p:cNvGraphicFramePr>
            <a:graphicFrameLocks noGrp="1"/>
          </p:cNvGraphicFramePr>
          <p:nvPr>
            <p:extLst>
              <p:ext uri="{D42A27DB-BD31-4B8C-83A1-F6EECF244321}">
                <p14:modId xmlns:p14="http://schemas.microsoft.com/office/powerpoint/2010/main" val="100594931"/>
              </p:ext>
            </p:extLst>
          </p:nvPr>
        </p:nvGraphicFramePr>
        <p:xfrm>
          <a:off x="240241"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ctr" latinLnBrk="0" hangingPunct="1">
                        <a:lnSpc>
                          <a:spcPct val="80000"/>
                        </a:lnSpc>
                        <a:spcBef>
                          <a:spcPts val="0"/>
                        </a:spcBef>
                        <a:spcAft>
                          <a:spcPts val="0"/>
                        </a:spcAft>
                        <a:buClr>
                          <a:srgbClr val="000000"/>
                        </a:buClr>
                        <a:buSzPts val="1200"/>
                        <a:buFont typeface="Arial"/>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Date: July’24</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ctr" latinLnBrk="0" hangingPunct="1">
                        <a:lnSpc>
                          <a:spcPct val="80000"/>
                        </a:lnSpc>
                        <a:spcBef>
                          <a:spcPts val="0"/>
                        </a:spcBef>
                        <a:spcAft>
                          <a:spcPts val="0"/>
                        </a:spcAft>
                        <a:buClr>
                          <a:srgbClr val="0F243E"/>
                        </a:buClr>
                        <a:buSzPts val="1200"/>
                        <a:buFont typeface="Calibri"/>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March’26</a:t>
                      </a:r>
                      <a:endParaRPr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l" rtl="0">
                        <a:lnSpc>
                          <a:spcPct val="80000"/>
                        </a:lnSpc>
                        <a:spcBef>
                          <a:spcPts val="0"/>
                        </a:spcBef>
                        <a:spcAft>
                          <a:spcPts val="0"/>
                        </a:spcAft>
                        <a:buClr>
                          <a:srgbClr val="000000"/>
                        </a:buClr>
                        <a:buSzPts val="1200"/>
                        <a:buFont typeface="Arial"/>
                        <a:buNone/>
                      </a:pP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Target Comp Date: 400 kV : June/765kV :July</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Calibri"/>
                        </a:rPr>
                        <a:t>                       </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Project Value: 390 </a:t>
                      </a:r>
                      <a:r>
                        <a:rPr lang="en-GB" sz="1200" b="1" i="0" u="none" strike="noStrike" kern="1200" dirty="0" err="1">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Crs</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
        <p:nvSpPr>
          <p:cNvPr id="11" name="Title 1">
            <a:extLst>
              <a:ext uri="{FF2B5EF4-FFF2-40B4-BE49-F238E27FC236}">
                <a16:creationId xmlns:a16="http://schemas.microsoft.com/office/drawing/2014/main" id="{623DD785-2368-DFC5-41AE-C0A16CAF16D0}"/>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765/400 kV KPS-2 Ext 39T (SA-503)</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B75ACF86-3220-9905-0DE4-BFAA6EEB637B}"/>
              </a:ext>
            </a:extLst>
          </p:cNvPr>
          <p:cNvGraphicFramePr>
            <a:graphicFrameLocks noGrp="1"/>
          </p:cNvGraphicFramePr>
          <p:nvPr>
            <p:extLst>
              <p:ext uri="{D42A27DB-BD31-4B8C-83A1-F6EECF244321}">
                <p14:modId xmlns:p14="http://schemas.microsoft.com/office/powerpoint/2010/main" val="2796783866"/>
              </p:ext>
            </p:extLst>
          </p:nvPr>
        </p:nvGraphicFramePr>
        <p:xfrm>
          <a:off x="257175" y="1488300"/>
          <a:ext cx="11694586" cy="5047966"/>
        </p:xfrm>
        <a:graphic>
          <a:graphicData uri="http://schemas.openxmlformats.org/drawingml/2006/table">
            <a:tbl>
              <a:tblPr/>
              <a:tblGrid>
                <a:gridCol w="528411">
                  <a:extLst>
                    <a:ext uri="{9D8B030D-6E8A-4147-A177-3AD203B41FA5}">
                      <a16:colId xmlns:a16="http://schemas.microsoft.com/office/drawing/2014/main" val="1866683649"/>
                    </a:ext>
                  </a:extLst>
                </a:gridCol>
                <a:gridCol w="1807724">
                  <a:extLst>
                    <a:ext uri="{9D8B030D-6E8A-4147-A177-3AD203B41FA5}">
                      <a16:colId xmlns:a16="http://schemas.microsoft.com/office/drawing/2014/main" val="469263185"/>
                    </a:ext>
                  </a:extLst>
                </a:gridCol>
                <a:gridCol w="417168">
                  <a:extLst>
                    <a:ext uri="{9D8B030D-6E8A-4147-A177-3AD203B41FA5}">
                      <a16:colId xmlns:a16="http://schemas.microsoft.com/office/drawing/2014/main" val="982729650"/>
                    </a:ext>
                  </a:extLst>
                </a:gridCol>
                <a:gridCol w="653563">
                  <a:extLst>
                    <a:ext uri="{9D8B030D-6E8A-4147-A177-3AD203B41FA5}">
                      <a16:colId xmlns:a16="http://schemas.microsoft.com/office/drawing/2014/main" val="836853619"/>
                    </a:ext>
                  </a:extLst>
                </a:gridCol>
                <a:gridCol w="639655">
                  <a:extLst>
                    <a:ext uri="{9D8B030D-6E8A-4147-A177-3AD203B41FA5}">
                      <a16:colId xmlns:a16="http://schemas.microsoft.com/office/drawing/2014/main" val="3878396167"/>
                    </a:ext>
                  </a:extLst>
                </a:gridCol>
                <a:gridCol w="1001200">
                  <a:extLst>
                    <a:ext uri="{9D8B030D-6E8A-4147-A177-3AD203B41FA5}">
                      <a16:colId xmlns:a16="http://schemas.microsoft.com/office/drawing/2014/main" val="2867205349"/>
                    </a:ext>
                  </a:extLst>
                </a:gridCol>
                <a:gridCol w="795191">
                  <a:extLst>
                    <a:ext uri="{9D8B030D-6E8A-4147-A177-3AD203B41FA5}">
                      <a16:colId xmlns:a16="http://schemas.microsoft.com/office/drawing/2014/main" val="311722030"/>
                    </a:ext>
                  </a:extLst>
                </a:gridCol>
                <a:gridCol w="578600">
                  <a:extLst>
                    <a:ext uri="{9D8B030D-6E8A-4147-A177-3AD203B41FA5}">
                      <a16:colId xmlns:a16="http://schemas.microsoft.com/office/drawing/2014/main" val="2151926357"/>
                    </a:ext>
                  </a:extLst>
                </a:gridCol>
                <a:gridCol w="760495">
                  <a:extLst>
                    <a:ext uri="{9D8B030D-6E8A-4147-A177-3AD203B41FA5}">
                      <a16:colId xmlns:a16="http://schemas.microsoft.com/office/drawing/2014/main" val="4104235525"/>
                    </a:ext>
                  </a:extLst>
                </a:gridCol>
                <a:gridCol w="1712852">
                  <a:extLst>
                    <a:ext uri="{9D8B030D-6E8A-4147-A177-3AD203B41FA5}">
                      <a16:colId xmlns:a16="http://schemas.microsoft.com/office/drawing/2014/main" val="2084293778"/>
                    </a:ext>
                  </a:extLst>
                </a:gridCol>
                <a:gridCol w="1470213">
                  <a:extLst>
                    <a:ext uri="{9D8B030D-6E8A-4147-A177-3AD203B41FA5}">
                      <a16:colId xmlns:a16="http://schemas.microsoft.com/office/drawing/2014/main" val="1907232567"/>
                    </a:ext>
                  </a:extLst>
                </a:gridCol>
                <a:gridCol w="1329514">
                  <a:extLst>
                    <a:ext uri="{9D8B030D-6E8A-4147-A177-3AD203B41FA5}">
                      <a16:colId xmlns:a16="http://schemas.microsoft.com/office/drawing/2014/main" val="1519381057"/>
                    </a:ext>
                  </a:extLst>
                </a:gridCol>
              </a:tblGrid>
              <a:tr h="957227">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Sl. No.</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Qtys</a:t>
                      </a: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as per Actual</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w.r.t Actual</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 Available</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78746980"/>
                  </a:ext>
                </a:extLst>
              </a:tr>
              <a:tr h="547036">
                <a:tc>
                  <a:txBody>
                    <a:bodyPr/>
                    <a:lstStyle/>
                    <a:p>
                      <a:pPr algn="ctr" rtl="0" fontAlgn="ctr">
                        <a:buNone/>
                      </a:pPr>
                      <a:r>
                        <a:rPr lang="en-US" sz="1200" u="none" strike="noStrike" dirty="0">
                          <a:effectLst/>
                          <a:latin typeface="Calibri" panose="020F0502020204030204" pitchFamily="34" charset="0"/>
                          <a:ea typeface="Calibri" panose="020F0502020204030204" pitchFamily="34" charset="0"/>
                          <a:cs typeface="Calibri" panose="020F0502020204030204" pitchFamily="34" charset="0"/>
                        </a:rPr>
                        <a:t>1</a:t>
                      </a:r>
                      <a:endPar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l"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765kV GIS-A Bay Erection</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Nos</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6">
                  <a:txBody>
                    <a:bodyPr/>
                    <a:lstStyle/>
                    <a:p>
                      <a:pPr algn="ctr" fontAlgn="b">
                        <a:buNone/>
                      </a:pPr>
                      <a:endPar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noFill/>
                  </a:tcPr>
                </a:tc>
                <a:tc rowSpan="6">
                  <a:txBody>
                    <a:bodyPr/>
                    <a:lstStyle/>
                    <a:p>
                      <a:pPr algn="ctr">
                        <a:lnSpc>
                          <a:spcPct val="107000"/>
                        </a:lnSpc>
                        <a:spcAft>
                          <a:spcPts val="800"/>
                        </a:spcAft>
                      </a:pPr>
                      <a:r>
                        <a:rPr lang="en-IN" sz="1200" dirty="0">
                          <a:effectLst/>
                          <a:latin typeface="Calibri" panose="020F0502020204030204" pitchFamily="34" charset="0"/>
                          <a:ea typeface="Calibri" panose="020F0502020204030204" pitchFamily="34" charset="0"/>
                          <a:cs typeface="Calibri" panose="020F0502020204030204" pitchFamily="34" charset="0"/>
                        </a:rPr>
                        <a:t>June’26</a:t>
                      </a: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 be Commence from 15</a:t>
                      </a:r>
                      <a:r>
                        <a:rPr lang="en-US" sz="1200" b="1" i="0" u="none" strike="noStrike" baseline="300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th</a:t>
                      </a: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may</a:t>
                      </a: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09355206"/>
                  </a:ext>
                </a:extLst>
              </a:tr>
              <a:tr h="547036">
                <a:tc>
                  <a:txBody>
                    <a:bodyPr/>
                    <a:lstStyle/>
                    <a:p>
                      <a:pPr algn="ctr" rtl="0" fontAlgn="ctr">
                        <a:buNone/>
                      </a:pPr>
                      <a:r>
                        <a:rPr lang="en-US" sz="1200" u="none" strike="noStrike" dirty="0">
                          <a:effectLst/>
                          <a:latin typeface="Calibri" panose="020F0502020204030204" pitchFamily="34" charset="0"/>
                          <a:ea typeface="Calibri" panose="020F0502020204030204" pitchFamily="34" charset="0"/>
                          <a:cs typeface="Calibri" panose="020F0502020204030204" pitchFamily="34" charset="0"/>
                        </a:rPr>
                        <a:t>2</a:t>
                      </a:r>
                      <a:endPar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l"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765kV GIS-D Bay Erection</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Nos.</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US"/>
                    </a:p>
                  </a:txBody>
                  <a:tcPr/>
                </a:tc>
                <a:tc vMerge="1">
                  <a:txBody>
                    <a:bodyPr/>
                    <a:lstStyle/>
                    <a:p>
                      <a:pPr algn="ctr">
                        <a:lnSpc>
                          <a:spcPct val="107000"/>
                        </a:lnSpc>
                        <a:spcAft>
                          <a:spcPts val="800"/>
                        </a:spcAft>
                      </a:pPr>
                      <a:endParaRPr lang="en-IN" sz="1400" dirty="0">
                        <a:effectLst/>
                        <a:latin typeface="Calibri" panose="020F0502020204030204" pitchFamily="34" charset="0"/>
                        <a:ea typeface="Calibri" panose="020F0502020204030204" pitchFamily="34" charset="0"/>
                        <a:cs typeface="Mangal" panose="02040503050203030202" pitchFamily="18"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US"/>
                    </a:p>
                  </a:txBody>
                  <a:tcPr/>
                </a:tc>
                <a:extLst>
                  <a:ext uri="{0D108BD9-81ED-4DB2-BD59-A6C34878D82A}">
                    <a16:rowId xmlns:a16="http://schemas.microsoft.com/office/drawing/2014/main" val="810276288"/>
                  </a:ext>
                </a:extLst>
              </a:tr>
              <a:tr h="547036">
                <a:tc>
                  <a:txBody>
                    <a:bodyPr/>
                    <a:lstStyle/>
                    <a:p>
                      <a:pPr algn="ctr" rtl="0" fontAlgn="ctr">
                        <a:buNone/>
                      </a:pPr>
                      <a:r>
                        <a:rPr lang="en-US" sz="1200" u="none" strike="noStrike" dirty="0">
                          <a:effectLst/>
                          <a:latin typeface="Calibri" panose="020F0502020204030204" pitchFamily="34" charset="0"/>
                          <a:ea typeface="Calibri" panose="020F0502020204030204" pitchFamily="34" charset="0"/>
                          <a:cs typeface="Calibri" panose="020F0502020204030204" pitchFamily="34" charset="0"/>
                        </a:rPr>
                        <a:t>3</a:t>
                      </a:r>
                      <a:endPar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l"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765kV Sec 2 A :- GIB ( Outside Building)</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RM</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190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190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190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190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pPr algn="ctr" fontAlgn="ctr">
                        <a:buNone/>
                      </a:pPr>
                      <a:endParaRPr lang="en-US" sz="1200" b="1" i="0" u="none" strike="noStrike" dirty="0">
                        <a:solidFill>
                          <a:srgbClr val="000000"/>
                        </a:solidFill>
                        <a:effectLst/>
                        <a:latin typeface="+mj-lt"/>
                      </a:endParaRPr>
                    </a:p>
                  </a:txBody>
                  <a:tcPr marL="5988" marR="5988" marT="598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pPr algn="ctr">
                        <a:lnSpc>
                          <a:spcPct val="107000"/>
                        </a:lnSpc>
                        <a:spcAft>
                          <a:spcPts val="800"/>
                        </a:spcAft>
                      </a:pPr>
                      <a:endParaRPr lang="en-IN" sz="1400" dirty="0">
                        <a:effectLst/>
                        <a:latin typeface="Calibri" panose="020F0502020204030204" pitchFamily="34" charset="0"/>
                        <a:ea typeface="Calibri" panose="020F0502020204030204" pitchFamily="34" charset="0"/>
                        <a:cs typeface="Mangal" panose="02040503050203030202" pitchFamily="18"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594671076"/>
                  </a:ext>
                </a:extLst>
              </a:tr>
              <a:tr h="816544">
                <a:tc>
                  <a:txBody>
                    <a:bodyPr/>
                    <a:lstStyle/>
                    <a:p>
                      <a:pPr algn="ctr" rtl="0" fontAlgn="ctr">
                        <a:buNone/>
                      </a:pPr>
                      <a:r>
                        <a:rPr lang="en-US" sz="1200" u="none" strike="noStrike" dirty="0">
                          <a:effectLst/>
                          <a:latin typeface="Calibri" panose="020F0502020204030204" pitchFamily="34" charset="0"/>
                          <a:ea typeface="Calibri" panose="020F0502020204030204" pitchFamily="34" charset="0"/>
                          <a:cs typeface="Calibri" panose="020F0502020204030204" pitchFamily="34" charset="0"/>
                        </a:rPr>
                        <a:t>4</a:t>
                      </a:r>
                      <a:endPar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l"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765kV Sec 2 A :- GIB Length                   ( Inside Building)</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RM</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40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vMerge="1">
                  <a:txBody>
                    <a:bodyPr/>
                    <a:lstStyle/>
                    <a:p>
                      <a:pPr algn="ctr">
                        <a:lnSpc>
                          <a:spcPct val="107000"/>
                        </a:lnSpc>
                        <a:spcAft>
                          <a:spcPts val="800"/>
                        </a:spcAft>
                      </a:pPr>
                      <a:endParaRPr lang="en-IN" sz="1400" dirty="0">
                        <a:effectLst/>
                        <a:latin typeface="Calibri" panose="020F0502020204030204" pitchFamily="34" charset="0"/>
                        <a:ea typeface="Calibri" panose="020F0502020204030204" pitchFamily="34" charset="0"/>
                        <a:cs typeface="Mangal" panose="02040503050203030202" pitchFamily="18"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236585832"/>
                  </a:ext>
                </a:extLst>
              </a:tr>
              <a:tr h="1086051">
                <a:tc>
                  <a:txBody>
                    <a:bodyPr/>
                    <a:lstStyle/>
                    <a:p>
                      <a:pPr algn="ctr" rtl="0"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l" defTabSz="914400" rtl="0" eaLnBrk="1" fontAlgn="ctr" latinLnBrk="0" hangingPunct="1">
                        <a:buNone/>
                      </a:pPr>
                      <a:r>
                        <a:rPr lang="en-US" sz="1200" kern="1200">
                          <a:solidFill>
                            <a:schemeClr val="dk1"/>
                          </a:solidFill>
                          <a:effectLst/>
                          <a:latin typeface="Calibri" panose="020F0502020204030204" pitchFamily="34" charset="0"/>
                          <a:ea typeface="Calibri" panose="020F0502020204030204" pitchFamily="34" charset="0"/>
                          <a:cs typeface="Calibri" panose="020F0502020204030204" pitchFamily="34" charset="0"/>
                        </a:rPr>
                        <a:t>765kV Sec 1 D :- GIB  ( Outside Building) D Buliding To Adani Building</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RM</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825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825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825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825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vMerge="1">
                  <a:txBody>
                    <a:bodyPr/>
                    <a:lstStyle/>
                    <a:p>
                      <a:pPr algn="ctr">
                        <a:lnSpc>
                          <a:spcPct val="107000"/>
                        </a:lnSpc>
                        <a:spcAft>
                          <a:spcPts val="800"/>
                        </a:spcAft>
                      </a:pPr>
                      <a:endParaRPr lang="en-IN" sz="1400" dirty="0">
                        <a:effectLst/>
                        <a:latin typeface="Calibri" panose="020F0502020204030204" pitchFamily="34" charset="0"/>
                        <a:ea typeface="Calibri" panose="020F0502020204030204" pitchFamily="34" charset="0"/>
                        <a:cs typeface="Mangal" panose="02040503050203030202" pitchFamily="18" charset="0"/>
                      </a:endParaRPr>
                    </a:p>
                  </a:txBody>
                  <a:tcPr marL="32876" marR="32876"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3247213450"/>
                  </a:ext>
                </a:extLst>
              </a:tr>
              <a:tr h="547036">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endPar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l"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765kV Sec 1 D :- GIB                                   ( Inside Building)</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RM</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84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84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84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algn="ctr">
                        <a:buNone/>
                      </a:pPr>
                      <a:r>
                        <a:rPr lang="en-US" sz="1200" dirty="0">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algn="ctr" defTabSz="914400" rtl="0" eaLnBrk="1" fontAlgn="ctr" latinLnBrk="0" hangingPunct="1">
                        <a:buNone/>
                      </a:pPr>
                      <a:r>
                        <a:rPr lang="en-US" sz="1200" kern="1200" dirty="0">
                          <a:solidFill>
                            <a:schemeClr val="dk1"/>
                          </a:solidFill>
                          <a:effectLst/>
                          <a:latin typeface="Calibri" panose="020F0502020204030204" pitchFamily="34" charset="0"/>
                          <a:ea typeface="Calibri" panose="020F0502020204030204" pitchFamily="34" charset="0"/>
                          <a:cs typeface="Calibri" panose="020F0502020204030204" pitchFamily="34" charset="0"/>
                        </a:rPr>
                        <a:t>84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DEBF7"/>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p>
                  </a:txBody>
                  <a:tcPr marL="5988" marR="5988" marT="598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tc vMerge="1">
                  <a:txBody>
                    <a:bodyPr/>
                    <a:lstStyle/>
                    <a:p>
                      <a:pPr marL="0" marR="0" algn="ctr">
                        <a:buNone/>
                      </a:pPr>
                      <a:endParaRPr lang="en-US" sz="1200" dirty="0">
                        <a:effectLst/>
                        <a:latin typeface="Aptos" panose="020B0004020202020204" pitchFamily="34" charset="0"/>
                        <a:ea typeface="Calibri" panose="020F0502020204030204" pitchFamily="34" charset="0"/>
                        <a:cs typeface="Aptos" panose="020B00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xBody>
                    <a:bodyPr/>
                    <a:lstStyle/>
                    <a:p>
                      <a:endParaRPr lang="en-IN"/>
                    </a:p>
                  </a:txBody>
                  <a:tcPr/>
                </a:tc>
                <a:extLst>
                  <a:ext uri="{0D108BD9-81ED-4DB2-BD59-A6C34878D82A}">
                    <a16:rowId xmlns:a16="http://schemas.microsoft.com/office/drawing/2014/main" val="3137241404"/>
                  </a:ext>
                </a:extLst>
              </a:tr>
            </a:tbl>
          </a:graphicData>
        </a:graphic>
      </p:graphicFrame>
    </p:spTree>
    <p:extLst>
      <p:ext uri="{BB962C8B-B14F-4D97-AF65-F5344CB8AC3E}">
        <p14:creationId xmlns:p14="http://schemas.microsoft.com/office/powerpoint/2010/main" val="3345323834"/>
      </p:ext>
    </p:extLst>
  </p:cSld>
  <p:clrMapOvr>
    <a:masterClrMapping/>
  </p:clrMapOvr>
  <p:transition spd="slow"/>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400A3D-B3FE-F22B-F1F4-0697CA25C639}"/>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01C48C15-8FCD-11C4-7938-00207CEC35B4}"/>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SS33T </a:t>
            </a:r>
            <a:r>
              <a:rPr lang="en-IN" sz="2400" b="1" dirty="0">
                <a:latin typeface="Calibri" panose="020F0502020204030204" pitchFamily="34" charset="0"/>
                <a:ea typeface="Calibri" panose="020F0502020204030204" pitchFamily="34" charset="0"/>
                <a:cs typeface="Calibri" panose="020F0502020204030204" pitchFamily="34" charset="0"/>
              </a:rPr>
              <a:t>765kV GIS Vadodara Extn S/S (</a:t>
            </a:r>
            <a:r>
              <a:rPr lang="fr-FR" sz="2400" b="1" dirty="0">
                <a:latin typeface="Calibri" panose="020F0502020204030204" pitchFamily="34" charset="0"/>
                <a:ea typeface="Calibri" panose="020F0502020204030204" pitchFamily="34" charset="0"/>
                <a:cs typeface="Calibri" panose="020F0502020204030204" pitchFamily="34" charset="0"/>
              </a:rPr>
              <a:t>SA5V8)</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847AB009-18ED-084A-22A9-0361AF5425C6}"/>
              </a:ext>
            </a:extLst>
          </p:cNvPr>
          <p:cNvGraphicFramePr>
            <a:graphicFrameLocks noGrp="1"/>
          </p:cNvGraphicFramePr>
          <p:nvPr>
            <p:extLst>
              <p:ext uri="{D42A27DB-BD31-4B8C-83A1-F6EECF244321}">
                <p14:modId xmlns:p14="http://schemas.microsoft.com/office/powerpoint/2010/main" val="1406256898"/>
              </p:ext>
            </p:extLst>
          </p:nvPr>
        </p:nvGraphicFramePr>
        <p:xfrm>
          <a:off x="240241"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Date: 26.11.2024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25-10-2026</a:t>
                      </a:r>
                      <a:endParaRPr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rtl="0">
                        <a:lnSpc>
                          <a:spcPct val="80000"/>
                        </a:lnSpc>
                        <a:spcBef>
                          <a:spcPts val="0"/>
                        </a:spcBef>
                        <a:spcAft>
                          <a:spcPts val="0"/>
                        </a:spcAft>
                        <a:buClr>
                          <a:srgbClr val="000000"/>
                        </a:buClr>
                        <a:buSzPts val="1200"/>
                        <a:buFont typeface="Arial"/>
                        <a:buNone/>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Target Comp Date: 25-10-2026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Project Value: 198.93cr</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2" name="Table 1">
            <a:extLst>
              <a:ext uri="{FF2B5EF4-FFF2-40B4-BE49-F238E27FC236}">
                <a16:creationId xmlns:a16="http://schemas.microsoft.com/office/drawing/2014/main" id="{2DA45BC4-192F-C11E-7B62-7303537FD4FF}"/>
              </a:ext>
            </a:extLst>
          </p:cNvPr>
          <p:cNvGraphicFramePr>
            <a:graphicFrameLocks noGrp="1"/>
          </p:cNvGraphicFramePr>
          <p:nvPr>
            <p:extLst>
              <p:ext uri="{D42A27DB-BD31-4B8C-83A1-F6EECF244321}">
                <p14:modId xmlns:p14="http://schemas.microsoft.com/office/powerpoint/2010/main" val="1195362533"/>
              </p:ext>
            </p:extLst>
          </p:nvPr>
        </p:nvGraphicFramePr>
        <p:xfrm>
          <a:off x="257210" y="1466397"/>
          <a:ext cx="11723123" cy="5144230"/>
        </p:xfrm>
        <a:graphic>
          <a:graphicData uri="http://schemas.openxmlformats.org/drawingml/2006/table">
            <a:tbl>
              <a:tblPr/>
              <a:tblGrid>
                <a:gridCol w="445148">
                  <a:extLst>
                    <a:ext uri="{9D8B030D-6E8A-4147-A177-3AD203B41FA5}">
                      <a16:colId xmlns:a16="http://schemas.microsoft.com/office/drawing/2014/main" val="3306208201"/>
                    </a:ext>
                  </a:extLst>
                </a:gridCol>
                <a:gridCol w="2011307">
                  <a:extLst>
                    <a:ext uri="{9D8B030D-6E8A-4147-A177-3AD203B41FA5}">
                      <a16:colId xmlns:a16="http://schemas.microsoft.com/office/drawing/2014/main" val="4188759303"/>
                    </a:ext>
                  </a:extLst>
                </a:gridCol>
                <a:gridCol w="382719">
                  <a:extLst>
                    <a:ext uri="{9D8B030D-6E8A-4147-A177-3AD203B41FA5}">
                      <a16:colId xmlns:a16="http://schemas.microsoft.com/office/drawing/2014/main" val="2743216797"/>
                    </a:ext>
                  </a:extLst>
                </a:gridCol>
                <a:gridCol w="749151">
                  <a:extLst>
                    <a:ext uri="{9D8B030D-6E8A-4147-A177-3AD203B41FA5}">
                      <a16:colId xmlns:a16="http://schemas.microsoft.com/office/drawing/2014/main" val="3190791520"/>
                    </a:ext>
                  </a:extLst>
                </a:gridCol>
                <a:gridCol w="705722">
                  <a:extLst>
                    <a:ext uri="{9D8B030D-6E8A-4147-A177-3AD203B41FA5}">
                      <a16:colId xmlns:a16="http://schemas.microsoft.com/office/drawing/2014/main" val="3809024565"/>
                    </a:ext>
                  </a:extLst>
                </a:gridCol>
                <a:gridCol w="890295">
                  <a:extLst>
                    <a:ext uri="{9D8B030D-6E8A-4147-A177-3AD203B41FA5}">
                      <a16:colId xmlns:a16="http://schemas.microsoft.com/office/drawing/2014/main" val="3678501335"/>
                    </a:ext>
                  </a:extLst>
                </a:gridCol>
                <a:gridCol w="868579">
                  <a:extLst>
                    <a:ext uri="{9D8B030D-6E8A-4147-A177-3AD203B41FA5}">
                      <a16:colId xmlns:a16="http://schemas.microsoft.com/office/drawing/2014/main" val="570502732"/>
                    </a:ext>
                  </a:extLst>
                </a:gridCol>
                <a:gridCol w="836008">
                  <a:extLst>
                    <a:ext uri="{9D8B030D-6E8A-4147-A177-3AD203B41FA5}">
                      <a16:colId xmlns:a16="http://schemas.microsoft.com/office/drawing/2014/main" val="1912478978"/>
                    </a:ext>
                  </a:extLst>
                </a:gridCol>
                <a:gridCol w="741007">
                  <a:extLst>
                    <a:ext uri="{9D8B030D-6E8A-4147-A177-3AD203B41FA5}">
                      <a16:colId xmlns:a16="http://schemas.microsoft.com/office/drawing/2014/main" val="4249466008"/>
                    </a:ext>
                  </a:extLst>
                </a:gridCol>
                <a:gridCol w="841987">
                  <a:extLst>
                    <a:ext uri="{9D8B030D-6E8A-4147-A177-3AD203B41FA5}">
                      <a16:colId xmlns:a16="http://schemas.microsoft.com/office/drawing/2014/main" val="595763272"/>
                    </a:ext>
                  </a:extLst>
                </a:gridCol>
                <a:gridCol w="3251200">
                  <a:extLst>
                    <a:ext uri="{9D8B030D-6E8A-4147-A177-3AD203B41FA5}">
                      <a16:colId xmlns:a16="http://schemas.microsoft.com/office/drawing/2014/main" val="1821711289"/>
                    </a:ext>
                  </a:extLst>
                </a:gridCol>
              </a:tblGrid>
              <a:tr h="395049">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Sl. No.</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Qtys as per Actual</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w.r.t L2</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4050739431"/>
                  </a:ext>
                </a:extLst>
              </a:tr>
              <a:tr h="135145">
                <a:tc>
                  <a:txBody>
                    <a:bodyPr/>
                    <a:lstStyle/>
                    <a:p>
                      <a:pPr algn="ctr" rtl="0" fontAlgn="ctr">
                        <a:buNone/>
                      </a:pPr>
                      <a:r>
                        <a:rPr lang="en-IN"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Supply</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65852294"/>
                  </a:ext>
                </a:extLst>
              </a:tr>
              <a:tr h="13514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 Bolts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796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796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796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796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43449884"/>
                  </a:ext>
                </a:extLst>
              </a:tr>
              <a:tr h="13514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&amp; Equipment structure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200.3</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167</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167</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156.8</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10.2</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94%</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fr-FR"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KEC (Balance -NCT-2  Nos , 765kV LA- 4 Nos)</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80960687"/>
                  </a:ext>
                </a:extLst>
              </a:tr>
              <a:tr h="26509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Earthing Materials</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40mm MS Rod Received, </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Misc Earthing material required (GI Flat, MS Earthing)</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09530897"/>
                  </a:ext>
                </a:extLst>
              </a:tr>
              <a:tr h="26509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PEB Structure &amp; Puff panels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May to Jun'26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PEB: Kirby Building syatems (270MT)</a:t>
                      </a:r>
                      <a:b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Puff Panel: Jindal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67359284"/>
                  </a:ext>
                </a:extLst>
              </a:tr>
              <a:tr h="13514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EOT Crane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Set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Reva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72153131"/>
                  </a:ext>
                </a:extLst>
              </a:tr>
              <a:tr h="13514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GIS Equipments - Indoor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Set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29</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29</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29</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29</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Hyosung</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50856390"/>
                  </a:ext>
                </a:extLst>
              </a:tr>
              <a:tr h="26509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GIS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Equipments</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&amp; GIB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RM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1526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1526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1526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Outdoor GIS Support Structure Supply Expected by May'26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02338344"/>
                  </a:ext>
                </a:extLst>
              </a:tr>
              <a:tr h="26509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765kV Outdoor Equipments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34</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34</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34</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22</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pt-BR"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CVT - 6nos - GE vernova </a:t>
                      </a:r>
                      <a:br>
                        <a:rPr lang="pt-BR"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pt-BR"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BPI - Moder Company - 28set</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09357826"/>
                  </a:ext>
                </a:extLst>
              </a:tr>
              <a:tr h="26509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145/36kV Outdoor Equipments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62</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62</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62</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BPI - 145kV - Moder Company - 60nos BPI Pending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88082029"/>
                  </a:ext>
                </a:extLst>
              </a:tr>
              <a:tr h="26509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Erectiopn Hardware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Set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Jun'26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Vensun</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 Clamps &amp; Connector - Drawing approval pending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33596181"/>
                  </a:ext>
                </a:extLst>
              </a:tr>
              <a:tr h="13514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CRP &amp; SAS</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Jul'26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Compliance WIP</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93927653"/>
                  </a:ext>
                </a:extLst>
              </a:tr>
              <a:tr h="26509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PMU, PLCC, Telecom &amp; VMS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PLCC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receievd</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Commtel</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(telecom) &amp;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Delcom</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(VMS), GE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vernova</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(PMU) pending to supply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11963123"/>
                  </a:ext>
                </a:extLst>
              </a:tr>
              <a:tr h="26509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Power &amp; Control Cable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54</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54</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54</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54</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Jul'26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KEC - (Power &amp; Control Cable schedule approval pending)</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85200275"/>
                  </a:ext>
                </a:extLst>
              </a:tr>
              <a:tr h="13514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HVAC System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43658587"/>
                  </a:ext>
                </a:extLst>
              </a:tr>
              <a:tr h="13514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Fire Fighting system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1223588"/>
                  </a:ext>
                </a:extLst>
              </a:tr>
              <a:tr h="13514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Illumination System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Insta Power - 50% received at site </a:t>
                      </a:r>
                    </a:p>
                  </a:txBody>
                  <a:tcPr marL="7309" marR="7309" marT="730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91422880"/>
                  </a:ext>
                </a:extLst>
              </a:tr>
            </a:tbl>
          </a:graphicData>
        </a:graphic>
      </p:graphicFrame>
    </p:spTree>
    <p:extLst>
      <p:ext uri="{BB962C8B-B14F-4D97-AF65-F5344CB8AC3E}">
        <p14:creationId xmlns:p14="http://schemas.microsoft.com/office/powerpoint/2010/main" val="2724623253"/>
      </p:ext>
    </p:extLst>
  </p:cSld>
  <p:clrMapOvr>
    <a:masterClrMapping/>
  </p:clrMapOvr>
  <p:transition spd="slow"/>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2AEDBA-E125-B1FF-E6F1-B9446A6F728C}"/>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F680F4AD-8AD6-213E-722B-DC9E55BEBCFE}"/>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SS33T </a:t>
            </a:r>
            <a:r>
              <a:rPr lang="en-IN" sz="2400" b="1" dirty="0">
                <a:latin typeface="Calibri" panose="020F0502020204030204" pitchFamily="34" charset="0"/>
                <a:ea typeface="Calibri" panose="020F0502020204030204" pitchFamily="34" charset="0"/>
                <a:cs typeface="Calibri" panose="020F0502020204030204" pitchFamily="34" charset="0"/>
              </a:rPr>
              <a:t>765kV GIS Vadodara Extn S/S (</a:t>
            </a:r>
            <a:r>
              <a:rPr lang="fr-FR" sz="2400" b="1" dirty="0">
                <a:latin typeface="Calibri" panose="020F0502020204030204" pitchFamily="34" charset="0"/>
                <a:ea typeface="Calibri" panose="020F0502020204030204" pitchFamily="34" charset="0"/>
                <a:cs typeface="Calibri" panose="020F0502020204030204" pitchFamily="34" charset="0"/>
              </a:rPr>
              <a:t>SA5V8)</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346E90BA-54DF-1683-32A0-274D95A59C9A}"/>
              </a:ext>
            </a:extLst>
          </p:cNvPr>
          <p:cNvGraphicFramePr>
            <a:graphicFrameLocks noGrp="1"/>
          </p:cNvGraphicFramePr>
          <p:nvPr>
            <p:extLst>
              <p:ext uri="{D42A27DB-BD31-4B8C-83A1-F6EECF244321}">
                <p14:modId xmlns:p14="http://schemas.microsoft.com/office/powerpoint/2010/main" val="311043227"/>
              </p:ext>
            </p:extLst>
          </p:nvPr>
        </p:nvGraphicFramePr>
        <p:xfrm>
          <a:off x="240241"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Date: 26.11.2024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25-10-2026</a:t>
                      </a:r>
                      <a:endParaRPr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rtl="0">
                        <a:lnSpc>
                          <a:spcPct val="80000"/>
                        </a:lnSpc>
                        <a:spcBef>
                          <a:spcPts val="0"/>
                        </a:spcBef>
                        <a:spcAft>
                          <a:spcPts val="0"/>
                        </a:spcAft>
                        <a:buClr>
                          <a:srgbClr val="000000"/>
                        </a:buClr>
                        <a:buSzPts val="1200"/>
                        <a:buFont typeface="Arial"/>
                        <a:buNone/>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Target Comp Date: 25-10-2026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Project Value: 198.93cr</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3" name="Table 2">
            <a:extLst>
              <a:ext uri="{FF2B5EF4-FFF2-40B4-BE49-F238E27FC236}">
                <a16:creationId xmlns:a16="http://schemas.microsoft.com/office/drawing/2014/main" id="{EC53231A-EEF4-21F4-6B93-DCB883F6C7B9}"/>
              </a:ext>
            </a:extLst>
          </p:cNvPr>
          <p:cNvGraphicFramePr>
            <a:graphicFrameLocks noGrp="1"/>
          </p:cNvGraphicFramePr>
          <p:nvPr>
            <p:extLst>
              <p:ext uri="{D42A27DB-BD31-4B8C-83A1-F6EECF244321}">
                <p14:modId xmlns:p14="http://schemas.microsoft.com/office/powerpoint/2010/main" val="2308640379"/>
              </p:ext>
            </p:extLst>
          </p:nvPr>
        </p:nvGraphicFramePr>
        <p:xfrm>
          <a:off x="248708" y="1466397"/>
          <a:ext cx="11711519" cy="5034206"/>
        </p:xfrm>
        <a:graphic>
          <a:graphicData uri="http://schemas.openxmlformats.org/drawingml/2006/table">
            <a:tbl>
              <a:tblPr/>
              <a:tblGrid>
                <a:gridCol w="470113">
                  <a:extLst>
                    <a:ext uri="{9D8B030D-6E8A-4147-A177-3AD203B41FA5}">
                      <a16:colId xmlns:a16="http://schemas.microsoft.com/office/drawing/2014/main" val="2408906637"/>
                    </a:ext>
                  </a:extLst>
                </a:gridCol>
                <a:gridCol w="2620559">
                  <a:extLst>
                    <a:ext uri="{9D8B030D-6E8A-4147-A177-3AD203B41FA5}">
                      <a16:colId xmlns:a16="http://schemas.microsoft.com/office/drawing/2014/main" val="2730279262"/>
                    </a:ext>
                  </a:extLst>
                </a:gridCol>
                <a:gridCol w="381173">
                  <a:extLst>
                    <a:ext uri="{9D8B030D-6E8A-4147-A177-3AD203B41FA5}">
                      <a16:colId xmlns:a16="http://schemas.microsoft.com/office/drawing/2014/main" val="3026848837"/>
                    </a:ext>
                  </a:extLst>
                </a:gridCol>
                <a:gridCol w="711522">
                  <a:extLst>
                    <a:ext uri="{9D8B030D-6E8A-4147-A177-3AD203B41FA5}">
                      <a16:colId xmlns:a16="http://schemas.microsoft.com/office/drawing/2014/main" val="939952223"/>
                    </a:ext>
                  </a:extLst>
                </a:gridCol>
                <a:gridCol w="749638">
                  <a:extLst>
                    <a:ext uri="{9D8B030D-6E8A-4147-A177-3AD203B41FA5}">
                      <a16:colId xmlns:a16="http://schemas.microsoft.com/office/drawing/2014/main" val="2182856240"/>
                    </a:ext>
                  </a:extLst>
                </a:gridCol>
                <a:gridCol w="927520">
                  <a:extLst>
                    <a:ext uri="{9D8B030D-6E8A-4147-A177-3AD203B41FA5}">
                      <a16:colId xmlns:a16="http://schemas.microsoft.com/office/drawing/2014/main" val="1544689238"/>
                    </a:ext>
                  </a:extLst>
                </a:gridCol>
                <a:gridCol w="787755">
                  <a:extLst>
                    <a:ext uri="{9D8B030D-6E8A-4147-A177-3AD203B41FA5}">
                      <a16:colId xmlns:a16="http://schemas.microsoft.com/office/drawing/2014/main" val="2551940179"/>
                    </a:ext>
                  </a:extLst>
                </a:gridCol>
                <a:gridCol w="752815">
                  <a:extLst>
                    <a:ext uri="{9D8B030D-6E8A-4147-A177-3AD203B41FA5}">
                      <a16:colId xmlns:a16="http://schemas.microsoft.com/office/drawing/2014/main" val="2543915066"/>
                    </a:ext>
                  </a:extLst>
                </a:gridCol>
                <a:gridCol w="591055">
                  <a:extLst>
                    <a:ext uri="{9D8B030D-6E8A-4147-A177-3AD203B41FA5}">
                      <a16:colId xmlns:a16="http://schemas.microsoft.com/office/drawing/2014/main" val="4202138006"/>
                    </a:ext>
                  </a:extLst>
                </a:gridCol>
                <a:gridCol w="690041">
                  <a:extLst>
                    <a:ext uri="{9D8B030D-6E8A-4147-A177-3AD203B41FA5}">
                      <a16:colId xmlns:a16="http://schemas.microsoft.com/office/drawing/2014/main" val="3682602963"/>
                    </a:ext>
                  </a:extLst>
                </a:gridCol>
                <a:gridCol w="898901">
                  <a:extLst>
                    <a:ext uri="{9D8B030D-6E8A-4147-A177-3AD203B41FA5}">
                      <a16:colId xmlns:a16="http://schemas.microsoft.com/office/drawing/2014/main" val="2726916505"/>
                    </a:ext>
                  </a:extLst>
                </a:gridCol>
                <a:gridCol w="2130427">
                  <a:extLst>
                    <a:ext uri="{9D8B030D-6E8A-4147-A177-3AD203B41FA5}">
                      <a16:colId xmlns:a16="http://schemas.microsoft.com/office/drawing/2014/main" val="3268278420"/>
                    </a:ext>
                  </a:extLst>
                </a:gridCol>
              </a:tblGrid>
              <a:tr h="425671">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Sl. No.</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Qtys as per Actual</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w.r.t Actual</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Gang Available</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966972003"/>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Contouring and land development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Cum</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48500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46000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46000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42000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91%</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10-05-2026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50734101"/>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765kV Towers</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5761102"/>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765kV Equipment</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16836018"/>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145kV Equipments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53</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53</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53</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44</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83%</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10-05-2026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44733207"/>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Reactor Foundation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08135946"/>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Firewall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30-05-2026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Precast Panel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wip</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47932528"/>
                  </a:ext>
                </a:extLst>
              </a:tr>
              <a:tr h="285769">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765kV GIS Building including PEB erection</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10-08-2026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40891284"/>
                  </a:ext>
                </a:extLst>
              </a:tr>
              <a:tr h="285769">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Bus Duct Foundation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 </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139</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139</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139</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139</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30-06-2026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Drawing submitted approval awaited</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76598318"/>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Cable Trench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RM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485</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485</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485</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10-07-2026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41668204"/>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Drain, Road and Other misc civil works</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30-09-2026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41405877"/>
                  </a:ext>
                </a:extLst>
              </a:tr>
              <a:tr h="19230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 and Equipment structure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 </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30-05-2026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45158157"/>
                  </a:ext>
                </a:extLst>
              </a:tr>
              <a:tr h="19230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Outdoor Equipment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88</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88</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88</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88</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30-06-2026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02837860"/>
                  </a:ext>
                </a:extLst>
              </a:tr>
              <a:tr h="19230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Earthing works</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30-07-2026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02502648"/>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Illumination system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20-08-2026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72683881"/>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HVAC System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10-08-2026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27264091"/>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GIS Equipments and GIB Erection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30-09-2026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68557511"/>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17</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Cable Laying &amp; Termination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55</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55</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55</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10-10-2026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89863769"/>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Fire Protection Syatem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15-10-2026</a:t>
                      </a:r>
                    </a:p>
                  </a:txBody>
                  <a:tcPr marL="7798" marR="7798" marT="77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19954759"/>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19</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CRP &amp; SAS Erection incl. Integration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15-10-2026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15738513"/>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PLCC, PMU, Telecom and VMS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20-10-2026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65745917"/>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Indoor &amp; Outdoor Equipment Testing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#DIV/0!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20-10-2026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51998631"/>
                  </a:ext>
                </a:extLst>
              </a:tr>
              <a:tr h="1458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22</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Testing &amp; Commissioning</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#DIV/0!</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25-10-2026</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798" marR="7798" marT="77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26244196"/>
                  </a:ext>
                </a:extLst>
              </a:tr>
            </a:tbl>
          </a:graphicData>
        </a:graphic>
      </p:graphicFrame>
    </p:spTree>
    <p:extLst>
      <p:ext uri="{BB962C8B-B14F-4D97-AF65-F5344CB8AC3E}">
        <p14:creationId xmlns:p14="http://schemas.microsoft.com/office/powerpoint/2010/main" val="1625354917"/>
      </p:ext>
    </p:extLst>
  </p:cSld>
  <p:clrMapOvr>
    <a:masterClrMapping/>
  </p:clrMapOvr>
  <p:transition spd="slow"/>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D4100E-53A3-CEBD-A3F1-36F29CD2019E}"/>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4FC76BD3-54B4-2ACF-A59E-1B6D6AF524FB}"/>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SS33T </a:t>
            </a:r>
            <a:r>
              <a:rPr lang="en-IN" sz="2400" b="1" dirty="0">
                <a:latin typeface="Calibri" panose="020F0502020204030204" pitchFamily="34" charset="0"/>
                <a:ea typeface="Calibri" panose="020F0502020204030204" pitchFamily="34" charset="0"/>
                <a:cs typeface="Calibri" panose="020F0502020204030204" pitchFamily="34" charset="0"/>
              </a:rPr>
              <a:t>765kV GIS Vadodara Extn S/S (</a:t>
            </a:r>
            <a:r>
              <a:rPr lang="fr-FR" sz="2400" b="1" dirty="0">
                <a:latin typeface="Calibri" panose="020F0502020204030204" pitchFamily="34" charset="0"/>
                <a:ea typeface="Calibri" panose="020F0502020204030204" pitchFamily="34" charset="0"/>
                <a:cs typeface="Calibri" panose="020F0502020204030204" pitchFamily="34" charset="0"/>
              </a:rPr>
              <a:t>SA5V8)</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DB21125C-72A8-0ACA-FA3D-7AEE6D882652}"/>
              </a:ext>
            </a:extLst>
          </p:cNvPr>
          <p:cNvGraphicFramePr>
            <a:graphicFrameLocks noGrp="1"/>
          </p:cNvGraphicFramePr>
          <p:nvPr>
            <p:extLst>
              <p:ext uri="{D42A27DB-BD31-4B8C-83A1-F6EECF244321}">
                <p14:modId xmlns:p14="http://schemas.microsoft.com/office/powerpoint/2010/main" val="1274632619"/>
              </p:ext>
            </p:extLst>
          </p:nvPr>
        </p:nvGraphicFramePr>
        <p:xfrm>
          <a:off x="240241"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Date: 26.11.2024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25-10-2026</a:t>
                      </a:r>
                      <a:endParaRPr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rtl="0">
                        <a:lnSpc>
                          <a:spcPct val="80000"/>
                        </a:lnSpc>
                        <a:spcBef>
                          <a:spcPts val="0"/>
                        </a:spcBef>
                        <a:spcAft>
                          <a:spcPts val="0"/>
                        </a:spcAft>
                        <a:buClr>
                          <a:srgbClr val="000000"/>
                        </a:buClr>
                        <a:buSzPts val="1200"/>
                        <a:buFont typeface="Arial"/>
                        <a:buNone/>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Target Comp Date: 25-10-2026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Project Value: 198.93cr</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
        <p:nvSpPr>
          <p:cNvPr id="7" name="TextBox 6">
            <a:extLst>
              <a:ext uri="{FF2B5EF4-FFF2-40B4-BE49-F238E27FC236}">
                <a16:creationId xmlns:a16="http://schemas.microsoft.com/office/drawing/2014/main" id="{25BB87CE-0886-206D-88D3-2974020D15E4}"/>
              </a:ext>
            </a:extLst>
          </p:cNvPr>
          <p:cNvSpPr txBox="1"/>
          <p:nvPr/>
        </p:nvSpPr>
        <p:spPr>
          <a:xfrm>
            <a:off x="262995" y="1704522"/>
            <a:ext cx="11694584" cy="1477328"/>
          </a:xfrm>
          <a:prstGeom prst="rect">
            <a:avLst/>
          </a:prstGeom>
          <a:noFill/>
        </p:spPr>
        <p:txBody>
          <a:bodyPr wrap="square">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endParaRPr lang="en-IN" b="1" dirty="0">
              <a:latin typeface="Calibri" panose="020F0502020204030204" pitchFamily="34" charset="0"/>
              <a:ea typeface="Calibri" panose="020F0502020204030204" pitchFamily="34" charset="0"/>
              <a:cs typeface="Calibri" panose="020F0502020204030204" pitchFamily="34" charset="0"/>
            </a:endParaRPr>
          </a:p>
          <a:p>
            <a:pPr marL="342900" indent="-342900" fontAlgn="ctr">
              <a:buAutoNum type="arabicPeriod"/>
            </a:pPr>
            <a:r>
              <a:rPr lang="en-US" dirty="0">
                <a:latin typeface="Calibri" panose="020F0502020204030204" pitchFamily="34" charset="0"/>
                <a:ea typeface="Calibri" panose="020F0502020204030204" pitchFamily="34" charset="0"/>
                <a:cs typeface="Calibri" panose="020F0502020204030204" pitchFamily="34" charset="0"/>
              </a:rPr>
              <a:t>The erection of the 80 MVAR reactor by PGCIL is still pending</a:t>
            </a:r>
          </a:p>
          <a:p>
            <a:pPr marL="342900" indent="-342900" fontAlgn="ctr">
              <a:buAutoNum type="arabicPeriod"/>
            </a:pPr>
            <a:endParaRPr lang="en-US" dirty="0">
              <a:latin typeface="Calibri" panose="020F0502020204030204" pitchFamily="34" charset="0"/>
              <a:ea typeface="Calibri" panose="020F0502020204030204" pitchFamily="34" charset="0"/>
              <a:cs typeface="Calibri" panose="020F0502020204030204" pitchFamily="34" charset="0"/>
            </a:endParaRPr>
          </a:p>
          <a:p>
            <a:pPr marL="342900" indent="-342900" fontAlgn="ctr">
              <a:buAutoNum type="arabicPeriod"/>
            </a:pPr>
            <a:r>
              <a:rPr lang="en-US" dirty="0">
                <a:latin typeface="Calibri" panose="020F0502020204030204" pitchFamily="34" charset="0"/>
                <a:ea typeface="Calibri" panose="020F0502020204030204" pitchFamily="34" charset="0"/>
                <a:cs typeface="Calibri" panose="020F0502020204030204" pitchFamily="34" charset="0"/>
              </a:rPr>
              <a:t>Clamps and connector drawings are yet to be approved</a:t>
            </a:r>
          </a:p>
        </p:txBody>
      </p:sp>
    </p:spTree>
    <p:extLst>
      <p:ext uri="{BB962C8B-B14F-4D97-AF65-F5344CB8AC3E}">
        <p14:creationId xmlns:p14="http://schemas.microsoft.com/office/powerpoint/2010/main" val="3554312423"/>
      </p:ext>
    </p:extLst>
  </p:cSld>
  <p:clrMapOvr>
    <a:masterClrMapping/>
  </p:clrMapOvr>
  <p:transition spd="slow"/>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228F58-6FE1-A8F2-FB67-7659E02F3D0A}"/>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D19F0DA1-4D0B-EFB0-7A56-591B1F0FF6EE}"/>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SS33T </a:t>
            </a:r>
            <a:r>
              <a:rPr lang="en-IN" sz="2400" b="1" dirty="0">
                <a:latin typeface="Calibri" panose="020F0502020204030204" pitchFamily="34" charset="0"/>
                <a:ea typeface="Calibri" panose="020F0502020204030204" pitchFamily="34" charset="0"/>
                <a:cs typeface="Calibri" panose="020F0502020204030204" pitchFamily="34" charset="0"/>
              </a:rPr>
              <a:t>765kV GIS South </a:t>
            </a:r>
            <a:r>
              <a:rPr lang="en-IN" sz="2400" b="1" dirty="0" err="1">
                <a:latin typeface="Calibri" panose="020F0502020204030204" pitchFamily="34" charset="0"/>
                <a:ea typeface="Calibri" panose="020F0502020204030204" pitchFamily="34" charset="0"/>
                <a:cs typeface="Calibri" panose="020F0502020204030204" pitchFamily="34" charset="0"/>
              </a:rPr>
              <a:t>Olpad</a:t>
            </a:r>
            <a:r>
              <a:rPr lang="en-IN" sz="2400" b="1" dirty="0">
                <a:latin typeface="Calibri" panose="020F0502020204030204" pitchFamily="34" charset="0"/>
                <a:ea typeface="Calibri" panose="020F0502020204030204" pitchFamily="34" charset="0"/>
                <a:cs typeface="Calibri" panose="020F0502020204030204" pitchFamily="34" charset="0"/>
              </a:rPr>
              <a:t> </a:t>
            </a:r>
            <a:r>
              <a:rPr lang="fr-FR" sz="2400" b="1" dirty="0">
                <a:latin typeface="Calibri" panose="020F0502020204030204" pitchFamily="34" charset="0"/>
                <a:ea typeface="Calibri" panose="020F0502020204030204" pitchFamily="34" charset="0"/>
                <a:cs typeface="Calibri" panose="020F0502020204030204" pitchFamily="34" charset="0"/>
              </a:rPr>
              <a:t>(SA-508)</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4E61FA83-81B6-258D-5EBE-542BE53903E2}"/>
              </a:ext>
            </a:extLst>
          </p:cNvPr>
          <p:cNvGraphicFramePr>
            <a:graphicFrameLocks noGrp="1"/>
          </p:cNvGraphicFramePr>
          <p:nvPr>
            <p:extLst>
              <p:ext uri="{D42A27DB-BD31-4B8C-83A1-F6EECF244321}">
                <p14:modId xmlns:p14="http://schemas.microsoft.com/office/powerpoint/2010/main" val="703428912"/>
              </p:ext>
            </p:extLst>
          </p:nvPr>
        </p:nvGraphicFramePr>
        <p:xfrm>
          <a:off x="232290"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Date: 26.11.2024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25-10-2026</a:t>
                      </a:r>
                      <a:endParaRPr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rtl="0">
                        <a:lnSpc>
                          <a:spcPct val="80000"/>
                        </a:lnSpc>
                        <a:spcBef>
                          <a:spcPts val="0"/>
                        </a:spcBef>
                        <a:spcAft>
                          <a:spcPts val="0"/>
                        </a:spcAft>
                        <a:buClr>
                          <a:srgbClr val="000000"/>
                        </a:buClr>
                        <a:buSzPts val="1200"/>
                        <a:buFont typeface="Arial"/>
                        <a:buNone/>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Target Comp </a:t>
                      </a:r>
                      <a:r>
                        <a:rPr lang="en-GB" sz="1200" b="1" i="0" u="none" strike="noStrike" kern="1200" cap="none" dirty="0">
                          <a:solidFill>
                            <a:schemeClr val="tx1"/>
                          </a:solidFill>
                          <a:highlight>
                            <a:srgbClr val="FFFF00"/>
                          </a:highlight>
                          <a:latin typeface="Calibri" panose="020F0502020204030204" pitchFamily="34" charset="0"/>
                          <a:ea typeface="Calibri" panose="020F0502020204030204" pitchFamily="34" charset="0"/>
                          <a:cs typeface="Calibri" panose="020F0502020204030204" pitchFamily="34" charset="0"/>
                          <a:sym typeface="Calibri"/>
                        </a:rPr>
                        <a:t>Date: Depend on Land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Project Value: 370.1cr</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2" name="Table 1">
            <a:extLst>
              <a:ext uri="{FF2B5EF4-FFF2-40B4-BE49-F238E27FC236}">
                <a16:creationId xmlns:a16="http://schemas.microsoft.com/office/drawing/2014/main" id="{C8D8E004-DC7B-8490-04D0-1924E27836CF}"/>
              </a:ext>
            </a:extLst>
          </p:cNvPr>
          <p:cNvGraphicFramePr>
            <a:graphicFrameLocks noGrp="1"/>
          </p:cNvGraphicFramePr>
          <p:nvPr>
            <p:extLst>
              <p:ext uri="{D42A27DB-BD31-4B8C-83A1-F6EECF244321}">
                <p14:modId xmlns:p14="http://schemas.microsoft.com/office/powerpoint/2010/main" val="395467003"/>
              </p:ext>
            </p:extLst>
          </p:nvPr>
        </p:nvGraphicFramePr>
        <p:xfrm>
          <a:off x="247135" y="1466400"/>
          <a:ext cx="11697730" cy="5283440"/>
        </p:xfrm>
        <a:graphic>
          <a:graphicData uri="http://schemas.openxmlformats.org/drawingml/2006/table">
            <a:tbl>
              <a:tblPr/>
              <a:tblGrid>
                <a:gridCol w="494672">
                  <a:extLst>
                    <a:ext uri="{9D8B030D-6E8A-4147-A177-3AD203B41FA5}">
                      <a16:colId xmlns:a16="http://schemas.microsoft.com/office/drawing/2014/main" val="3455986567"/>
                    </a:ext>
                  </a:extLst>
                </a:gridCol>
                <a:gridCol w="2295786">
                  <a:extLst>
                    <a:ext uri="{9D8B030D-6E8A-4147-A177-3AD203B41FA5}">
                      <a16:colId xmlns:a16="http://schemas.microsoft.com/office/drawing/2014/main" val="85737754"/>
                    </a:ext>
                  </a:extLst>
                </a:gridCol>
                <a:gridCol w="447108">
                  <a:extLst>
                    <a:ext uri="{9D8B030D-6E8A-4147-A177-3AD203B41FA5}">
                      <a16:colId xmlns:a16="http://schemas.microsoft.com/office/drawing/2014/main" val="485549042"/>
                    </a:ext>
                  </a:extLst>
                </a:gridCol>
                <a:gridCol w="875189">
                  <a:extLst>
                    <a:ext uri="{9D8B030D-6E8A-4147-A177-3AD203B41FA5}">
                      <a16:colId xmlns:a16="http://schemas.microsoft.com/office/drawing/2014/main" val="3656168831"/>
                    </a:ext>
                  </a:extLst>
                </a:gridCol>
                <a:gridCol w="824454">
                  <a:extLst>
                    <a:ext uri="{9D8B030D-6E8A-4147-A177-3AD203B41FA5}">
                      <a16:colId xmlns:a16="http://schemas.microsoft.com/office/drawing/2014/main" val="2529592090"/>
                    </a:ext>
                  </a:extLst>
                </a:gridCol>
                <a:gridCol w="887873">
                  <a:extLst>
                    <a:ext uri="{9D8B030D-6E8A-4147-A177-3AD203B41FA5}">
                      <a16:colId xmlns:a16="http://schemas.microsoft.com/office/drawing/2014/main" val="740371885"/>
                    </a:ext>
                  </a:extLst>
                </a:gridCol>
                <a:gridCol w="811770">
                  <a:extLst>
                    <a:ext uri="{9D8B030D-6E8A-4147-A177-3AD203B41FA5}">
                      <a16:colId xmlns:a16="http://schemas.microsoft.com/office/drawing/2014/main" val="2273581311"/>
                    </a:ext>
                  </a:extLst>
                </a:gridCol>
                <a:gridCol w="701557">
                  <a:extLst>
                    <a:ext uri="{9D8B030D-6E8A-4147-A177-3AD203B41FA5}">
                      <a16:colId xmlns:a16="http://schemas.microsoft.com/office/drawing/2014/main" val="3176763968"/>
                    </a:ext>
                  </a:extLst>
                </a:gridCol>
                <a:gridCol w="612251">
                  <a:extLst>
                    <a:ext uri="{9D8B030D-6E8A-4147-A177-3AD203B41FA5}">
                      <a16:colId xmlns:a16="http://schemas.microsoft.com/office/drawing/2014/main" val="1131785609"/>
                    </a:ext>
                  </a:extLst>
                </a:gridCol>
                <a:gridCol w="795130">
                  <a:extLst>
                    <a:ext uri="{9D8B030D-6E8A-4147-A177-3AD203B41FA5}">
                      <a16:colId xmlns:a16="http://schemas.microsoft.com/office/drawing/2014/main" val="3690326167"/>
                    </a:ext>
                  </a:extLst>
                </a:gridCol>
                <a:gridCol w="2951940">
                  <a:extLst>
                    <a:ext uri="{9D8B030D-6E8A-4147-A177-3AD203B41FA5}">
                      <a16:colId xmlns:a16="http://schemas.microsoft.com/office/drawing/2014/main" val="70901670"/>
                    </a:ext>
                  </a:extLst>
                </a:gridCol>
              </a:tblGrid>
              <a:tr h="511775">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Sl. No.</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Qtys as per Actual</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w.r.t L2</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1832407423"/>
                  </a:ext>
                </a:extLst>
              </a:tr>
              <a:tr h="175132">
                <a:tc>
                  <a:txBody>
                    <a:bodyPr/>
                    <a:lstStyle/>
                    <a:p>
                      <a:pPr algn="ctr" rtl="0" fontAlgn="ctr">
                        <a:buNone/>
                      </a:pPr>
                      <a:r>
                        <a:rPr lang="en-IN"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Supply</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59807440"/>
                  </a:ext>
                </a:extLst>
              </a:tr>
              <a:tr h="0">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 Bolts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1648</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1648</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1648</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1648</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145kV Eqp Drawing required for further order process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13952111"/>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&amp; Equipment structure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732</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732</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732</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696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Jul'26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KEC - Order placed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05020069"/>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Earthing Materials</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Order Placed</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09727155"/>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PEB Structure &amp; Puff panels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80318832"/>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EOT Crane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Set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67097577"/>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GIS Equipments - Indoor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Set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14</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69219829"/>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GIS </a:t>
                      </a:r>
                      <a:r>
                        <a:rPr lang="en-US"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Equipments</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 SF6 Air </a:t>
                      </a:r>
                      <a:r>
                        <a:rPr lang="en-US"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Bhusing</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33</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33</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33</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33</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Hyosung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30482694"/>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GIS Equipments &amp; GIB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RM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2400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1947.96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1947.6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1947.6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Jul'26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Hyosung - GIB &amp; structure supply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58703588"/>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765kV Outdoor Equipments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88</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88</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88</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47</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47%</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Jun'26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CVT - GE, BPI - Modern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60402150"/>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145/36kV Outdoor Equipments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29</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29</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29</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28%</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Order placed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60369547"/>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Erectiopn Hardware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Drawing approval pending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42954500"/>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CRP &amp; SAS</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Aug'26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GE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Vernova</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185932"/>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PMU, PLCC, Telecom &amp; VMS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VMS-</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Delcom</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telecom-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Commtel</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PMU-GE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2432633"/>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LT Transformer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35117261"/>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LT Switchgear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Aug'26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Ultima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26864913"/>
                  </a:ext>
                </a:extLst>
              </a:tr>
              <a:tr h="343454">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Battery &amp; Charger and DG set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Aug'26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DG set received at site, </a:t>
                      </a:r>
                      <a:r>
                        <a:rPr lang="en-US"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Battary</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&amp; charger - Exide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30876434"/>
                  </a:ext>
                </a:extLst>
              </a:tr>
              <a:tr h="511775">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Power &amp; Control Cable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65</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65</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65</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65</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Drawing approval pending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KEC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52974822"/>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17</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Air conditioning &amp; HVAC System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31370294"/>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Fire Fighting system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BCFSL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75896566"/>
                  </a:ext>
                </a:extLst>
              </a:tr>
              <a:tr h="17513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19</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Illumination System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Avaids</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400" marR="7400" marT="740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47923532"/>
                  </a:ext>
                </a:extLst>
              </a:tr>
            </a:tbl>
          </a:graphicData>
        </a:graphic>
      </p:graphicFrame>
    </p:spTree>
    <p:extLst>
      <p:ext uri="{BB962C8B-B14F-4D97-AF65-F5344CB8AC3E}">
        <p14:creationId xmlns:p14="http://schemas.microsoft.com/office/powerpoint/2010/main" val="624197979"/>
      </p:ext>
    </p:extLst>
  </p:cSld>
  <p:clrMapOvr>
    <a:masterClrMapping/>
  </p:clrMapOvr>
  <p:transition spd="slow"/>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047D17-DACE-817C-713F-8FDB8204E28F}"/>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3C697CBC-D8CB-D8F5-497C-B2629228981B}"/>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SS33T </a:t>
            </a:r>
            <a:r>
              <a:rPr lang="en-IN" sz="2400" b="1" dirty="0">
                <a:latin typeface="Calibri" panose="020F0502020204030204" pitchFamily="34" charset="0"/>
                <a:ea typeface="Calibri" panose="020F0502020204030204" pitchFamily="34" charset="0"/>
                <a:cs typeface="Calibri" panose="020F0502020204030204" pitchFamily="34" charset="0"/>
              </a:rPr>
              <a:t>765kV GIS South </a:t>
            </a:r>
            <a:r>
              <a:rPr lang="en-IN" sz="2400" b="1" dirty="0" err="1">
                <a:latin typeface="Calibri" panose="020F0502020204030204" pitchFamily="34" charset="0"/>
                <a:ea typeface="Calibri" panose="020F0502020204030204" pitchFamily="34" charset="0"/>
                <a:cs typeface="Calibri" panose="020F0502020204030204" pitchFamily="34" charset="0"/>
              </a:rPr>
              <a:t>Olpad</a:t>
            </a:r>
            <a:r>
              <a:rPr lang="en-IN" sz="2400" b="1" dirty="0">
                <a:latin typeface="Calibri" panose="020F0502020204030204" pitchFamily="34" charset="0"/>
                <a:ea typeface="Calibri" panose="020F0502020204030204" pitchFamily="34" charset="0"/>
                <a:cs typeface="Calibri" panose="020F0502020204030204" pitchFamily="34" charset="0"/>
              </a:rPr>
              <a:t> </a:t>
            </a:r>
            <a:r>
              <a:rPr lang="fr-FR" sz="2400" b="1" dirty="0">
                <a:latin typeface="Calibri" panose="020F0502020204030204" pitchFamily="34" charset="0"/>
                <a:ea typeface="Calibri" panose="020F0502020204030204" pitchFamily="34" charset="0"/>
                <a:cs typeface="Calibri" panose="020F0502020204030204" pitchFamily="34" charset="0"/>
              </a:rPr>
              <a:t>(SA-508)</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7A272CA2-6D5C-5520-0C47-03D7BF9F6723}"/>
              </a:ext>
            </a:extLst>
          </p:cNvPr>
          <p:cNvGraphicFramePr>
            <a:graphicFrameLocks noGrp="1"/>
          </p:cNvGraphicFramePr>
          <p:nvPr>
            <p:extLst>
              <p:ext uri="{D42A27DB-BD31-4B8C-83A1-F6EECF244321}">
                <p14:modId xmlns:p14="http://schemas.microsoft.com/office/powerpoint/2010/main" val="3782661491"/>
              </p:ext>
            </p:extLst>
          </p:nvPr>
        </p:nvGraphicFramePr>
        <p:xfrm>
          <a:off x="232290"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Date: 26.11.2024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25-10-2026</a:t>
                      </a:r>
                      <a:endParaRPr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rtl="0">
                        <a:lnSpc>
                          <a:spcPct val="80000"/>
                        </a:lnSpc>
                        <a:spcBef>
                          <a:spcPts val="0"/>
                        </a:spcBef>
                        <a:spcAft>
                          <a:spcPts val="0"/>
                        </a:spcAft>
                        <a:buClr>
                          <a:srgbClr val="000000"/>
                        </a:buClr>
                        <a:buSzPts val="1200"/>
                        <a:buFont typeface="Arial"/>
                        <a:buNone/>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Target Comp </a:t>
                      </a:r>
                      <a:r>
                        <a:rPr lang="en-GB" sz="1200" b="1" i="0" u="none" strike="noStrike" kern="1200" cap="none" dirty="0">
                          <a:solidFill>
                            <a:schemeClr val="tx1"/>
                          </a:solidFill>
                          <a:highlight>
                            <a:srgbClr val="FFFF00"/>
                          </a:highlight>
                          <a:latin typeface="Calibri" panose="020F0502020204030204" pitchFamily="34" charset="0"/>
                          <a:ea typeface="Calibri" panose="020F0502020204030204" pitchFamily="34" charset="0"/>
                          <a:cs typeface="Calibri" panose="020F0502020204030204" pitchFamily="34" charset="0"/>
                          <a:sym typeface="Calibri"/>
                        </a:rPr>
                        <a:t>Date: Depend on Land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Project Value: 370.1cr</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
        <p:nvSpPr>
          <p:cNvPr id="2" name="TextBox 1">
            <a:extLst>
              <a:ext uri="{FF2B5EF4-FFF2-40B4-BE49-F238E27FC236}">
                <a16:creationId xmlns:a16="http://schemas.microsoft.com/office/drawing/2014/main" id="{1FE0F3F8-BE23-24A1-7E13-EA71F201C299}"/>
              </a:ext>
            </a:extLst>
          </p:cNvPr>
          <p:cNvSpPr txBox="1"/>
          <p:nvPr/>
        </p:nvSpPr>
        <p:spPr>
          <a:xfrm>
            <a:off x="277798" y="1675947"/>
            <a:ext cx="11523677" cy="1200329"/>
          </a:xfrm>
          <a:prstGeom prst="rect">
            <a:avLst/>
          </a:prstGeom>
          <a:noFill/>
        </p:spPr>
        <p:txBody>
          <a:bodyPr wrap="square">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endParaRPr lang="en-IN" b="1" dirty="0">
              <a:latin typeface="Calibri" panose="020F0502020204030204" pitchFamily="34" charset="0"/>
              <a:ea typeface="Calibri" panose="020F0502020204030204" pitchFamily="34" charset="0"/>
              <a:cs typeface="Calibri" panose="020F0502020204030204" pitchFamily="34" charset="0"/>
            </a:endParaRPr>
          </a:p>
          <a:p>
            <a:pPr marL="342900" indent="-342900">
              <a:buAutoNum type="arabicPeriod"/>
            </a:pPr>
            <a:r>
              <a:rPr lang="en-US" dirty="0">
                <a:latin typeface="Calibri" panose="020F0502020204030204" pitchFamily="34" charset="0"/>
                <a:ea typeface="Calibri" panose="020F0502020204030204" pitchFamily="34" charset="0"/>
                <a:cs typeface="Calibri" panose="020F0502020204030204" pitchFamily="34" charset="0"/>
              </a:rPr>
              <a:t>Finalization of spare supply contract through PESL for South OLPAD Project. NOA from PGCIL was issued on 26/11/24  for South OLPAD-23 Cr</a:t>
            </a:r>
          </a:p>
        </p:txBody>
      </p:sp>
    </p:spTree>
    <p:extLst>
      <p:ext uri="{BB962C8B-B14F-4D97-AF65-F5344CB8AC3E}">
        <p14:creationId xmlns:p14="http://schemas.microsoft.com/office/powerpoint/2010/main" val="1881835797"/>
      </p:ext>
    </p:extLst>
  </p:cSld>
  <p:clrMapOvr>
    <a:masterClrMapping/>
  </p:clrMapOvr>
  <p:transition spd="slow"/>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454757-70DA-928B-E680-CE434BD99E21}"/>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585B685D-7D2B-8CE8-BCBE-F34BA324F22C}"/>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SS64T </a:t>
            </a:r>
            <a:r>
              <a:rPr lang="en-IN" sz="2400" b="1" dirty="0">
                <a:latin typeface="Calibri" panose="020F0502020204030204" pitchFamily="34" charset="0"/>
                <a:ea typeface="Calibri" panose="020F0502020204030204" pitchFamily="34" charset="0"/>
                <a:cs typeface="Calibri" panose="020F0502020204030204" pitchFamily="34" charset="0"/>
              </a:rPr>
              <a:t>765kV GIS Narendra Extn (</a:t>
            </a:r>
            <a:r>
              <a:rPr lang="fr-FR" sz="2400" b="1" dirty="0">
                <a:latin typeface="Calibri" panose="020F0502020204030204" pitchFamily="34" charset="0"/>
                <a:ea typeface="Calibri" panose="020F0502020204030204" pitchFamily="34" charset="0"/>
                <a:cs typeface="Calibri" panose="020F0502020204030204" pitchFamily="34" charset="0"/>
              </a:rPr>
              <a:t>SA-603)</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CBCC8A1E-78B2-2C60-AB60-8AD67026DC92}"/>
              </a:ext>
            </a:extLst>
          </p:cNvPr>
          <p:cNvGraphicFramePr>
            <a:graphicFrameLocks noGrp="1"/>
          </p:cNvGraphicFramePr>
          <p:nvPr>
            <p:extLst>
              <p:ext uri="{D42A27DB-BD31-4B8C-83A1-F6EECF244321}">
                <p14:modId xmlns:p14="http://schemas.microsoft.com/office/powerpoint/2010/main" val="1586863963"/>
              </p:ext>
            </p:extLst>
          </p:nvPr>
        </p:nvGraphicFramePr>
        <p:xfrm>
          <a:off x="232290"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Date: 26.05.2025</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12-04-27</a:t>
                      </a:r>
                      <a:endParaRPr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rtl="0">
                        <a:lnSpc>
                          <a:spcPct val="80000"/>
                        </a:lnSpc>
                        <a:spcBef>
                          <a:spcPts val="0"/>
                        </a:spcBef>
                        <a:spcAft>
                          <a:spcPts val="0"/>
                        </a:spcAft>
                        <a:buClr>
                          <a:srgbClr val="000000"/>
                        </a:buClr>
                        <a:buSzPts val="1200"/>
                        <a:buFont typeface="Arial"/>
                        <a:buNone/>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Target Comp Date: 31-12-26</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Project Value: 105.65 </a:t>
                      </a:r>
                      <a:r>
                        <a:rPr lang="en-GB" sz="1200" b="1" i="0" u="none" strike="noStrike" cap="none" dirty="0" err="1">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cr</a:t>
                      </a:r>
                      <a:endPar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2" name="Table 1">
            <a:extLst>
              <a:ext uri="{FF2B5EF4-FFF2-40B4-BE49-F238E27FC236}">
                <a16:creationId xmlns:a16="http://schemas.microsoft.com/office/drawing/2014/main" id="{C2C267D1-680E-0F3A-F9DA-21394AB44774}"/>
              </a:ext>
            </a:extLst>
          </p:cNvPr>
          <p:cNvGraphicFramePr>
            <a:graphicFrameLocks noGrp="1"/>
          </p:cNvGraphicFramePr>
          <p:nvPr>
            <p:extLst>
              <p:ext uri="{D42A27DB-BD31-4B8C-83A1-F6EECF244321}">
                <p14:modId xmlns:p14="http://schemas.microsoft.com/office/powerpoint/2010/main" val="917201150"/>
              </p:ext>
            </p:extLst>
          </p:nvPr>
        </p:nvGraphicFramePr>
        <p:xfrm>
          <a:off x="232290" y="1466399"/>
          <a:ext cx="11740092" cy="4804225"/>
        </p:xfrm>
        <a:graphic>
          <a:graphicData uri="http://schemas.openxmlformats.org/drawingml/2006/table">
            <a:tbl>
              <a:tblPr/>
              <a:tblGrid>
                <a:gridCol w="826596">
                  <a:extLst>
                    <a:ext uri="{9D8B030D-6E8A-4147-A177-3AD203B41FA5}">
                      <a16:colId xmlns:a16="http://schemas.microsoft.com/office/drawing/2014/main" val="1637877411"/>
                    </a:ext>
                  </a:extLst>
                </a:gridCol>
                <a:gridCol w="1874814">
                  <a:extLst>
                    <a:ext uri="{9D8B030D-6E8A-4147-A177-3AD203B41FA5}">
                      <a16:colId xmlns:a16="http://schemas.microsoft.com/office/drawing/2014/main" val="2761419768"/>
                    </a:ext>
                  </a:extLst>
                </a:gridCol>
                <a:gridCol w="575800">
                  <a:extLst>
                    <a:ext uri="{9D8B030D-6E8A-4147-A177-3AD203B41FA5}">
                      <a16:colId xmlns:a16="http://schemas.microsoft.com/office/drawing/2014/main" val="2273711165"/>
                    </a:ext>
                  </a:extLst>
                </a:gridCol>
                <a:gridCol w="826596">
                  <a:extLst>
                    <a:ext uri="{9D8B030D-6E8A-4147-A177-3AD203B41FA5}">
                      <a16:colId xmlns:a16="http://schemas.microsoft.com/office/drawing/2014/main" val="698055928"/>
                    </a:ext>
                  </a:extLst>
                </a:gridCol>
                <a:gridCol w="826596">
                  <a:extLst>
                    <a:ext uri="{9D8B030D-6E8A-4147-A177-3AD203B41FA5}">
                      <a16:colId xmlns:a16="http://schemas.microsoft.com/office/drawing/2014/main" val="3179145441"/>
                    </a:ext>
                  </a:extLst>
                </a:gridCol>
                <a:gridCol w="826596">
                  <a:extLst>
                    <a:ext uri="{9D8B030D-6E8A-4147-A177-3AD203B41FA5}">
                      <a16:colId xmlns:a16="http://schemas.microsoft.com/office/drawing/2014/main" val="1238606491"/>
                    </a:ext>
                  </a:extLst>
                </a:gridCol>
                <a:gridCol w="826596">
                  <a:extLst>
                    <a:ext uri="{9D8B030D-6E8A-4147-A177-3AD203B41FA5}">
                      <a16:colId xmlns:a16="http://schemas.microsoft.com/office/drawing/2014/main" val="1654612466"/>
                    </a:ext>
                  </a:extLst>
                </a:gridCol>
                <a:gridCol w="826596">
                  <a:extLst>
                    <a:ext uri="{9D8B030D-6E8A-4147-A177-3AD203B41FA5}">
                      <a16:colId xmlns:a16="http://schemas.microsoft.com/office/drawing/2014/main" val="1113914811"/>
                    </a:ext>
                  </a:extLst>
                </a:gridCol>
                <a:gridCol w="826596">
                  <a:extLst>
                    <a:ext uri="{9D8B030D-6E8A-4147-A177-3AD203B41FA5}">
                      <a16:colId xmlns:a16="http://schemas.microsoft.com/office/drawing/2014/main" val="1796690863"/>
                    </a:ext>
                  </a:extLst>
                </a:gridCol>
                <a:gridCol w="986879">
                  <a:extLst>
                    <a:ext uri="{9D8B030D-6E8A-4147-A177-3AD203B41FA5}">
                      <a16:colId xmlns:a16="http://schemas.microsoft.com/office/drawing/2014/main" val="3338460348"/>
                    </a:ext>
                  </a:extLst>
                </a:gridCol>
                <a:gridCol w="2516427">
                  <a:extLst>
                    <a:ext uri="{9D8B030D-6E8A-4147-A177-3AD203B41FA5}">
                      <a16:colId xmlns:a16="http://schemas.microsoft.com/office/drawing/2014/main" val="3471873500"/>
                    </a:ext>
                  </a:extLst>
                </a:gridCol>
              </a:tblGrid>
              <a:tr h="792519">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Sl. No.</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Qtys</a:t>
                      </a: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as per Actual</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w.r.t L2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1570001315"/>
                  </a:ext>
                </a:extLst>
              </a:tr>
              <a:tr h="203392">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Supply</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64345313"/>
                  </a:ext>
                </a:extLst>
              </a:tr>
              <a:tr h="3997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765kV equipment</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87%</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Sep’26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BPI, WT, LA  delivered, CVT under manufacturing</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16678294"/>
                  </a:ext>
                </a:extLst>
              </a:tr>
              <a:tr h="3997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145/36kV equipment</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Sep’'26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145kV BPI , NCT , CB under manufacturing</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641258"/>
                  </a:ext>
                </a:extLst>
              </a:tr>
              <a:tr h="59614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800kV, 3000/3150 A, 50kA, Single phase, SF6 Gas Insulated Bus Duct (GIB</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2150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1894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2150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Inspection call is expected  by mid May. BBU approval is pending.</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52775971"/>
                  </a:ext>
                </a:extLst>
              </a:tr>
              <a:tr h="3997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Structure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MT</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Aug’26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Under production, Lot 1 Inspection call by 32 May.</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12450192"/>
                  </a:ext>
                </a:extLst>
              </a:tr>
              <a:tr h="20339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Earthing Materials</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Delivered to site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21109106"/>
                  </a:ext>
                </a:extLst>
              </a:tr>
              <a:tr h="59614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Erection Hardware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July’'26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BBU approval pending , partial material delivered , Clamps &amp; connectors are under manufacturing</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00519847"/>
                  </a:ext>
                </a:extLst>
              </a:tr>
              <a:tr h="203392">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Power &amp; Control Cable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Sep’26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Power cable is under approval</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16412631"/>
                  </a:ext>
                </a:extLst>
              </a:tr>
              <a:tr h="399767">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CRP &amp; SAS</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EA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Inspection call is expected  by mid May.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64383369"/>
                  </a:ext>
                </a:extLst>
              </a:tr>
              <a:tr h="203392">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Fire Fighting System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April’26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delivered to site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30647023"/>
                  </a:ext>
                </a:extLst>
              </a:tr>
              <a:tr h="203392">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Illumination System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April’26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delivered to site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1935766"/>
                  </a:ext>
                </a:extLst>
              </a:tr>
              <a:tr h="203392">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VMS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April’26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delivered to site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24043052"/>
                  </a:ext>
                </a:extLst>
              </a:tr>
            </a:tbl>
          </a:graphicData>
        </a:graphic>
      </p:graphicFrame>
    </p:spTree>
    <p:extLst>
      <p:ext uri="{BB962C8B-B14F-4D97-AF65-F5344CB8AC3E}">
        <p14:creationId xmlns:p14="http://schemas.microsoft.com/office/powerpoint/2010/main" val="4029043218"/>
      </p:ext>
    </p:extLst>
  </p:cSld>
  <p:clrMapOvr>
    <a:masterClrMapping/>
  </p:clrMapOvr>
  <p:transition spd="slow"/>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D72113-FD7E-C1F3-F2DA-DB4F42A082E6}"/>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386EED74-0F4A-4CAC-F10E-8CB4AE2846DF}"/>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SS64T </a:t>
            </a:r>
            <a:r>
              <a:rPr lang="en-IN" sz="2400" b="1" dirty="0">
                <a:latin typeface="Calibri" panose="020F0502020204030204" pitchFamily="34" charset="0"/>
                <a:ea typeface="Calibri" panose="020F0502020204030204" pitchFamily="34" charset="0"/>
                <a:cs typeface="Calibri" panose="020F0502020204030204" pitchFamily="34" charset="0"/>
              </a:rPr>
              <a:t>765kV GIS Narendra Extn (</a:t>
            </a:r>
            <a:r>
              <a:rPr lang="fr-FR" sz="2400" b="1" dirty="0">
                <a:latin typeface="Calibri" panose="020F0502020204030204" pitchFamily="34" charset="0"/>
                <a:ea typeface="Calibri" panose="020F0502020204030204" pitchFamily="34" charset="0"/>
                <a:cs typeface="Calibri" panose="020F0502020204030204" pitchFamily="34" charset="0"/>
              </a:rPr>
              <a:t>SA-603)</a:t>
            </a:r>
            <a:endParaRPr lang="en-IN" sz="16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2291BA93-84AE-0475-DD56-BD0299EB5A98}"/>
              </a:ext>
            </a:extLst>
          </p:cNvPr>
          <p:cNvGraphicFramePr>
            <a:graphicFrameLocks noGrp="1"/>
          </p:cNvGraphicFramePr>
          <p:nvPr>
            <p:extLst>
              <p:ext uri="{D42A27DB-BD31-4B8C-83A1-F6EECF244321}">
                <p14:modId xmlns:p14="http://schemas.microsoft.com/office/powerpoint/2010/main" val="1052205783"/>
              </p:ext>
            </p:extLst>
          </p:nvPr>
        </p:nvGraphicFramePr>
        <p:xfrm>
          <a:off x="232290"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Date: 26.05.2025</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12-04-27</a:t>
                      </a:r>
                      <a:endParaRPr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rtl="0">
                        <a:lnSpc>
                          <a:spcPct val="80000"/>
                        </a:lnSpc>
                        <a:spcBef>
                          <a:spcPts val="0"/>
                        </a:spcBef>
                        <a:spcAft>
                          <a:spcPts val="0"/>
                        </a:spcAft>
                        <a:buClr>
                          <a:srgbClr val="000000"/>
                        </a:buClr>
                        <a:buSzPts val="1200"/>
                        <a:buFont typeface="Arial"/>
                        <a:buNone/>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Target Comp Date: 31-12-26</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Project Value: 105.65 </a:t>
                      </a:r>
                      <a:r>
                        <a:rPr lang="en-GB" sz="1200" b="1" i="0" u="none" strike="noStrike" cap="none" dirty="0" err="1">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cr</a:t>
                      </a:r>
                      <a:endPar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3" name="Table 2">
            <a:extLst>
              <a:ext uri="{FF2B5EF4-FFF2-40B4-BE49-F238E27FC236}">
                <a16:creationId xmlns:a16="http://schemas.microsoft.com/office/drawing/2014/main" id="{92F912A9-356A-BF74-F0B1-879933B9FE89}"/>
              </a:ext>
            </a:extLst>
          </p:cNvPr>
          <p:cNvGraphicFramePr>
            <a:graphicFrameLocks noGrp="1"/>
          </p:cNvGraphicFramePr>
          <p:nvPr>
            <p:extLst>
              <p:ext uri="{D42A27DB-BD31-4B8C-83A1-F6EECF244321}">
                <p14:modId xmlns:p14="http://schemas.microsoft.com/office/powerpoint/2010/main" val="1406197840"/>
              </p:ext>
            </p:extLst>
          </p:nvPr>
        </p:nvGraphicFramePr>
        <p:xfrm>
          <a:off x="248031" y="1493828"/>
          <a:ext cx="11727712" cy="4868869"/>
        </p:xfrm>
        <a:graphic>
          <a:graphicData uri="http://schemas.openxmlformats.org/drawingml/2006/table">
            <a:tbl>
              <a:tblPr/>
              <a:tblGrid>
                <a:gridCol w="581389">
                  <a:extLst>
                    <a:ext uri="{9D8B030D-6E8A-4147-A177-3AD203B41FA5}">
                      <a16:colId xmlns:a16="http://schemas.microsoft.com/office/drawing/2014/main" val="2307758692"/>
                    </a:ext>
                  </a:extLst>
                </a:gridCol>
                <a:gridCol w="2071199">
                  <a:extLst>
                    <a:ext uri="{9D8B030D-6E8A-4147-A177-3AD203B41FA5}">
                      <a16:colId xmlns:a16="http://schemas.microsoft.com/office/drawing/2014/main" val="1341107626"/>
                    </a:ext>
                  </a:extLst>
                </a:gridCol>
                <a:gridCol w="365838">
                  <a:extLst>
                    <a:ext uri="{9D8B030D-6E8A-4147-A177-3AD203B41FA5}">
                      <a16:colId xmlns:a16="http://schemas.microsoft.com/office/drawing/2014/main" val="3359921911"/>
                    </a:ext>
                  </a:extLst>
                </a:gridCol>
                <a:gridCol w="893838">
                  <a:extLst>
                    <a:ext uri="{9D8B030D-6E8A-4147-A177-3AD203B41FA5}">
                      <a16:colId xmlns:a16="http://schemas.microsoft.com/office/drawing/2014/main" val="295229264"/>
                    </a:ext>
                  </a:extLst>
                </a:gridCol>
                <a:gridCol w="714624">
                  <a:extLst>
                    <a:ext uri="{9D8B030D-6E8A-4147-A177-3AD203B41FA5}">
                      <a16:colId xmlns:a16="http://schemas.microsoft.com/office/drawing/2014/main" val="1185966524"/>
                    </a:ext>
                  </a:extLst>
                </a:gridCol>
                <a:gridCol w="913406">
                  <a:extLst>
                    <a:ext uri="{9D8B030D-6E8A-4147-A177-3AD203B41FA5}">
                      <a16:colId xmlns:a16="http://schemas.microsoft.com/office/drawing/2014/main" val="1901801169"/>
                    </a:ext>
                  </a:extLst>
                </a:gridCol>
                <a:gridCol w="741871">
                  <a:extLst>
                    <a:ext uri="{9D8B030D-6E8A-4147-A177-3AD203B41FA5}">
                      <a16:colId xmlns:a16="http://schemas.microsoft.com/office/drawing/2014/main" val="2378766324"/>
                    </a:ext>
                  </a:extLst>
                </a:gridCol>
                <a:gridCol w="564300">
                  <a:extLst>
                    <a:ext uri="{9D8B030D-6E8A-4147-A177-3AD203B41FA5}">
                      <a16:colId xmlns:a16="http://schemas.microsoft.com/office/drawing/2014/main" val="3893924856"/>
                    </a:ext>
                  </a:extLst>
                </a:gridCol>
                <a:gridCol w="763073">
                  <a:extLst>
                    <a:ext uri="{9D8B030D-6E8A-4147-A177-3AD203B41FA5}">
                      <a16:colId xmlns:a16="http://schemas.microsoft.com/office/drawing/2014/main" val="1687919061"/>
                    </a:ext>
                  </a:extLst>
                </a:gridCol>
                <a:gridCol w="1077992">
                  <a:extLst>
                    <a:ext uri="{9D8B030D-6E8A-4147-A177-3AD203B41FA5}">
                      <a16:colId xmlns:a16="http://schemas.microsoft.com/office/drawing/2014/main" val="2700649267"/>
                    </a:ext>
                  </a:extLst>
                </a:gridCol>
                <a:gridCol w="932646">
                  <a:extLst>
                    <a:ext uri="{9D8B030D-6E8A-4147-A177-3AD203B41FA5}">
                      <a16:colId xmlns:a16="http://schemas.microsoft.com/office/drawing/2014/main" val="1259183233"/>
                    </a:ext>
                  </a:extLst>
                </a:gridCol>
                <a:gridCol w="2107536">
                  <a:extLst>
                    <a:ext uri="{9D8B030D-6E8A-4147-A177-3AD203B41FA5}">
                      <a16:colId xmlns:a16="http://schemas.microsoft.com/office/drawing/2014/main" val="3261924790"/>
                    </a:ext>
                  </a:extLst>
                </a:gridCol>
              </a:tblGrid>
              <a:tr h="1080037">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Sl. No.</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Qtys as per Actual</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w.r.t Actual</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Gang Available</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419418932"/>
                  </a:ext>
                </a:extLst>
              </a:tr>
              <a:tr h="27959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765kV Tower Foundation</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30-04-2026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46856575"/>
                  </a:ext>
                </a:extLst>
              </a:tr>
              <a:tr h="54723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Reactor Foundation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31-05-2026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On Hold by PGCIL</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75889588"/>
                  </a:ext>
                </a:extLst>
              </a:tr>
              <a:tr h="54723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Reactor Unloading Platform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31-05-2026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86%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On Hold by PGCIL</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95163975"/>
                  </a:ext>
                </a:extLst>
              </a:tr>
              <a:tr h="27959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Rail Cum road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31-05-2026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80183726"/>
                  </a:ext>
                </a:extLst>
              </a:tr>
              <a:tr h="27959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Firewall</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31-05-2026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52421396"/>
                  </a:ext>
                </a:extLst>
              </a:tr>
              <a:tr h="27959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AIS Equipment Foundations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30-04-2026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70535930"/>
                  </a:ext>
                </a:extLst>
              </a:tr>
              <a:tr h="27959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GIB Bus Duct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30-04-2026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10984501"/>
                  </a:ext>
                </a:extLst>
              </a:tr>
              <a:tr h="27959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LM Tower</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30-04-2026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June'26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7558693"/>
                  </a:ext>
                </a:extLst>
              </a:tr>
              <a:tr h="27959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Cable trench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Mtrs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30-05-2026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80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July'26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40889726"/>
                  </a:ext>
                </a:extLst>
              </a:tr>
              <a:tr h="457614">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Common Oil Pit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28-04-2027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June'26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03277338"/>
                  </a:ext>
                </a:extLst>
              </a:tr>
              <a:tr h="279593">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Drain &amp; Road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28-04-2027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Aug'26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9029121"/>
                  </a:ext>
                </a:extLst>
              </a:tr>
            </a:tbl>
          </a:graphicData>
        </a:graphic>
      </p:graphicFrame>
    </p:spTree>
    <p:extLst>
      <p:ext uri="{BB962C8B-B14F-4D97-AF65-F5344CB8AC3E}">
        <p14:creationId xmlns:p14="http://schemas.microsoft.com/office/powerpoint/2010/main" val="2090706595"/>
      </p:ext>
    </p:extLst>
  </p:cSld>
  <p:clrMapOvr>
    <a:masterClrMapping/>
  </p:clrMapOvr>
  <p:transition spd="slow"/>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495D7D-B122-F316-5105-0C03E8031C90}"/>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C3A0447D-2EED-C501-7B87-354B335BEF46}"/>
              </a:ext>
            </a:extLst>
          </p:cNvPr>
          <p:cNvSpPr>
            <a:spLocks noGrp="1"/>
          </p:cNvSpPr>
          <p:nvPr>
            <p:ph type="title"/>
          </p:nvPr>
        </p:nvSpPr>
        <p:spPr>
          <a:xfrm>
            <a:off x="257175" y="587375"/>
            <a:ext cx="11677650" cy="550863"/>
          </a:xfrm>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765KV Bay Extension GIS Sub-Station Narela </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C15A9B48-9839-D301-EC5C-BC809AF9174F}"/>
              </a:ext>
            </a:extLst>
          </p:cNvPr>
          <p:cNvGraphicFramePr>
            <a:graphicFrameLocks noGrp="1"/>
          </p:cNvGraphicFramePr>
          <p:nvPr>
            <p:extLst>
              <p:ext uri="{D42A27DB-BD31-4B8C-83A1-F6EECF244321}">
                <p14:modId xmlns:p14="http://schemas.microsoft.com/office/powerpoint/2010/main" val="103776486"/>
              </p:ext>
            </p:extLst>
          </p:nvPr>
        </p:nvGraphicFramePr>
        <p:xfrm>
          <a:off x="232290"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Date: 22.02.2024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21-05-2025</a:t>
                      </a:r>
                      <a:endParaRPr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rtl="0">
                        <a:lnSpc>
                          <a:spcPct val="80000"/>
                        </a:lnSpc>
                        <a:spcBef>
                          <a:spcPts val="0"/>
                        </a:spcBef>
                        <a:spcAft>
                          <a:spcPts val="0"/>
                        </a:spcAft>
                        <a:buClr>
                          <a:srgbClr val="000000"/>
                        </a:buClr>
                        <a:buSzPts val="1200"/>
                        <a:buFont typeface="Arial"/>
                        <a:buNone/>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Target Comp Date: 30-06-2026</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Project Value: 124.30 </a:t>
                      </a:r>
                      <a:r>
                        <a:rPr lang="en-GB" sz="1200" b="1" i="0" u="none" strike="noStrike" cap="none" dirty="0" err="1">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cr</a:t>
                      </a:r>
                      <a:endPar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2" name="Table 1">
            <a:extLst>
              <a:ext uri="{FF2B5EF4-FFF2-40B4-BE49-F238E27FC236}">
                <a16:creationId xmlns:a16="http://schemas.microsoft.com/office/drawing/2014/main" id="{8287EAF8-483A-634D-E23D-8E1BDD6C4028}"/>
              </a:ext>
            </a:extLst>
          </p:cNvPr>
          <p:cNvGraphicFramePr>
            <a:graphicFrameLocks noGrp="1"/>
          </p:cNvGraphicFramePr>
          <p:nvPr>
            <p:extLst>
              <p:ext uri="{D42A27DB-BD31-4B8C-83A1-F6EECF244321}">
                <p14:modId xmlns:p14="http://schemas.microsoft.com/office/powerpoint/2010/main" val="1138732980"/>
              </p:ext>
            </p:extLst>
          </p:nvPr>
        </p:nvGraphicFramePr>
        <p:xfrm>
          <a:off x="240240" y="1483332"/>
          <a:ext cx="11740091" cy="4898418"/>
        </p:xfrm>
        <a:graphic>
          <a:graphicData uri="http://schemas.openxmlformats.org/drawingml/2006/table">
            <a:tbl>
              <a:tblPr/>
              <a:tblGrid>
                <a:gridCol w="826596">
                  <a:extLst>
                    <a:ext uri="{9D8B030D-6E8A-4147-A177-3AD203B41FA5}">
                      <a16:colId xmlns:a16="http://schemas.microsoft.com/office/drawing/2014/main" val="1637877411"/>
                    </a:ext>
                  </a:extLst>
                </a:gridCol>
                <a:gridCol w="1624018">
                  <a:extLst>
                    <a:ext uri="{9D8B030D-6E8A-4147-A177-3AD203B41FA5}">
                      <a16:colId xmlns:a16="http://schemas.microsoft.com/office/drawing/2014/main" val="2761419768"/>
                    </a:ext>
                  </a:extLst>
                </a:gridCol>
                <a:gridCol w="826596">
                  <a:extLst>
                    <a:ext uri="{9D8B030D-6E8A-4147-A177-3AD203B41FA5}">
                      <a16:colId xmlns:a16="http://schemas.microsoft.com/office/drawing/2014/main" val="2273711165"/>
                    </a:ext>
                  </a:extLst>
                </a:gridCol>
                <a:gridCol w="826596">
                  <a:extLst>
                    <a:ext uri="{9D8B030D-6E8A-4147-A177-3AD203B41FA5}">
                      <a16:colId xmlns:a16="http://schemas.microsoft.com/office/drawing/2014/main" val="698055928"/>
                    </a:ext>
                  </a:extLst>
                </a:gridCol>
                <a:gridCol w="826596">
                  <a:extLst>
                    <a:ext uri="{9D8B030D-6E8A-4147-A177-3AD203B41FA5}">
                      <a16:colId xmlns:a16="http://schemas.microsoft.com/office/drawing/2014/main" val="3179145441"/>
                    </a:ext>
                  </a:extLst>
                </a:gridCol>
                <a:gridCol w="826596">
                  <a:extLst>
                    <a:ext uri="{9D8B030D-6E8A-4147-A177-3AD203B41FA5}">
                      <a16:colId xmlns:a16="http://schemas.microsoft.com/office/drawing/2014/main" val="1238606491"/>
                    </a:ext>
                  </a:extLst>
                </a:gridCol>
                <a:gridCol w="826596">
                  <a:extLst>
                    <a:ext uri="{9D8B030D-6E8A-4147-A177-3AD203B41FA5}">
                      <a16:colId xmlns:a16="http://schemas.microsoft.com/office/drawing/2014/main" val="1654612466"/>
                    </a:ext>
                  </a:extLst>
                </a:gridCol>
                <a:gridCol w="826596">
                  <a:extLst>
                    <a:ext uri="{9D8B030D-6E8A-4147-A177-3AD203B41FA5}">
                      <a16:colId xmlns:a16="http://schemas.microsoft.com/office/drawing/2014/main" val="1113914811"/>
                    </a:ext>
                  </a:extLst>
                </a:gridCol>
                <a:gridCol w="826596">
                  <a:extLst>
                    <a:ext uri="{9D8B030D-6E8A-4147-A177-3AD203B41FA5}">
                      <a16:colId xmlns:a16="http://schemas.microsoft.com/office/drawing/2014/main" val="1796690863"/>
                    </a:ext>
                  </a:extLst>
                </a:gridCol>
                <a:gridCol w="1552521">
                  <a:extLst>
                    <a:ext uri="{9D8B030D-6E8A-4147-A177-3AD203B41FA5}">
                      <a16:colId xmlns:a16="http://schemas.microsoft.com/office/drawing/2014/main" val="3338460348"/>
                    </a:ext>
                  </a:extLst>
                </a:gridCol>
                <a:gridCol w="1950784">
                  <a:extLst>
                    <a:ext uri="{9D8B030D-6E8A-4147-A177-3AD203B41FA5}">
                      <a16:colId xmlns:a16="http://schemas.microsoft.com/office/drawing/2014/main" val="3471873500"/>
                    </a:ext>
                  </a:extLst>
                </a:gridCol>
              </a:tblGrid>
              <a:tr h="827476">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Sl. No.</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Qtys</a:t>
                      </a: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as per Actual</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w.r.t L2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1570001315"/>
                  </a:ext>
                </a:extLst>
              </a:tr>
              <a:tr h="212363">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Supply</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64345313"/>
                  </a:ext>
                </a:extLst>
              </a:tr>
              <a:tr h="335367">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GIS Bay Module</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Set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Sep’25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16678294"/>
                  </a:ext>
                </a:extLst>
              </a:tr>
              <a:tr h="429776">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GIS Bus Duct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1600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Sep’’25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641258"/>
                  </a:ext>
                </a:extLst>
              </a:tr>
              <a:tr h="420754">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Power &amp; Control cables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 Pair cables inspection call is for 15.5.26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52775971"/>
                  </a:ext>
                </a:extLst>
              </a:tr>
              <a:tr h="33536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765KV OD Equipment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90%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Aug’25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Completed</a:t>
                      </a:r>
                      <a:endPar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12450192"/>
                  </a:ext>
                </a:extLst>
              </a:tr>
              <a:tr h="21571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145KV OD Equipment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98%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Completed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21109106"/>
                  </a:ext>
                </a:extLst>
              </a:tr>
              <a:tr h="30825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Puff Panel</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Sq.m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2650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2250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2250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2250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July’25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00519847"/>
                  </a:ext>
                </a:extLst>
              </a:tr>
              <a:tr h="335367">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 Hardware</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Lot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Sep’25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16412631"/>
                  </a:ext>
                </a:extLst>
              </a:tr>
              <a:tr h="420754">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VMS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Set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a:t>
                      </a:r>
                    </a:p>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64383369"/>
                  </a:ext>
                </a:extLst>
              </a:tr>
              <a:tr h="215717">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PMU</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April’25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30647023"/>
                  </a:ext>
                </a:extLst>
              </a:tr>
              <a:tr h="420754">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Control Cable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96%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April’25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14C x 2.5 &amp; 2C x 2.5 Cables are still balanced</a:t>
                      </a:r>
                    </a:p>
                  </a:txBody>
                  <a:tcPr marL="857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1935766"/>
                  </a:ext>
                </a:extLst>
              </a:tr>
              <a:tr h="420754">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Power Cable</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b" latinLnBrk="0" hangingPunct="1">
                        <a:buNone/>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April’25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24043052"/>
                  </a:ext>
                </a:extLst>
              </a:tr>
            </a:tbl>
          </a:graphicData>
        </a:graphic>
      </p:graphicFrame>
    </p:spTree>
    <p:extLst>
      <p:ext uri="{BB962C8B-B14F-4D97-AF65-F5344CB8AC3E}">
        <p14:creationId xmlns:p14="http://schemas.microsoft.com/office/powerpoint/2010/main" val="2073514528"/>
      </p:ext>
    </p:extLst>
  </p:cSld>
  <p:clrMapOvr>
    <a:masterClrMapping/>
  </p:clrMapOvr>
  <p:transition spd="slow"/>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073E0C-F5D3-7399-656A-39C7B08B905E}"/>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C3463774-7BD9-1D7F-4F5B-3B2017EBFE30}"/>
              </a:ext>
            </a:extLst>
          </p:cNvPr>
          <p:cNvSpPr>
            <a:spLocks noGrp="1"/>
          </p:cNvSpPr>
          <p:nvPr>
            <p:ph type="title"/>
          </p:nvPr>
        </p:nvSpPr>
        <p:spPr>
          <a:xfrm>
            <a:off x="257175" y="587375"/>
            <a:ext cx="11677650" cy="550863"/>
          </a:xfrm>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765KV Bay Extension GIS Sub-Station Narela </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26451304-FF1C-6671-D0EA-E531836DEDD4}"/>
              </a:ext>
            </a:extLst>
          </p:cNvPr>
          <p:cNvGraphicFramePr>
            <a:graphicFrameLocks noGrp="1"/>
          </p:cNvGraphicFramePr>
          <p:nvPr>
            <p:extLst>
              <p:ext uri="{D42A27DB-BD31-4B8C-83A1-F6EECF244321}">
                <p14:modId xmlns:p14="http://schemas.microsoft.com/office/powerpoint/2010/main" val="1856864183"/>
              </p:ext>
            </p:extLst>
          </p:nvPr>
        </p:nvGraphicFramePr>
        <p:xfrm>
          <a:off x="232290"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Date: 22.02.2024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21-05-2025</a:t>
                      </a:r>
                      <a:endParaRPr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rtl="0">
                        <a:lnSpc>
                          <a:spcPct val="80000"/>
                        </a:lnSpc>
                        <a:spcBef>
                          <a:spcPts val="0"/>
                        </a:spcBef>
                        <a:spcAft>
                          <a:spcPts val="0"/>
                        </a:spcAft>
                        <a:buClr>
                          <a:srgbClr val="000000"/>
                        </a:buClr>
                        <a:buSzPts val="1200"/>
                        <a:buFont typeface="Arial"/>
                        <a:buNone/>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Target Comp Date: 30-06-2026</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    Project Value: 124.30 </a:t>
                      </a:r>
                      <a:r>
                        <a:rPr lang="en-GB" sz="1200" b="1" i="0" u="none" strike="noStrike" cap="none" dirty="0" err="1">
                          <a:solidFill>
                            <a:schemeClr val="bg1"/>
                          </a:solidFill>
                          <a:latin typeface="Calibri" panose="020F0502020204030204" pitchFamily="34" charset="0"/>
                          <a:ea typeface="Calibri" panose="020F0502020204030204" pitchFamily="34" charset="0"/>
                          <a:cs typeface="Calibri" panose="020F0502020204030204" pitchFamily="34" charset="0"/>
                          <a:sym typeface="Calibri"/>
                        </a:rPr>
                        <a:t>cr</a:t>
                      </a:r>
                      <a:endParaRPr lang="en-GB"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3" name="Table 2">
            <a:extLst>
              <a:ext uri="{FF2B5EF4-FFF2-40B4-BE49-F238E27FC236}">
                <a16:creationId xmlns:a16="http://schemas.microsoft.com/office/drawing/2014/main" id="{35A9E049-E116-A786-9B62-1DD61C67F870}"/>
              </a:ext>
            </a:extLst>
          </p:cNvPr>
          <p:cNvGraphicFramePr>
            <a:graphicFrameLocks noGrp="1"/>
          </p:cNvGraphicFramePr>
          <p:nvPr>
            <p:extLst>
              <p:ext uri="{D42A27DB-BD31-4B8C-83A1-F6EECF244321}">
                <p14:modId xmlns:p14="http://schemas.microsoft.com/office/powerpoint/2010/main" val="3660594925"/>
              </p:ext>
            </p:extLst>
          </p:nvPr>
        </p:nvGraphicFramePr>
        <p:xfrm>
          <a:off x="240241" y="1627480"/>
          <a:ext cx="11750450" cy="4934400"/>
        </p:xfrm>
        <a:graphic>
          <a:graphicData uri="http://schemas.openxmlformats.org/drawingml/2006/table">
            <a:tbl>
              <a:tblPr/>
              <a:tblGrid>
                <a:gridCol w="499333">
                  <a:extLst>
                    <a:ext uri="{9D8B030D-6E8A-4147-A177-3AD203B41FA5}">
                      <a16:colId xmlns:a16="http://schemas.microsoft.com/office/drawing/2014/main" val="2307758692"/>
                    </a:ext>
                  </a:extLst>
                </a:gridCol>
                <a:gridCol w="1989645">
                  <a:extLst>
                    <a:ext uri="{9D8B030D-6E8A-4147-A177-3AD203B41FA5}">
                      <a16:colId xmlns:a16="http://schemas.microsoft.com/office/drawing/2014/main" val="1341107626"/>
                    </a:ext>
                  </a:extLst>
                </a:gridCol>
                <a:gridCol w="391320">
                  <a:extLst>
                    <a:ext uri="{9D8B030D-6E8A-4147-A177-3AD203B41FA5}">
                      <a16:colId xmlns:a16="http://schemas.microsoft.com/office/drawing/2014/main" val="3359921911"/>
                    </a:ext>
                  </a:extLst>
                </a:gridCol>
                <a:gridCol w="870436">
                  <a:extLst>
                    <a:ext uri="{9D8B030D-6E8A-4147-A177-3AD203B41FA5}">
                      <a16:colId xmlns:a16="http://schemas.microsoft.com/office/drawing/2014/main" val="295229264"/>
                    </a:ext>
                  </a:extLst>
                </a:gridCol>
                <a:gridCol w="898892">
                  <a:extLst>
                    <a:ext uri="{9D8B030D-6E8A-4147-A177-3AD203B41FA5}">
                      <a16:colId xmlns:a16="http://schemas.microsoft.com/office/drawing/2014/main" val="1185966524"/>
                    </a:ext>
                  </a:extLst>
                </a:gridCol>
                <a:gridCol w="895496">
                  <a:extLst>
                    <a:ext uri="{9D8B030D-6E8A-4147-A177-3AD203B41FA5}">
                      <a16:colId xmlns:a16="http://schemas.microsoft.com/office/drawing/2014/main" val="1901801169"/>
                    </a:ext>
                  </a:extLst>
                </a:gridCol>
                <a:gridCol w="857250">
                  <a:extLst>
                    <a:ext uri="{9D8B030D-6E8A-4147-A177-3AD203B41FA5}">
                      <a16:colId xmlns:a16="http://schemas.microsoft.com/office/drawing/2014/main" val="2378766324"/>
                    </a:ext>
                  </a:extLst>
                </a:gridCol>
                <a:gridCol w="739262">
                  <a:extLst>
                    <a:ext uri="{9D8B030D-6E8A-4147-A177-3AD203B41FA5}">
                      <a16:colId xmlns:a16="http://schemas.microsoft.com/office/drawing/2014/main" val="3893924856"/>
                    </a:ext>
                  </a:extLst>
                </a:gridCol>
                <a:gridCol w="794263">
                  <a:extLst>
                    <a:ext uri="{9D8B030D-6E8A-4147-A177-3AD203B41FA5}">
                      <a16:colId xmlns:a16="http://schemas.microsoft.com/office/drawing/2014/main" val="1687919061"/>
                    </a:ext>
                  </a:extLst>
                </a:gridCol>
                <a:gridCol w="904875">
                  <a:extLst>
                    <a:ext uri="{9D8B030D-6E8A-4147-A177-3AD203B41FA5}">
                      <a16:colId xmlns:a16="http://schemas.microsoft.com/office/drawing/2014/main" val="2700649267"/>
                    </a:ext>
                  </a:extLst>
                </a:gridCol>
                <a:gridCol w="962025">
                  <a:extLst>
                    <a:ext uri="{9D8B030D-6E8A-4147-A177-3AD203B41FA5}">
                      <a16:colId xmlns:a16="http://schemas.microsoft.com/office/drawing/2014/main" val="1259183233"/>
                    </a:ext>
                  </a:extLst>
                </a:gridCol>
                <a:gridCol w="1947653">
                  <a:extLst>
                    <a:ext uri="{9D8B030D-6E8A-4147-A177-3AD203B41FA5}">
                      <a16:colId xmlns:a16="http://schemas.microsoft.com/office/drawing/2014/main" val="3261924790"/>
                    </a:ext>
                  </a:extLst>
                </a:gridCol>
              </a:tblGrid>
              <a:tr h="1026859">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Sl. No.</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Qtys as per Actual</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w.r.t Actual</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Gang Available</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419418932"/>
                  </a:ext>
                </a:extLst>
              </a:tr>
              <a:tr h="35523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Earth mat + Riser</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5.7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4.847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0.853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WIP</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46856575"/>
                  </a:ext>
                </a:extLst>
              </a:tr>
              <a:tr h="35523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765KV Equipment Erection</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88%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noProof="0">
                          <a:solidFill>
                            <a:srgbClr val="000000"/>
                          </a:solidFill>
                          <a:effectLst/>
                          <a:latin typeface="Calibri" panose="020F0502020204030204" pitchFamily="34" charset="0"/>
                          <a:ea typeface="Calibri" panose="020F0502020204030204" pitchFamily="34" charset="0"/>
                          <a:cs typeface="Calibri" panose="020F0502020204030204" pitchFamily="34" charset="0"/>
                        </a:rPr>
                        <a:t>WIP</a:t>
                      </a:r>
                      <a:endParaRPr lang="en-IN" sz="1200" b="0" i="0" u="none" strike="noStrike" kern="1200" noProof="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75889588"/>
                  </a:ext>
                </a:extLst>
              </a:tr>
              <a:tr h="35523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145KV Equipment Erection</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noProof="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WIP</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95163975"/>
                  </a:ext>
                </a:extLst>
              </a:tr>
              <a:tr h="35523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GIB Erection</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mtrs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1600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1600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1573.79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26.21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noProof="0">
                          <a:solidFill>
                            <a:srgbClr val="000000"/>
                          </a:solidFill>
                          <a:effectLst/>
                          <a:latin typeface="Calibri" panose="020F0502020204030204" pitchFamily="34" charset="0"/>
                          <a:ea typeface="Calibri" panose="020F0502020204030204" pitchFamily="34" charset="0"/>
                          <a:cs typeface="Calibri" panose="020F0502020204030204" pitchFamily="34" charset="0"/>
                        </a:rPr>
                        <a:t>WIP</a:t>
                      </a:r>
                      <a:endParaRPr lang="en-IN" sz="1200" b="0" i="0" u="none" strike="noStrike" kern="1200" noProof="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80183726"/>
                  </a:ext>
                </a:extLst>
              </a:tr>
              <a:tr h="35523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Power &amp; Control Cable Laying</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85%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noProof="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WIP</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52421396"/>
                  </a:ext>
                </a:extLst>
              </a:tr>
              <a:tr h="35523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Testing and comissioning</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Lot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noProof="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WIP</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70535930"/>
                  </a:ext>
                </a:extLst>
              </a:tr>
              <a:tr h="35523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Busduct Structure Erection</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181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181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181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181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10984501"/>
                  </a:ext>
                </a:extLst>
              </a:tr>
              <a:tr h="35523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Indoor GIS Bays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Bays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7558693"/>
                  </a:ext>
                </a:extLst>
              </a:tr>
              <a:tr h="35523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Yard Levelling</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M2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7000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7000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7000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4825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40889726"/>
                  </a:ext>
                </a:extLst>
              </a:tr>
              <a:tr h="355231">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PEB Erection</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Completed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03277338"/>
                  </a:ext>
                </a:extLst>
              </a:tr>
              <a:tr h="355231">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Outdoor Cable trench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RM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214.75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214.75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214.75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214.75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Completed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9029121"/>
                  </a:ext>
                </a:extLst>
              </a:tr>
            </a:tbl>
          </a:graphicData>
        </a:graphic>
      </p:graphicFrame>
    </p:spTree>
    <p:extLst>
      <p:ext uri="{BB962C8B-B14F-4D97-AF65-F5344CB8AC3E}">
        <p14:creationId xmlns:p14="http://schemas.microsoft.com/office/powerpoint/2010/main" val="2264391353"/>
      </p:ext>
    </p:extLst>
  </p:cSld>
  <p:clrMapOvr>
    <a:masterClrMapping/>
  </p:clrMapOvr>
  <p:transition spd="slow"/>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51A304-B802-07AC-9FEE-F41F06101B09}"/>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A9B8CFEA-2FE8-C6BF-D8EF-D85BB61BAA48}"/>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SS33T </a:t>
            </a:r>
            <a:r>
              <a:rPr lang="en-IN" sz="2400" b="1" dirty="0">
                <a:latin typeface="Calibri" panose="020F0502020204030204" pitchFamily="34" charset="0"/>
                <a:ea typeface="Calibri" panose="020F0502020204030204" pitchFamily="34" charset="0"/>
                <a:cs typeface="Calibri" panose="020F0502020204030204" pitchFamily="34" charset="0"/>
              </a:rPr>
              <a:t>765kV AIS Ahmedabad Extn (SA-5A8)</a:t>
            </a:r>
          </a:p>
        </p:txBody>
      </p:sp>
      <p:graphicFrame>
        <p:nvGraphicFramePr>
          <p:cNvPr id="5" name="Table 4">
            <a:extLst>
              <a:ext uri="{FF2B5EF4-FFF2-40B4-BE49-F238E27FC236}">
                <a16:creationId xmlns:a16="http://schemas.microsoft.com/office/drawing/2014/main" id="{26103881-1D93-D41C-1FB0-D79D2EC26439}"/>
              </a:ext>
            </a:extLst>
          </p:cNvPr>
          <p:cNvGraphicFramePr>
            <a:graphicFrameLocks noGrp="1"/>
          </p:cNvGraphicFramePr>
          <p:nvPr>
            <p:extLst>
              <p:ext uri="{D42A27DB-BD31-4B8C-83A1-F6EECF244321}">
                <p14:modId xmlns:p14="http://schemas.microsoft.com/office/powerpoint/2010/main" val="2176444133"/>
              </p:ext>
            </p:extLst>
          </p:nvPr>
        </p:nvGraphicFramePr>
        <p:xfrm>
          <a:off x="240241"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Date: 26.11.2024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25-10-2026</a:t>
                      </a:r>
                      <a:endParaRPr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pP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     Target Comp Date: 30-09-2026</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    Project Value: 61.27cr</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3" name="Table 2">
            <a:extLst>
              <a:ext uri="{FF2B5EF4-FFF2-40B4-BE49-F238E27FC236}">
                <a16:creationId xmlns:a16="http://schemas.microsoft.com/office/drawing/2014/main" id="{2C89D132-79F3-81E8-FBED-9B70162EA50B}"/>
              </a:ext>
            </a:extLst>
          </p:cNvPr>
          <p:cNvGraphicFramePr>
            <a:graphicFrameLocks noGrp="1"/>
          </p:cNvGraphicFramePr>
          <p:nvPr>
            <p:extLst>
              <p:ext uri="{D42A27DB-BD31-4B8C-83A1-F6EECF244321}">
                <p14:modId xmlns:p14="http://schemas.microsoft.com/office/powerpoint/2010/main" val="533974637"/>
              </p:ext>
            </p:extLst>
          </p:nvPr>
        </p:nvGraphicFramePr>
        <p:xfrm>
          <a:off x="248201" y="1466398"/>
          <a:ext cx="11728959" cy="4962972"/>
        </p:xfrm>
        <a:graphic>
          <a:graphicData uri="http://schemas.openxmlformats.org/drawingml/2006/table">
            <a:tbl>
              <a:tblPr/>
              <a:tblGrid>
                <a:gridCol w="825812">
                  <a:extLst>
                    <a:ext uri="{9D8B030D-6E8A-4147-A177-3AD203B41FA5}">
                      <a16:colId xmlns:a16="http://schemas.microsoft.com/office/drawing/2014/main" val="1637877411"/>
                    </a:ext>
                  </a:extLst>
                </a:gridCol>
                <a:gridCol w="1622478">
                  <a:extLst>
                    <a:ext uri="{9D8B030D-6E8A-4147-A177-3AD203B41FA5}">
                      <a16:colId xmlns:a16="http://schemas.microsoft.com/office/drawing/2014/main" val="2761419768"/>
                    </a:ext>
                  </a:extLst>
                </a:gridCol>
                <a:gridCol w="825812">
                  <a:extLst>
                    <a:ext uri="{9D8B030D-6E8A-4147-A177-3AD203B41FA5}">
                      <a16:colId xmlns:a16="http://schemas.microsoft.com/office/drawing/2014/main" val="2273711165"/>
                    </a:ext>
                  </a:extLst>
                </a:gridCol>
                <a:gridCol w="825812">
                  <a:extLst>
                    <a:ext uri="{9D8B030D-6E8A-4147-A177-3AD203B41FA5}">
                      <a16:colId xmlns:a16="http://schemas.microsoft.com/office/drawing/2014/main" val="698055928"/>
                    </a:ext>
                  </a:extLst>
                </a:gridCol>
                <a:gridCol w="825812">
                  <a:extLst>
                    <a:ext uri="{9D8B030D-6E8A-4147-A177-3AD203B41FA5}">
                      <a16:colId xmlns:a16="http://schemas.microsoft.com/office/drawing/2014/main" val="3179145441"/>
                    </a:ext>
                  </a:extLst>
                </a:gridCol>
                <a:gridCol w="825812">
                  <a:extLst>
                    <a:ext uri="{9D8B030D-6E8A-4147-A177-3AD203B41FA5}">
                      <a16:colId xmlns:a16="http://schemas.microsoft.com/office/drawing/2014/main" val="1238606491"/>
                    </a:ext>
                  </a:extLst>
                </a:gridCol>
                <a:gridCol w="825812">
                  <a:extLst>
                    <a:ext uri="{9D8B030D-6E8A-4147-A177-3AD203B41FA5}">
                      <a16:colId xmlns:a16="http://schemas.microsoft.com/office/drawing/2014/main" val="1654612466"/>
                    </a:ext>
                  </a:extLst>
                </a:gridCol>
                <a:gridCol w="825812">
                  <a:extLst>
                    <a:ext uri="{9D8B030D-6E8A-4147-A177-3AD203B41FA5}">
                      <a16:colId xmlns:a16="http://schemas.microsoft.com/office/drawing/2014/main" val="1113914811"/>
                    </a:ext>
                  </a:extLst>
                </a:gridCol>
                <a:gridCol w="825812">
                  <a:extLst>
                    <a:ext uri="{9D8B030D-6E8A-4147-A177-3AD203B41FA5}">
                      <a16:colId xmlns:a16="http://schemas.microsoft.com/office/drawing/2014/main" val="1796690863"/>
                    </a:ext>
                  </a:extLst>
                </a:gridCol>
                <a:gridCol w="1962518">
                  <a:extLst>
                    <a:ext uri="{9D8B030D-6E8A-4147-A177-3AD203B41FA5}">
                      <a16:colId xmlns:a16="http://schemas.microsoft.com/office/drawing/2014/main" val="3338460348"/>
                    </a:ext>
                  </a:extLst>
                </a:gridCol>
                <a:gridCol w="1537467">
                  <a:extLst>
                    <a:ext uri="{9D8B030D-6E8A-4147-A177-3AD203B41FA5}">
                      <a16:colId xmlns:a16="http://schemas.microsoft.com/office/drawing/2014/main" val="3471873500"/>
                    </a:ext>
                  </a:extLst>
                </a:gridCol>
              </a:tblGrid>
              <a:tr h="747929">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Sl. No.</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Qtys as per Actual</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w.r.t L2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1570001315"/>
                  </a:ext>
                </a:extLst>
              </a:tr>
              <a:tr h="191948">
                <a:tc>
                  <a:txBody>
                    <a:bodyPr/>
                    <a:lstStyle/>
                    <a:p>
                      <a:pPr algn="ctr"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Supply</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64345313"/>
                  </a:ext>
                </a:extLst>
              </a:tr>
              <a:tr h="354270">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765kV equipment</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39</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87%</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CVT order placed to GE</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16678294"/>
                  </a:ext>
                </a:extLst>
              </a:tr>
              <a:tr h="747742">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145/36kV equipment</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145kV BPI , NCT - Order placed to Modern </a:t>
                      </a:r>
                      <a:r>
                        <a:rPr lang="en-US"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complany</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&amp; SCT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641258"/>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Foundation Bolt</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2560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2560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2560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2560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52775971"/>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Structure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MT</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536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596.55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4.45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99%</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KEC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12450192"/>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Earthing Materials</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3.25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21109106"/>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Erection Hardware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0.57</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0.57</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0.43</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57%</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Vensun</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00519847"/>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Isolator</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14575854"/>
                  </a:ext>
                </a:extLst>
              </a:tr>
              <a:tr h="263287">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Insulator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Jun'26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Modern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Equipments</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25192054"/>
                  </a:ext>
                </a:extLst>
              </a:tr>
              <a:tr h="354420">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Power &amp; Control Cable</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87.6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 to Jun'26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KEC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16412631"/>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CRP &amp; SAS</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64383369"/>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Wave Trap</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02655285"/>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FOTE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26583305"/>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Fire Fighting System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30647023"/>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AC System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69827482"/>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Illumination System</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Avaids</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Forus</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1935766"/>
                  </a:ext>
                </a:extLst>
              </a:tr>
              <a:tr h="191948">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VMS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Lot </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6534" marR="6534" marT="65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May'26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Delcom</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24043052"/>
                  </a:ext>
                </a:extLst>
              </a:tr>
            </a:tbl>
          </a:graphicData>
        </a:graphic>
      </p:graphicFrame>
    </p:spTree>
    <p:extLst>
      <p:ext uri="{BB962C8B-B14F-4D97-AF65-F5344CB8AC3E}">
        <p14:creationId xmlns:p14="http://schemas.microsoft.com/office/powerpoint/2010/main" val="997377364"/>
      </p:ext>
    </p:extLst>
  </p:cSld>
  <p:clrMapOvr>
    <a:masterClrMapping/>
  </p:clrMapOvr>
  <p:transition spd="slow"/>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0EB16F-4F4D-3D1F-79C3-3556D7B58EFA}"/>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6D5C1BD3-ACF0-CB21-979B-9A014C2C92EB}"/>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SS33T </a:t>
            </a:r>
            <a:r>
              <a:rPr lang="en-IN" sz="2400" b="1" dirty="0">
                <a:latin typeface="Calibri" panose="020F0502020204030204" pitchFamily="34" charset="0"/>
                <a:ea typeface="Calibri" panose="020F0502020204030204" pitchFamily="34" charset="0"/>
                <a:cs typeface="Calibri" panose="020F0502020204030204" pitchFamily="34" charset="0"/>
              </a:rPr>
              <a:t>765kV AIS Ahmedabad Extn (SA-5A8)</a:t>
            </a:r>
          </a:p>
        </p:txBody>
      </p:sp>
      <p:graphicFrame>
        <p:nvGraphicFramePr>
          <p:cNvPr id="5" name="Table 4">
            <a:extLst>
              <a:ext uri="{FF2B5EF4-FFF2-40B4-BE49-F238E27FC236}">
                <a16:creationId xmlns:a16="http://schemas.microsoft.com/office/drawing/2014/main" id="{7AF25025-519E-ECC6-9B22-EA9C0A2E3493}"/>
              </a:ext>
            </a:extLst>
          </p:cNvPr>
          <p:cNvGraphicFramePr>
            <a:graphicFrameLocks noGrp="1"/>
          </p:cNvGraphicFramePr>
          <p:nvPr>
            <p:extLst>
              <p:ext uri="{D42A27DB-BD31-4B8C-83A1-F6EECF244321}">
                <p14:modId xmlns:p14="http://schemas.microsoft.com/office/powerpoint/2010/main" val="932284453"/>
              </p:ext>
            </p:extLst>
          </p:nvPr>
        </p:nvGraphicFramePr>
        <p:xfrm>
          <a:off x="240241"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Date: 26.11.2024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25-10-2026</a:t>
                      </a:r>
                      <a:endParaRPr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pP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     Target Comp Date: 30-09-2026</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    Project Value: 61.27cr</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2" name="Table 1">
            <a:extLst>
              <a:ext uri="{FF2B5EF4-FFF2-40B4-BE49-F238E27FC236}">
                <a16:creationId xmlns:a16="http://schemas.microsoft.com/office/drawing/2014/main" id="{89AF10E1-BBFD-5D72-BDEF-B541439F7AC1}"/>
              </a:ext>
            </a:extLst>
          </p:cNvPr>
          <p:cNvGraphicFramePr>
            <a:graphicFrameLocks noGrp="1"/>
          </p:cNvGraphicFramePr>
          <p:nvPr>
            <p:extLst>
              <p:ext uri="{D42A27DB-BD31-4B8C-83A1-F6EECF244321}">
                <p14:modId xmlns:p14="http://schemas.microsoft.com/office/powerpoint/2010/main" val="3748836336"/>
              </p:ext>
            </p:extLst>
          </p:nvPr>
        </p:nvGraphicFramePr>
        <p:xfrm>
          <a:off x="244154" y="1466398"/>
          <a:ext cx="11727712" cy="5085302"/>
        </p:xfrm>
        <a:graphic>
          <a:graphicData uri="http://schemas.openxmlformats.org/drawingml/2006/table">
            <a:tbl>
              <a:tblPr/>
              <a:tblGrid>
                <a:gridCol w="581389">
                  <a:extLst>
                    <a:ext uri="{9D8B030D-6E8A-4147-A177-3AD203B41FA5}">
                      <a16:colId xmlns:a16="http://schemas.microsoft.com/office/drawing/2014/main" val="2307758692"/>
                    </a:ext>
                  </a:extLst>
                </a:gridCol>
                <a:gridCol w="2071199">
                  <a:extLst>
                    <a:ext uri="{9D8B030D-6E8A-4147-A177-3AD203B41FA5}">
                      <a16:colId xmlns:a16="http://schemas.microsoft.com/office/drawing/2014/main" val="1341107626"/>
                    </a:ext>
                  </a:extLst>
                </a:gridCol>
                <a:gridCol w="581389">
                  <a:extLst>
                    <a:ext uri="{9D8B030D-6E8A-4147-A177-3AD203B41FA5}">
                      <a16:colId xmlns:a16="http://schemas.microsoft.com/office/drawing/2014/main" val="3359921911"/>
                    </a:ext>
                  </a:extLst>
                </a:gridCol>
                <a:gridCol w="678287">
                  <a:extLst>
                    <a:ext uri="{9D8B030D-6E8A-4147-A177-3AD203B41FA5}">
                      <a16:colId xmlns:a16="http://schemas.microsoft.com/office/drawing/2014/main" val="295229264"/>
                    </a:ext>
                  </a:extLst>
                </a:gridCol>
                <a:gridCol w="714624">
                  <a:extLst>
                    <a:ext uri="{9D8B030D-6E8A-4147-A177-3AD203B41FA5}">
                      <a16:colId xmlns:a16="http://schemas.microsoft.com/office/drawing/2014/main" val="1185966524"/>
                    </a:ext>
                  </a:extLst>
                </a:gridCol>
                <a:gridCol w="750962">
                  <a:extLst>
                    <a:ext uri="{9D8B030D-6E8A-4147-A177-3AD203B41FA5}">
                      <a16:colId xmlns:a16="http://schemas.microsoft.com/office/drawing/2014/main" val="1901801169"/>
                    </a:ext>
                  </a:extLst>
                </a:gridCol>
                <a:gridCol w="750962">
                  <a:extLst>
                    <a:ext uri="{9D8B030D-6E8A-4147-A177-3AD203B41FA5}">
                      <a16:colId xmlns:a16="http://schemas.microsoft.com/office/drawing/2014/main" val="2378766324"/>
                    </a:ext>
                  </a:extLst>
                </a:gridCol>
                <a:gridCol w="717653">
                  <a:extLst>
                    <a:ext uri="{9D8B030D-6E8A-4147-A177-3AD203B41FA5}">
                      <a16:colId xmlns:a16="http://schemas.microsoft.com/office/drawing/2014/main" val="3893924856"/>
                    </a:ext>
                  </a:extLst>
                </a:gridCol>
                <a:gridCol w="763073">
                  <a:extLst>
                    <a:ext uri="{9D8B030D-6E8A-4147-A177-3AD203B41FA5}">
                      <a16:colId xmlns:a16="http://schemas.microsoft.com/office/drawing/2014/main" val="1687919061"/>
                    </a:ext>
                  </a:extLst>
                </a:gridCol>
                <a:gridCol w="1077992">
                  <a:extLst>
                    <a:ext uri="{9D8B030D-6E8A-4147-A177-3AD203B41FA5}">
                      <a16:colId xmlns:a16="http://schemas.microsoft.com/office/drawing/2014/main" val="2700649267"/>
                    </a:ext>
                  </a:extLst>
                </a:gridCol>
                <a:gridCol w="932646">
                  <a:extLst>
                    <a:ext uri="{9D8B030D-6E8A-4147-A177-3AD203B41FA5}">
                      <a16:colId xmlns:a16="http://schemas.microsoft.com/office/drawing/2014/main" val="1259183233"/>
                    </a:ext>
                  </a:extLst>
                </a:gridCol>
                <a:gridCol w="2107536">
                  <a:extLst>
                    <a:ext uri="{9D8B030D-6E8A-4147-A177-3AD203B41FA5}">
                      <a16:colId xmlns:a16="http://schemas.microsoft.com/office/drawing/2014/main" val="3261924790"/>
                    </a:ext>
                  </a:extLst>
                </a:gridCol>
              </a:tblGrid>
              <a:tr h="737819">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Sl. No.</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UOM</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Qty as per LOA</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Qtys</a:t>
                      </a: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as per Actual</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 Schedule up as on date</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 as on date</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Balance w.r.t Actual</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US"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%Age w.r.t L2</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 Available</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Target Completion</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tc>
                  <a:txBody>
                    <a:bodyPr/>
                    <a:lstStyle/>
                    <a:p>
                      <a:pPr algn="ctr"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AF7"/>
                    </a:solidFill>
                  </a:tcPr>
                </a:tc>
                <a:extLst>
                  <a:ext uri="{0D108BD9-81ED-4DB2-BD59-A6C34878D82A}">
                    <a16:rowId xmlns:a16="http://schemas.microsoft.com/office/drawing/2014/main" val="419418932"/>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Soil filling</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Cum</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45000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41000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41000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38000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93%</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10-05-2026</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46856575"/>
                  </a:ext>
                </a:extLst>
              </a:tr>
              <a:tr h="208726">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765kV Towers</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75889588"/>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765kV Equipment</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95163975"/>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145kV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Equipments</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80183726"/>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Reactor Foundation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52421396"/>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Firewall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70535930"/>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SPR Complete</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0.85</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0.15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Finishing wip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10-05-2026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10984501"/>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Cable Trench</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mtr</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1700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86%</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15-05-2026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7558693"/>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Drains, Road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30-06-2026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40889726"/>
                  </a:ext>
                </a:extLst>
              </a:tr>
              <a:tr h="555246">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Misc Work (Earth Pit, Pull Pit,Yard PCC, Gravel Spreading, Fencing ,  etc)</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25-06-2026</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03277338"/>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145kV Erection Erection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85</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20-05-2026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9029121"/>
                  </a:ext>
                </a:extLst>
              </a:tr>
              <a:tr h="366280">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765kV Outdoor Equipment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15-06-2026</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12472440"/>
                  </a:ext>
                </a:extLst>
              </a:tr>
              <a:tr h="366280">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Illumination system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WIP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30-05-2026</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30547310"/>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Fire Protection system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28</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30-06-2026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25522137"/>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Cable Laying &amp; Termination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10-07-2026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65623176"/>
                  </a:ext>
                </a:extLst>
              </a:tr>
              <a:tr h="372673">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CRP &amp; SAS Erection incl. Integration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15-07-2026</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96379807"/>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17</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PLCC, PMC, Telecom &amp; VMS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#DIV/0!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15-07-2026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24993591"/>
                  </a:ext>
                </a:extLst>
              </a:tr>
              <a:tr h="190101">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Testing &amp; Commissioning</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#DIV/0!</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31-07-2026</a:t>
                      </a:r>
                    </a:p>
                  </a:txBody>
                  <a:tcPr marL="7541" marR="7541" marT="754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541" marR="7541" marT="754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40657487"/>
                  </a:ext>
                </a:extLst>
              </a:tr>
            </a:tbl>
          </a:graphicData>
        </a:graphic>
      </p:graphicFrame>
    </p:spTree>
    <p:extLst>
      <p:ext uri="{BB962C8B-B14F-4D97-AF65-F5344CB8AC3E}">
        <p14:creationId xmlns:p14="http://schemas.microsoft.com/office/powerpoint/2010/main" val="682585494"/>
      </p:ext>
    </p:extLst>
  </p:cSld>
  <p:clrMapOvr>
    <a:masterClrMapping/>
  </p:clrMapOvr>
  <p:transition spd="slow"/>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09929C-F3D1-A417-9F1E-B3C3AD3066C7}"/>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6E414F96-8B53-BA9F-9171-558F8EE175E0}"/>
              </a:ext>
            </a:extLst>
          </p:cNvPr>
          <p:cNvSpPr>
            <a:spLocks noGrp="1"/>
          </p:cNvSpPr>
          <p:nvPr>
            <p:ph type="title"/>
          </p:nvPr>
        </p:nvSpPr>
        <p:spPr>
          <a:xfrm>
            <a:off x="257175" y="587375"/>
            <a:ext cx="11677650" cy="550863"/>
          </a:xfrm>
        </p:spPr>
        <p:txBody>
          <a:bodyPr>
            <a:normAutofit/>
          </a:bodyPr>
          <a:lstStyle/>
          <a:p>
            <a:r>
              <a:rPr lang="fr-FR" sz="2400" b="1" dirty="0">
                <a:latin typeface="Calibri" panose="020F0502020204030204" pitchFamily="34" charset="0"/>
                <a:ea typeface="Calibri" panose="020F0502020204030204" pitchFamily="34" charset="0"/>
                <a:cs typeface="Calibri" panose="020F0502020204030204" pitchFamily="34" charset="0"/>
              </a:rPr>
              <a:t>SS33T </a:t>
            </a:r>
            <a:r>
              <a:rPr lang="en-IN" sz="2400" b="1" dirty="0">
                <a:latin typeface="Calibri" panose="020F0502020204030204" pitchFamily="34" charset="0"/>
                <a:ea typeface="Calibri" panose="020F0502020204030204" pitchFamily="34" charset="0"/>
                <a:cs typeface="Calibri" panose="020F0502020204030204" pitchFamily="34" charset="0"/>
              </a:rPr>
              <a:t>765kV AIS Ahmedabad Extn (SA-5A8)</a:t>
            </a:r>
          </a:p>
        </p:txBody>
      </p:sp>
      <p:graphicFrame>
        <p:nvGraphicFramePr>
          <p:cNvPr id="5" name="Table 4">
            <a:extLst>
              <a:ext uri="{FF2B5EF4-FFF2-40B4-BE49-F238E27FC236}">
                <a16:creationId xmlns:a16="http://schemas.microsoft.com/office/drawing/2014/main" id="{D3538645-D7A3-BAD3-02B9-EEE5E3ABF70B}"/>
              </a:ext>
            </a:extLst>
          </p:cNvPr>
          <p:cNvGraphicFramePr>
            <a:graphicFrameLocks noGrp="1"/>
          </p:cNvGraphicFramePr>
          <p:nvPr>
            <p:extLst>
              <p:ext uri="{D42A27DB-BD31-4B8C-83A1-F6EECF244321}">
                <p14:modId xmlns:p14="http://schemas.microsoft.com/office/powerpoint/2010/main" val="1582452188"/>
              </p:ext>
            </p:extLst>
          </p:nvPr>
        </p:nvGraphicFramePr>
        <p:xfrm>
          <a:off x="240241" y="1234440"/>
          <a:ext cx="11740092" cy="231957"/>
        </p:xfrm>
        <a:graphic>
          <a:graphicData uri="http://schemas.openxmlformats.org/drawingml/2006/table">
            <a:tbl>
              <a:tblPr/>
              <a:tblGrid>
                <a:gridCol w="2935023">
                  <a:extLst>
                    <a:ext uri="{9D8B030D-6E8A-4147-A177-3AD203B41FA5}">
                      <a16:colId xmlns:a16="http://schemas.microsoft.com/office/drawing/2014/main" val="906577857"/>
                    </a:ext>
                  </a:extLst>
                </a:gridCol>
                <a:gridCol w="2935023">
                  <a:extLst>
                    <a:ext uri="{9D8B030D-6E8A-4147-A177-3AD203B41FA5}">
                      <a16:colId xmlns:a16="http://schemas.microsoft.com/office/drawing/2014/main" val="1761629044"/>
                    </a:ext>
                  </a:extLst>
                </a:gridCol>
                <a:gridCol w="2935023">
                  <a:extLst>
                    <a:ext uri="{9D8B030D-6E8A-4147-A177-3AD203B41FA5}">
                      <a16:colId xmlns:a16="http://schemas.microsoft.com/office/drawing/2014/main" val="949399120"/>
                    </a:ext>
                  </a:extLst>
                </a:gridCol>
                <a:gridCol w="2935023">
                  <a:extLst>
                    <a:ext uri="{9D8B030D-6E8A-4147-A177-3AD203B41FA5}">
                      <a16:colId xmlns:a16="http://schemas.microsoft.com/office/drawing/2014/main" val="2985635341"/>
                    </a:ext>
                  </a:extLst>
                </a:gridCol>
              </a:tblGrid>
              <a:tr h="231957">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Date: 26.11.2024 </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F243E"/>
                        </a:buClr>
                        <a:buSzPts val="1200"/>
                        <a:buFont typeface="Calibri"/>
                        <a:buNone/>
                        <a:tabLst/>
                        <a:defRPr/>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LOA Completion Sch: </a:t>
                      </a: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25-10-2026</a:t>
                      </a:r>
                      <a:endParaRPr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endParaRP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80000"/>
                        </a:lnSpc>
                        <a:spcBef>
                          <a:spcPts val="0"/>
                        </a:spcBef>
                        <a:spcAft>
                          <a:spcPts val="0"/>
                        </a:spcAft>
                        <a:buClr>
                          <a:srgbClr val="000000"/>
                        </a:buClr>
                        <a:buSzPts val="1200"/>
                        <a:buFont typeface="Arial"/>
                        <a:buNone/>
                      </a:pP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     Target Comp Date: 30-09-2026</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sym typeface="Calibri"/>
                        </a:rPr>
                        <a:t>    Project Value: 61.27cr</a:t>
                      </a:r>
                    </a:p>
                  </a:txBody>
                  <a:tcPr marL="27000" marR="13500" marT="27000" marB="135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
        <p:nvSpPr>
          <p:cNvPr id="6" name="TextBox 5">
            <a:extLst>
              <a:ext uri="{FF2B5EF4-FFF2-40B4-BE49-F238E27FC236}">
                <a16:creationId xmlns:a16="http://schemas.microsoft.com/office/drawing/2014/main" id="{5813082B-1479-A28F-8509-36142705BCC8}"/>
              </a:ext>
            </a:extLst>
          </p:cNvPr>
          <p:cNvSpPr txBox="1"/>
          <p:nvPr/>
        </p:nvSpPr>
        <p:spPr>
          <a:xfrm>
            <a:off x="285749" y="1647372"/>
            <a:ext cx="11694584" cy="1477328"/>
          </a:xfrm>
          <a:prstGeom prst="rect">
            <a:avLst/>
          </a:prstGeom>
          <a:noFill/>
        </p:spPr>
        <p:txBody>
          <a:bodyPr wrap="square">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endParaRPr lang="en-IN" b="1" dirty="0">
              <a:latin typeface="Calibri" panose="020F0502020204030204" pitchFamily="34" charset="0"/>
              <a:ea typeface="Calibri" panose="020F0502020204030204" pitchFamily="34" charset="0"/>
              <a:cs typeface="Calibri" panose="020F0502020204030204" pitchFamily="34" charset="0"/>
            </a:endParaRPr>
          </a:p>
          <a:p>
            <a:pPr marL="342900" indent="-342900" fontAlgn="ctr">
              <a:buAutoNum type="arabicPeriod"/>
            </a:pPr>
            <a:r>
              <a:rPr lang="en-US" dirty="0">
                <a:latin typeface="Calibri" panose="020F0502020204030204" pitchFamily="34" charset="0"/>
                <a:ea typeface="Calibri" panose="020F0502020204030204" pitchFamily="34" charset="0"/>
                <a:cs typeface="Calibri" panose="020F0502020204030204" pitchFamily="34" charset="0"/>
              </a:rPr>
              <a:t>The erection of the 80 MVAR reactor by PGCIL needs to be completed</a:t>
            </a:r>
          </a:p>
          <a:p>
            <a:pPr marL="342900" indent="-342900" fontAlgn="ctr">
              <a:buAutoNum type="arabicPeriod"/>
            </a:pPr>
            <a:endParaRPr lang="en-US" dirty="0">
              <a:latin typeface="Calibri" panose="020F0502020204030204" pitchFamily="34" charset="0"/>
              <a:ea typeface="Calibri" panose="020F0502020204030204" pitchFamily="34" charset="0"/>
              <a:cs typeface="Calibri" panose="020F0502020204030204" pitchFamily="34" charset="0"/>
            </a:endParaRPr>
          </a:p>
          <a:p>
            <a:pPr marL="342900" indent="-342900" fontAlgn="ctr">
              <a:buAutoNum type="arabicPeriod"/>
            </a:pPr>
            <a:r>
              <a:rPr lang="en-US" dirty="0">
                <a:latin typeface="Calibri" panose="020F0502020204030204" pitchFamily="34" charset="0"/>
                <a:ea typeface="Calibri" panose="020F0502020204030204" pitchFamily="34" charset="0"/>
                <a:cs typeface="Calibri" panose="020F0502020204030204" pitchFamily="34" charset="0"/>
              </a:rPr>
              <a:t>Clamps and connector drawings are yet to be approved</a:t>
            </a:r>
          </a:p>
        </p:txBody>
      </p:sp>
    </p:spTree>
    <p:extLst>
      <p:ext uri="{BB962C8B-B14F-4D97-AF65-F5344CB8AC3E}">
        <p14:creationId xmlns:p14="http://schemas.microsoft.com/office/powerpoint/2010/main" val="4068197536"/>
      </p:ext>
    </p:extLst>
  </p:cSld>
  <p:clrMapOvr>
    <a:masterClrMapping/>
  </p:clrMapOvr>
  <p:transition spd="slow"/>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46BFF-B110-4535-4FC7-A87B74671990}"/>
              </a:ext>
            </a:extLst>
          </p:cNvPr>
          <p:cNvSpPr>
            <a:spLocks noGrp="1"/>
          </p:cNvSpPr>
          <p:nvPr>
            <p:ph type="title"/>
          </p:nvPr>
        </p:nvSpPr>
        <p:spPr>
          <a:xfrm>
            <a:off x="515797" y="3347206"/>
            <a:ext cx="11676203" cy="551809"/>
          </a:xfrm>
        </p:spPr>
        <p:txBody>
          <a:bodyPr>
            <a:normAutofit fontScale="90000"/>
          </a:bodyPr>
          <a:lstStyle/>
          <a:p>
            <a:pPr algn="ctr"/>
            <a:r>
              <a:rPr lang="en-IN" dirty="0">
                <a:latin typeface="Calibri" panose="020F0502020204030204" pitchFamily="34" charset="0"/>
                <a:ea typeface="Calibri" panose="020F0502020204030204" pitchFamily="34" charset="0"/>
                <a:cs typeface="Calibri" panose="020F0502020204030204" pitchFamily="34" charset="0"/>
              </a:rPr>
              <a:t>North Western Region</a:t>
            </a:r>
          </a:p>
        </p:txBody>
      </p:sp>
    </p:spTree>
    <p:extLst>
      <p:ext uri="{BB962C8B-B14F-4D97-AF65-F5344CB8AC3E}">
        <p14:creationId xmlns:p14="http://schemas.microsoft.com/office/powerpoint/2010/main" val="2498514989"/>
      </p:ext>
    </p:extLst>
  </p:cSld>
  <p:clrMapOvr>
    <a:masterClrMapping/>
  </p:clrMapOvr>
  <p:transition spd="slow"/>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048561-1520-268D-9534-4C048930C107}"/>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8F449CA0-9811-E7B5-9B04-E96A58EA9CCA}"/>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a:t>
            </a:r>
            <a:r>
              <a:rPr lang="en-IN" sz="2400" b="1" dirty="0">
                <a:latin typeface="Calibri" panose="020F0502020204030204" pitchFamily="34" charset="0"/>
                <a:ea typeface="Calibri" panose="020F0502020204030204" pitchFamily="34" charset="0"/>
                <a:cs typeface="Calibri" panose="020F0502020204030204" pitchFamily="34" charset="0"/>
              </a:rPr>
              <a:t>Bikaner III - Neemrana II </a:t>
            </a:r>
            <a:r>
              <a:rPr lang="en-US" sz="2400" b="1" dirty="0">
                <a:latin typeface="Calibri" panose="020F0502020204030204" pitchFamily="34" charset="0"/>
                <a:ea typeface="Calibri" panose="020F0502020204030204" pitchFamily="34" charset="0"/>
                <a:cs typeface="Calibri" panose="020F0502020204030204" pitchFamily="34" charset="0"/>
              </a:rPr>
              <a:t>(TA- 413)</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38896162-2ECF-5BDC-5AE1-45BC92962EE3}"/>
              </a:ext>
            </a:extLst>
          </p:cNvPr>
          <p:cNvGraphicFramePr>
            <a:graphicFrameLocks noGrp="1"/>
          </p:cNvGraphicFramePr>
          <p:nvPr>
            <p:extLst>
              <p:ext uri="{D42A27DB-BD31-4B8C-83A1-F6EECF244321}">
                <p14:modId xmlns:p14="http://schemas.microsoft.com/office/powerpoint/2010/main" val="2610242467"/>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marL="0" algn="ctr" defTabSz="914400" rtl="0" eaLnBrk="1" fontAlgn="ctr" latinLnBrk="0" hangingPunct="1">
                        <a:buNone/>
                      </a:pPr>
                      <a:endPar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algn="ctr" defTabSz="914400" rtl="0" eaLnBrk="1" fontAlgn="ctr" latinLnBrk="0" hangingPunct="1">
                        <a:buNone/>
                      </a:pPr>
                      <a:endPar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algn="ctr" defTabSz="914400" rtl="0" eaLnBrk="1" fontAlgn="ctr" latinLnBrk="0" hangingPunct="1">
                        <a:buNone/>
                      </a:pPr>
                      <a:endPar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algn="ctr" defTabSz="914400" rtl="0" eaLnBrk="1" fontAlgn="ctr" latinLnBrk="0" hangingPunct="1">
                        <a:buNone/>
                      </a:pPr>
                      <a:endPar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3" name="Table 2">
            <a:extLst>
              <a:ext uri="{FF2B5EF4-FFF2-40B4-BE49-F238E27FC236}">
                <a16:creationId xmlns:a16="http://schemas.microsoft.com/office/drawing/2014/main" id="{E57A67E2-6B26-8F92-0DF9-B7A054356D17}"/>
              </a:ext>
            </a:extLst>
          </p:cNvPr>
          <p:cNvGraphicFramePr>
            <a:graphicFrameLocks noGrp="1"/>
          </p:cNvGraphicFramePr>
          <p:nvPr>
            <p:extLst>
              <p:ext uri="{D42A27DB-BD31-4B8C-83A1-F6EECF244321}">
                <p14:modId xmlns:p14="http://schemas.microsoft.com/office/powerpoint/2010/main" val="3680209733"/>
              </p:ext>
            </p:extLst>
          </p:nvPr>
        </p:nvGraphicFramePr>
        <p:xfrm>
          <a:off x="248029" y="1472184"/>
          <a:ext cx="11686796" cy="3856403"/>
        </p:xfrm>
        <a:graphic>
          <a:graphicData uri="http://schemas.openxmlformats.org/drawingml/2006/table">
            <a:tbl>
              <a:tblPr/>
              <a:tblGrid>
                <a:gridCol w="1135401">
                  <a:extLst>
                    <a:ext uri="{9D8B030D-6E8A-4147-A177-3AD203B41FA5}">
                      <a16:colId xmlns:a16="http://schemas.microsoft.com/office/drawing/2014/main" val="3134568255"/>
                    </a:ext>
                  </a:extLst>
                </a:gridCol>
                <a:gridCol w="1004894">
                  <a:extLst>
                    <a:ext uri="{9D8B030D-6E8A-4147-A177-3AD203B41FA5}">
                      <a16:colId xmlns:a16="http://schemas.microsoft.com/office/drawing/2014/main" val="529650208"/>
                    </a:ext>
                  </a:extLst>
                </a:gridCol>
                <a:gridCol w="756934">
                  <a:extLst>
                    <a:ext uri="{9D8B030D-6E8A-4147-A177-3AD203B41FA5}">
                      <a16:colId xmlns:a16="http://schemas.microsoft.com/office/drawing/2014/main" val="92458083"/>
                    </a:ext>
                  </a:extLst>
                </a:gridCol>
                <a:gridCol w="769985">
                  <a:extLst>
                    <a:ext uri="{9D8B030D-6E8A-4147-A177-3AD203B41FA5}">
                      <a16:colId xmlns:a16="http://schemas.microsoft.com/office/drawing/2014/main" val="1261093951"/>
                    </a:ext>
                  </a:extLst>
                </a:gridCol>
                <a:gridCol w="756934">
                  <a:extLst>
                    <a:ext uri="{9D8B030D-6E8A-4147-A177-3AD203B41FA5}">
                      <a16:colId xmlns:a16="http://schemas.microsoft.com/office/drawing/2014/main" val="3845723164"/>
                    </a:ext>
                  </a:extLst>
                </a:gridCol>
                <a:gridCol w="822185">
                  <a:extLst>
                    <a:ext uri="{9D8B030D-6E8A-4147-A177-3AD203B41FA5}">
                      <a16:colId xmlns:a16="http://schemas.microsoft.com/office/drawing/2014/main" val="2426758173"/>
                    </a:ext>
                  </a:extLst>
                </a:gridCol>
                <a:gridCol w="822185">
                  <a:extLst>
                    <a:ext uri="{9D8B030D-6E8A-4147-A177-3AD203B41FA5}">
                      <a16:colId xmlns:a16="http://schemas.microsoft.com/office/drawing/2014/main" val="7475768"/>
                    </a:ext>
                  </a:extLst>
                </a:gridCol>
                <a:gridCol w="704732">
                  <a:extLst>
                    <a:ext uri="{9D8B030D-6E8A-4147-A177-3AD203B41FA5}">
                      <a16:colId xmlns:a16="http://schemas.microsoft.com/office/drawing/2014/main" val="2676474225"/>
                    </a:ext>
                  </a:extLst>
                </a:gridCol>
                <a:gridCol w="221407">
                  <a:extLst>
                    <a:ext uri="{9D8B030D-6E8A-4147-A177-3AD203B41FA5}">
                      <a16:colId xmlns:a16="http://schemas.microsoft.com/office/drawing/2014/main" val="3819434327"/>
                    </a:ext>
                  </a:extLst>
                </a:gridCol>
                <a:gridCol w="352820">
                  <a:extLst>
                    <a:ext uri="{9D8B030D-6E8A-4147-A177-3AD203B41FA5}">
                      <a16:colId xmlns:a16="http://schemas.microsoft.com/office/drawing/2014/main" val="1740028885"/>
                    </a:ext>
                  </a:extLst>
                </a:gridCol>
                <a:gridCol w="397476">
                  <a:extLst>
                    <a:ext uri="{9D8B030D-6E8A-4147-A177-3AD203B41FA5}">
                      <a16:colId xmlns:a16="http://schemas.microsoft.com/office/drawing/2014/main" val="3306756722"/>
                    </a:ext>
                  </a:extLst>
                </a:gridCol>
                <a:gridCol w="307256">
                  <a:extLst>
                    <a:ext uri="{9D8B030D-6E8A-4147-A177-3AD203B41FA5}">
                      <a16:colId xmlns:a16="http://schemas.microsoft.com/office/drawing/2014/main" val="2229906511"/>
                    </a:ext>
                  </a:extLst>
                </a:gridCol>
                <a:gridCol w="215421">
                  <a:extLst>
                    <a:ext uri="{9D8B030D-6E8A-4147-A177-3AD203B41FA5}">
                      <a16:colId xmlns:a16="http://schemas.microsoft.com/office/drawing/2014/main" val="706361869"/>
                    </a:ext>
                  </a:extLst>
                </a:gridCol>
                <a:gridCol w="438375">
                  <a:extLst>
                    <a:ext uri="{9D8B030D-6E8A-4147-A177-3AD203B41FA5}">
                      <a16:colId xmlns:a16="http://schemas.microsoft.com/office/drawing/2014/main" val="334426020"/>
                    </a:ext>
                  </a:extLst>
                </a:gridCol>
                <a:gridCol w="472096">
                  <a:extLst>
                    <a:ext uri="{9D8B030D-6E8A-4147-A177-3AD203B41FA5}">
                      <a16:colId xmlns:a16="http://schemas.microsoft.com/office/drawing/2014/main" val="3438594745"/>
                    </a:ext>
                  </a:extLst>
                </a:gridCol>
                <a:gridCol w="531108">
                  <a:extLst>
                    <a:ext uri="{9D8B030D-6E8A-4147-A177-3AD203B41FA5}">
                      <a16:colId xmlns:a16="http://schemas.microsoft.com/office/drawing/2014/main" val="2391851116"/>
                    </a:ext>
                  </a:extLst>
                </a:gridCol>
                <a:gridCol w="1977587">
                  <a:extLst>
                    <a:ext uri="{9D8B030D-6E8A-4147-A177-3AD203B41FA5}">
                      <a16:colId xmlns:a16="http://schemas.microsoft.com/office/drawing/2014/main" val="3502179738"/>
                    </a:ext>
                  </a:extLst>
                </a:gridCol>
              </a:tblGrid>
              <a:tr h="364061">
                <a:tc row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183991">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n-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dirty="0">
                          <a:solidFill>
                            <a:schemeClr val="tx1"/>
                          </a:solidFill>
                          <a:effectLst/>
                          <a:latin typeface="+mn-lt"/>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225733">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112.611</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117.851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117.851</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246007">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287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316</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316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rtl="0" fontAlgn="t">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276357">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287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302</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dirty="0">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dirty="0">
                          <a:solidFill>
                            <a:srgbClr val="000000"/>
                          </a:solidFill>
                          <a:effectLst/>
                          <a:latin typeface="+mn-lt"/>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dirty="0">
                          <a:solidFill>
                            <a:srgbClr val="000000"/>
                          </a:solidFill>
                          <a:effectLst/>
                          <a:latin typeface="+mn-lt"/>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186322">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112.611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117.851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74.641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43.21</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18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dirty="0">
                          <a:solidFill>
                            <a:srgbClr val="000000"/>
                          </a:solidFill>
                          <a:effectLst/>
                          <a:latin typeface="+mn-lt"/>
                        </a:rPr>
                        <a:t>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225733">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112.611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117.851</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59.762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58.089</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IN" sz="1200" b="0" i="0" u="none" strike="noStrike">
                          <a:solidFill>
                            <a:srgbClr val="000000"/>
                          </a:solidFill>
                          <a:effectLst/>
                          <a:latin typeface="+mn-lt"/>
                        </a:rPr>
                        <a:t>10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83991">
                <a:tc gridSpan="17">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64061">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225733">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287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316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287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316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1754932322"/>
                  </a:ext>
                </a:extLst>
              </a:tr>
              <a:tr h="225733">
                <a:tc>
                  <a:txBody>
                    <a:bodyPr/>
                    <a:lstStyle/>
                    <a:p>
                      <a:pPr algn="l"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287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287</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kumimoji="0" lang="en-IN" sz="12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574270701"/>
                  </a:ext>
                </a:extLst>
              </a:tr>
              <a:tr h="225733">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4095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4285.056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4095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4285.056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kumimoji="0" lang="en-IN" sz="12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2495535454"/>
                  </a:ext>
                </a:extLst>
              </a:tr>
              <a:tr h="225733">
                <a:tc>
                  <a:txBody>
                    <a:bodyPr/>
                    <a:lstStyle/>
                    <a:p>
                      <a:pPr algn="l" rtl="0" fontAlgn="ctr">
                        <a:buNone/>
                      </a:pP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121.471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121.471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kumimoji="0" lang="en-IN" sz="12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2396488407"/>
                  </a:ext>
                </a:extLst>
              </a:tr>
              <a:tr h="225733">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5968</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6084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6084</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kumimoji="0" lang="en-IN" sz="12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419053964"/>
                  </a:ext>
                </a:extLst>
              </a:tr>
              <a:tr h="225733">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4512</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5760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5760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kumimoji="0" lang="en-IN" sz="12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a:t>
                      </a: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4005780108"/>
                  </a:ext>
                </a:extLst>
              </a:tr>
              <a:tr h="225733">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IN" sz="1200" b="0" i="0" u="none" strike="noStrike">
                        <a:solidFill>
                          <a:srgbClr val="000000"/>
                        </a:solidFill>
                        <a:effectLst/>
                        <a:latin typeface="+mn-lt"/>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2203982265"/>
                  </a:ext>
                </a:extLst>
              </a:tr>
            </a:tbl>
          </a:graphicData>
        </a:graphic>
      </p:graphicFrame>
      <p:graphicFrame>
        <p:nvGraphicFramePr>
          <p:cNvPr id="5" name="Table 4">
            <a:extLst>
              <a:ext uri="{FF2B5EF4-FFF2-40B4-BE49-F238E27FC236}">
                <a16:creationId xmlns:a16="http://schemas.microsoft.com/office/drawing/2014/main" id="{63D3AF68-7AE6-B696-6764-46CD198745B0}"/>
              </a:ext>
            </a:extLst>
          </p:cNvPr>
          <p:cNvGraphicFramePr>
            <a:graphicFrameLocks noGrp="1"/>
          </p:cNvGraphicFramePr>
          <p:nvPr>
            <p:extLst>
              <p:ext uri="{D42A27DB-BD31-4B8C-83A1-F6EECF244321}">
                <p14:modId xmlns:p14="http://schemas.microsoft.com/office/powerpoint/2010/main" val="1851651079"/>
              </p:ext>
            </p:extLst>
          </p:nvPr>
        </p:nvGraphicFramePr>
        <p:xfrm>
          <a:off x="247430" y="5332900"/>
          <a:ext cx="11696543" cy="1132206"/>
        </p:xfrm>
        <a:graphic>
          <a:graphicData uri="http://schemas.openxmlformats.org/drawingml/2006/table">
            <a:tbl>
              <a:tblPr/>
              <a:tblGrid>
                <a:gridCol w="1248205">
                  <a:extLst>
                    <a:ext uri="{9D8B030D-6E8A-4147-A177-3AD203B41FA5}">
                      <a16:colId xmlns:a16="http://schemas.microsoft.com/office/drawing/2014/main" val="4144033618"/>
                    </a:ext>
                  </a:extLst>
                </a:gridCol>
                <a:gridCol w="1108321">
                  <a:extLst>
                    <a:ext uri="{9D8B030D-6E8A-4147-A177-3AD203B41FA5}">
                      <a16:colId xmlns:a16="http://schemas.microsoft.com/office/drawing/2014/main" val="2710662077"/>
                    </a:ext>
                  </a:extLst>
                </a:gridCol>
                <a:gridCol w="828551">
                  <a:extLst>
                    <a:ext uri="{9D8B030D-6E8A-4147-A177-3AD203B41FA5}">
                      <a16:colId xmlns:a16="http://schemas.microsoft.com/office/drawing/2014/main" val="3810854777"/>
                    </a:ext>
                  </a:extLst>
                </a:gridCol>
                <a:gridCol w="1269726">
                  <a:extLst>
                    <a:ext uri="{9D8B030D-6E8A-4147-A177-3AD203B41FA5}">
                      <a16:colId xmlns:a16="http://schemas.microsoft.com/office/drawing/2014/main" val="95352560"/>
                    </a:ext>
                  </a:extLst>
                </a:gridCol>
                <a:gridCol w="1248205">
                  <a:extLst>
                    <a:ext uri="{9D8B030D-6E8A-4147-A177-3AD203B41FA5}">
                      <a16:colId xmlns:a16="http://schemas.microsoft.com/office/drawing/2014/main" val="3482007332"/>
                    </a:ext>
                  </a:extLst>
                </a:gridCol>
                <a:gridCol w="903873">
                  <a:extLst>
                    <a:ext uri="{9D8B030D-6E8A-4147-A177-3AD203B41FA5}">
                      <a16:colId xmlns:a16="http://schemas.microsoft.com/office/drawing/2014/main" val="3780160470"/>
                    </a:ext>
                  </a:extLst>
                </a:gridCol>
                <a:gridCol w="1355809">
                  <a:extLst>
                    <a:ext uri="{9D8B030D-6E8A-4147-A177-3AD203B41FA5}">
                      <a16:colId xmlns:a16="http://schemas.microsoft.com/office/drawing/2014/main" val="4001841647"/>
                    </a:ext>
                  </a:extLst>
                </a:gridCol>
                <a:gridCol w="1162121">
                  <a:extLst>
                    <a:ext uri="{9D8B030D-6E8A-4147-A177-3AD203B41FA5}">
                      <a16:colId xmlns:a16="http://schemas.microsoft.com/office/drawing/2014/main" val="873345733"/>
                    </a:ext>
                  </a:extLst>
                </a:gridCol>
                <a:gridCol w="634863">
                  <a:extLst>
                    <a:ext uri="{9D8B030D-6E8A-4147-A177-3AD203B41FA5}">
                      <a16:colId xmlns:a16="http://schemas.microsoft.com/office/drawing/2014/main" val="983947984"/>
                    </a:ext>
                  </a:extLst>
                </a:gridCol>
                <a:gridCol w="1162121">
                  <a:extLst>
                    <a:ext uri="{9D8B030D-6E8A-4147-A177-3AD203B41FA5}">
                      <a16:colId xmlns:a16="http://schemas.microsoft.com/office/drawing/2014/main" val="3672483493"/>
                    </a:ext>
                  </a:extLst>
                </a:gridCol>
                <a:gridCol w="774748">
                  <a:extLst>
                    <a:ext uri="{9D8B030D-6E8A-4147-A177-3AD203B41FA5}">
                      <a16:colId xmlns:a16="http://schemas.microsoft.com/office/drawing/2014/main" val="1432498959"/>
                    </a:ext>
                  </a:extLst>
                </a:gridCol>
              </a:tblGrid>
              <a:tr h="183092">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183092">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183092">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183092">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183092">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183092">
                <a:tc>
                  <a:txBody>
                    <a:bodyPr/>
                    <a:lstStyle/>
                    <a:p>
                      <a:pPr algn="l" rtl="0"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4180751185"/>
      </p:ext>
    </p:extLst>
  </p:cSld>
  <p:clrMapOvr>
    <a:masterClrMapping/>
  </p:clrMapOvr>
  <p:transition spd="slow"/>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A316CF-53E8-CCCB-71D9-F7A644C0FA9E}"/>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17C1BE42-3B81-8388-2B6B-A033B9B006C4}"/>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a:t>
            </a:r>
            <a:r>
              <a:rPr lang="en-IN" sz="2400" b="1" dirty="0">
                <a:latin typeface="Calibri" panose="020F0502020204030204" pitchFamily="34" charset="0"/>
                <a:ea typeface="Calibri" panose="020F0502020204030204" pitchFamily="34" charset="0"/>
                <a:cs typeface="Calibri" panose="020F0502020204030204" pitchFamily="34" charset="0"/>
              </a:rPr>
              <a:t>Bikaner III - Neemrana II </a:t>
            </a:r>
            <a:r>
              <a:rPr lang="en-US" sz="2400" b="1" dirty="0">
                <a:latin typeface="Calibri" panose="020F0502020204030204" pitchFamily="34" charset="0"/>
                <a:ea typeface="Calibri" panose="020F0502020204030204" pitchFamily="34" charset="0"/>
                <a:cs typeface="Calibri" panose="020F0502020204030204" pitchFamily="34" charset="0"/>
              </a:rPr>
              <a:t>(TA- 413)</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A10325AA-16C5-C420-67C8-3636CA47F333}"/>
              </a:ext>
            </a:extLst>
          </p:cNvPr>
          <p:cNvGraphicFramePr>
            <a:graphicFrameLocks noGrp="1"/>
          </p:cNvGraphicFramePr>
          <p:nvPr>
            <p:extLst>
              <p:ext uri="{D42A27DB-BD31-4B8C-83A1-F6EECF244321}">
                <p14:modId xmlns:p14="http://schemas.microsoft.com/office/powerpoint/2010/main" val="2739861124"/>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marL="0" algn="ctr" defTabSz="914400" rtl="0" eaLnBrk="1" fontAlgn="ctr" latinLnBrk="0" hangingPunct="1">
                        <a:buNone/>
                      </a:pPr>
                      <a:endPar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algn="ctr" defTabSz="914400" rtl="0" eaLnBrk="1" fontAlgn="ctr" latinLnBrk="0" hangingPunct="1">
                        <a:buNone/>
                      </a:pPr>
                      <a:endPar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algn="ctr" defTabSz="914400" rtl="0" eaLnBrk="1" fontAlgn="ctr" latinLnBrk="0" hangingPunct="1">
                        <a:buNone/>
                      </a:pPr>
                      <a:endPar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algn="ctr" defTabSz="914400" rtl="0" eaLnBrk="1" fontAlgn="ctr" latinLnBrk="0" hangingPunct="1">
                        <a:buNone/>
                      </a:pPr>
                      <a:endPar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6" name="Table 5">
            <a:extLst>
              <a:ext uri="{FF2B5EF4-FFF2-40B4-BE49-F238E27FC236}">
                <a16:creationId xmlns:a16="http://schemas.microsoft.com/office/drawing/2014/main" id="{3DB7AB88-0958-6A6F-4855-7EC008957B02}"/>
              </a:ext>
            </a:extLst>
          </p:cNvPr>
          <p:cNvGraphicFramePr>
            <a:graphicFrameLocks noGrp="1"/>
          </p:cNvGraphicFramePr>
          <p:nvPr>
            <p:extLst>
              <p:ext uri="{D42A27DB-BD31-4B8C-83A1-F6EECF244321}">
                <p14:modId xmlns:p14="http://schemas.microsoft.com/office/powerpoint/2010/main" val="1511905896"/>
              </p:ext>
            </p:extLst>
          </p:nvPr>
        </p:nvGraphicFramePr>
        <p:xfrm>
          <a:off x="248708" y="1472184"/>
          <a:ext cx="11704328" cy="5333372"/>
        </p:xfrm>
        <a:graphic>
          <a:graphicData uri="http://schemas.openxmlformats.org/drawingml/2006/table">
            <a:tbl>
              <a:tblPr/>
              <a:tblGrid>
                <a:gridCol w="847516">
                  <a:extLst>
                    <a:ext uri="{9D8B030D-6E8A-4147-A177-3AD203B41FA5}">
                      <a16:colId xmlns:a16="http://schemas.microsoft.com/office/drawing/2014/main" val="330956746"/>
                    </a:ext>
                  </a:extLst>
                </a:gridCol>
                <a:gridCol w="2215227">
                  <a:extLst>
                    <a:ext uri="{9D8B030D-6E8A-4147-A177-3AD203B41FA5}">
                      <a16:colId xmlns:a16="http://schemas.microsoft.com/office/drawing/2014/main" val="467016710"/>
                    </a:ext>
                  </a:extLst>
                </a:gridCol>
                <a:gridCol w="926218">
                  <a:extLst>
                    <a:ext uri="{9D8B030D-6E8A-4147-A177-3AD203B41FA5}">
                      <a16:colId xmlns:a16="http://schemas.microsoft.com/office/drawing/2014/main" val="2623573662"/>
                    </a:ext>
                  </a:extLst>
                </a:gridCol>
                <a:gridCol w="542532">
                  <a:extLst>
                    <a:ext uri="{9D8B030D-6E8A-4147-A177-3AD203B41FA5}">
                      <a16:colId xmlns:a16="http://schemas.microsoft.com/office/drawing/2014/main" val="3348155062"/>
                    </a:ext>
                  </a:extLst>
                </a:gridCol>
                <a:gridCol w="576803">
                  <a:extLst>
                    <a:ext uri="{9D8B030D-6E8A-4147-A177-3AD203B41FA5}">
                      <a16:colId xmlns:a16="http://schemas.microsoft.com/office/drawing/2014/main" val="3407175280"/>
                    </a:ext>
                  </a:extLst>
                </a:gridCol>
                <a:gridCol w="387356">
                  <a:extLst>
                    <a:ext uri="{9D8B030D-6E8A-4147-A177-3AD203B41FA5}">
                      <a16:colId xmlns:a16="http://schemas.microsoft.com/office/drawing/2014/main" val="3835865023"/>
                    </a:ext>
                  </a:extLst>
                </a:gridCol>
                <a:gridCol w="587429">
                  <a:extLst>
                    <a:ext uri="{9D8B030D-6E8A-4147-A177-3AD203B41FA5}">
                      <a16:colId xmlns:a16="http://schemas.microsoft.com/office/drawing/2014/main" val="2729325577"/>
                    </a:ext>
                  </a:extLst>
                </a:gridCol>
                <a:gridCol w="446466">
                  <a:extLst>
                    <a:ext uri="{9D8B030D-6E8A-4147-A177-3AD203B41FA5}">
                      <a16:colId xmlns:a16="http://schemas.microsoft.com/office/drawing/2014/main" val="1087588403"/>
                    </a:ext>
                  </a:extLst>
                </a:gridCol>
                <a:gridCol w="493991">
                  <a:extLst>
                    <a:ext uri="{9D8B030D-6E8A-4147-A177-3AD203B41FA5}">
                      <a16:colId xmlns:a16="http://schemas.microsoft.com/office/drawing/2014/main" val="1978132890"/>
                    </a:ext>
                  </a:extLst>
                </a:gridCol>
                <a:gridCol w="531040">
                  <a:extLst>
                    <a:ext uri="{9D8B030D-6E8A-4147-A177-3AD203B41FA5}">
                      <a16:colId xmlns:a16="http://schemas.microsoft.com/office/drawing/2014/main" val="1472471097"/>
                    </a:ext>
                  </a:extLst>
                </a:gridCol>
                <a:gridCol w="531040">
                  <a:extLst>
                    <a:ext uri="{9D8B030D-6E8A-4147-A177-3AD203B41FA5}">
                      <a16:colId xmlns:a16="http://schemas.microsoft.com/office/drawing/2014/main" val="4151107971"/>
                    </a:ext>
                  </a:extLst>
                </a:gridCol>
                <a:gridCol w="518692">
                  <a:extLst>
                    <a:ext uri="{9D8B030D-6E8A-4147-A177-3AD203B41FA5}">
                      <a16:colId xmlns:a16="http://schemas.microsoft.com/office/drawing/2014/main" val="425587029"/>
                    </a:ext>
                  </a:extLst>
                </a:gridCol>
                <a:gridCol w="531040">
                  <a:extLst>
                    <a:ext uri="{9D8B030D-6E8A-4147-A177-3AD203B41FA5}">
                      <a16:colId xmlns:a16="http://schemas.microsoft.com/office/drawing/2014/main" val="2861279347"/>
                    </a:ext>
                  </a:extLst>
                </a:gridCol>
                <a:gridCol w="531040">
                  <a:extLst>
                    <a:ext uri="{9D8B030D-6E8A-4147-A177-3AD203B41FA5}">
                      <a16:colId xmlns:a16="http://schemas.microsoft.com/office/drawing/2014/main" val="470002717"/>
                    </a:ext>
                  </a:extLst>
                </a:gridCol>
                <a:gridCol w="518692">
                  <a:extLst>
                    <a:ext uri="{9D8B030D-6E8A-4147-A177-3AD203B41FA5}">
                      <a16:colId xmlns:a16="http://schemas.microsoft.com/office/drawing/2014/main" val="3542135224"/>
                    </a:ext>
                  </a:extLst>
                </a:gridCol>
                <a:gridCol w="483890">
                  <a:extLst>
                    <a:ext uri="{9D8B030D-6E8A-4147-A177-3AD203B41FA5}">
                      <a16:colId xmlns:a16="http://schemas.microsoft.com/office/drawing/2014/main" val="2066182156"/>
                    </a:ext>
                  </a:extLst>
                </a:gridCol>
                <a:gridCol w="502380">
                  <a:extLst>
                    <a:ext uri="{9D8B030D-6E8A-4147-A177-3AD203B41FA5}">
                      <a16:colId xmlns:a16="http://schemas.microsoft.com/office/drawing/2014/main" val="3474579885"/>
                    </a:ext>
                  </a:extLst>
                </a:gridCol>
                <a:gridCol w="532976">
                  <a:extLst>
                    <a:ext uri="{9D8B030D-6E8A-4147-A177-3AD203B41FA5}">
                      <a16:colId xmlns:a16="http://schemas.microsoft.com/office/drawing/2014/main" val="1602192749"/>
                    </a:ext>
                  </a:extLst>
                </a:gridCol>
              </a:tblGrid>
              <a:tr h="168305">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No. of month from NOA</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 Qty.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Upto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As on 01.05.26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Jul-26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Aug-26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Sep-26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Oct-26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Nov-26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Dec-26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Jan-27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Feb-27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Mar-27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341750030"/>
                  </a:ext>
                </a:extLst>
              </a:tr>
              <a:tr h="168305">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IN"/>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63433136"/>
                  </a:ext>
                </a:extLst>
              </a:tr>
              <a:tr h="170139">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4864030"/>
                  </a:ext>
                </a:extLst>
              </a:tr>
              <a:tr h="170139">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92204872"/>
                  </a:ext>
                </a:extLst>
              </a:tr>
              <a:tr h="170139">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8064827"/>
                  </a:ext>
                </a:extLst>
              </a:tr>
              <a:tr h="170139">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31382125"/>
                  </a:ext>
                </a:extLst>
              </a:tr>
              <a:tr h="170139">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Stubs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84174195"/>
                  </a:ext>
                </a:extLst>
              </a:tr>
              <a:tr h="170139">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48442476"/>
                  </a:ext>
                </a:extLst>
              </a:tr>
              <a:tr h="168305">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794284895"/>
                  </a:ext>
                </a:extLst>
              </a:tr>
              <a:tr h="170139">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85639932"/>
                  </a:ext>
                </a:extLst>
              </a:tr>
              <a:tr h="170139">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48076848"/>
                  </a:ext>
                </a:extLst>
              </a:tr>
              <a:tr h="170139">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4915967"/>
                  </a:ext>
                </a:extLst>
              </a:tr>
              <a:tr h="170139">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76733000"/>
                  </a:ext>
                </a:extLst>
              </a:tr>
              <a:tr h="170139">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51575881"/>
                  </a:ext>
                </a:extLst>
              </a:tr>
              <a:tr h="170139">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76095068"/>
                  </a:ext>
                </a:extLst>
              </a:tr>
              <a:tr h="168305">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3795312704"/>
                  </a:ext>
                </a:extLst>
              </a:tr>
              <a:tr h="216106">
                <a:tc rowSpan="11">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90037553"/>
                  </a:ext>
                </a:extLst>
              </a:tr>
              <a:tr h="216106">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47927932"/>
                  </a:ext>
                </a:extLst>
              </a:tr>
              <a:tr h="170139">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7137584"/>
                  </a:ext>
                </a:extLst>
              </a:tr>
              <a:tr h="170139">
                <a:tc vMerge="1">
                  <a:txBody>
                    <a:bodyPr/>
                    <a:lstStyle/>
                    <a:p>
                      <a:endParaRPr lang="en-US"/>
                    </a:p>
                  </a:txBody>
                  <a:tcPr/>
                </a:tc>
                <a:tc rowSpan="2">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TSE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53577170"/>
                  </a:ext>
                </a:extLst>
              </a:tr>
              <a:tr h="170139">
                <a:tc vMerge="1">
                  <a:txBody>
                    <a:bodyPr/>
                    <a:lstStyle/>
                    <a:p>
                      <a:endParaRPr lang="en-US"/>
                    </a:p>
                  </a:txBody>
                  <a:tcPr/>
                </a:tc>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Manual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87594838"/>
                  </a:ext>
                </a:extLst>
              </a:tr>
              <a:tr h="170139">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91423490"/>
                  </a:ext>
                </a:extLst>
              </a:tr>
              <a:tr h="170139">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31144415"/>
                  </a:ext>
                </a:extLst>
              </a:tr>
              <a:tr h="170139">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59411858"/>
                  </a:ext>
                </a:extLst>
              </a:tr>
              <a:tr h="170139">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10348192"/>
                  </a:ext>
                </a:extLst>
              </a:tr>
              <a:tr h="170139">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71402620"/>
                  </a:ext>
                </a:extLst>
              </a:tr>
              <a:tr h="170139">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06786991"/>
                  </a:ext>
                </a:extLst>
              </a:tr>
            </a:tbl>
          </a:graphicData>
        </a:graphic>
      </p:graphicFrame>
    </p:spTree>
    <p:extLst>
      <p:ext uri="{BB962C8B-B14F-4D97-AF65-F5344CB8AC3E}">
        <p14:creationId xmlns:p14="http://schemas.microsoft.com/office/powerpoint/2010/main" val="83395651"/>
      </p:ext>
    </p:extLst>
  </p:cSld>
  <p:clrMapOvr>
    <a:masterClrMapping/>
  </p:clrMapOvr>
  <p:transition spd="slow"/>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0238E2-9C58-2117-3DB3-439AAFE42D9B}"/>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C6FCF641-CD04-710A-0C4F-EA49667DEA4C}"/>
              </a:ext>
            </a:extLst>
          </p:cNvPr>
          <p:cNvSpPr txBox="1"/>
          <p:nvPr/>
        </p:nvSpPr>
        <p:spPr>
          <a:xfrm>
            <a:off x="266321" y="1672209"/>
            <a:ext cx="11677650" cy="1477328"/>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endParaRPr lang="en-IN" b="1" dirty="0">
              <a:latin typeface="Calibri" panose="020F0502020204030204" pitchFamily="34" charset="0"/>
              <a:ea typeface="Calibri" panose="020F0502020204030204" pitchFamily="34" charset="0"/>
              <a:cs typeface="Calibri" panose="020F0502020204030204" pitchFamily="34" charset="0"/>
            </a:endParaRPr>
          </a:p>
          <a:p>
            <a:pPr marL="228600" indent="-228600">
              <a:buFont typeface="+mj-lt"/>
              <a:buAutoNum type="arabicPeriod"/>
            </a:pPr>
            <a:r>
              <a:rPr lang="en-IN" dirty="0">
                <a:latin typeface="Calibri" panose="020F0502020204030204" pitchFamily="34" charset="0"/>
                <a:ea typeface="Calibri" panose="020F0502020204030204" pitchFamily="34" charset="0"/>
                <a:cs typeface="Calibri" panose="020F0502020204030204" pitchFamily="34" charset="0"/>
              </a:rPr>
              <a:t>Amendment is pending since Jan’26</a:t>
            </a:r>
          </a:p>
          <a:p>
            <a:pPr marL="228600" indent="-228600">
              <a:buFont typeface="+mj-lt"/>
              <a:buAutoNum type="arabicPeriod"/>
            </a:pPr>
            <a:endParaRPr lang="en-IN" dirty="0">
              <a:latin typeface="Calibri" panose="020F0502020204030204" pitchFamily="34" charset="0"/>
              <a:ea typeface="Calibri" panose="020F0502020204030204" pitchFamily="34" charset="0"/>
              <a:cs typeface="Calibri" panose="020F0502020204030204" pitchFamily="34" charset="0"/>
            </a:endParaRPr>
          </a:p>
          <a:p>
            <a:pPr marL="228600" indent="-228600">
              <a:buFont typeface="+mj-lt"/>
              <a:buAutoNum type="arabicPeriod"/>
            </a:pPr>
            <a:r>
              <a:rPr lang="en-IN" dirty="0">
                <a:latin typeface="Calibri" panose="020F0502020204030204" pitchFamily="34" charset="0"/>
                <a:ea typeface="Calibri" panose="020F0502020204030204" pitchFamily="34" charset="0"/>
                <a:cs typeface="Calibri" panose="020F0502020204030204" pitchFamily="34" charset="0"/>
              </a:rPr>
              <a:t>Frequent disruption to Stringing work due to ROW </a:t>
            </a:r>
            <a:r>
              <a:rPr lang="en-US" sz="1200" dirty="0">
                <a:ea typeface="Calibri" panose="020F0502020204030204" pitchFamily="34" charset="0"/>
                <a:cs typeface="Calibri" panose="020F0502020204030204" pitchFamily="34" charset="0"/>
              </a:rPr>
              <a:t>	</a:t>
            </a:r>
            <a:endParaRPr lang="en-IN" sz="1200" dirty="0">
              <a:ea typeface="Calibri" panose="020F0502020204030204" pitchFamily="34" charset="0"/>
              <a:cs typeface="Calibri" panose="020F0502020204030204" pitchFamily="34" charset="0"/>
            </a:endParaRPr>
          </a:p>
        </p:txBody>
      </p:sp>
      <p:sp>
        <p:nvSpPr>
          <p:cNvPr id="4" name="Title 1">
            <a:extLst>
              <a:ext uri="{FF2B5EF4-FFF2-40B4-BE49-F238E27FC236}">
                <a16:creationId xmlns:a16="http://schemas.microsoft.com/office/drawing/2014/main" id="{3060F2B3-F78C-6C08-E972-4D38CB2F48D2}"/>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a:t>
            </a:r>
            <a:r>
              <a:rPr lang="en-IN" sz="2400" b="1" dirty="0">
                <a:latin typeface="Calibri" panose="020F0502020204030204" pitchFamily="34" charset="0"/>
                <a:ea typeface="Calibri" panose="020F0502020204030204" pitchFamily="34" charset="0"/>
                <a:cs typeface="Calibri" panose="020F0502020204030204" pitchFamily="34" charset="0"/>
              </a:rPr>
              <a:t>Bikaner III - Neemrana II </a:t>
            </a:r>
            <a:r>
              <a:rPr lang="en-US" sz="2400" b="1" dirty="0">
                <a:latin typeface="Calibri" panose="020F0502020204030204" pitchFamily="34" charset="0"/>
                <a:ea typeface="Calibri" panose="020F0502020204030204" pitchFamily="34" charset="0"/>
                <a:cs typeface="Calibri" panose="020F0502020204030204" pitchFamily="34" charset="0"/>
              </a:rPr>
              <a:t>(TA- 413)</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AF7875B8-1CFF-CE7D-1384-5B5916E109B2}"/>
              </a:ext>
            </a:extLst>
          </p:cNvPr>
          <p:cNvGraphicFramePr>
            <a:graphicFrameLocks noGrp="1"/>
          </p:cNvGraphicFramePr>
          <p:nvPr>
            <p:extLst>
              <p:ext uri="{D42A27DB-BD31-4B8C-83A1-F6EECF244321}">
                <p14:modId xmlns:p14="http://schemas.microsoft.com/office/powerpoint/2010/main" val="3978099647"/>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marL="0" algn="ctr" defTabSz="914400" rtl="0" eaLnBrk="1" fontAlgn="ctr" latinLnBrk="0" hangingPunct="1">
                        <a:buNone/>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12/03/24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algn="ctr" defTabSz="914400" rtl="0" eaLnBrk="1" fontAlgn="ctr" latinLnBrk="0" hangingPunct="1">
                        <a:buNone/>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Cr.:-390 Cr.</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algn="ctr" defTabSz="914400" rtl="0" eaLnBrk="1" fontAlgn="ctr" latinLnBrk="0" hangingPunct="1">
                        <a:buNone/>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11/12/25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marL="0" algn="ctr" defTabSz="914400" rtl="0" eaLnBrk="1" fontAlgn="ctr" latinLnBrk="0" hangingPunct="1">
                        <a:buNone/>
                      </a:pP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30/07/26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1057217270"/>
      </p:ext>
    </p:extLst>
  </p:cSld>
  <p:clrMapOvr>
    <a:masterClrMapping/>
  </p:clrMapOvr>
  <p:transition spd="slow"/>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3D2F9F-3AB8-A642-CC36-1E5B7C955919}"/>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4667C763-9D30-1352-7F32-EAE4DCBB60EA}"/>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TL02 - 765KV D/C Bikaner – IV To Siwani (2nd) Tr. Line (Part – 1)</a:t>
            </a:r>
            <a:r>
              <a:rPr lang="en-US" sz="2400" b="1" dirty="0">
                <a:latin typeface="Calibri" panose="020F0502020204030204" pitchFamily="34" charset="0"/>
                <a:ea typeface="Calibri" panose="020F0502020204030204" pitchFamily="34" charset="0"/>
                <a:cs typeface="Calibri" panose="020F0502020204030204" pitchFamily="34" charset="0"/>
              </a:rPr>
              <a:t> (TA- 512)</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B36E492C-09BF-4FBC-0B05-0D998B8F2BCD}"/>
              </a:ext>
            </a:extLst>
          </p:cNvPr>
          <p:cNvGraphicFramePr>
            <a:graphicFrameLocks noGrp="1"/>
          </p:cNvGraphicFramePr>
          <p:nvPr>
            <p:extLst>
              <p:ext uri="{D42A27DB-BD31-4B8C-83A1-F6EECF244321}">
                <p14:modId xmlns:p14="http://schemas.microsoft.com/office/powerpoint/2010/main" val="2039278918"/>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03/01/2025</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02/12/26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6" name="Table 5">
            <a:extLst>
              <a:ext uri="{FF2B5EF4-FFF2-40B4-BE49-F238E27FC236}">
                <a16:creationId xmlns:a16="http://schemas.microsoft.com/office/drawing/2014/main" id="{97214294-957A-A4ED-102C-E0F4528CCEBC}"/>
              </a:ext>
            </a:extLst>
          </p:cNvPr>
          <p:cNvGraphicFramePr>
            <a:graphicFrameLocks noGrp="1"/>
          </p:cNvGraphicFramePr>
          <p:nvPr>
            <p:extLst>
              <p:ext uri="{D42A27DB-BD31-4B8C-83A1-F6EECF244321}">
                <p14:modId xmlns:p14="http://schemas.microsoft.com/office/powerpoint/2010/main" val="1803204299"/>
              </p:ext>
            </p:extLst>
          </p:nvPr>
        </p:nvGraphicFramePr>
        <p:xfrm>
          <a:off x="247430" y="1472184"/>
          <a:ext cx="11687398" cy="4070018"/>
        </p:xfrm>
        <a:graphic>
          <a:graphicData uri="http://schemas.openxmlformats.org/drawingml/2006/table">
            <a:tbl>
              <a:tblPr/>
              <a:tblGrid>
                <a:gridCol w="1135460">
                  <a:extLst>
                    <a:ext uri="{9D8B030D-6E8A-4147-A177-3AD203B41FA5}">
                      <a16:colId xmlns:a16="http://schemas.microsoft.com/office/drawing/2014/main" val="3134568255"/>
                    </a:ext>
                  </a:extLst>
                </a:gridCol>
                <a:gridCol w="425077">
                  <a:extLst>
                    <a:ext uri="{9D8B030D-6E8A-4147-A177-3AD203B41FA5}">
                      <a16:colId xmlns:a16="http://schemas.microsoft.com/office/drawing/2014/main" val="529650208"/>
                    </a:ext>
                  </a:extLst>
                </a:gridCol>
                <a:gridCol w="783045">
                  <a:extLst>
                    <a:ext uri="{9D8B030D-6E8A-4147-A177-3AD203B41FA5}">
                      <a16:colId xmlns:a16="http://schemas.microsoft.com/office/drawing/2014/main" val="2852291761"/>
                    </a:ext>
                  </a:extLst>
                </a:gridCol>
                <a:gridCol w="664678">
                  <a:extLst>
                    <a:ext uri="{9D8B030D-6E8A-4147-A177-3AD203B41FA5}">
                      <a16:colId xmlns:a16="http://schemas.microsoft.com/office/drawing/2014/main" val="1456641786"/>
                    </a:ext>
                  </a:extLst>
                </a:gridCol>
                <a:gridCol w="682889">
                  <a:extLst>
                    <a:ext uri="{9D8B030D-6E8A-4147-A177-3AD203B41FA5}">
                      <a16:colId xmlns:a16="http://schemas.microsoft.com/office/drawing/2014/main" val="287326400"/>
                    </a:ext>
                  </a:extLst>
                </a:gridCol>
                <a:gridCol w="773940">
                  <a:extLst>
                    <a:ext uri="{9D8B030D-6E8A-4147-A177-3AD203B41FA5}">
                      <a16:colId xmlns:a16="http://schemas.microsoft.com/office/drawing/2014/main" val="1621459576"/>
                    </a:ext>
                  </a:extLst>
                </a:gridCol>
                <a:gridCol w="155816">
                  <a:extLst>
                    <a:ext uri="{9D8B030D-6E8A-4147-A177-3AD203B41FA5}">
                      <a16:colId xmlns:a16="http://schemas.microsoft.com/office/drawing/2014/main" val="1774038988"/>
                    </a:ext>
                  </a:extLst>
                </a:gridCol>
                <a:gridCol w="663650">
                  <a:extLst>
                    <a:ext uri="{9D8B030D-6E8A-4147-A177-3AD203B41FA5}">
                      <a16:colId xmlns:a16="http://schemas.microsoft.com/office/drawing/2014/main" val="3976166465"/>
                    </a:ext>
                  </a:extLst>
                </a:gridCol>
                <a:gridCol w="764835">
                  <a:extLst>
                    <a:ext uri="{9D8B030D-6E8A-4147-A177-3AD203B41FA5}">
                      <a16:colId xmlns:a16="http://schemas.microsoft.com/office/drawing/2014/main" val="816711273"/>
                    </a:ext>
                  </a:extLst>
                </a:gridCol>
                <a:gridCol w="197116">
                  <a:extLst>
                    <a:ext uri="{9D8B030D-6E8A-4147-A177-3AD203B41FA5}">
                      <a16:colId xmlns:a16="http://schemas.microsoft.com/office/drawing/2014/main" val="493322445"/>
                    </a:ext>
                  </a:extLst>
                </a:gridCol>
                <a:gridCol w="527092">
                  <a:extLst>
                    <a:ext uri="{9D8B030D-6E8A-4147-A177-3AD203B41FA5}">
                      <a16:colId xmlns:a16="http://schemas.microsoft.com/office/drawing/2014/main" val="1187038149"/>
                    </a:ext>
                  </a:extLst>
                </a:gridCol>
                <a:gridCol w="285708">
                  <a:extLst>
                    <a:ext uri="{9D8B030D-6E8A-4147-A177-3AD203B41FA5}">
                      <a16:colId xmlns:a16="http://schemas.microsoft.com/office/drawing/2014/main" val="3819434327"/>
                    </a:ext>
                  </a:extLst>
                </a:gridCol>
                <a:gridCol w="288548">
                  <a:extLst>
                    <a:ext uri="{9D8B030D-6E8A-4147-A177-3AD203B41FA5}">
                      <a16:colId xmlns:a16="http://schemas.microsoft.com/office/drawing/2014/main" val="981485896"/>
                    </a:ext>
                  </a:extLst>
                </a:gridCol>
                <a:gridCol w="185583">
                  <a:extLst>
                    <a:ext uri="{9D8B030D-6E8A-4147-A177-3AD203B41FA5}">
                      <a16:colId xmlns:a16="http://schemas.microsoft.com/office/drawing/2014/main" val="3306756722"/>
                    </a:ext>
                  </a:extLst>
                </a:gridCol>
                <a:gridCol w="414866">
                  <a:extLst>
                    <a:ext uri="{9D8B030D-6E8A-4147-A177-3AD203B41FA5}">
                      <a16:colId xmlns:a16="http://schemas.microsoft.com/office/drawing/2014/main" val="357477480"/>
                    </a:ext>
                  </a:extLst>
                </a:gridCol>
                <a:gridCol w="567267">
                  <a:extLst>
                    <a:ext uri="{9D8B030D-6E8A-4147-A177-3AD203B41FA5}">
                      <a16:colId xmlns:a16="http://schemas.microsoft.com/office/drawing/2014/main" val="2715137461"/>
                    </a:ext>
                  </a:extLst>
                </a:gridCol>
                <a:gridCol w="448733">
                  <a:extLst>
                    <a:ext uri="{9D8B030D-6E8A-4147-A177-3AD203B41FA5}">
                      <a16:colId xmlns:a16="http://schemas.microsoft.com/office/drawing/2014/main" val="2391851116"/>
                    </a:ext>
                  </a:extLst>
                </a:gridCol>
                <a:gridCol w="2723095">
                  <a:extLst>
                    <a:ext uri="{9D8B030D-6E8A-4147-A177-3AD203B41FA5}">
                      <a16:colId xmlns:a16="http://schemas.microsoft.com/office/drawing/2014/main" val="3502179738"/>
                    </a:ext>
                  </a:extLst>
                </a:gridCol>
              </a:tblGrid>
              <a:tr h="321688">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Balance</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(Up to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dirty="0">
                          <a:solidFill>
                            <a:schemeClr val="tx1"/>
                          </a:solidFill>
                          <a:effectLst/>
                          <a:latin typeface="+mj-lt"/>
                        </a:rPr>
                        <a:t>Plan</a:t>
                      </a:r>
                      <a:br>
                        <a:rPr lang="en-US" sz="1200" b="1" i="0" u="none" strike="noStrike" dirty="0">
                          <a:solidFill>
                            <a:schemeClr val="tx1"/>
                          </a:solidFill>
                          <a:effectLst/>
                          <a:latin typeface="+mj-lt"/>
                        </a:rPr>
                      </a:br>
                      <a:r>
                        <a:rPr lang="en-US" sz="1200" b="1" i="0" u="none" strike="noStrike" dirty="0">
                          <a:solidFill>
                            <a:schemeClr val="tx1"/>
                          </a:solidFill>
                          <a:effectLst/>
                          <a:latin typeface="+mj-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a:endParaRPr lang="en-US"/>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162577">
                <a:tc vMerge="1">
                  <a:txBody>
                    <a:bodyPr/>
                    <a:lstStyle/>
                    <a:p>
                      <a:endParaRPr lang="en-US"/>
                    </a:p>
                  </a:txBody>
                  <a:tcPr/>
                </a:tc>
                <a:tc vMerge="1">
                  <a:txBody>
                    <a:bodyPr/>
                    <a:lstStyle/>
                    <a:p>
                      <a:endParaRPr lang="en-US"/>
                    </a:p>
                  </a:txBody>
                  <a:tcPr/>
                </a:tc>
                <a:tc vMerge="1">
                  <a:txBody>
                    <a:bodyPr/>
                    <a:lstStyle/>
                    <a:p>
                      <a:endParaRPr lang="en-IN"/>
                    </a:p>
                  </a:txBody>
                  <a:tcPr/>
                </a:tc>
                <a:tc vMerge="1">
                  <a:txBody>
                    <a:bodyPr/>
                    <a:lstStyle/>
                    <a:p>
                      <a:endParaRPr lang="en-IN"/>
                    </a:p>
                  </a:txBody>
                  <a:tcPr/>
                </a:tc>
                <a:tc vMerge="1">
                  <a:txBody>
                    <a:bodyPr/>
                    <a:lstStyle/>
                    <a:p>
                      <a:endParaRPr lang="en-IN"/>
                    </a:p>
                  </a:txBody>
                  <a:tcPr/>
                </a:tc>
                <a:tc gridSpan="2" vMerge="1">
                  <a:txBody>
                    <a:bodyPr/>
                    <a:lstStyle/>
                    <a:p>
                      <a:endParaRPr lang="en-IN"/>
                    </a:p>
                  </a:txBody>
                  <a:tcPr/>
                </a:tc>
                <a:tc hMerge="1" vMerge="1">
                  <a:txBody>
                    <a:bodyPr/>
                    <a:lstStyle/>
                    <a:p>
                      <a:endParaRPr lang="en-IN"/>
                    </a:p>
                  </a:txBody>
                  <a:tcPr/>
                </a:tc>
                <a:tc vMerge="1">
                  <a:txBody>
                    <a:bodyPr/>
                    <a:lstStyle/>
                    <a:p>
                      <a:endParaRPr lang="en-US"/>
                    </a:p>
                  </a:txBody>
                  <a:tcPr/>
                </a:tc>
                <a:tc gridSpan="2" vMerge="1">
                  <a:txBody>
                    <a:bodyPr/>
                    <a:lstStyle/>
                    <a:p>
                      <a:endParaRPr lang="en-IN"/>
                    </a:p>
                  </a:txBody>
                  <a:tcPr/>
                </a:tc>
                <a:tc hMerge="1" vMerge="1">
                  <a:txBody>
                    <a:bodyPr/>
                    <a:lstStyle/>
                    <a:p>
                      <a:endParaRPr lang="en-IN"/>
                    </a:p>
                  </a:txBody>
                  <a:tcPr/>
                </a:tc>
                <a:tc gridSpan="2" vMerge="1">
                  <a:txBody>
                    <a:bodyPr/>
                    <a:lstStyle/>
                    <a:p>
                      <a:endParaRPr lang="en-US"/>
                    </a:p>
                  </a:txBody>
                  <a:tcPr/>
                </a:tc>
                <a:tc hMerge="1" vMerge="1">
                  <a:txBody>
                    <a:bodyPr/>
                    <a:lstStyle/>
                    <a:p>
                      <a:pPr algn="ctr"/>
                      <a:r>
                        <a:rPr lang="en-US" sz="1200" b="1" i="0" u="none" strike="noStrike" kern="1200" dirty="0">
                          <a:solidFill>
                            <a:schemeClr val="tx1"/>
                          </a:solidFill>
                          <a:effectLst/>
                          <a:latin typeface="+mn-lt"/>
                          <a:ea typeface="+mn-ea"/>
                          <a:cs typeface="+mn-cs"/>
                        </a:rPr>
                        <a:t>Plan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kern="120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t">
                        <a:buNone/>
                      </a:pPr>
                      <a:r>
                        <a:rPr lang="en-US" sz="1200" b="1" i="0" u="none" strike="noStrike">
                          <a:solidFill>
                            <a:schemeClr val="tx1"/>
                          </a:solidFill>
                          <a:effectLst/>
                          <a:latin typeface="+mn-lt"/>
                        </a:rPr>
                        <a:t>Act</a:t>
                      </a: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t">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pPr algn="ctr" fontAlgn="t">
                        <a:buNone/>
                      </a:pPr>
                      <a:endParaRPr lang="en-US" sz="1200" b="1" i="0" u="none" strike="noStrike" dirty="0">
                        <a:solidFill>
                          <a:schemeClr val="tx1"/>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24213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120.944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124.568</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mn-lt"/>
                        </a:rPr>
                        <a:t>0</a:t>
                      </a: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124.568</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124.568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124.568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16257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315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272</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mn-lt"/>
                        </a:rPr>
                        <a:t>17</a:t>
                      </a: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272</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mn-lt"/>
                        </a:rPr>
                        <a:t>0</a:t>
                      </a: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58687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315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mn-lt"/>
                        </a:rPr>
                        <a:t>105</a:t>
                      </a: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mn-lt"/>
                        </a:rPr>
                        <a:t>1</a:t>
                      </a: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24213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120.944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124.6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60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19.9</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24213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120.944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124.6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10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62577">
                <a:tc gridSpan="18">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US"/>
                    </a:p>
                  </a:txBody>
                  <a:tcPr/>
                </a:tc>
                <a:tc hMerge="1">
                  <a:txBody>
                    <a:bodyPr/>
                    <a:lstStyle/>
                    <a:p>
                      <a:endParaRPr lang="en-IN"/>
                    </a:p>
                  </a:txBody>
                  <a:tcPr/>
                </a:tc>
                <a:tc hMerge="1">
                  <a:txBody>
                    <a:bodyPr/>
                    <a:lstStyle/>
                    <a:p>
                      <a:endParaRPr lang="en-IN"/>
                    </a:p>
                  </a:txBody>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lang="en-IN"/>
                    </a:p>
                  </a:txBody>
                  <a:tcPr>
                    <a:lnL w="12700" cmpd="sng">
                      <a:noFill/>
                      <a:prstDash val="solid"/>
                    </a:lnL>
                    <a:lnT w="6350" cap="flat" cmpd="sng" algn="ctr">
                      <a:solidFill>
                        <a:srgbClr val="000000"/>
                      </a:solidFill>
                      <a:prstDash val="solid"/>
                      <a:round/>
                      <a:headEnd type="none" w="med" len="med"/>
                      <a:tailEnd type="none" w="med" len="med"/>
                    </a:lnT>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21688">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pPr algn="ctr" fontAlgn="ctr">
                        <a:buNone/>
                      </a:pPr>
                      <a:endParaRPr lang="en-US" sz="1200" b="1" i="0" u="none" strike="noStrike" dirty="0">
                        <a:solidFill>
                          <a:schemeClr val="tx1"/>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US"/>
                    </a:p>
                  </a:txBody>
                  <a:tcPr/>
                </a:tc>
                <a:extLst>
                  <a:ext uri="{0D108BD9-81ED-4DB2-BD59-A6C34878D82A}">
                    <a16:rowId xmlns:a16="http://schemas.microsoft.com/office/drawing/2014/main" val="3898095577"/>
                  </a:ext>
                </a:extLst>
              </a:tr>
              <a:tr h="162577">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extLst>
                  <a:ext uri="{0D108BD9-81ED-4DB2-BD59-A6C34878D82A}">
                    <a16:rowId xmlns:a16="http://schemas.microsoft.com/office/drawing/2014/main" val="1754932322"/>
                  </a:ext>
                </a:extLst>
              </a:tr>
              <a:tr h="16257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extLst>
                  <a:ext uri="{0D108BD9-81ED-4DB2-BD59-A6C34878D82A}">
                    <a16:rowId xmlns:a16="http://schemas.microsoft.com/office/drawing/2014/main" val="574270701"/>
                  </a:ext>
                </a:extLst>
              </a:tr>
              <a:tr h="16257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extLst>
                  <a:ext uri="{0D108BD9-81ED-4DB2-BD59-A6C34878D82A}">
                    <a16:rowId xmlns:a16="http://schemas.microsoft.com/office/drawing/2014/main" val="2495535454"/>
                  </a:ext>
                </a:extLst>
              </a:tr>
              <a:tr h="16257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extLst>
                  <a:ext uri="{0D108BD9-81ED-4DB2-BD59-A6C34878D82A}">
                    <a16:rowId xmlns:a16="http://schemas.microsoft.com/office/drawing/2014/main" val="2396488407"/>
                  </a:ext>
                </a:extLst>
              </a:tr>
              <a:tr h="16257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6316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6316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being delayed due to delay in Design/Type Testing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extLst>
                  <a:ext uri="{0D108BD9-81ED-4DB2-BD59-A6C34878D82A}">
                    <a16:rowId xmlns:a16="http://schemas.microsoft.com/office/drawing/2014/main" val="419053964"/>
                  </a:ext>
                </a:extLst>
              </a:tr>
              <a:tr h="16257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5856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5856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extLst>
                  <a:ext uri="{0D108BD9-81ED-4DB2-BD59-A6C34878D82A}">
                    <a16:rowId xmlns:a16="http://schemas.microsoft.com/office/drawing/2014/main" val="4005780108"/>
                  </a:ext>
                </a:extLst>
              </a:tr>
              <a:tr h="16257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7" name="Table 6">
            <a:extLst>
              <a:ext uri="{FF2B5EF4-FFF2-40B4-BE49-F238E27FC236}">
                <a16:creationId xmlns:a16="http://schemas.microsoft.com/office/drawing/2014/main" id="{C3C49083-7BDC-C031-6475-B7733880E985}"/>
              </a:ext>
            </a:extLst>
          </p:cNvPr>
          <p:cNvGraphicFramePr>
            <a:graphicFrameLocks noGrp="1"/>
          </p:cNvGraphicFramePr>
          <p:nvPr>
            <p:extLst>
              <p:ext uri="{D42A27DB-BD31-4B8C-83A1-F6EECF244321}">
                <p14:modId xmlns:p14="http://schemas.microsoft.com/office/powerpoint/2010/main" val="3848389745"/>
              </p:ext>
            </p:extLst>
          </p:nvPr>
        </p:nvGraphicFramePr>
        <p:xfrm>
          <a:off x="247430" y="5623560"/>
          <a:ext cx="11687395" cy="1129032"/>
        </p:xfrm>
        <a:graphic>
          <a:graphicData uri="http://schemas.openxmlformats.org/drawingml/2006/table">
            <a:tbl>
              <a:tblPr/>
              <a:tblGrid>
                <a:gridCol w="1247229">
                  <a:extLst>
                    <a:ext uri="{9D8B030D-6E8A-4147-A177-3AD203B41FA5}">
                      <a16:colId xmlns:a16="http://schemas.microsoft.com/office/drawing/2014/main" val="4144033618"/>
                    </a:ext>
                  </a:extLst>
                </a:gridCol>
                <a:gridCol w="1107454">
                  <a:extLst>
                    <a:ext uri="{9D8B030D-6E8A-4147-A177-3AD203B41FA5}">
                      <a16:colId xmlns:a16="http://schemas.microsoft.com/office/drawing/2014/main" val="2710662077"/>
                    </a:ext>
                  </a:extLst>
                </a:gridCol>
                <a:gridCol w="827903">
                  <a:extLst>
                    <a:ext uri="{9D8B030D-6E8A-4147-A177-3AD203B41FA5}">
                      <a16:colId xmlns:a16="http://schemas.microsoft.com/office/drawing/2014/main" val="3810854777"/>
                    </a:ext>
                  </a:extLst>
                </a:gridCol>
                <a:gridCol w="1268733">
                  <a:extLst>
                    <a:ext uri="{9D8B030D-6E8A-4147-A177-3AD203B41FA5}">
                      <a16:colId xmlns:a16="http://schemas.microsoft.com/office/drawing/2014/main" val="95352560"/>
                    </a:ext>
                  </a:extLst>
                </a:gridCol>
                <a:gridCol w="1247229">
                  <a:extLst>
                    <a:ext uri="{9D8B030D-6E8A-4147-A177-3AD203B41FA5}">
                      <a16:colId xmlns:a16="http://schemas.microsoft.com/office/drawing/2014/main" val="3482007332"/>
                    </a:ext>
                  </a:extLst>
                </a:gridCol>
                <a:gridCol w="903166">
                  <a:extLst>
                    <a:ext uri="{9D8B030D-6E8A-4147-A177-3AD203B41FA5}">
                      <a16:colId xmlns:a16="http://schemas.microsoft.com/office/drawing/2014/main" val="3780160470"/>
                    </a:ext>
                  </a:extLst>
                </a:gridCol>
                <a:gridCol w="1354749">
                  <a:extLst>
                    <a:ext uri="{9D8B030D-6E8A-4147-A177-3AD203B41FA5}">
                      <a16:colId xmlns:a16="http://schemas.microsoft.com/office/drawing/2014/main" val="4001841647"/>
                    </a:ext>
                  </a:extLst>
                </a:gridCol>
                <a:gridCol w="1161212">
                  <a:extLst>
                    <a:ext uri="{9D8B030D-6E8A-4147-A177-3AD203B41FA5}">
                      <a16:colId xmlns:a16="http://schemas.microsoft.com/office/drawing/2014/main" val="873345733"/>
                    </a:ext>
                  </a:extLst>
                </a:gridCol>
                <a:gridCol w="634366">
                  <a:extLst>
                    <a:ext uri="{9D8B030D-6E8A-4147-A177-3AD203B41FA5}">
                      <a16:colId xmlns:a16="http://schemas.microsoft.com/office/drawing/2014/main" val="983947984"/>
                    </a:ext>
                  </a:extLst>
                </a:gridCol>
                <a:gridCol w="1161212">
                  <a:extLst>
                    <a:ext uri="{9D8B030D-6E8A-4147-A177-3AD203B41FA5}">
                      <a16:colId xmlns:a16="http://schemas.microsoft.com/office/drawing/2014/main" val="3672483493"/>
                    </a:ext>
                  </a:extLst>
                </a:gridCol>
                <a:gridCol w="774142">
                  <a:extLst>
                    <a:ext uri="{9D8B030D-6E8A-4147-A177-3AD203B41FA5}">
                      <a16:colId xmlns:a16="http://schemas.microsoft.com/office/drawing/2014/main" val="1432498959"/>
                    </a:ext>
                  </a:extLst>
                </a:gridCol>
              </a:tblGrid>
              <a:tr h="135175">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135175">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 </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 </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135175">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13517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13517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13517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2560598183"/>
      </p:ext>
    </p:extLst>
  </p:cSld>
  <p:clrMapOvr>
    <a:masterClrMapping/>
  </p:clrMapOvr>
  <p:transition spd="slow"/>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8C6D3A-1A0A-4A28-0D47-DB6A6765FCBA}"/>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FCEB15F2-33FD-F113-D0B0-5F4F0F58943A}"/>
              </a:ext>
            </a:extLst>
          </p:cNvPr>
          <p:cNvSpPr txBox="1"/>
          <p:nvPr/>
        </p:nvSpPr>
        <p:spPr>
          <a:xfrm>
            <a:off x="257175" y="1592770"/>
            <a:ext cx="11677650" cy="3262432"/>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endParaRPr lang="en-US"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1. Amendment of BOQ has been pending since 20/02/2026</a:t>
            </a:r>
          </a:p>
          <a:p>
            <a:pPr marL="342900" indent="-342900">
              <a:buAutoNum type="arabicPeriod"/>
            </a:pPr>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2. Supply of 48F OPGW cable are delayed due to non-finalization of repeater station locations</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3. Foundation work at 8 locations is delayed due to pending statutory clearances (NH – 2 Nos. and PLC – 1 No.)</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4. Commencement of tower erection at 37 locations is delayed due to non-disbursement of compensation for completed foundation work</a:t>
            </a:r>
            <a:endParaRPr lang="en-IN" dirty="0">
              <a:latin typeface="Calibri" panose="020F0502020204030204" pitchFamily="34" charset="0"/>
              <a:ea typeface="Calibri" panose="020F0502020204030204" pitchFamily="34" charset="0"/>
              <a:cs typeface="Calibri" panose="020F0502020204030204" pitchFamily="34" charset="0"/>
            </a:endParaRPr>
          </a:p>
          <a:p>
            <a:pPr marL="342900" indent="-342900">
              <a:buAutoNum type="arabicPeriod"/>
            </a:pPr>
            <a:endParaRPr lang="en-IN" sz="1400" dirty="0">
              <a:latin typeface="Calibri" panose="020F0502020204030204" pitchFamily="34" charset="0"/>
              <a:ea typeface="Calibri" panose="020F0502020204030204" pitchFamily="34" charset="0"/>
              <a:cs typeface="Calibri" panose="020F0502020204030204" pitchFamily="34" charset="0"/>
            </a:endParaRPr>
          </a:p>
          <a:p>
            <a:r>
              <a:rPr lang="en-US" sz="1200" dirty="0">
                <a:ea typeface="Calibri" panose="020F0502020204030204" pitchFamily="34" charset="0"/>
                <a:cs typeface="Calibri" panose="020F0502020204030204" pitchFamily="34" charset="0"/>
              </a:rPr>
              <a:t>	</a:t>
            </a:r>
            <a:endParaRPr lang="en-IN" sz="1200" dirty="0">
              <a:ea typeface="Calibri" panose="020F0502020204030204" pitchFamily="34" charset="0"/>
              <a:cs typeface="Calibri" panose="020F0502020204030204" pitchFamily="34" charset="0"/>
            </a:endParaRPr>
          </a:p>
        </p:txBody>
      </p:sp>
      <p:sp>
        <p:nvSpPr>
          <p:cNvPr id="7" name="Title 1">
            <a:extLst>
              <a:ext uri="{FF2B5EF4-FFF2-40B4-BE49-F238E27FC236}">
                <a16:creationId xmlns:a16="http://schemas.microsoft.com/office/drawing/2014/main" id="{B7A4BA79-831B-5219-4552-46D529E4B422}"/>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TL02 - 765KV D/C Bikaner – IV To Siwani (2nd) Tr. Line (Part – 1)</a:t>
            </a:r>
            <a:r>
              <a:rPr lang="en-US" sz="2400" b="1" dirty="0">
                <a:latin typeface="Calibri" panose="020F0502020204030204" pitchFamily="34" charset="0"/>
                <a:ea typeface="Calibri" panose="020F0502020204030204" pitchFamily="34" charset="0"/>
                <a:cs typeface="Calibri" panose="020F0502020204030204" pitchFamily="34" charset="0"/>
              </a:rPr>
              <a:t> (TA- 512)</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le 7">
            <a:extLst>
              <a:ext uri="{FF2B5EF4-FFF2-40B4-BE49-F238E27FC236}">
                <a16:creationId xmlns:a16="http://schemas.microsoft.com/office/drawing/2014/main" id="{3394583F-E4A4-3DBB-9B55-880B0DC68B21}"/>
              </a:ext>
            </a:extLst>
          </p:cNvPr>
          <p:cNvGraphicFramePr>
            <a:graphicFrameLocks noGrp="1"/>
          </p:cNvGraphicFramePr>
          <p:nvPr>
            <p:extLst>
              <p:ext uri="{D42A27DB-BD31-4B8C-83A1-F6EECF244321}">
                <p14:modId xmlns:p14="http://schemas.microsoft.com/office/powerpoint/2010/main" val="820237880"/>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03/01/25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475.26 (Excluding GST)</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02/12/26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02/12/26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2227727089"/>
      </p:ext>
    </p:extLst>
  </p:cSld>
  <p:clrMapOvr>
    <a:masterClrMapping/>
  </p:clrMapOvr>
  <p:transition spd="slow"/>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4D3F53-2641-187E-9D69-DAA6214EF4C1}"/>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9A19CFDE-3384-5F61-6791-1AA093CDD2BF}"/>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Rishabdeo Mandsaur Transmission Line &amp; Lilo </a:t>
            </a:r>
            <a:r>
              <a:rPr lang="en-US" sz="2400" b="1" dirty="0">
                <a:latin typeface="Calibri" panose="020F0502020204030204" pitchFamily="34" charset="0"/>
                <a:ea typeface="Calibri" panose="020F0502020204030204" pitchFamily="34" charset="0"/>
                <a:cs typeface="Calibri" panose="020F0502020204030204" pitchFamily="34" charset="0"/>
              </a:rPr>
              <a:t>(TA- 504)</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432BB2C1-1A40-2A5F-0BA1-8B9AD2C5C3A2}"/>
              </a:ext>
            </a:extLst>
          </p:cNvPr>
          <p:cNvGraphicFramePr>
            <a:graphicFrameLocks noGrp="1"/>
          </p:cNvGraphicFramePr>
          <p:nvPr>
            <p:extLst>
              <p:ext uri="{D42A27DB-BD31-4B8C-83A1-F6EECF244321}">
                <p14:modId xmlns:p14="http://schemas.microsoft.com/office/powerpoint/2010/main" val="1254373998"/>
              </p:ext>
            </p:extLst>
          </p:nvPr>
        </p:nvGraphicFramePr>
        <p:xfrm>
          <a:off x="238963" y="1186576"/>
          <a:ext cx="11705008" cy="285608"/>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85608">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3" name="Table 2">
            <a:extLst>
              <a:ext uri="{FF2B5EF4-FFF2-40B4-BE49-F238E27FC236}">
                <a16:creationId xmlns:a16="http://schemas.microsoft.com/office/drawing/2014/main" id="{122318DF-D407-F27E-1EDE-C63FE38E66A1}"/>
              </a:ext>
            </a:extLst>
          </p:cNvPr>
          <p:cNvGraphicFramePr>
            <a:graphicFrameLocks noGrp="1"/>
          </p:cNvGraphicFramePr>
          <p:nvPr>
            <p:extLst>
              <p:ext uri="{D42A27DB-BD31-4B8C-83A1-F6EECF244321}">
                <p14:modId xmlns:p14="http://schemas.microsoft.com/office/powerpoint/2010/main" val="4130113057"/>
              </p:ext>
            </p:extLst>
          </p:nvPr>
        </p:nvGraphicFramePr>
        <p:xfrm>
          <a:off x="238963" y="1472184"/>
          <a:ext cx="11714074" cy="3773469"/>
        </p:xfrm>
        <a:graphic>
          <a:graphicData uri="http://schemas.openxmlformats.org/drawingml/2006/table">
            <a:tbl>
              <a:tblPr/>
              <a:tblGrid>
                <a:gridCol w="1138051">
                  <a:extLst>
                    <a:ext uri="{9D8B030D-6E8A-4147-A177-3AD203B41FA5}">
                      <a16:colId xmlns:a16="http://schemas.microsoft.com/office/drawing/2014/main" val="3134568255"/>
                    </a:ext>
                  </a:extLst>
                </a:gridCol>
                <a:gridCol w="1007239">
                  <a:extLst>
                    <a:ext uri="{9D8B030D-6E8A-4147-A177-3AD203B41FA5}">
                      <a16:colId xmlns:a16="http://schemas.microsoft.com/office/drawing/2014/main" val="529650208"/>
                    </a:ext>
                  </a:extLst>
                </a:gridCol>
                <a:gridCol w="758701">
                  <a:extLst>
                    <a:ext uri="{9D8B030D-6E8A-4147-A177-3AD203B41FA5}">
                      <a16:colId xmlns:a16="http://schemas.microsoft.com/office/drawing/2014/main" val="92458083"/>
                    </a:ext>
                  </a:extLst>
                </a:gridCol>
                <a:gridCol w="771782">
                  <a:extLst>
                    <a:ext uri="{9D8B030D-6E8A-4147-A177-3AD203B41FA5}">
                      <a16:colId xmlns:a16="http://schemas.microsoft.com/office/drawing/2014/main" val="1261093951"/>
                    </a:ext>
                  </a:extLst>
                </a:gridCol>
                <a:gridCol w="758701">
                  <a:extLst>
                    <a:ext uri="{9D8B030D-6E8A-4147-A177-3AD203B41FA5}">
                      <a16:colId xmlns:a16="http://schemas.microsoft.com/office/drawing/2014/main" val="3845723164"/>
                    </a:ext>
                  </a:extLst>
                </a:gridCol>
                <a:gridCol w="824104">
                  <a:extLst>
                    <a:ext uri="{9D8B030D-6E8A-4147-A177-3AD203B41FA5}">
                      <a16:colId xmlns:a16="http://schemas.microsoft.com/office/drawing/2014/main" val="2426758173"/>
                    </a:ext>
                  </a:extLst>
                </a:gridCol>
                <a:gridCol w="824104">
                  <a:extLst>
                    <a:ext uri="{9D8B030D-6E8A-4147-A177-3AD203B41FA5}">
                      <a16:colId xmlns:a16="http://schemas.microsoft.com/office/drawing/2014/main" val="7475768"/>
                    </a:ext>
                  </a:extLst>
                </a:gridCol>
                <a:gridCol w="706377">
                  <a:extLst>
                    <a:ext uri="{9D8B030D-6E8A-4147-A177-3AD203B41FA5}">
                      <a16:colId xmlns:a16="http://schemas.microsoft.com/office/drawing/2014/main" val="2676474225"/>
                    </a:ext>
                  </a:extLst>
                </a:gridCol>
                <a:gridCol w="162050">
                  <a:extLst>
                    <a:ext uri="{9D8B030D-6E8A-4147-A177-3AD203B41FA5}">
                      <a16:colId xmlns:a16="http://schemas.microsoft.com/office/drawing/2014/main" val="3819434327"/>
                    </a:ext>
                  </a:extLst>
                </a:gridCol>
                <a:gridCol w="413517">
                  <a:extLst>
                    <a:ext uri="{9D8B030D-6E8A-4147-A177-3AD203B41FA5}">
                      <a16:colId xmlns:a16="http://schemas.microsoft.com/office/drawing/2014/main" val="2334467592"/>
                    </a:ext>
                  </a:extLst>
                </a:gridCol>
                <a:gridCol w="385379">
                  <a:extLst>
                    <a:ext uri="{9D8B030D-6E8A-4147-A177-3AD203B41FA5}">
                      <a16:colId xmlns:a16="http://schemas.microsoft.com/office/drawing/2014/main" val="3306756722"/>
                    </a:ext>
                  </a:extLst>
                </a:gridCol>
                <a:gridCol w="320998">
                  <a:extLst>
                    <a:ext uri="{9D8B030D-6E8A-4147-A177-3AD203B41FA5}">
                      <a16:colId xmlns:a16="http://schemas.microsoft.com/office/drawing/2014/main" val="564609582"/>
                    </a:ext>
                  </a:extLst>
                </a:gridCol>
                <a:gridCol w="169891">
                  <a:extLst>
                    <a:ext uri="{9D8B030D-6E8A-4147-A177-3AD203B41FA5}">
                      <a16:colId xmlns:a16="http://schemas.microsoft.com/office/drawing/2014/main" val="706361869"/>
                    </a:ext>
                  </a:extLst>
                </a:gridCol>
                <a:gridCol w="385010">
                  <a:extLst>
                    <a:ext uri="{9D8B030D-6E8A-4147-A177-3AD203B41FA5}">
                      <a16:colId xmlns:a16="http://schemas.microsoft.com/office/drawing/2014/main" val="1330867586"/>
                    </a:ext>
                  </a:extLst>
                </a:gridCol>
                <a:gridCol w="365760">
                  <a:extLst>
                    <a:ext uri="{9D8B030D-6E8A-4147-A177-3AD203B41FA5}">
                      <a16:colId xmlns:a16="http://schemas.microsoft.com/office/drawing/2014/main" val="3438594745"/>
                    </a:ext>
                  </a:extLst>
                </a:gridCol>
                <a:gridCol w="518107">
                  <a:extLst>
                    <a:ext uri="{9D8B030D-6E8A-4147-A177-3AD203B41FA5}">
                      <a16:colId xmlns:a16="http://schemas.microsoft.com/office/drawing/2014/main" val="2391851116"/>
                    </a:ext>
                  </a:extLst>
                </a:gridCol>
                <a:gridCol w="2204303">
                  <a:extLst>
                    <a:ext uri="{9D8B030D-6E8A-4147-A177-3AD203B41FA5}">
                      <a16:colId xmlns:a16="http://schemas.microsoft.com/office/drawing/2014/main" val="3502179738"/>
                    </a:ext>
                  </a:extLst>
                </a:gridCol>
              </a:tblGrid>
              <a:tr h="337745">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pPr algn="ctr"/>
                      <a:endParaRPr lang="en-US"/>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190872">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n-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t">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dirty="0">
                          <a:solidFill>
                            <a:schemeClr val="tx1"/>
                          </a:solidFill>
                          <a:effectLst/>
                          <a:latin typeface="+mn-lt"/>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22996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33774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188</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335451">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188</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17069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13.422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55.578</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17069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70692">
                <a:tc gridSpan="17">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37745">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330899">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230168">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rowSpan="5"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5" hMerge="1">
                  <a:txBody>
                    <a:bodyPr/>
                    <a:lstStyle/>
                    <a:p>
                      <a:endParaRPr lang="en-US"/>
                    </a:p>
                  </a:txBody>
                  <a:tcPr/>
                </a:tc>
                <a:tc rowSpan="5" hMerge="1">
                  <a:txBody>
                    <a:bodyPr/>
                    <a:lstStyle/>
                    <a:p>
                      <a:endParaRPr lang="en-US"/>
                    </a:p>
                  </a:txBody>
                  <a:tcPr/>
                </a:tc>
                <a:tc rowSpan="5" hMerge="1">
                  <a:txBody>
                    <a:bodyPr/>
                    <a:lstStyle/>
                    <a:p>
                      <a:endParaRPr lang="en-US"/>
                    </a:p>
                  </a:txBody>
                  <a:tcPr/>
                </a:tc>
                <a:tc rowSpan="5" hMerge="1">
                  <a:txBody>
                    <a:bodyPr/>
                    <a:lstStyle/>
                    <a:p>
                      <a:endParaRPr lang="en-US"/>
                    </a:p>
                  </a:txBody>
                  <a:tcPr/>
                </a:tc>
                <a:extLst>
                  <a:ext uri="{0D108BD9-81ED-4DB2-BD59-A6C34878D82A}">
                    <a16:rowId xmlns:a16="http://schemas.microsoft.com/office/drawing/2014/main" val="574270701"/>
                  </a:ext>
                </a:extLst>
              </a:tr>
              <a:tr h="17069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2495535454"/>
                  </a:ext>
                </a:extLst>
              </a:tr>
              <a:tr h="17069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2396488407"/>
                  </a:ext>
                </a:extLst>
              </a:tr>
              <a:tr h="17069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pPr algn="l"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419053964"/>
                  </a:ext>
                </a:extLst>
              </a:tr>
              <a:tr h="17069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endParaRPr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2" name="Table 1">
            <a:extLst>
              <a:ext uri="{FF2B5EF4-FFF2-40B4-BE49-F238E27FC236}">
                <a16:creationId xmlns:a16="http://schemas.microsoft.com/office/drawing/2014/main" id="{EE1B677B-7C94-9A82-7B34-21973F92FD09}"/>
              </a:ext>
            </a:extLst>
          </p:cNvPr>
          <p:cNvGraphicFramePr>
            <a:graphicFrameLocks noGrp="1"/>
          </p:cNvGraphicFramePr>
          <p:nvPr>
            <p:extLst>
              <p:ext uri="{D42A27DB-BD31-4B8C-83A1-F6EECF244321}">
                <p14:modId xmlns:p14="http://schemas.microsoft.com/office/powerpoint/2010/main" val="3214605688"/>
              </p:ext>
            </p:extLst>
          </p:nvPr>
        </p:nvGraphicFramePr>
        <p:xfrm>
          <a:off x="238963" y="5293991"/>
          <a:ext cx="11737228" cy="1328126"/>
        </p:xfrm>
        <a:graphic>
          <a:graphicData uri="http://schemas.openxmlformats.org/drawingml/2006/table">
            <a:tbl>
              <a:tblPr/>
              <a:tblGrid>
                <a:gridCol w="1252547">
                  <a:extLst>
                    <a:ext uri="{9D8B030D-6E8A-4147-A177-3AD203B41FA5}">
                      <a16:colId xmlns:a16="http://schemas.microsoft.com/office/drawing/2014/main" val="4144033618"/>
                    </a:ext>
                  </a:extLst>
                </a:gridCol>
                <a:gridCol w="1112176">
                  <a:extLst>
                    <a:ext uri="{9D8B030D-6E8A-4147-A177-3AD203B41FA5}">
                      <a16:colId xmlns:a16="http://schemas.microsoft.com/office/drawing/2014/main" val="2710662077"/>
                    </a:ext>
                  </a:extLst>
                </a:gridCol>
                <a:gridCol w="831433">
                  <a:extLst>
                    <a:ext uri="{9D8B030D-6E8A-4147-A177-3AD203B41FA5}">
                      <a16:colId xmlns:a16="http://schemas.microsoft.com/office/drawing/2014/main" val="3810854777"/>
                    </a:ext>
                  </a:extLst>
                </a:gridCol>
                <a:gridCol w="1274143">
                  <a:extLst>
                    <a:ext uri="{9D8B030D-6E8A-4147-A177-3AD203B41FA5}">
                      <a16:colId xmlns:a16="http://schemas.microsoft.com/office/drawing/2014/main" val="95352560"/>
                    </a:ext>
                  </a:extLst>
                </a:gridCol>
                <a:gridCol w="1252547">
                  <a:extLst>
                    <a:ext uri="{9D8B030D-6E8A-4147-A177-3AD203B41FA5}">
                      <a16:colId xmlns:a16="http://schemas.microsoft.com/office/drawing/2014/main" val="3482007332"/>
                    </a:ext>
                  </a:extLst>
                </a:gridCol>
                <a:gridCol w="907017">
                  <a:extLst>
                    <a:ext uri="{9D8B030D-6E8A-4147-A177-3AD203B41FA5}">
                      <a16:colId xmlns:a16="http://schemas.microsoft.com/office/drawing/2014/main" val="3780160470"/>
                    </a:ext>
                  </a:extLst>
                </a:gridCol>
                <a:gridCol w="1360525">
                  <a:extLst>
                    <a:ext uri="{9D8B030D-6E8A-4147-A177-3AD203B41FA5}">
                      <a16:colId xmlns:a16="http://schemas.microsoft.com/office/drawing/2014/main" val="4001841647"/>
                    </a:ext>
                  </a:extLst>
                </a:gridCol>
                <a:gridCol w="1166163">
                  <a:extLst>
                    <a:ext uri="{9D8B030D-6E8A-4147-A177-3AD203B41FA5}">
                      <a16:colId xmlns:a16="http://schemas.microsoft.com/office/drawing/2014/main" val="873345733"/>
                    </a:ext>
                  </a:extLst>
                </a:gridCol>
                <a:gridCol w="637071">
                  <a:extLst>
                    <a:ext uri="{9D8B030D-6E8A-4147-A177-3AD203B41FA5}">
                      <a16:colId xmlns:a16="http://schemas.microsoft.com/office/drawing/2014/main" val="983947984"/>
                    </a:ext>
                  </a:extLst>
                </a:gridCol>
                <a:gridCol w="1166163">
                  <a:extLst>
                    <a:ext uri="{9D8B030D-6E8A-4147-A177-3AD203B41FA5}">
                      <a16:colId xmlns:a16="http://schemas.microsoft.com/office/drawing/2014/main" val="3672483493"/>
                    </a:ext>
                  </a:extLst>
                </a:gridCol>
                <a:gridCol w="777443">
                  <a:extLst>
                    <a:ext uri="{9D8B030D-6E8A-4147-A177-3AD203B41FA5}">
                      <a16:colId xmlns:a16="http://schemas.microsoft.com/office/drawing/2014/main" val="1432498959"/>
                    </a:ext>
                  </a:extLst>
                </a:gridCol>
              </a:tblGrid>
              <a:tr h="221365">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221301">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221365">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22136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22136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22136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1058639934"/>
      </p:ext>
    </p:extLst>
  </p:cSld>
  <p:clrMapOvr>
    <a:masterClrMapping/>
  </p:clrMapOvr>
  <p:transition spd="slow"/>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4FB821-7925-3B4D-06D2-DFCC4EC6A3A9}"/>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CE4D4F70-1C85-12A1-A07F-35A710A309AE}"/>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Rishabdeo Mandsaur Transmission Line &amp; Lilo </a:t>
            </a:r>
            <a:r>
              <a:rPr lang="en-US" sz="2400" b="1" dirty="0">
                <a:latin typeface="Calibri" panose="020F0502020204030204" pitchFamily="34" charset="0"/>
                <a:ea typeface="Calibri" panose="020F0502020204030204" pitchFamily="34" charset="0"/>
                <a:cs typeface="Calibri" panose="020F0502020204030204" pitchFamily="34" charset="0"/>
              </a:rPr>
              <a:t>(TA- 504)</a:t>
            </a:r>
            <a:endParaRPr lang="en-IN" sz="16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089EF3FC-6EC6-A186-3784-400DED0FB6C7}"/>
              </a:ext>
            </a:extLst>
          </p:cNvPr>
          <p:cNvGraphicFramePr>
            <a:graphicFrameLocks noGrp="1"/>
          </p:cNvGraphicFramePr>
          <p:nvPr>
            <p:extLst>
              <p:ext uri="{D42A27DB-BD31-4B8C-83A1-F6EECF244321}">
                <p14:modId xmlns:p14="http://schemas.microsoft.com/office/powerpoint/2010/main" val="3785281874"/>
              </p:ext>
            </p:extLst>
          </p:nvPr>
        </p:nvGraphicFramePr>
        <p:xfrm>
          <a:off x="238963" y="1234440"/>
          <a:ext cx="11744488" cy="237744"/>
        </p:xfrm>
        <a:graphic>
          <a:graphicData uri="http://schemas.openxmlformats.org/drawingml/2006/table">
            <a:tbl>
              <a:tblPr/>
              <a:tblGrid>
                <a:gridCol w="2936122">
                  <a:extLst>
                    <a:ext uri="{9D8B030D-6E8A-4147-A177-3AD203B41FA5}">
                      <a16:colId xmlns:a16="http://schemas.microsoft.com/office/drawing/2014/main" val="906577857"/>
                    </a:ext>
                  </a:extLst>
                </a:gridCol>
                <a:gridCol w="2936122">
                  <a:extLst>
                    <a:ext uri="{9D8B030D-6E8A-4147-A177-3AD203B41FA5}">
                      <a16:colId xmlns:a16="http://schemas.microsoft.com/office/drawing/2014/main" val="1761629044"/>
                    </a:ext>
                  </a:extLst>
                </a:gridCol>
                <a:gridCol w="2936122">
                  <a:extLst>
                    <a:ext uri="{9D8B030D-6E8A-4147-A177-3AD203B41FA5}">
                      <a16:colId xmlns:a16="http://schemas.microsoft.com/office/drawing/2014/main" val="949399120"/>
                    </a:ext>
                  </a:extLst>
                </a:gridCol>
                <a:gridCol w="293612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8" name="Table 7">
            <a:extLst>
              <a:ext uri="{FF2B5EF4-FFF2-40B4-BE49-F238E27FC236}">
                <a16:creationId xmlns:a16="http://schemas.microsoft.com/office/drawing/2014/main" id="{F708FC5A-8D32-B9C8-8B29-66283CF0DBBE}"/>
              </a:ext>
            </a:extLst>
          </p:cNvPr>
          <p:cNvGraphicFramePr>
            <a:graphicFrameLocks noGrp="1"/>
          </p:cNvGraphicFramePr>
          <p:nvPr>
            <p:extLst>
              <p:ext uri="{D42A27DB-BD31-4B8C-83A1-F6EECF244321}">
                <p14:modId xmlns:p14="http://schemas.microsoft.com/office/powerpoint/2010/main" val="1389610228"/>
              </p:ext>
            </p:extLst>
          </p:nvPr>
        </p:nvGraphicFramePr>
        <p:xfrm>
          <a:off x="238963" y="1472184"/>
          <a:ext cx="11744486" cy="5258125"/>
        </p:xfrm>
        <a:graphic>
          <a:graphicData uri="http://schemas.openxmlformats.org/drawingml/2006/table">
            <a:tbl>
              <a:tblPr/>
              <a:tblGrid>
                <a:gridCol w="969209">
                  <a:extLst>
                    <a:ext uri="{9D8B030D-6E8A-4147-A177-3AD203B41FA5}">
                      <a16:colId xmlns:a16="http://schemas.microsoft.com/office/drawing/2014/main" val="330956746"/>
                    </a:ext>
                  </a:extLst>
                </a:gridCol>
                <a:gridCol w="2339908">
                  <a:extLst>
                    <a:ext uri="{9D8B030D-6E8A-4147-A177-3AD203B41FA5}">
                      <a16:colId xmlns:a16="http://schemas.microsoft.com/office/drawing/2014/main" val="467016710"/>
                    </a:ext>
                  </a:extLst>
                </a:gridCol>
                <a:gridCol w="904281">
                  <a:extLst>
                    <a:ext uri="{9D8B030D-6E8A-4147-A177-3AD203B41FA5}">
                      <a16:colId xmlns:a16="http://schemas.microsoft.com/office/drawing/2014/main" val="2623573662"/>
                    </a:ext>
                  </a:extLst>
                </a:gridCol>
                <a:gridCol w="391390">
                  <a:extLst>
                    <a:ext uri="{9D8B030D-6E8A-4147-A177-3AD203B41FA5}">
                      <a16:colId xmlns:a16="http://schemas.microsoft.com/office/drawing/2014/main" val="3348155062"/>
                    </a:ext>
                  </a:extLst>
                </a:gridCol>
                <a:gridCol w="523022">
                  <a:extLst>
                    <a:ext uri="{9D8B030D-6E8A-4147-A177-3AD203B41FA5}">
                      <a16:colId xmlns:a16="http://schemas.microsoft.com/office/drawing/2014/main" val="3407175280"/>
                    </a:ext>
                  </a:extLst>
                </a:gridCol>
                <a:gridCol w="523022">
                  <a:extLst>
                    <a:ext uri="{9D8B030D-6E8A-4147-A177-3AD203B41FA5}">
                      <a16:colId xmlns:a16="http://schemas.microsoft.com/office/drawing/2014/main" val="3835865023"/>
                    </a:ext>
                  </a:extLst>
                </a:gridCol>
                <a:gridCol w="597269">
                  <a:extLst>
                    <a:ext uri="{9D8B030D-6E8A-4147-A177-3AD203B41FA5}">
                      <a16:colId xmlns:a16="http://schemas.microsoft.com/office/drawing/2014/main" val="613547278"/>
                    </a:ext>
                  </a:extLst>
                </a:gridCol>
                <a:gridCol w="436887">
                  <a:extLst>
                    <a:ext uri="{9D8B030D-6E8A-4147-A177-3AD203B41FA5}">
                      <a16:colId xmlns:a16="http://schemas.microsoft.com/office/drawing/2014/main" val="1087588403"/>
                    </a:ext>
                  </a:extLst>
                </a:gridCol>
                <a:gridCol w="475476">
                  <a:extLst>
                    <a:ext uri="{9D8B030D-6E8A-4147-A177-3AD203B41FA5}">
                      <a16:colId xmlns:a16="http://schemas.microsoft.com/office/drawing/2014/main" val="1978132890"/>
                    </a:ext>
                  </a:extLst>
                </a:gridCol>
                <a:gridCol w="511134">
                  <a:extLst>
                    <a:ext uri="{9D8B030D-6E8A-4147-A177-3AD203B41FA5}">
                      <a16:colId xmlns:a16="http://schemas.microsoft.com/office/drawing/2014/main" val="1472471097"/>
                    </a:ext>
                  </a:extLst>
                </a:gridCol>
                <a:gridCol w="511134">
                  <a:extLst>
                    <a:ext uri="{9D8B030D-6E8A-4147-A177-3AD203B41FA5}">
                      <a16:colId xmlns:a16="http://schemas.microsoft.com/office/drawing/2014/main" val="4151107971"/>
                    </a:ext>
                  </a:extLst>
                </a:gridCol>
                <a:gridCol w="499250">
                  <a:extLst>
                    <a:ext uri="{9D8B030D-6E8A-4147-A177-3AD203B41FA5}">
                      <a16:colId xmlns:a16="http://schemas.microsoft.com/office/drawing/2014/main" val="425587029"/>
                    </a:ext>
                  </a:extLst>
                </a:gridCol>
                <a:gridCol w="511134">
                  <a:extLst>
                    <a:ext uri="{9D8B030D-6E8A-4147-A177-3AD203B41FA5}">
                      <a16:colId xmlns:a16="http://schemas.microsoft.com/office/drawing/2014/main" val="2861279347"/>
                    </a:ext>
                  </a:extLst>
                </a:gridCol>
                <a:gridCol w="511134">
                  <a:extLst>
                    <a:ext uri="{9D8B030D-6E8A-4147-A177-3AD203B41FA5}">
                      <a16:colId xmlns:a16="http://schemas.microsoft.com/office/drawing/2014/main" val="470002717"/>
                    </a:ext>
                  </a:extLst>
                </a:gridCol>
                <a:gridCol w="541722">
                  <a:extLst>
                    <a:ext uri="{9D8B030D-6E8A-4147-A177-3AD203B41FA5}">
                      <a16:colId xmlns:a16="http://schemas.microsoft.com/office/drawing/2014/main" val="3542135224"/>
                    </a:ext>
                  </a:extLst>
                </a:gridCol>
                <a:gridCol w="478224">
                  <a:extLst>
                    <a:ext uri="{9D8B030D-6E8A-4147-A177-3AD203B41FA5}">
                      <a16:colId xmlns:a16="http://schemas.microsoft.com/office/drawing/2014/main" val="2066182156"/>
                    </a:ext>
                  </a:extLst>
                </a:gridCol>
                <a:gridCol w="524207">
                  <a:extLst>
                    <a:ext uri="{9D8B030D-6E8A-4147-A177-3AD203B41FA5}">
                      <a16:colId xmlns:a16="http://schemas.microsoft.com/office/drawing/2014/main" val="3474579885"/>
                    </a:ext>
                  </a:extLst>
                </a:gridCol>
                <a:gridCol w="496083">
                  <a:extLst>
                    <a:ext uri="{9D8B030D-6E8A-4147-A177-3AD203B41FA5}">
                      <a16:colId xmlns:a16="http://schemas.microsoft.com/office/drawing/2014/main" val="1602192749"/>
                    </a:ext>
                  </a:extLst>
                </a:gridCol>
              </a:tblGrid>
              <a:tr h="188207">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No. of month from NOA</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 Qty.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Upto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As on 01.05.26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Jul-26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Aug-26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Sep-26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Oct-26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Nov-26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Dec-26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Jan-27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Feb-27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Mar-27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341750030"/>
                  </a:ext>
                </a:extLst>
              </a:tr>
              <a:tr h="269155">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IN"/>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63433136"/>
                  </a:ext>
                </a:extLst>
              </a:tr>
              <a:tr h="188207">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4864030"/>
                  </a:ext>
                </a:extLst>
              </a:tr>
              <a:tr h="1882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92204872"/>
                  </a:ext>
                </a:extLst>
              </a:tr>
              <a:tr h="1882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8064827"/>
                  </a:ext>
                </a:extLst>
              </a:tr>
              <a:tr h="1882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31382125"/>
                  </a:ext>
                </a:extLst>
              </a:tr>
              <a:tr h="1882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Stubs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84174195"/>
                  </a:ext>
                </a:extLst>
              </a:tr>
              <a:tr h="1882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48442476"/>
                  </a:ext>
                </a:extLst>
              </a:tr>
              <a:tr h="188207">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794284895"/>
                  </a:ext>
                </a:extLst>
              </a:tr>
              <a:tr h="188207">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85639932"/>
                  </a:ext>
                </a:extLst>
              </a:tr>
              <a:tr h="1882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48076848"/>
                  </a:ext>
                </a:extLst>
              </a:tr>
              <a:tr h="1882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4915967"/>
                  </a:ext>
                </a:extLst>
              </a:tr>
              <a:tr h="1882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76733000"/>
                  </a:ext>
                </a:extLst>
              </a:tr>
              <a:tr h="1882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51575881"/>
                  </a:ext>
                </a:extLst>
              </a:tr>
              <a:tr h="1882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76095068"/>
                  </a:ext>
                </a:extLst>
              </a:tr>
              <a:tr h="188207">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3795312704"/>
                  </a:ext>
                </a:extLst>
              </a:tr>
              <a:tr h="188207">
                <a:tc rowSpan="11">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90037553"/>
                  </a:ext>
                </a:extLst>
              </a:tr>
              <a:tr h="1882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47927932"/>
                  </a:ext>
                </a:extLst>
              </a:tr>
              <a:tr h="1882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7137584"/>
                  </a:ext>
                </a:extLst>
              </a:tr>
              <a:tr h="188207">
                <a:tc vMerge="1">
                  <a:txBody>
                    <a:bodyPr/>
                    <a:lstStyle/>
                    <a:p>
                      <a:endParaRPr lang="en-US"/>
                    </a:p>
                  </a:txBody>
                  <a:tcPr/>
                </a:tc>
                <a:tc rowSpan="2">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TSE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53577170"/>
                  </a:ext>
                </a:extLst>
              </a:tr>
              <a:tr h="188207">
                <a:tc vMerge="1">
                  <a:txBody>
                    <a:bodyPr/>
                    <a:lstStyle/>
                    <a:p>
                      <a:endParaRPr lang="en-US"/>
                    </a:p>
                  </a:txBody>
                  <a:tcPr/>
                </a:tc>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Manual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87594838"/>
                  </a:ext>
                </a:extLst>
              </a:tr>
              <a:tr h="1882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91423490"/>
                  </a:ext>
                </a:extLst>
              </a:tr>
              <a:tr h="1882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FFFF00"/>
                        </a:solidFill>
                        <a:effectLst/>
                        <a:highlight>
                          <a:srgbClr val="FFFF00"/>
                        </a:highligh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FFFF00"/>
                        </a:solidFill>
                        <a:effectLst/>
                        <a:highlight>
                          <a:srgbClr val="FFFF00"/>
                        </a:highligh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31144415"/>
                  </a:ext>
                </a:extLst>
              </a:tr>
              <a:tr h="188207">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59411858"/>
                  </a:ext>
                </a:extLst>
              </a:tr>
              <a:tr h="188207">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10348192"/>
                  </a:ext>
                </a:extLst>
              </a:tr>
              <a:tr h="188207">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71402620"/>
                  </a:ext>
                </a:extLst>
              </a:tr>
              <a:tr h="188207">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06786991"/>
                  </a:ext>
                </a:extLst>
              </a:tr>
            </a:tbl>
          </a:graphicData>
        </a:graphic>
      </p:graphicFrame>
    </p:spTree>
    <p:extLst>
      <p:ext uri="{BB962C8B-B14F-4D97-AF65-F5344CB8AC3E}">
        <p14:creationId xmlns:p14="http://schemas.microsoft.com/office/powerpoint/2010/main" val="217431701"/>
      </p:ext>
    </p:extLst>
  </p:cSld>
  <p:clrMapOvr>
    <a:masterClrMapping/>
  </p:clrMapOvr>
  <p:transition spd="slow"/>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93990D-EB95-A926-C77E-C4A94705E733}"/>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B2F5B318-B3E4-84D4-CA56-9DE54B32617D}"/>
              </a:ext>
            </a:extLst>
          </p:cNvPr>
          <p:cNvSpPr txBox="1"/>
          <p:nvPr/>
        </p:nvSpPr>
        <p:spPr>
          <a:xfrm>
            <a:off x="257175" y="1720840"/>
            <a:ext cx="11677650" cy="3416320"/>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endParaRPr lang="en-US"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1. No work front for foundation works, 21 locations hold due to crossings</a:t>
            </a:r>
          </a:p>
          <a:p>
            <a:pPr marL="342900" indent="-342900">
              <a:buAutoNum type="arabicPeriod"/>
            </a:pPr>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2. Required to expedite the ROW (Erection-10/3, 26/9, 5H/0, 5G/5, 4/1 Foundation- 10/4, 5G/2, 5G/3, 5H/1 Stringing:12/0 - 13/0, 14/0 - 15/0)</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3. Amendment submitted on 23rd April and issuance pending</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4. Need to Expedite Tower Erection ULE structural drawings 28/1(DB1+0, -1.5M ULE) &amp; 31/2 (DB1+6, -1.5M ULE)</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5. NH crossing –02 no's approval pending needs to expedite</a:t>
            </a:r>
          </a:p>
        </p:txBody>
      </p:sp>
      <p:sp>
        <p:nvSpPr>
          <p:cNvPr id="4" name="Title 1">
            <a:extLst>
              <a:ext uri="{FF2B5EF4-FFF2-40B4-BE49-F238E27FC236}">
                <a16:creationId xmlns:a16="http://schemas.microsoft.com/office/drawing/2014/main" id="{88BAB908-AA6F-07AA-1A51-A703986FB891}"/>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Rishabdeo Mandsaur Transmission Line &amp; Lilo </a:t>
            </a:r>
            <a:r>
              <a:rPr lang="en-US" sz="2400" b="1" dirty="0">
                <a:latin typeface="Calibri" panose="020F0502020204030204" pitchFamily="34" charset="0"/>
                <a:ea typeface="Calibri" panose="020F0502020204030204" pitchFamily="34" charset="0"/>
                <a:cs typeface="Calibri" panose="020F0502020204030204" pitchFamily="34" charset="0"/>
              </a:rPr>
              <a:t>(TA- 504)</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1AA5341C-0CE5-2970-B0A4-AB08D4932F5F}"/>
              </a:ext>
            </a:extLst>
          </p:cNvPr>
          <p:cNvGraphicFramePr>
            <a:graphicFrameLocks noGrp="1"/>
          </p:cNvGraphicFramePr>
          <p:nvPr>
            <p:extLst>
              <p:ext uri="{D42A27DB-BD31-4B8C-83A1-F6EECF244321}">
                <p14:modId xmlns:p14="http://schemas.microsoft.com/office/powerpoint/2010/main" val="2323415035"/>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23/07/24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477.03</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22/06/26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28/09/26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1794394027"/>
      </p:ext>
    </p:extLst>
  </p:cSld>
  <p:clrMapOvr>
    <a:masterClrMapping/>
  </p:clrMapOvr>
  <p:transition spd="slow"/>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C7F666-7D6E-9424-CEE7-CD72F9EAE45C}"/>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9BA52CEB-1CC7-D928-E7C2-2FD948C74818}"/>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Beawar-Mandsaur TL </a:t>
            </a:r>
            <a:r>
              <a:rPr lang="en-US" sz="2400" b="1" dirty="0">
                <a:latin typeface="Calibri" panose="020F0502020204030204" pitchFamily="34" charset="0"/>
                <a:ea typeface="Calibri" panose="020F0502020204030204" pitchFamily="34" charset="0"/>
                <a:cs typeface="Calibri" panose="020F0502020204030204" pitchFamily="34" charset="0"/>
              </a:rPr>
              <a:t>(TA- 505)</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653C4FF3-950D-3474-D74D-A230B95D1C0C}"/>
              </a:ext>
            </a:extLst>
          </p:cNvPr>
          <p:cNvGraphicFramePr>
            <a:graphicFrameLocks noGrp="1"/>
          </p:cNvGraphicFramePr>
          <p:nvPr>
            <p:extLst>
              <p:ext uri="{D42A27DB-BD31-4B8C-83A1-F6EECF244321}">
                <p14:modId xmlns:p14="http://schemas.microsoft.com/office/powerpoint/2010/main" val="1370608576"/>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6" name="Table 5">
            <a:extLst>
              <a:ext uri="{FF2B5EF4-FFF2-40B4-BE49-F238E27FC236}">
                <a16:creationId xmlns:a16="http://schemas.microsoft.com/office/drawing/2014/main" id="{60C74577-C7F7-7837-DD30-31608231B5D0}"/>
              </a:ext>
            </a:extLst>
          </p:cNvPr>
          <p:cNvGraphicFramePr>
            <a:graphicFrameLocks noGrp="1"/>
          </p:cNvGraphicFramePr>
          <p:nvPr>
            <p:extLst>
              <p:ext uri="{D42A27DB-BD31-4B8C-83A1-F6EECF244321}">
                <p14:modId xmlns:p14="http://schemas.microsoft.com/office/powerpoint/2010/main" val="2590799530"/>
              </p:ext>
            </p:extLst>
          </p:nvPr>
        </p:nvGraphicFramePr>
        <p:xfrm>
          <a:off x="248111" y="1472184"/>
          <a:ext cx="11686715" cy="3865654"/>
        </p:xfrm>
        <a:graphic>
          <a:graphicData uri="http://schemas.openxmlformats.org/drawingml/2006/table">
            <a:tbl>
              <a:tblPr/>
              <a:tblGrid>
                <a:gridCol w="1135393">
                  <a:extLst>
                    <a:ext uri="{9D8B030D-6E8A-4147-A177-3AD203B41FA5}">
                      <a16:colId xmlns:a16="http://schemas.microsoft.com/office/drawing/2014/main" val="3134568255"/>
                    </a:ext>
                  </a:extLst>
                </a:gridCol>
                <a:gridCol w="1004887">
                  <a:extLst>
                    <a:ext uri="{9D8B030D-6E8A-4147-A177-3AD203B41FA5}">
                      <a16:colId xmlns:a16="http://schemas.microsoft.com/office/drawing/2014/main" val="529650208"/>
                    </a:ext>
                  </a:extLst>
                </a:gridCol>
                <a:gridCol w="756929">
                  <a:extLst>
                    <a:ext uri="{9D8B030D-6E8A-4147-A177-3AD203B41FA5}">
                      <a16:colId xmlns:a16="http://schemas.microsoft.com/office/drawing/2014/main" val="92458083"/>
                    </a:ext>
                  </a:extLst>
                </a:gridCol>
                <a:gridCol w="769979">
                  <a:extLst>
                    <a:ext uri="{9D8B030D-6E8A-4147-A177-3AD203B41FA5}">
                      <a16:colId xmlns:a16="http://schemas.microsoft.com/office/drawing/2014/main" val="1261093951"/>
                    </a:ext>
                  </a:extLst>
                </a:gridCol>
                <a:gridCol w="756929">
                  <a:extLst>
                    <a:ext uri="{9D8B030D-6E8A-4147-A177-3AD203B41FA5}">
                      <a16:colId xmlns:a16="http://schemas.microsoft.com/office/drawing/2014/main" val="3845723164"/>
                    </a:ext>
                  </a:extLst>
                </a:gridCol>
                <a:gridCol w="822180">
                  <a:extLst>
                    <a:ext uri="{9D8B030D-6E8A-4147-A177-3AD203B41FA5}">
                      <a16:colId xmlns:a16="http://schemas.microsoft.com/office/drawing/2014/main" val="2426758173"/>
                    </a:ext>
                  </a:extLst>
                </a:gridCol>
                <a:gridCol w="822180">
                  <a:extLst>
                    <a:ext uri="{9D8B030D-6E8A-4147-A177-3AD203B41FA5}">
                      <a16:colId xmlns:a16="http://schemas.microsoft.com/office/drawing/2014/main" val="7475768"/>
                    </a:ext>
                  </a:extLst>
                </a:gridCol>
                <a:gridCol w="704727">
                  <a:extLst>
                    <a:ext uri="{9D8B030D-6E8A-4147-A177-3AD203B41FA5}">
                      <a16:colId xmlns:a16="http://schemas.microsoft.com/office/drawing/2014/main" val="2676474225"/>
                    </a:ext>
                  </a:extLst>
                </a:gridCol>
                <a:gridCol w="196033">
                  <a:extLst>
                    <a:ext uri="{9D8B030D-6E8A-4147-A177-3AD203B41FA5}">
                      <a16:colId xmlns:a16="http://schemas.microsoft.com/office/drawing/2014/main" val="3819434327"/>
                    </a:ext>
                  </a:extLst>
                </a:gridCol>
                <a:gridCol w="378189">
                  <a:extLst>
                    <a:ext uri="{9D8B030D-6E8A-4147-A177-3AD203B41FA5}">
                      <a16:colId xmlns:a16="http://schemas.microsoft.com/office/drawing/2014/main" val="616165343"/>
                    </a:ext>
                  </a:extLst>
                </a:gridCol>
                <a:gridCol w="287798">
                  <a:extLst>
                    <a:ext uri="{9D8B030D-6E8A-4147-A177-3AD203B41FA5}">
                      <a16:colId xmlns:a16="http://schemas.microsoft.com/office/drawing/2014/main" val="3306756722"/>
                    </a:ext>
                  </a:extLst>
                </a:gridCol>
                <a:gridCol w="416929">
                  <a:extLst>
                    <a:ext uri="{9D8B030D-6E8A-4147-A177-3AD203B41FA5}">
                      <a16:colId xmlns:a16="http://schemas.microsoft.com/office/drawing/2014/main" val="436429953"/>
                    </a:ext>
                  </a:extLst>
                </a:gridCol>
                <a:gridCol w="476676">
                  <a:extLst>
                    <a:ext uri="{9D8B030D-6E8A-4147-A177-3AD203B41FA5}">
                      <a16:colId xmlns:a16="http://schemas.microsoft.com/office/drawing/2014/main" val="706361869"/>
                    </a:ext>
                  </a:extLst>
                </a:gridCol>
                <a:gridCol w="463663">
                  <a:extLst>
                    <a:ext uri="{9D8B030D-6E8A-4147-A177-3AD203B41FA5}">
                      <a16:colId xmlns:a16="http://schemas.microsoft.com/office/drawing/2014/main" val="3438594745"/>
                    </a:ext>
                  </a:extLst>
                </a:gridCol>
                <a:gridCol w="495069">
                  <a:extLst>
                    <a:ext uri="{9D8B030D-6E8A-4147-A177-3AD203B41FA5}">
                      <a16:colId xmlns:a16="http://schemas.microsoft.com/office/drawing/2014/main" val="2391851116"/>
                    </a:ext>
                  </a:extLst>
                </a:gridCol>
                <a:gridCol w="2199154">
                  <a:extLst>
                    <a:ext uri="{9D8B030D-6E8A-4147-A177-3AD203B41FA5}">
                      <a16:colId xmlns:a16="http://schemas.microsoft.com/office/drawing/2014/main" val="3502179738"/>
                    </a:ext>
                  </a:extLst>
                </a:gridCol>
              </a:tblGrid>
              <a:tr h="367532">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Aptos" panose="020B0004020202020204" pitchFamily="34" charset="0"/>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Aptos" panose="020B0004020202020204" pitchFamily="34" charset="0"/>
                        </a:rPr>
                        <a:t>Plan</a:t>
                      </a:r>
                      <a:br>
                        <a:rPr lang="en-US" sz="1200" b="1" i="0" u="none" strike="noStrike" dirty="0">
                          <a:solidFill>
                            <a:schemeClr val="tx1"/>
                          </a:solidFill>
                          <a:effectLst/>
                          <a:latin typeface="Aptos" panose="020B0004020202020204" pitchFamily="34" charset="0"/>
                        </a:rPr>
                      </a:br>
                      <a:r>
                        <a:rPr lang="en-US" sz="1200" b="1" i="0" u="none" strike="noStrike" dirty="0">
                          <a:solidFill>
                            <a:schemeClr val="tx1"/>
                          </a:solidFill>
                          <a:effectLst/>
                          <a:latin typeface="Aptos" panose="020B0004020202020204" pitchFamily="34" charset="0"/>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18574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Aptos" panose="020B0004020202020204" pitchFamily="34" charset="0"/>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t">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276638">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139.6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199466">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379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374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Aptos" panose="020B0004020202020204" pitchFamily="34" charset="0"/>
                        </a:rPr>
                        <a:t>2</a:t>
                      </a: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Aptos" panose="020B0004020202020204" pitchFamily="34" charset="0"/>
                        </a:rPr>
                        <a:t>7</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39678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379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Aptos" panose="020B0004020202020204" pitchFamily="34" charset="0"/>
                        </a:rPr>
                        <a:t>5</a:t>
                      </a: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Aptos" panose="020B0004020202020204" pitchFamily="34" charset="0"/>
                        </a:rPr>
                        <a:t>14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18574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139.6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14.973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125.594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Aptos" panose="020B0004020202020204" pitchFamily="34" charset="0"/>
                        </a:rPr>
                        <a:t>2</a:t>
                      </a: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Aptos" panose="020B0004020202020204" pitchFamily="34" charset="0"/>
                        </a:rPr>
                        <a:t>23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18574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Aptos" panose="020B0004020202020204" pitchFamily="34" charset="0"/>
                        </a:rPr>
                        <a:t>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85745">
                <a:tc gridSpan="1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67532">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4">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18574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18574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36753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495535454"/>
                  </a:ext>
                </a:extLst>
              </a:tr>
              <a:tr h="18574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rowSpan="4" gridSpan="4">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hMerge="1">
                  <a:txBody>
                    <a:bodyPr/>
                    <a:lstStyle/>
                    <a:p>
                      <a:endParaRPr lang="en-US"/>
                    </a:p>
                  </a:txBody>
                  <a:tcPr>
                    <a:lnL w="6350" cap="flat" cmpd="sng" algn="ctr">
                      <a:solidFill>
                        <a:srgbClr val="000000"/>
                      </a:solidFill>
                      <a:prstDash val="solid"/>
                      <a:round/>
                      <a:headEnd type="none" w="med" len="med"/>
                      <a:tailEnd type="none" w="med" len="med"/>
                    </a:lnL>
                  </a:tcPr>
                </a:tc>
                <a:tc rowSpan="4" hMerge="1">
                  <a:txBody>
                    <a:bodyPr/>
                    <a:lstStyle/>
                    <a:p>
                      <a:endParaRPr lang="en-US"/>
                    </a:p>
                  </a:txBody>
                  <a:tcPr/>
                </a:tc>
                <a:tc rowSpan="4" hMerge="1">
                  <a:txBody>
                    <a:bodyPr/>
                    <a:lstStyle/>
                    <a:p>
                      <a:endParaRPr lang="en-US"/>
                    </a:p>
                  </a:txBody>
                  <a:tcPr/>
                </a:tc>
                <a:extLst>
                  <a:ext uri="{0D108BD9-81ED-4DB2-BD59-A6C34878D82A}">
                    <a16:rowId xmlns:a16="http://schemas.microsoft.com/office/drawing/2014/main" val="2396488407"/>
                  </a:ext>
                </a:extLst>
              </a:tr>
              <a:tr h="18574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vMerge="1">
                  <a:txBody>
                    <a:bodyPr/>
                    <a:lstStyle/>
                    <a:p>
                      <a:endParaRPr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lnL w="6350" cap="flat" cmpd="sng" algn="ctr">
                      <a:solidFill>
                        <a:srgbClr val="000000"/>
                      </a:solidFill>
                      <a:prstDash val="solid"/>
                      <a:round/>
                      <a:headEnd type="none" w="med" len="med"/>
                      <a:tailEnd type="none" w="med" len="med"/>
                    </a:lnL>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419053964"/>
                  </a:ext>
                </a:extLst>
              </a:tr>
              <a:tr h="19542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vMerge="1">
                  <a:txBody>
                    <a:bodyPr/>
                    <a:lstStyle/>
                    <a:p>
                      <a:endParaRPr dirty="0"/>
                    </a:p>
                  </a:txBody>
                  <a:tcPr marL="3983" marR="3983" marT="3983" marB="0" anchor="ct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4005780108"/>
                  </a:ext>
                </a:extLst>
              </a:tr>
              <a:tr h="19542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Aptos" panose="020B000402020202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vMerge="1">
                  <a:txBody>
                    <a:bodyPr/>
                    <a:lstStyle/>
                    <a:p>
                      <a:endParaRPr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7" name="Table 6">
            <a:extLst>
              <a:ext uri="{FF2B5EF4-FFF2-40B4-BE49-F238E27FC236}">
                <a16:creationId xmlns:a16="http://schemas.microsoft.com/office/drawing/2014/main" id="{5EFDF016-341F-B4F3-58F7-F26A260468A6}"/>
              </a:ext>
            </a:extLst>
          </p:cNvPr>
          <p:cNvGraphicFramePr>
            <a:graphicFrameLocks noGrp="1"/>
          </p:cNvGraphicFramePr>
          <p:nvPr>
            <p:extLst>
              <p:ext uri="{D42A27DB-BD31-4B8C-83A1-F6EECF244321}">
                <p14:modId xmlns:p14="http://schemas.microsoft.com/office/powerpoint/2010/main" val="1782692177"/>
              </p:ext>
            </p:extLst>
          </p:nvPr>
        </p:nvGraphicFramePr>
        <p:xfrm>
          <a:off x="238963" y="5341714"/>
          <a:ext cx="11704925" cy="1278150"/>
        </p:xfrm>
        <a:graphic>
          <a:graphicData uri="http://schemas.openxmlformats.org/drawingml/2006/table">
            <a:tbl>
              <a:tblPr/>
              <a:tblGrid>
                <a:gridCol w="1249100">
                  <a:extLst>
                    <a:ext uri="{9D8B030D-6E8A-4147-A177-3AD203B41FA5}">
                      <a16:colId xmlns:a16="http://schemas.microsoft.com/office/drawing/2014/main" val="4144033618"/>
                    </a:ext>
                  </a:extLst>
                </a:gridCol>
                <a:gridCol w="1109115">
                  <a:extLst>
                    <a:ext uri="{9D8B030D-6E8A-4147-A177-3AD203B41FA5}">
                      <a16:colId xmlns:a16="http://schemas.microsoft.com/office/drawing/2014/main" val="2710662077"/>
                    </a:ext>
                  </a:extLst>
                </a:gridCol>
                <a:gridCol w="829145">
                  <a:extLst>
                    <a:ext uri="{9D8B030D-6E8A-4147-A177-3AD203B41FA5}">
                      <a16:colId xmlns:a16="http://schemas.microsoft.com/office/drawing/2014/main" val="3810854777"/>
                    </a:ext>
                  </a:extLst>
                </a:gridCol>
                <a:gridCol w="1270636">
                  <a:extLst>
                    <a:ext uri="{9D8B030D-6E8A-4147-A177-3AD203B41FA5}">
                      <a16:colId xmlns:a16="http://schemas.microsoft.com/office/drawing/2014/main" val="95352560"/>
                    </a:ext>
                  </a:extLst>
                </a:gridCol>
                <a:gridCol w="1249100">
                  <a:extLst>
                    <a:ext uri="{9D8B030D-6E8A-4147-A177-3AD203B41FA5}">
                      <a16:colId xmlns:a16="http://schemas.microsoft.com/office/drawing/2014/main" val="3482007332"/>
                    </a:ext>
                  </a:extLst>
                </a:gridCol>
                <a:gridCol w="904521">
                  <a:extLst>
                    <a:ext uri="{9D8B030D-6E8A-4147-A177-3AD203B41FA5}">
                      <a16:colId xmlns:a16="http://schemas.microsoft.com/office/drawing/2014/main" val="3780160470"/>
                    </a:ext>
                  </a:extLst>
                </a:gridCol>
                <a:gridCol w="1356780">
                  <a:extLst>
                    <a:ext uri="{9D8B030D-6E8A-4147-A177-3AD203B41FA5}">
                      <a16:colId xmlns:a16="http://schemas.microsoft.com/office/drawing/2014/main" val="4001841647"/>
                    </a:ext>
                  </a:extLst>
                </a:gridCol>
                <a:gridCol w="1162954">
                  <a:extLst>
                    <a:ext uri="{9D8B030D-6E8A-4147-A177-3AD203B41FA5}">
                      <a16:colId xmlns:a16="http://schemas.microsoft.com/office/drawing/2014/main" val="873345733"/>
                    </a:ext>
                  </a:extLst>
                </a:gridCol>
                <a:gridCol w="635317">
                  <a:extLst>
                    <a:ext uri="{9D8B030D-6E8A-4147-A177-3AD203B41FA5}">
                      <a16:colId xmlns:a16="http://schemas.microsoft.com/office/drawing/2014/main" val="983947984"/>
                    </a:ext>
                  </a:extLst>
                </a:gridCol>
                <a:gridCol w="1162954">
                  <a:extLst>
                    <a:ext uri="{9D8B030D-6E8A-4147-A177-3AD203B41FA5}">
                      <a16:colId xmlns:a16="http://schemas.microsoft.com/office/drawing/2014/main" val="3672483493"/>
                    </a:ext>
                  </a:extLst>
                </a:gridCol>
                <a:gridCol w="775303">
                  <a:extLst>
                    <a:ext uri="{9D8B030D-6E8A-4147-A177-3AD203B41FA5}">
                      <a16:colId xmlns:a16="http://schemas.microsoft.com/office/drawing/2014/main" val="1432498959"/>
                    </a:ext>
                  </a:extLst>
                </a:gridCol>
              </a:tblGrid>
              <a:tr h="213025">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213025">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 </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213025">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21302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21302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21302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3729668106"/>
      </p:ext>
    </p:extLst>
  </p:cSld>
  <p:clrMapOvr>
    <a:masterClrMapping/>
  </p:clrMapOvr>
  <p:transition spd="slow"/>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58DF3D-3B3B-3EC8-17A3-C6409792B2A5}"/>
            </a:ext>
          </a:extLst>
        </p:cNvPr>
        <p:cNvGrpSpPr/>
        <p:nvPr/>
      </p:nvGrpSpPr>
      <p:grpSpPr>
        <a:xfrm>
          <a:off x="0" y="0"/>
          <a:ext cx="0" cy="0"/>
          <a:chOff x="0" y="0"/>
          <a:chExt cx="0" cy="0"/>
        </a:xfrm>
      </p:grpSpPr>
      <p:sp>
        <p:nvSpPr>
          <p:cNvPr id="7" name="Title 1">
            <a:extLst>
              <a:ext uri="{FF2B5EF4-FFF2-40B4-BE49-F238E27FC236}">
                <a16:creationId xmlns:a16="http://schemas.microsoft.com/office/drawing/2014/main" id="{D5685E43-71BB-6C85-26B7-D0CA90B2A796}"/>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Beawar-Mandsaur TL </a:t>
            </a:r>
            <a:r>
              <a:rPr lang="en-US" sz="2400" b="1" dirty="0">
                <a:latin typeface="Calibri" panose="020F0502020204030204" pitchFamily="34" charset="0"/>
                <a:ea typeface="Calibri" panose="020F0502020204030204" pitchFamily="34" charset="0"/>
                <a:cs typeface="Calibri" panose="020F0502020204030204" pitchFamily="34" charset="0"/>
              </a:rPr>
              <a:t>(TA- 505)</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le 7">
            <a:extLst>
              <a:ext uri="{FF2B5EF4-FFF2-40B4-BE49-F238E27FC236}">
                <a16:creationId xmlns:a16="http://schemas.microsoft.com/office/drawing/2014/main" id="{669828AE-E494-AF13-7BBD-513458B01013}"/>
              </a:ext>
            </a:extLst>
          </p:cNvPr>
          <p:cNvGraphicFramePr>
            <a:graphicFrameLocks noGrp="1"/>
          </p:cNvGraphicFramePr>
          <p:nvPr>
            <p:extLst>
              <p:ext uri="{D42A27DB-BD31-4B8C-83A1-F6EECF244321}">
                <p14:modId xmlns:p14="http://schemas.microsoft.com/office/powerpoint/2010/main" val="2161323750"/>
              </p:ext>
            </p:extLst>
          </p:nvPr>
        </p:nvGraphicFramePr>
        <p:xfrm>
          <a:off x="238963" y="1234439"/>
          <a:ext cx="11705008" cy="300447"/>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300447">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9" name="Table 8">
            <a:extLst>
              <a:ext uri="{FF2B5EF4-FFF2-40B4-BE49-F238E27FC236}">
                <a16:creationId xmlns:a16="http://schemas.microsoft.com/office/drawing/2014/main" id="{8C18639A-FFEB-81A1-091F-3E45626BECA0}"/>
              </a:ext>
            </a:extLst>
          </p:cNvPr>
          <p:cNvGraphicFramePr>
            <a:graphicFrameLocks noGrp="1"/>
          </p:cNvGraphicFramePr>
          <p:nvPr>
            <p:extLst>
              <p:ext uri="{D42A27DB-BD31-4B8C-83A1-F6EECF244321}">
                <p14:modId xmlns:p14="http://schemas.microsoft.com/office/powerpoint/2010/main" val="2900326734"/>
              </p:ext>
            </p:extLst>
          </p:nvPr>
        </p:nvGraphicFramePr>
        <p:xfrm>
          <a:off x="257175" y="1535837"/>
          <a:ext cx="11705006" cy="5232700"/>
        </p:xfrm>
        <a:graphic>
          <a:graphicData uri="http://schemas.openxmlformats.org/drawingml/2006/table">
            <a:tbl>
              <a:tblPr/>
              <a:tblGrid>
                <a:gridCol w="847434">
                  <a:extLst>
                    <a:ext uri="{9D8B030D-6E8A-4147-A177-3AD203B41FA5}">
                      <a16:colId xmlns:a16="http://schemas.microsoft.com/office/drawing/2014/main" val="330956746"/>
                    </a:ext>
                  </a:extLst>
                </a:gridCol>
                <a:gridCol w="2215009">
                  <a:extLst>
                    <a:ext uri="{9D8B030D-6E8A-4147-A177-3AD203B41FA5}">
                      <a16:colId xmlns:a16="http://schemas.microsoft.com/office/drawing/2014/main" val="467016710"/>
                    </a:ext>
                  </a:extLst>
                </a:gridCol>
                <a:gridCol w="967214">
                  <a:extLst>
                    <a:ext uri="{9D8B030D-6E8A-4147-A177-3AD203B41FA5}">
                      <a16:colId xmlns:a16="http://schemas.microsoft.com/office/drawing/2014/main" val="2623573662"/>
                    </a:ext>
                  </a:extLst>
                </a:gridCol>
                <a:gridCol w="487016">
                  <a:extLst>
                    <a:ext uri="{9D8B030D-6E8A-4147-A177-3AD203B41FA5}">
                      <a16:colId xmlns:a16="http://schemas.microsoft.com/office/drawing/2014/main" val="3348155062"/>
                    </a:ext>
                  </a:extLst>
                </a:gridCol>
                <a:gridCol w="509788">
                  <a:extLst>
                    <a:ext uri="{9D8B030D-6E8A-4147-A177-3AD203B41FA5}">
                      <a16:colId xmlns:a16="http://schemas.microsoft.com/office/drawing/2014/main" val="3407175280"/>
                    </a:ext>
                  </a:extLst>
                </a:gridCol>
                <a:gridCol w="480163">
                  <a:extLst>
                    <a:ext uri="{9D8B030D-6E8A-4147-A177-3AD203B41FA5}">
                      <a16:colId xmlns:a16="http://schemas.microsoft.com/office/drawing/2014/main" val="3835865023"/>
                    </a:ext>
                  </a:extLst>
                </a:gridCol>
                <a:gridCol w="582223">
                  <a:extLst>
                    <a:ext uri="{9D8B030D-6E8A-4147-A177-3AD203B41FA5}">
                      <a16:colId xmlns:a16="http://schemas.microsoft.com/office/drawing/2014/main" val="566828642"/>
                    </a:ext>
                  </a:extLst>
                </a:gridCol>
                <a:gridCol w="417416">
                  <a:extLst>
                    <a:ext uri="{9D8B030D-6E8A-4147-A177-3AD203B41FA5}">
                      <a16:colId xmlns:a16="http://schemas.microsoft.com/office/drawing/2014/main" val="1087588403"/>
                    </a:ext>
                  </a:extLst>
                </a:gridCol>
                <a:gridCol w="493943">
                  <a:extLst>
                    <a:ext uri="{9D8B030D-6E8A-4147-A177-3AD203B41FA5}">
                      <a16:colId xmlns:a16="http://schemas.microsoft.com/office/drawing/2014/main" val="1978132890"/>
                    </a:ext>
                  </a:extLst>
                </a:gridCol>
                <a:gridCol w="530987">
                  <a:extLst>
                    <a:ext uri="{9D8B030D-6E8A-4147-A177-3AD203B41FA5}">
                      <a16:colId xmlns:a16="http://schemas.microsoft.com/office/drawing/2014/main" val="1472471097"/>
                    </a:ext>
                  </a:extLst>
                </a:gridCol>
                <a:gridCol w="530987">
                  <a:extLst>
                    <a:ext uri="{9D8B030D-6E8A-4147-A177-3AD203B41FA5}">
                      <a16:colId xmlns:a16="http://schemas.microsoft.com/office/drawing/2014/main" val="4151107971"/>
                    </a:ext>
                  </a:extLst>
                </a:gridCol>
                <a:gridCol w="518640">
                  <a:extLst>
                    <a:ext uri="{9D8B030D-6E8A-4147-A177-3AD203B41FA5}">
                      <a16:colId xmlns:a16="http://schemas.microsoft.com/office/drawing/2014/main" val="425587029"/>
                    </a:ext>
                  </a:extLst>
                </a:gridCol>
                <a:gridCol w="530987">
                  <a:extLst>
                    <a:ext uri="{9D8B030D-6E8A-4147-A177-3AD203B41FA5}">
                      <a16:colId xmlns:a16="http://schemas.microsoft.com/office/drawing/2014/main" val="2861279347"/>
                    </a:ext>
                  </a:extLst>
                </a:gridCol>
                <a:gridCol w="530987">
                  <a:extLst>
                    <a:ext uri="{9D8B030D-6E8A-4147-A177-3AD203B41FA5}">
                      <a16:colId xmlns:a16="http://schemas.microsoft.com/office/drawing/2014/main" val="470002717"/>
                    </a:ext>
                  </a:extLst>
                </a:gridCol>
                <a:gridCol w="518640">
                  <a:extLst>
                    <a:ext uri="{9D8B030D-6E8A-4147-A177-3AD203B41FA5}">
                      <a16:colId xmlns:a16="http://schemas.microsoft.com/office/drawing/2014/main" val="3542135224"/>
                    </a:ext>
                  </a:extLst>
                </a:gridCol>
                <a:gridCol w="506292">
                  <a:extLst>
                    <a:ext uri="{9D8B030D-6E8A-4147-A177-3AD203B41FA5}">
                      <a16:colId xmlns:a16="http://schemas.microsoft.com/office/drawing/2014/main" val="2066182156"/>
                    </a:ext>
                  </a:extLst>
                </a:gridCol>
                <a:gridCol w="518640">
                  <a:extLst>
                    <a:ext uri="{9D8B030D-6E8A-4147-A177-3AD203B41FA5}">
                      <a16:colId xmlns:a16="http://schemas.microsoft.com/office/drawing/2014/main" val="3474579885"/>
                    </a:ext>
                  </a:extLst>
                </a:gridCol>
                <a:gridCol w="518640">
                  <a:extLst>
                    <a:ext uri="{9D8B030D-6E8A-4147-A177-3AD203B41FA5}">
                      <a16:colId xmlns:a16="http://schemas.microsoft.com/office/drawing/2014/main" val="1602192749"/>
                    </a:ext>
                  </a:extLst>
                </a:gridCol>
              </a:tblGrid>
              <a:tr h="184630">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No. of month from NOA</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 Qty.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Upto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As on 01.05.26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Jul-26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Aug-26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Sep-26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Oct-26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Nov-26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Dec-26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Jan-27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Feb-27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Mar-27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341750030"/>
                  </a:ext>
                </a:extLst>
              </a:tr>
              <a:tr h="349258">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IN"/>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63433136"/>
                  </a:ext>
                </a:extLst>
              </a:tr>
              <a:tr h="184630">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4864030"/>
                  </a:ext>
                </a:extLst>
              </a:tr>
              <a:tr h="184630">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92204872"/>
                  </a:ext>
                </a:extLst>
              </a:tr>
              <a:tr h="184630">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8064827"/>
                  </a:ext>
                </a:extLst>
              </a:tr>
              <a:tr h="18463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31382125"/>
                  </a:ext>
                </a:extLst>
              </a:tr>
              <a:tr h="18463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Stubs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84174195"/>
                  </a:ext>
                </a:extLst>
              </a:tr>
              <a:tr h="18463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48442476"/>
                  </a:ext>
                </a:extLst>
              </a:tr>
              <a:tr h="184630">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794284895"/>
                  </a:ext>
                </a:extLst>
              </a:tr>
              <a:tr h="184630">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85639932"/>
                  </a:ext>
                </a:extLst>
              </a:tr>
              <a:tr h="184630">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48076848"/>
                  </a:ext>
                </a:extLst>
              </a:tr>
              <a:tr h="184630">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4915967"/>
                  </a:ext>
                </a:extLst>
              </a:tr>
              <a:tr h="184630">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76733000"/>
                  </a:ext>
                </a:extLst>
              </a:tr>
              <a:tr h="184630">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51575881"/>
                  </a:ext>
                </a:extLst>
              </a:tr>
              <a:tr h="184630">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Actual</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76095068"/>
                  </a:ext>
                </a:extLst>
              </a:tr>
              <a:tr h="184630">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3795312704"/>
                  </a:ext>
                </a:extLst>
              </a:tr>
              <a:tr h="184630">
                <a:tc rowSpan="11">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90037553"/>
                  </a:ext>
                </a:extLst>
              </a:tr>
              <a:tr h="184630">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47927932"/>
                  </a:ext>
                </a:extLst>
              </a:tr>
              <a:tr h="184630">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7137584"/>
                  </a:ext>
                </a:extLst>
              </a:tr>
              <a:tr h="184630">
                <a:tc vMerge="1">
                  <a:txBody>
                    <a:bodyPr/>
                    <a:lstStyle/>
                    <a:p>
                      <a:endParaRPr lang="en-US"/>
                    </a:p>
                  </a:txBody>
                  <a:tcPr/>
                </a:tc>
                <a:tc rowSpan="2">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TSE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53577170"/>
                  </a:ext>
                </a:extLst>
              </a:tr>
              <a:tr h="184630">
                <a:tc vMerge="1">
                  <a:txBody>
                    <a:bodyPr/>
                    <a:lstStyle/>
                    <a:p>
                      <a:endParaRPr lang="en-US"/>
                    </a:p>
                  </a:txBody>
                  <a:tcPr/>
                </a:tc>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Manual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87594838"/>
                  </a:ext>
                </a:extLst>
              </a:tr>
              <a:tr h="184630">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91423490"/>
                  </a:ext>
                </a:extLst>
              </a:tr>
              <a:tr h="184630">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31144415"/>
                  </a:ext>
                </a:extLst>
              </a:tr>
              <a:tr h="18463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59411858"/>
                  </a:ext>
                </a:extLst>
              </a:tr>
              <a:tr h="184630">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10348192"/>
                  </a:ext>
                </a:extLst>
              </a:tr>
              <a:tr h="184630">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71402620"/>
                  </a:ext>
                </a:extLst>
              </a:tr>
              <a:tr h="18463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06786991"/>
                  </a:ext>
                </a:extLst>
              </a:tr>
            </a:tbl>
          </a:graphicData>
        </a:graphic>
      </p:graphicFrame>
    </p:spTree>
    <p:extLst>
      <p:ext uri="{BB962C8B-B14F-4D97-AF65-F5344CB8AC3E}">
        <p14:creationId xmlns:p14="http://schemas.microsoft.com/office/powerpoint/2010/main" val="921534613"/>
      </p:ext>
    </p:extLst>
  </p:cSld>
  <p:clrMapOvr>
    <a:masterClrMapping/>
  </p:clrMapOvr>
  <p:transition spd="slow"/>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D45740-EABC-72A3-5F1D-B32FC64CA3BE}"/>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ECF73908-C2ED-5268-F819-7F6AAE943B86}"/>
              </a:ext>
            </a:extLst>
          </p:cNvPr>
          <p:cNvSpPr txBox="1"/>
          <p:nvPr/>
        </p:nvSpPr>
        <p:spPr>
          <a:xfrm>
            <a:off x="277207" y="1797784"/>
            <a:ext cx="11677650" cy="1631216"/>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pPr fontAlgn="ctr"/>
            <a:r>
              <a:rPr lang="en-IN" dirty="0">
                <a:latin typeface="Calibri" panose="020F0502020204030204" pitchFamily="34" charset="0"/>
                <a:ea typeface="Calibri" panose="020F0502020204030204" pitchFamily="34" charset="0"/>
                <a:cs typeface="Calibri" panose="020F0502020204030204" pitchFamily="34" charset="0"/>
              </a:rPr>
              <a:t> </a:t>
            </a:r>
            <a:endParaRPr lang="en-US" dirty="0">
              <a:latin typeface="Calibri" panose="020F0502020204030204" pitchFamily="34" charset="0"/>
              <a:ea typeface="Calibri" panose="020F0502020204030204" pitchFamily="34" charset="0"/>
              <a:cs typeface="Calibri" panose="020F0502020204030204" pitchFamily="34" charset="0"/>
            </a:endParaRPr>
          </a:p>
          <a:p>
            <a:pPr marL="228600" indent="-228600" fontAlgn="ctr">
              <a:buFont typeface="+mj-lt"/>
              <a:buAutoNum type="arabicPeriod"/>
            </a:pPr>
            <a:r>
              <a:rPr lang="en-US" dirty="0">
                <a:latin typeface="Calibri" panose="020F0502020204030204" pitchFamily="34" charset="0"/>
                <a:ea typeface="Calibri" panose="020F0502020204030204" pitchFamily="34" charset="0"/>
                <a:cs typeface="Calibri" panose="020F0502020204030204" pitchFamily="34" charset="0"/>
              </a:rPr>
              <a:t>Shutdown Bypass Cable Arrangement:  Required cables for shutdown bypass arrangement need to be arranged at the earliest to avoid stoppages during execution</a:t>
            </a:r>
          </a:p>
          <a:p>
            <a:pPr marL="228600" indent="-228600" fontAlgn="ctr">
              <a:buFont typeface="+mj-lt"/>
              <a:buAutoNum type="arabicPeriod"/>
            </a:pPr>
            <a:endParaRPr lang="en-US" sz="1400" dirty="0">
              <a:latin typeface="Calibri" panose="020F0502020204030204" pitchFamily="34" charset="0"/>
              <a:ea typeface="Calibri" panose="020F0502020204030204" pitchFamily="34" charset="0"/>
              <a:cs typeface="Calibri" panose="020F0502020204030204" pitchFamily="34" charset="0"/>
            </a:endParaRPr>
          </a:p>
          <a:p>
            <a:r>
              <a:rPr lang="en-US" sz="1400" dirty="0">
                <a:ea typeface="Calibri" panose="020F0502020204030204" pitchFamily="34" charset="0"/>
                <a:cs typeface="Calibri" panose="020F0502020204030204" pitchFamily="34" charset="0"/>
              </a:rPr>
              <a:t>	</a:t>
            </a:r>
            <a:endParaRPr lang="en-IN" sz="1400" dirty="0">
              <a:ea typeface="Calibri" panose="020F0502020204030204" pitchFamily="34" charset="0"/>
              <a:cs typeface="Calibri" panose="020F0502020204030204" pitchFamily="34" charset="0"/>
            </a:endParaRPr>
          </a:p>
        </p:txBody>
      </p:sp>
      <p:sp>
        <p:nvSpPr>
          <p:cNvPr id="7" name="Title 1">
            <a:extLst>
              <a:ext uri="{FF2B5EF4-FFF2-40B4-BE49-F238E27FC236}">
                <a16:creationId xmlns:a16="http://schemas.microsoft.com/office/drawing/2014/main" id="{81556433-C1F4-552A-48E4-F3021E2D78C0}"/>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Beawar-Mandsaur TL </a:t>
            </a:r>
            <a:r>
              <a:rPr lang="en-US" sz="2400" b="1" dirty="0">
                <a:latin typeface="Calibri" panose="020F0502020204030204" pitchFamily="34" charset="0"/>
                <a:ea typeface="Calibri" panose="020F0502020204030204" pitchFamily="34" charset="0"/>
                <a:cs typeface="Calibri" panose="020F0502020204030204" pitchFamily="34" charset="0"/>
              </a:rPr>
              <a:t>(TA- 505)</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le 7">
            <a:extLst>
              <a:ext uri="{FF2B5EF4-FFF2-40B4-BE49-F238E27FC236}">
                <a16:creationId xmlns:a16="http://schemas.microsoft.com/office/drawing/2014/main" id="{58857E27-7F8B-A19C-BF22-5D082AD38160}"/>
              </a:ext>
            </a:extLst>
          </p:cNvPr>
          <p:cNvGraphicFramePr>
            <a:graphicFrameLocks noGrp="1"/>
          </p:cNvGraphicFramePr>
          <p:nvPr>
            <p:extLst>
              <p:ext uri="{D42A27DB-BD31-4B8C-83A1-F6EECF244321}">
                <p14:modId xmlns:p14="http://schemas.microsoft.com/office/powerpoint/2010/main" val="1722742460"/>
              </p:ext>
            </p:extLst>
          </p:nvPr>
        </p:nvGraphicFramePr>
        <p:xfrm>
          <a:off x="249849" y="1234439"/>
          <a:ext cx="11705008" cy="333103"/>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333103">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22.07.2024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560 Cr</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21.06.2026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a:t>
                      </a:r>
                      <a:r>
                        <a:rPr lang="en-US" sz="1200" b="1" i="0" u="none" strike="noStrike" kern="1200"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30.09.26</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1208613043"/>
      </p:ext>
    </p:extLst>
  </p:cSld>
  <p:clrMapOvr>
    <a:masterClrMapping/>
  </p:clrMapOvr>
  <p:transition spd="slow"/>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A8E654-F9BA-87D0-F529-737F520FAC5F}"/>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1F97102F-5EBB-7391-7FFF-9DDB049B9658}"/>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TL01 - 400 KV D/C Sirohi - Chittorgarh TL </a:t>
            </a:r>
            <a:r>
              <a:rPr lang="en-US" sz="2400" b="1" dirty="0">
                <a:latin typeface="Calibri" panose="020F0502020204030204" pitchFamily="34" charset="0"/>
                <a:ea typeface="Calibri" panose="020F0502020204030204" pitchFamily="34" charset="0"/>
                <a:cs typeface="Calibri" panose="020F0502020204030204" pitchFamily="34" charset="0"/>
              </a:rPr>
              <a:t>(TA- 506)</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BA3BFAE6-563D-1E75-210A-0BAD32A48A34}"/>
              </a:ext>
            </a:extLst>
          </p:cNvPr>
          <p:cNvGraphicFramePr>
            <a:graphicFrameLocks noGrp="1"/>
          </p:cNvGraphicFramePr>
          <p:nvPr>
            <p:extLst>
              <p:ext uri="{D42A27DB-BD31-4B8C-83A1-F6EECF244321}">
                <p14:modId xmlns:p14="http://schemas.microsoft.com/office/powerpoint/2010/main" val="2452461578"/>
              </p:ext>
            </p:extLst>
          </p:nvPr>
        </p:nvGraphicFramePr>
        <p:xfrm>
          <a:off x="238963" y="1234440"/>
          <a:ext cx="11705008" cy="301752"/>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301752">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2" name="Table 1">
            <a:extLst>
              <a:ext uri="{FF2B5EF4-FFF2-40B4-BE49-F238E27FC236}">
                <a16:creationId xmlns:a16="http://schemas.microsoft.com/office/drawing/2014/main" id="{D0B5D6DA-46CE-35EB-B9F2-B2C576A56566}"/>
              </a:ext>
            </a:extLst>
          </p:cNvPr>
          <p:cNvGraphicFramePr>
            <a:graphicFrameLocks noGrp="1"/>
          </p:cNvGraphicFramePr>
          <p:nvPr>
            <p:extLst>
              <p:ext uri="{D42A27DB-BD31-4B8C-83A1-F6EECF244321}">
                <p14:modId xmlns:p14="http://schemas.microsoft.com/office/powerpoint/2010/main" val="3236920384"/>
              </p:ext>
            </p:extLst>
          </p:nvPr>
        </p:nvGraphicFramePr>
        <p:xfrm>
          <a:off x="243535" y="1565824"/>
          <a:ext cx="11695863" cy="3826597"/>
        </p:xfrm>
        <a:graphic>
          <a:graphicData uri="http://schemas.openxmlformats.org/drawingml/2006/table">
            <a:tbl>
              <a:tblPr/>
              <a:tblGrid>
                <a:gridCol w="1136282">
                  <a:extLst>
                    <a:ext uri="{9D8B030D-6E8A-4147-A177-3AD203B41FA5}">
                      <a16:colId xmlns:a16="http://schemas.microsoft.com/office/drawing/2014/main" val="3134568255"/>
                    </a:ext>
                  </a:extLst>
                </a:gridCol>
                <a:gridCol w="1005673">
                  <a:extLst>
                    <a:ext uri="{9D8B030D-6E8A-4147-A177-3AD203B41FA5}">
                      <a16:colId xmlns:a16="http://schemas.microsoft.com/office/drawing/2014/main" val="529650208"/>
                    </a:ext>
                  </a:extLst>
                </a:gridCol>
                <a:gridCol w="757521">
                  <a:extLst>
                    <a:ext uri="{9D8B030D-6E8A-4147-A177-3AD203B41FA5}">
                      <a16:colId xmlns:a16="http://schemas.microsoft.com/office/drawing/2014/main" val="92458083"/>
                    </a:ext>
                  </a:extLst>
                </a:gridCol>
                <a:gridCol w="770582">
                  <a:extLst>
                    <a:ext uri="{9D8B030D-6E8A-4147-A177-3AD203B41FA5}">
                      <a16:colId xmlns:a16="http://schemas.microsoft.com/office/drawing/2014/main" val="1261093951"/>
                    </a:ext>
                  </a:extLst>
                </a:gridCol>
                <a:gridCol w="757521">
                  <a:extLst>
                    <a:ext uri="{9D8B030D-6E8A-4147-A177-3AD203B41FA5}">
                      <a16:colId xmlns:a16="http://schemas.microsoft.com/office/drawing/2014/main" val="3845723164"/>
                    </a:ext>
                  </a:extLst>
                </a:gridCol>
                <a:gridCol w="822823">
                  <a:extLst>
                    <a:ext uri="{9D8B030D-6E8A-4147-A177-3AD203B41FA5}">
                      <a16:colId xmlns:a16="http://schemas.microsoft.com/office/drawing/2014/main" val="2426758173"/>
                    </a:ext>
                  </a:extLst>
                </a:gridCol>
                <a:gridCol w="822823">
                  <a:extLst>
                    <a:ext uri="{9D8B030D-6E8A-4147-A177-3AD203B41FA5}">
                      <a16:colId xmlns:a16="http://schemas.microsoft.com/office/drawing/2014/main" val="7475768"/>
                    </a:ext>
                  </a:extLst>
                </a:gridCol>
                <a:gridCol w="705279">
                  <a:extLst>
                    <a:ext uri="{9D8B030D-6E8A-4147-A177-3AD203B41FA5}">
                      <a16:colId xmlns:a16="http://schemas.microsoft.com/office/drawing/2014/main" val="2676474225"/>
                    </a:ext>
                  </a:extLst>
                </a:gridCol>
                <a:gridCol w="280800">
                  <a:extLst>
                    <a:ext uri="{9D8B030D-6E8A-4147-A177-3AD203B41FA5}">
                      <a16:colId xmlns:a16="http://schemas.microsoft.com/office/drawing/2014/main" val="3819434327"/>
                    </a:ext>
                  </a:extLst>
                </a:gridCol>
                <a:gridCol w="293872">
                  <a:extLst>
                    <a:ext uri="{9D8B030D-6E8A-4147-A177-3AD203B41FA5}">
                      <a16:colId xmlns:a16="http://schemas.microsoft.com/office/drawing/2014/main" val="955162046"/>
                    </a:ext>
                  </a:extLst>
                </a:gridCol>
                <a:gridCol w="400394">
                  <a:extLst>
                    <a:ext uri="{9D8B030D-6E8A-4147-A177-3AD203B41FA5}">
                      <a16:colId xmlns:a16="http://schemas.microsoft.com/office/drawing/2014/main" val="3306756722"/>
                    </a:ext>
                  </a:extLst>
                </a:gridCol>
                <a:gridCol w="304885">
                  <a:extLst>
                    <a:ext uri="{9D8B030D-6E8A-4147-A177-3AD203B41FA5}">
                      <a16:colId xmlns:a16="http://schemas.microsoft.com/office/drawing/2014/main" val="2665243281"/>
                    </a:ext>
                  </a:extLst>
                </a:gridCol>
                <a:gridCol w="160782">
                  <a:extLst>
                    <a:ext uri="{9D8B030D-6E8A-4147-A177-3AD203B41FA5}">
                      <a16:colId xmlns:a16="http://schemas.microsoft.com/office/drawing/2014/main" val="706361869"/>
                    </a:ext>
                  </a:extLst>
                </a:gridCol>
                <a:gridCol w="389467">
                  <a:extLst>
                    <a:ext uri="{9D8B030D-6E8A-4147-A177-3AD203B41FA5}">
                      <a16:colId xmlns:a16="http://schemas.microsoft.com/office/drawing/2014/main" val="3028042148"/>
                    </a:ext>
                  </a:extLst>
                </a:gridCol>
                <a:gridCol w="381000">
                  <a:extLst>
                    <a:ext uri="{9D8B030D-6E8A-4147-A177-3AD203B41FA5}">
                      <a16:colId xmlns:a16="http://schemas.microsoft.com/office/drawing/2014/main" val="3438594745"/>
                    </a:ext>
                  </a:extLst>
                </a:gridCol>
                <a:gridCol w="505283">
                  <a:extLst>
                    <a:ext uri="{9D8B030D-6E8A-4147-A177-3AD203B41FA5}">
                      <a16:colId xmlns:a16="http://schemas.microsoft.com/office/drawing/2014/main" val="2391851116"/>
                    </a:ext>
                  </a:extLst>
                </a:gridCol>
                <a:gridCol w="2200876">
                  <a:extLst>
                    <a:ext uri="{9D8B030D-6E8A-4147-A177-3AD203B41FA5}">
                      <a16:colId xmlns:a16="http://schemas.microsoft.com/office/drawing/2014/main" val="3502179738"/>
                    </a:ext>
                  </a:extLst>
                </a:gridCol>
              </a:tblGrid>
              <a:tr h="390850">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220883">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n-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dirty="0">
                          <a:solidFill>
                            <a:schemeClr val="tx1"/>
                          </a:solidFill>
                          <a:effectLst/>
                          <a:latin typeface="+mn-lt"/>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282441">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223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223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217448">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485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223020">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602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46</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197530">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223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53.725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179.432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39</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38</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282441">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231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97530">
                <a:tc gridSpan="17">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90850">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197530">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bg2">
                          <a:lumMod val="50000"/>
                        </a:schemeClr>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36286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12700" cap="flat" cmpd="sng" algn="ctr">
                      <a:solidFill>
                        <a:schemeClr val="bg2">
                          <a:lumMod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12700" cap="flat" cmpd="sng" algn="ctr">
                      <a:solidFill>
                        <a:schemeClr val="bg2">
                          <a:lumMod val="50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50000"/>
                        </a:schemeClr>
                      </a:solidFill>
                      <a:prstDash val="solid"/>
                      <a:round/>
                      <a:headEnd type="none" w="med" len="med"/>
                      <a:tailEnd type="none" w="med" len="med"/>
                    </a:lnT>
                    <a:lnB w="12700" cap="flat" cmpd="sng" algn="ctr">
                      <a:solidFill>
                        <a:schemeClr val="bg2">
                          <a:lumMod val="50000"/>
                        </a:schemeClr>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291956">
                <a:tc>
                  <a:txBody>
                    <a:bodyPr/>
                    <a:lstStyle/>
                    <a:p>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endParaRPr lang="en-IN"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endParaRPr lang="en-IN"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endParaRPr lang="en-IN"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endParaRPr lang="en-IN"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endParaRPr lang="en-IN"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endParaRPr lang="en-IN"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endParaRPr lang="en-IN"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endParaRPr lang="en-IN"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endParaRPr lang="en-IN"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IN"/>
                    </a:p>
                  </a:txBody>
                  <a:tcPr/>
                </a:tc>
                <a:tc gridSpan="2">
                  <a:txBody>
                    <a:bodyPr/>
                    <a:lstStyle/>
                    <a:p>
                      <a:endParaRPr lang="en-IN"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12700" cap="flat" cmpd="sng" algn="ctr">
                      <a:solidFill>
                        <a:schemeClr val="bg2">
                          <a:lumMod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IN"/>
                    </a:p>
                  </a:txBody>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12700" cap="flat" cmpd="sng" algn="ctr">
                      <a:solidFill>
                        <a:schemeClr val="bg2">
                          <a:lumMod val="50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50000"/>
                        </a:schemeClr>
                      </a:solidFill>
                      <a:prstDash val="solid"/>
                      <a:round/>
                      <a:headEnd type="none" w="med" len="med"/>
                      <a:tailEnd type="none" w="med" len="med"/>
                    </a:lnT>
                    <a:lnB w="12700" cap="flat" cmpd="sng" algn="ctr">
                      <a:solidFill>
                        <a:schemeClr val="bg2">
                          <a:lumMod val="50000"/>
                        </a:schemeClr>
                      </a:solidFill>
                      <a:prstDash val="solid"/>
                      <a:round/>
                      <a:headEnd type="none" w="med" len="med"/>
                      <a:tailEnd type="none" w="med" len="med"/>
                    </a:lnB>
                    <a:solidFill>
                      <a:schemeClr val="bg1"/>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1260041157"/>
                  </a:ext>
                </a:extLst>
              </a:tr>
              <a:tr h="170000">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12700" cap="flat" cmpd="sng" algn="ctr">
                      <a:solidFill>
                        <a:schemeClr val="bg2">
                          <a:lumMod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12700" cap="flat" cmpd="sng" algn="ctr">
                      <a:solidFill>
                        <a:schemeClr val="bg2">
                          <a:lumMod val="50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50000"/>
                        </a:schemeClr>
                      </a:solidFill>
                      <a:prstDash val="solid"/>
                      <a:round/>
                      <a:headEnd type="none" w="med" len="med"/>
                      <a:tailEnd type="none" w="med" len="med"/>
                    </a:lnT>
                    <a:lnB w="12700" cap="flat" cmpd="sng" algn="ctr">
                      <a:solidFill>
                        <a:schemeClr val="bg2">
                          <a:lumMod val="50000"/>
                        </a:schemeClr>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96488407"/>
                  </a:ext>
                </a:extLst>
              </a:tr>
              <a:tr h="18376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12700" cap="flat" cmpd="sng" algn="ctr">
                      <a:solidFill>
                        <a:schemeClr val="bg2">
                          <a:lumMod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12700" cap="flat" cmpd="sng" algn="ctr">
                      <a:solidFill>
                        <a:schemeClr val="bg2">
                          <a:lumMod val="50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50000"/>
                        </a:schemeClr>
                      </a:solidFill>
                      <a:prstDash val="solid"/>
                      <a:round/>
                      <a:headEnd type="none" w="med" len="med"/>
                      <a:tailEnd type="none" w="med" len="med"/>
                    </a:lnT>
                    <a:lnB w="12700" cap="flat" cmpd="sng" algn="ctr">
                      <a:solidFill>
                        <a:schemeClr val="bg2">
                          <a:lumMod val="50000"/>
                        </a:schemeClr>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19053964"/>
                  </a:ext>
                </a:extLst>
              </a:tr>
              <a:tr h="197530">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12700" cap="flat" cmpd="sng" algn="ctr">
                      <a:solidFill>
                        <a:schemeClr val="bg2">
                          <a:lumMod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12700" cap="flat" cmpd="sng" algn="ctr">
                      <a:solidFill>
                        <a:schemeClr val="bg2">
                          <a:lumMod val="50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3" name="Table 2">
            <a:extLst>
              <a:ext uri="{FF2B5EF4-FFF2-40B4-BE49-F238E27FC236}">
                <a16:creationId xmlns:a16="http://schemas.microsoft.com/office/drawing/2014/main" id="{02E154A6-0FD9-CE55-D9CB-A08EB54CBE77}"/>
              </a:ext>
            </a:extLst>
          </p:cNvPr>
          <p:cNvGraphicFramePr>
            <a:graphicFrameLocks noGrp="1"/>
          </p:cNvGraphicFramePr>
          <p:nvPr>
            <p:extLst>
              <p:ext uri="{D42A27DB-BD31-4B8C-83A1-F6EECF244321}">
                <p14:modId xmlns:p14="http://schemas.microsoft.com/office/powerpoint/2010/main" val="2068898174"/>
              </p:ext>
            </p:extLst>
          </p:nvPr>
        </p:nvGraphicFramePr>
        <p:xfrm>
          <a:off x="238962" y="5422053"/>
          <a:ext cx="11695863" cy="1325208"/>
        </p:xfrm>
        <a:graphic>
          <a:graphicData uri="http://schemas.openxmlformats.org/drawingml/2006/table">
            <a:tbl>
              <a:tblPr/>
              <a:tblGrid>
                <a:gridCol w="1248133">
                  <a:extLst>
                    <a:ext uri="{9D8B030D-6E8A-4147-A177-3AD203B41FA5}">
                      <a16:colId xmlns:a16="http://schemas.microsoft.com/office/drawing/2014/main" val="4144033618"/>
                    </a:ext>
                  </a:extLst>
                </a:gridCol>
                <a:gridCol w="1108256">
                  <a:extLst>
                    <a:ext uri="{9D8B030D-6E8A-4147-A177-3AD203B41FA5}">
                      <a16:colId xmlns:a16="http://schemas.microsoft.com/office/drawing/2014/main" val="2710662077"/>
                    </a:ext>
                  </a:extLst>
                </a:gridCol>
                <a:gridCol w="828503">
                  <a:extLst>
                    <a:ext uri="{9D8B030D-6E8A-4147-A177-3AD203B41FA5}">
                      <a16:colId xmlns:a16="http://schemas.microsoft.com/office/drawing/2014/main" val="3810854777"/>
                    </a:ext>
                  </a:extLst>
                </a:gridCol>
                <a:gridCol w="1269653">
                  <a:extLst>
                    <a:ext uri="{9D8B030D-6E8A-4147-A177-3AD203B41FA5}">
                      <a16:colId xmlns:a16="http://schemas.microsoft.com/office/drawing/2014/main" val="95352560"/>
                    </a:ext>
                  </a:extLst>
                </a:gridCol>
                <a:gridCol w="1248133">
                  <a:extLst>
                    <a:ext uri="{9D8B030D-6E8A-4147-A177-3AD203B41FA5}">
                      <a16:colId xmlns:a16="http://schemas.microsoft.com/office/drawing/2014/main" val="3482007332"/>
                    </a:ext>
                  </a:extLst>
                </a:gridCol>
                <a:gridCol w="903820">
                  <a:extLst>
                    <a:ext uri="{9D8B030D-6E8A-4147-A177-3AD203B41FA5}">
                      <a16:colId xmlns:a16="http://schemas.microsoft.com/office/drawing/2014/main" val="3780160470"/>
                    </a:ext>
                  </a:extLst>
                </a:gridCol>
                <a:gridCol w="1355730">
                  <a:extLst>
                    <a:ext uri="{9D8B030D-6E8A-4147-A177-3AD203B41FA5}">
                      <a16:colId xmlns:a16="http://schemas.microsoft.com/office/drawing/2014/main" val="4001841647"/>
                    </a:ext>
                  </a:extLst>
                </a:gridCol>
                <a:gridCol w="1162053">
                  <a:extLst>
                    <a:ext uri="{9D8B030D-6E8A-4147-A177-3AD203B41FA5}">
                      <a16:colId xmlns:a16="http://schemas.microsoft.com/office/drawing/2014/main" val="873345733"/>
                    </a:ext>
                  </a:extLst>
                </a:gridCol>
                <a:gridCol w="634826">
                  <a:extLst>
                    <a:ext uri="{9D8B030D-6E8A-4147-A177-3AD203B41FA5}">
                      <a16:colId xmlns:a16="http://schemas.microsoft.com/office/drawing/2014/main" val="983947984"/>
                    </a:ext>
                  </a:extLst>
                </a:gridCol>
                <a:gridCol w="1162053">
                  <a:extLst>
                    <a:ext uri="{9D8B030D-6E8A-4147-A177-3AD203B41FA5}">
                      <a16:colId xmlns:a16="http://schemas.microsoft.com/office/drawing/2014/main" val="3672483493"/>
                    </a:ext>
                  </a:extLst>
                </a:gridCol>
                <a:gridCol w="774703">
                  <a:extLst>
                    <a:ext uri="{9D8B030D-6E8A-4147-A177-3AD203B41FA5}">
                      <a16:colId xmlns:a16="http://schemas.microsoft.com/office/drawing/2014/main" val="1432498959"/>
                    </a:ext>
                  </a:extLst>
                </a:gridCol>
              </a:tblGrid>
              <a:tr h="220868">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220868">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220868">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220868">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220868">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220868">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3816657436"/>
      </p:ext>
    </p:extLst>
  </p:cSld>
  <p:clrMapOvr>
    <a:masterClrMapping/>
  </p:clrMapOvr>
  <p:transition spd="slow"/>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B47E4D-7618-5547-1E4D-B8312D89D040}"/>
            </a:ext>
          </a:extLst>
        </p:cNvPr>
        <p:cNvGrpSpPr/>
        <p:nvPr/>
      </p:nvGrpSpPr>
      <p:grpSpPr>
        <a:xfrm>
          <a:off x="0" y="0"/>
          <a:ext cx="0" cy="0"/>
          <a:chOff x="0" y="0"/>
          <a:chExt cx="0" cy="0"/>
        </a:xfrm>
      </p:grpSpPr>
      <p:sp>
        <p:nvSpPr>
          <p:cNvPr id="6" name="Title 1">
            <a:extLst>
              <a:ext uri="{FF2B5EF4-FFF2-40B4-BE49-F238E27FC236}">
                <a16:creationId xmlns:a16="http://schemas.microsoft.com/office/drawing/2014/main" id="{6248A183-8D99-93C9-8909-EE05BCFBEB7B}"/>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TL01 - 400 KV D/C Sirohi - Chittorgarh TL </a:t>
            </a:r>
            <a:r>
              <a:rPr lang="en-US" sz="2400" b="1" dirty="0">
                <a:latin typeface="Calibri" panose="020F0502020204030204" pitchFamily="34" charset="0"/>
                <a:ea typeface="Calibri" panose="020F0502020204030204" pitchFamily="34" charset="0"/>
                <a:cs typeface="Calibri" panose="020F0502020204030204" pitchFamily="34" charset="0"/>
              </a:rPr>
              <a:t>(TA- 506)</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7" name="Table 6">
            <a:extLst>
              <a:ext uri="{FF2B5EF4-FFF2-40B4-BE49-F238E27FC236}">
                <a16:creationId xmlns:a16="http://schemas.microsoft.com/office/drawing/2014/main" id="{09DD1EC2-673A-3E2C-FE01-0AA549F77AE8}"/>
              </a:ext>
            </a:extLst>
          </p:cNvPr>
          <p:cNvGraphicFramePr>
            <a:graphicFrameLocks noGrp="1"/>
          </p:cNvGraphicFramePr>
          <p:nvPr>
            <p:extLst>
              <p:ext uri="{D42A27DB-BD31-4B8C-83A1-F6EECF244321}">
                <p14:modId xmlns:p14="http://schemas.microsoft.com/office/powerpoint/2010/main" val="452627712"/>
              </p:ext>
            </p:extLst>
          </p:nvPr>
        </p:nvGraphicFramePr>
        <p:xfrm>
          <a:off x="238963" y="1234440"/>
          <a:ext cx="11705008" cy="265176"/>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65176">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9" name="Table 8">
            <a:extLst>
              <a:ext uri="{FF2B5EF4-FFF2-40B4-BE49-F238E27FC236}">
                <a16:creationId xmlns:a16="http://schemas.microsoft.com/office/drawing/2014/main" id="{44002CF7-3D13-4D9B-1208-787603F2EA63}"/>
              </a:ext>
            </a:extLst>
          </p:cNvPr>
          <p:cNvGraphicFramePr>
            <a:graphicFrameLocks noGrp="1"/>
          </p:cNvGraphicFramePr>
          <p:nvPr>
            <p:extLst>
              <p:ext uri="{D42A27DB-BD31-4B8C-83A1-F6EECF244321}">
                <p14:modId xmlns:p14="http://schemas.microsoft.com/office/powerpoint/2010/main" val="3692718978"/>
              </p:ext>
            </p:extLst>
          </p:nvPr>
        </p:nvGraphicFramePr>
        <p:xfrm>
          <a:off x="257175" y="1499616"/>
          <a:ext cx="11705009" cy="5272136"/>
        </p:xfrm>
        <a:graphic>
          <a:graphicData uri="http://schemas.openxmlformats.org/drawingml/2006/table">
            <a:tbl>
              <a:tblPr/>
              <a:tblGrid>
                <a:gridCol w="842884">
                  <a:extLst>
                    <a:ext uri="{9D8B030D-6E8A-4147-A177-3AD203B41FA5}">
                      <a16:colId xmlns:a16="http://schemas.microsoft.com/office/drawing/2014/main" val="330956746"/>
                    </a:ext>
                  </a:extLst>
                </a:gridCol>
                <a:gridCol w="2203117">
                  <a:extLst>
                    <a:ext uri="{9D8B030D-6E8A-4147-A177-3AD203B41FA5}">
                      <a16:colId xmlns:a16="http://schemas.microsoft.com/office/drawing/2014/main" val="467016710"/>
                    </a:ext>
                  </a:extLst>
                </a:gridCol>
                <a:gridCol w="891941">
                  <a:extLst>
                    <a:ext uri="{9D8B030D-6E8A-4147-A177-3AD203B41FA5}">
                      <a16:colId xmlns:a16="http://schemas.microsoft.com/office/drawing/2014/main" val="2623573662"/>
                    </a:ext>
                  </a:extLst>
                </a:gridCol>
                <a:gridCol w="446828">
                  <a:extLst>
                    <a:ext uri="{9D8B030D-6E8A-4147-A177-3AD203B41FA5}">
                      <a16:colId xmlns:a16="http://schemas.microsoft.com/office/drawing/2014/main" val="3348155062"/>
                    </a:ext>
                  </a:extLst>
                </a:gridCol>
                <a:gridCol w="540420">
                  <a:extLst>
                    <a:ext uri="{9D8B030D-6E8A-4147-A177-3AD203B41FA5}">
                      <a16:colId xmlns:a16="http://schemas.microsoft.com/office/drawing/2014/main" val="3407175280"/>
                    </a:ext>
                  </a:extLst>
                </a:gridCol>
                <a:gridCol w="540420">
                  <a:extLst>
                    <a:ext uri="{9D8B030D-6E8A-4147-A177-3AD203B41FA5}">
                      <a16:colId xmlns:a16="http://schemas.microsoft.com/office/drawing/2014/main" val="3835865023"/>
                    </a:ext>
                  </a:extLst>
                </a:gridCol>
                <a:gridCol w="669389">
                  <a:extLst>
                    <a:ext uri="{9D8B030D-6E8A-4147-A177-3AD203B41FA5}">
                      <a16:colId xmlns:a16="http://schemas.microsoft.com/office/drawing/2014/main" val="3427117421"/>
                    </a:ext>
                  </a:extLst>
                </a:gridCol>
                <a:gridCol w="399168">
                  <a:extLst>
                    <a:ext uri="{9D8B030D-6E8A-4147-A177-3AD203B41FA5}">
                      <a16:colId xmlns:a16="http://schemas.microsoft.com/office/drawing/2014/main" val="1087588403"/>
                    </a:ext>
                  </a:extLst>
                </a:gridCol>
                <a:gridCol w="491291">
                  <a:extLst>
                    <a:ext uri="{9D8B030D-6E8A-4147-A177-3AD203B41FA5}">
                      <a16:colId xmlns:a16="http://schemas.microsoft.com/office/drawing/2014/main" val="1978132890"/>
                    </a:ext>
                  </a:extLst>
                </a:gridCol>
                <a:gridCol w="528137">
                  <a:extLst>
                    <a:ext uri="{9D8B030D-6E8A-4147-A177-3AD203B41FA5}">
                      <a16:colId xmlns:a16="http://schemas.microsoft.com/office/drawing/2014/main" val="1472471097"/>
                    </a:ext>
                  </a:extLst>
                </a:gridCol>
                <a:gridCol w="528137">
                  <a:extLst>
                    <a:ext uri="{9D8B030D-6E8A-4147-A177-3AD203B41FA5}">
                      <a16:colId xmlns:a16="http://schemas.microsoft.com/office/drawing/2014/main" val="4151107971"/>
                    </a:ext>
                  </a:extLst>
                </a:gridCol>
                <a:gridCol w="515857">
                  <a:extLst>
                    <a:ext uri="{9D8B030D-6E8A-4147-A177-3AD203B41FA5}">
                      <a16:colId xmlns:a16="http://schemas.microsoft.com/office/drawing/2014/main" val="425587029"/>
                    </a:ext>
                  </a:extLst>
                </a:gridCol>
                <a:gridCol w="528137">
                  <a:extLst>
                    <a:ext uri="{9D8B030D-6E8A-4147-A177-3AD203B41FA5}">
                      <a16:colId xmlns:a16="http://schemas.microsoft.com/office/drawing/2014/main" val="2861279347"/>
                    </a:ext>
                  </a:extLst>
                </a:gridCol>
                <a:gridCol w="528137">
                  <a:extLst>
                    <a:ext uri="{9D8B030D-6E8A-4147-A177-3AD203B41FA5}">
                      <a16:colId xmlns:a16="http://schemas.microsoft.com/office/drawing/2014/main" val="470002717"/>
                    </a:ext>
                  </a:extLst>
                </a:gridCol>
                <a:gridCol w="515857">
                  <a:extLst>
                    <a:ext uri="{9D8B030D-6E8A-4147-A177-3AD203B41FA5}">
                      <a16:colId xmlns:a16="http://schemas.microsoft.com/office/drawing/2014/main" val="3542135224"/>
                    </a:ext>
                  </a:extLst>
                </a:gridCol>
                <a:gridCol w="503575">
                  <a:extLst>
                    <a:ext uri="{9D8B030D-6E8A-4147-A177-3AD203B41FA5}">
                      <a16:colId xmlns:a16="http://schemas.microsoft.com/office/drawing/2014/main" val="2066182156"/>
                    </a:ext>
                  </a:extLst>
                </a:gridCol>
                <a:gridCol w="515857">
                  <a:extLst>
                    <a:ext uri="{9D8B030D-6E8A-4147-A177-3AD203B41FA5}">
                      <a16:colId xmlns:a16="http://schemas.microsoft.com/office/drawing/2014/main" val="3474579885"/>
                    </a:ext>
                  </a:extLst>
                </a:gridCol>
                <a:gridCol w="515857">
                  <a:extLst>
                    <a:ext uri="{9D8B030D-6E8A-4147-A177-3AD203B41FA5}">
                      <a16:colId xmlns:a16="http://schemas.microsoft.com/office/drawing/2014/main" val="1602192749"/>
                    </a:ext>
                  </a:extLst>
                </a:gridCol>
              </a:tblGrid>
              <a:tr h="161886">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No. of month from NOA</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Qty.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Upto</a:t>
                      </a: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As on 01.05.26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Jul-26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Aug-26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Sep-26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Oct-26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Nov-26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Dec-26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Jan-27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Feb-27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Mar-27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341750030"/>
                  </a:ext>
                </a:extLst>
              </a:tr>
              <a:tr h="231513">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IN"/>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63433136"/>
                  </a:ext>
                </a:extLst>
              </a:tr>
              <a:tr h="180698">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4864030"/>
                  </a:ext>
                </a:extLst>
              </a:tr>
              <a:tr h="161886">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92204872"/>
                  </a:ext>
                </a:extLst>
              </a:tr>
              <a:tr h="161886">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algn="ctr" defTabSz="914400" rtl="0" eaLnBrk="1" fontAlgn="ctr" latinLnBrk="0" hangingPunct="1">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8064827"/>
                  </a:ext>
                </a:extLst>
              </a:tr>
              <a:tr h="161886">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31382125"/>
                  </a:ext>
                </a:extLst>
              </a:tr>
              <a:tr h="161886">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Stubs Supply 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84174195"/>
                  </a:ext>
                </a:extLst>
              </a:tr>
              <a:tr h="161886">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 Supply Actual</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48442476"/>
                  </a:ext>
                </a:extLst>
              </a:tr>
              <a:tr h="161886">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794284895"/>
                  </a:ext>
                </a:extLst>
              </a:tr>
              <a:tr h="161886">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85639932"/>
                  </a:ext>
                </a:extLst>
              </a:tr>
              <a:tr h="161886">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48076848"/>
                  </a:ext>
                </a:extLst>
              </a:tr>
              <a:tr h="161886">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4915967"/>
                  </a:ext>
                </a:extLst>
              </a:tr>
              <a:tr h="161886">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76733000"/>
                  </a:ext>
                </a:extLst>
              </a:tr>
              <a:tr h="161886">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51575881"/>
                  </a:ext>
                </a:extLst>
              </a:tr>
              <a:tr h="161886">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Actual</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76095068"/>
                  </a:ext>
                </a:extLst>
              </a:tr>
              <a:tr h="161886">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3795312704"/>
                  </a:ext>
                </a:extLst>
              </a:tr>
              <a:tr h="161886">
                <a:tc rowSpan="11">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90037553"/>
                  </a:ext>
                </a:extLst>
              </a:tr>
              <a:tr h="161886">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47927932"/>
                  </a:ext>
                </a:extLst>
              </a:tr>
              <a:tr h="72249">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7137584"/>
                  </a:ext>
                </a:extLst>
              </a:tr>
              <a:tr h="161886">
                <a:tc vMerge="1">
                  <a:txBody>
                    <a:bodyPr/>
                    <a:lstStyle/>
                    <a:p>
                      <a:endParaRPr lang="en-US"/>
                    </a:p>
                  </a:txBody>
                  <a:tcPr/>
                </a:tc>
                <a:tc rowSpan="2">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TSE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53577170"/>
                  </a:ext>
                </a:extLst>
              </a:tr>
              <a:tr h="161886">
                <a:tc vMerge="1">
                  <a:txBody>
                    <a:bodyPr/>
                    <a:lstStyle/>
                    <a:p>
                      <a:endParaRPr lang="en-US"/>
                    </a:p>
                  </a:txBody>
                  <a:tcPr/>
                </a:tc>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Manual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87594838"/>
                  </a:ext>
                </a:extLst>
              </a:tr>
              <a:tr h="226626">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91423490"/>
                  </a:ext>
                </a:extLst>
              </a:tr>
              <a:tr h="161886">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Actual</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31144415"/>
                  </a:ext>
                </a:extLst>
              </a:tr>
              <a:tr h="161886">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59411858"/>
                  </a:ext>
                </a:extLst>
              </a:tr>
              <a:tr h="161886">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Actual</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10348192"/>
                  </a:ext>
                </a:extLst>
              </a:tr>
              <a:tr h="161886">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71402620"/>
                  </a:ext>
                </a:extLst>
              </a:tr>
              <a:tr h="161886">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Actual</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06786991"/>
                  </a:ext>
                </a:extLst>
              </a:tr>
            </a:tbl>
          </a:graphicData>
        </a:graphic>
      </p:graphicFrame>
    </p:spTree>
    <p:extLst>
      <p:ext uri="{BB962C8B-B14F-4D97-AF65-F5344CB8AC3E}">
        <p14:creationId xmlns:p14="http://schemas.microsoft.com/office/powerpoint/2010/main" val="1226881996"/>
      </p:ext>
    </p:extLst>
  </p:cSld>
  <p:clrMapOvr>
    <a:masterClrMapping/>
  </p:clrMapOvr>
  <p:transition spd="slow"/>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D55DCB-220C-DD4D-6A69-19318640710D}"/>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618EC843-BE92-A4C8-3344-41DA2265DEFE}"/>
              </a:ext>
            </a:extLst>
          </p:cNvPr>
          <p:cNvSpPr txBox="1"/>
          <p:nvPr/>
        </p:nvSpPr>
        <p:spPr>
          <a:xfrm>
            <a:off x="257175" y="1643634"/>
            <a:ext cx="11677650" cy="2862322"/>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endParaRPr lang="en-US"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1. Need to expedite clearance of ROW/HOLD locations </a:t>
            </a:r>
            <a:r>
              <a:rPr lang="en-IN" dirty="0">
                <a:latin typeface="Calibri" panose="020F0502020204030204" pitchFamily="34" charset="0"/>
                <a:ea typeface="Calibri" panose="020F0502020204030204" pitchFamily="34" charset="0"/>
                <a:cs typeface="Calibri" panose="020F0502020204030204" pitchFamily="34" charset="0"/>
              </a:rPr>
              <a:t>(</a:t>
            </a:r>
            <a:r>
              <a:rPr lang="en-US" dirty="0">
                <a:latin typeface="Calibri" panose="020F0502020204030204" pitchFamily="34" charset="0"/>
                <a:ea typeface="Calibri" panose="020F0502020204030204" pitchFamily="34" charset="0"/>
                <a:cs typeface="Calibri" panose="020F0502020204030204" pitchFamily="34" charset="0"/>
              </a:rPr>
              <a:t>Forest HOLD-15 Udaipur Region Nos, Statutory clearences-21, ROW-28, Route change HOLD-4) due to this 21KM affected</a:t>
            </a:r>
          </a:p>
          <a:p>
            <a:pPr marL="342900" indent="-342900">
              <a:buAutoNum type="arabicPeriod"/>
            </a:pPr>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2. Required RC/ULE 17 </a:t>
            </a:r>
            <a:r>
              <a:rPr lang="en-US" dirty="0" err="1">
                <a:latin typeface="Calibri" panose="020F0502020204030204" pitchFamily="34" charset="0"/>
                <a:ea typeface="Calibri" panose="020F0502020204030204" pitchFamily="34" charset="0"/>
                <a:cs typeface="Calibri" panose="020F0502020204030204" pitchFamily="34" charset="0"/>
              </a:rPr>
              <a:t>nos</a:t>
            </a:r>
            <a:r>
              <a:rPr lang="en-US" dirty="0">
                <a:latin typeface="Calibri" panose="020F0502020204030204" pitchFamily="34" charset="0"/>
                <a:ea typeface="Calibri" panose="020F0502020204030204" pitchFamily="34" charset="0"/>
                <a:cs typeface="Calibri" panose="020F0502020204030204" pitchFamily="34" charset="0"/>
              </a:rPr>
              <a:t> affecting 25 locations</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3. Design of Strengthening X-Arm locations required (4 out of 15) – details shared with </a:t>
            </a:r>
            <a:r>
              <a:rPr lang="en-US" dirty="0" err="1">
                <a:latin typeface="Calibri" panose="020F0502020204030204" pitchFamily="34" charset="0"/>
                <a:ea typeface="Calibri" panose="020F0502020204030204" pitchFamily="34" charset="0"/>
                <a:cs typeface="Calibri" panose="020F0502020204030204" pitchFamily="34" charset="0"/>
              </a:rPr>
              <a:t>Engg</a:t>
            </a:r>
            <a:r>
              <a:rPr lang="en-US" dirty="0">
                <a:latin typeface="Calibri" panose="020F0502020204030204" pitchFamily="34" charset="0"/>
                <a:ea typeface="Calibri" panose="020F0502020204030204" pitchFamily="34" charset="0"/>
                <a:cs typeface="Calibri" panose="020F0502020204030204" pitchFamily="34" charset="0"/>
              </a:rPr>
              <a:t>. Dept</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4. </a:t>
            </a:r>
            <a:r>
              <a:rPr lang="en-IN" dirty="0">
                <a:latin typeface="Calibri" panose="020F0502020204030204" pitchFamily="34" charset="0"/>
                <a:ea typeface="Calibri" panose="020F0502020204030204" pitchFamily="34" charset="0"/>
                <a:cs typeface="Calibri" panose="020F0502020204030204" pitchFamily="34" charset="0"/>
              </a:rPr>
              <a:t>NH Crossings-08 Nos approval still pending</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7" name="Title 1">
            <a:extLst>
              <a:ext uri="{FF2B5EF4-FFF2-40B4-BE49-F238E27FC236}">
                <a16:creationId xmlns:a16="http://schemas.microsoft.com/office/drawing/2014/main" id="{F8B3723F-D09C-1874-1E99-FEA3DE6B0BAC}"/>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TL01 - 400 KV D/C Sirohi - Chittorgarh TL </a:t>
            </a:r>
            <a:r>
              <a:rPr lang="en-US" sz="2400" b="1" dirty="0">
                <a:latin typeface="Calibri" panose="020F0502020204030204" pitchFamily="34" charset="0"/>
                <a:ea typeface="Calibri" panose="020F0502020204030204" pitchFamily="34" charset="0"/>
                <a:cs typeface="Calibri" panose="020F0502020204030204" pitchFamily="34" charset="0"/>
              </a:rPr>
              <a:t>(TA- 506)</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le 7">
            <a:extLst>
              <a:ext uri="{FF2B5EF4-FFF2-40B4-BE49-F238E27FC236}">
                <a16:creationId xmlns:a16="http://schemas.microsoft.com/office/drawing/2014/main" id="{7E732805-D80C-0604-D44C-AFC11F5A1BA5}"/>
              </a:ext>
            </a:extLst>
          </p:cNvPr>
          <p:cNvGraphicFramePr>
            <a:graphicFrameLocks noGrp="1"/>
          </p:cNvGraphicFramePr>
          <p:nvPr/>
        </p:nvGraphicFramePr>
        <p:xfrm>
          <a:off x="238963" y="1234440"/>
          <a:ext cx="11705008" cy="292608"/>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92608">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08/04/25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592</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Aug’26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Oct’26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2569050133"/>
      </p:ext>
    </p:extLst>
  </p:cSld>
  <p:clrMapOvr>
    <a:masterClrMapping/>
  </p:clrMapOvr>
  <p:transition spd="slow"/>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A99F7F-3474-D933-E70A-99D6AE6CDA3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4DE7A85-2324-BBB5-2AE2-ABEDB475B183}"/>
              </a:ext>
            </a:extLst>
          </p:cNvPr>
          <p:cNvSpPr>
            <a:spLocks noGrp="1"/>
          </p:cNvSpPr>
          <p:nvPr>
            <p:ph type="title"/>
          </p:nvPr>
        </p:nvSpPr>
        <p:spPr>
          <a:xfrm>
            <a:off x="275311" y="3429000"/>
            <a:ext cx="11676203" cy="551809"/>
          </a:xfrm>
        </p:spPr>
        <p:txBody>
          <a:bodyPr>
            <a:normAutofit fontScale="90000"/>
          </a:bodyPr>
          <a:lstStyle/>
          <a:p>
            <a:pPr algn="ctr"/>
            <a:r>
              <a:rPr lang="en-IN" dirty="0">
                <a:latin typeface="Calibri" panose="020F0502020204030204" pitchFamily="34" charset="0"/>
                <a:ea typeface="Calibri" panose="020F0502020204030204" pitchFamily="34" charset="0"/>
                <a:cs typeface="Calibri" panose="020F0502020204030204" pitchFamily="34" charset="0"/>
              </a:rPr>
              <a:t>Northern  Region(NR-I) </a:t>
            </a:r>
          </a:p>
        </p:txBody>
      </p:sp>
    </p:spTree>
    <p:extLst>
      <p:ext uri="{BB962C8B-B14F-4D97-AF65-F5344CB8AC3E}">
        <p14:creationId xmlns:p14="http://schemas.microsoft.com/office/powerpoint/2010/main" val="1446850230"/>
      </p:ext>
    </p:extLst>
  </p:cSld>
  <p:clrMapOvr>
    <a:masterClrMapping/>
  </p:clrMapOvr>
  <p:transition spd="slow"/>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8C4FE5-4514-82AA-0E15-D3911C3F9684}"/>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2AC93765-A79A-1ED3-1B90-8F1CA216DD85}"/>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TL02 - 765KV D/C Sikar II – Narela</a:t>
            </a:r>
            <a:r>
              <a:rPr lang="en-US" sz="2400" b="1" dirty="0">
                <a:latin typeface="Calibri" panose="020F0502020204030204" pitchFamily="34" charset="0"/>
                <a:ea typeface="Calibri" panose="020F0502020204030204" pitchFamily="34" charset="0"/>
                <a:cs typeface="Calibri" panose="020F0502020204030204" pitchFamily="34" charset="0"/>
              </a:rPr>
              <a:t> (TA- 419)</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1B821277-519D-6DF0-D0AB-0DFD2AD2EC26}"/>
              </a:ext>
            </a:extLst>
          </p:cNvPr>
          <p:cNvGraphicFramePr>
            <a:graphicFrameLocks noGrp="1"/>
          </p:cNvGraphicFramePr>
          <p:nvPr>
            <p:extLst>
              <p:ext uri="{D42A27DB-BD31-4B8C-83A1-F6EECF244321}">
                <p14:modId xmlns:p14="http://schemas.microsoft.com/office/powerpoint/2010/main" val="440468478"/>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06/02/2024</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05/05/2025</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2" name="Table 1">
            <a:extLst>
              <a:ext uri="{FF2B5EF4-FFF2-40B4-BE49-F238E27FC236}">
                <a16:creationId xmlns:a16="http://schemas.microsoft.com/office/drawing/2014/main" id="{F4AB2769-8436-EB7B-D273-39ACFA3ABE53}"/>
              </a:ext>
            </a:extLst>
          </p:cNvPr>
          <p:cNvGraphicFramePr>
            <a:graphicFrameLocks noGrp="1"/>
          </p:cNvGraphicFramePr>
          <p:nvPr>
            <p:extLst>
              <p:ext uri="{D42A27DB-BD31-4B8C-83A1-F6EECF244321}">
                <p14:modId xmlns:p14="http://schemas.microsoft.com/office/powerpoint/2010/main" val="3059442396"/>
              </p:ext>
            </p:extLst>
          </p:nvPr>
        </p:nvGraphicFramePr>
        <p:xfrm>
          <a:off x="257175" y="1472185"/>
          <a:ext cx="11737224" cy="3693477"/>
        </p:xfrm>
        <a:graphic>
          <a:graphicData uri="http://schemas.openxmlformats.org/drawingml/2006/table">
            <a:tbl>
              <a:tblPr/>
              <a:tblGrid>
                <a:gridCol w="1140300">
                  <a:extLst>
                    <a:ext uri="{9D8B030D-6E8A-4147-A177-3AD203B41FA5}">
                      <a16:colId xmlns:a16="http://schemas.microsoft.com/office/drawing/2014/main" val="3134568255"/>
                    </a:ext>
                  </a:extLst>
                </a:gridCol>
                <a:gridCol w="1009230">
                  <a:extLst>
                    <a:ext uri="{9D8B030D-6E8A-4147-A177-3AD203B41FA5}">
                      <a16:colId xmlns:a16="http://schemas.microsoft.com/office/drawing/2014/main" val="529650208"/>
                    </a:ext>
                  </a:extLst>
                </a:gridCol>
                <a:gridCol w="760200">
                  <a:extLst>
                    <a:ext uri="{9D8B030D-6E8A-4147-A177-3AD203B41FA5}">
                      <a16:colId xmlns:a16="http://schemas.microsoft.com/office/drawing/2014/main" val="92458083"/>
                    </a:ext>
                  </a:extLst>
                </a:gridCol>
                <a:gridCol w="773307">
                  <a:extLst>
                    <a:ext uri="{9D8B030D-6E8A-4147-A177-3AD203B41FA5}">
                      <a16:colId xmlns:a16="http://schemas.microsoft.com/office/drawing/2014/main" val="1261093951"/>
                    </a:ext>
                  </a:extLst>
                </a:gridCol>
                <a:gridCol w="760200">
                  <a:extLst>
                    <a:ext uri="{9D8B030D-6E8A-4147-A177-3AD203B41FA5}">
                      <a16:colId xmlns:a16="http://schemas.microsoft.com/office/drawing/2014/main" val="3845723164"/>
                    </a:ext>
                  </a:extLst>
                </a:gridCol>
                <a:gridCol w="825733">
                  <a:extLst>
                    <a:ext uri="{9D8B030D-6E8A-4147-A177-3AD203B41FA5}">
                      <a16:colId xmlns:a16="http://schemas.microsoft.com/office/drawing/2014/main" val="2426758173"/>
                    </a:ext>
                  </a:extLst>
                </a:gridCol>
                <a:gridCol w="825733">
                  <a:extLst>
                    <a:ext uri="{9D8B030D-6E8A-4147-A177-3AD203B41FA5}">
                      <a16:colId xmlns:a16="http://schemas.microsoft.com/office/drawing/2014/main" val="7475768"/>
                    </a:ext>
                  </a:extLst>
                </a:gridCol>
                <a:gridCol w="707773">
                  <a:extLst>
                    <a:ext uri="{9D8B030D-6E8A-4147-A177-3AD203B41FA5}">
                      <a16:colId xmlns:a16="http://schemas.microsoft.com/office/drawing/2014/main" val="2676474225"/>
                    </a:ext>
                  </a:extLst>
                </a:gridCol>
                <a:gridCol w="173253">
                  <a:extLst>
                    <a:ext uri="{9D8B030D-6E8A-4147-A177-3AD203B41FA5}">
                      <a16:colId xmlns:a16="http://schemas.microsoft.com/office/drawing/2014/main" val="3819434327"/>
                    </a:ext>
                  </a:extLst>
                </a:gridCol>
                <a:gridCol w="403451">
                  <a:extLst>
                    <a:ext uri="{9D8B030D-6E8A-4147-A177-3AD203B41FA5}">
                      <a16:colId xmlns:a16="http://schemas.microsoft.com/office/drawing/2014/main" val="1716281981"/>
                    </a:ext>
                  </a:extLst>
                </a:gridCol>
                <a:gridCol w="273205">
                  <a:extLst>
                    <a:ext uri="{9D8B030D-6E8A-4147-A177-3AD203B41FA5}">
                      <a16:colId xmlns:a16="http://schemas.microsoft.com/office/drawing/2014/main" val="3306756722"/>
                    </a:ext>
                  </a:extLst>
                </a:gridCol>
                <a:gridCol w="434568">
                  <a:extLst>
                    <a:ext uri="{9D8B030D-6E8A-4147-A177-3AD203B41FA5}">
                      <a16:colId xmlns:a16="http://schemas.microsoft.com/office/drawing/2014/main" val="1947191630"/>
                    </a:ext>
                  </a:extLst>
                </a:gridCol>
                <a:gridCol w="507264">
                  <a:extLst>
                    <a:ext uri="{9D8B030D-6E8A-4147-A177-3AD203B41FA5}">
                      <a16:colId xmlns:a16="http://schemas.microsoft.com/office/drawing/2014/main" val="706361869"/>
                    </a:ext>
                  </a:extLst>
                </a:gridCol>
                <a:gridCol w="502920">
                  <a:extLst>
                    <a:ext uri="{9D8B030D-6E8A-4147-A177-3AD203B41FA5}">
                      <a16:colId xmlns:a16="http://schemas.microsoft.com/office/drawing/2014/main" val="3438594745"/>
                    </a:ext>
                  </a:extLst>
                </a:gridCol>
                <a:gridCol w="749808">
                  <a:extLst>
                    <a:ext uri="{9D8B030D-6E8A-4147-A177-3AD203B41FA5}">
                      <a16:colId xmlns:a16="http://schemas.microsoft.com/office/drawing/2014/main" val="2391851116"/>
                    </a:ext>
                  </a:extLst>
                </a:gridCol>
                <a:gridCol w="1890279">
                  <a:extLst>
                    <a:ext uri="{9D8B030D-6E8A-4147-A177-3AD203B41FA5}">
                      <a16:colId xmlns:a16="http://schemas.microsoft.com/office/drawing/2014/main" val="3502179738"/>
                    </a:ext>
                  </a:extLst>
                </a:gridCol>
              </a:tblGrid>
              <a:tr h="259539">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131168">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n-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t">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19535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120.21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122.071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121.071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226886">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322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330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249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45</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35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467769">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322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330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7</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30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131168">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120.21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122.071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122.071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19535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120.21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122.071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122.071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31168">
                <a:tc gridSpan="1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259539">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4">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15027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330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322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328</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131168">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330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322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325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HORCL Approval Pending(Tower Type may change)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131168">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4432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4370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4369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495535454"/>
                  </a:ext>
                </a:extLst>
              </a:tr>
              <a:tr h="131168">
                <a:tc>
                  <a:txBody>
                    <a:bodyPr/>
                    <a:lstStyle/>
                    <a:p>
                      <a:pPr algn="l" fontAlgn="ctr">
                        <a:buNone/>
                      </a:pPr>
                      <a:r>
                        <a:rPr lang="en-US"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120.6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120.75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96488407"/>
                  </a:ext>
                </a:extLst>
              </a:tr>
              <a:tr h="131168">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19053964"/>
                  </a:ext>
                </a:extLst>
              </a:tr>
              <a:tr h="131168">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005780108"/>
                  </a:ext>
                </a:extLst>
              </a:tr>
              <a:tr h="131168">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6" name="Table 5">
            <a:extLst>
              <a:ext uri="{FF2B5EF4-FFF2-40B4-BE49-F238E27FC236}">
                <a16:creationId xmlns:a16="http://schemas.microsoft.com/office/drawing/2014/main" id="{10419476-CAAD-7210-0C12-4BBE99C62E9B}"/>
              </a:ext>
            </a:extLst>
          </p:cNvPr>
          <p:cNvGraphicFramePr>
            <a:graphicFrameLocks noGrp="1"/>
          </p:cNvGraphicFramePr>
          <p:nvPr>
            <p:extLst>
              <p:ext uri="{D42A27DB-BD31-4B8C-83A1-F6EECF244321}">
                <p14:modId xmlns:p14="http://schemas.microsoft.com/office/powerpoint/2010/main" val="4042711825"/>
              </p:ext>
            </p:extLst>
          </p:nvPr>
        </p:nvGraphicFramePr>
        <p:xfrm>
          <a:off x="257175" y="5258410"/>
          <a:ext cx="11737228" cy="1288692"/>
        </p:xfrm>
        <a:graphic>
          <a:graphicData uri="http://schemas.openxmlformats.org/drawingml/2006/table">
            <a:tbl>
              <a:tblPr/>
              <a:tblGrid>
                <a:gridCol w="1252547">
                  <a:extLst>
                    <a:ext uri="{9D8B030D-6E8A-4147-A177-3AD203B41FA5}">
                      <a16:colId xmlns:a16="http://schemas.microsoft.com/office/drawing/2014/main" val="4144033618"/>
                    </a:ext>
                  </a:extLst>
                </a:gridCol>
                <a:gridCol w="1112176">
                  <a:extLst>
                    <a:ext uri="{9D8B030D-6E8A-4147-A177-3AD203B41FA5}">
                      <a16:colId xmlns:a16="http://schemas.microsoft.com/office/drawing/2014/main" val="2710662077"/>
                    </a:ext>
                  </a:extLst>
                </a:gridCol>
                <a:gridCol w="831433">
                  <a:extLst>
                    <a:ext uri="{9D8B030D-6E8A-4147-A177-3AD203B41FA5}">
                      <a16:colId xmlns:a16="http://schemas.microsoft.com/office/drawing/2014/main" val="3810854777"/>
                    </a:ext>
                  </a:extLst>
                </a:gridCol>
                <a:gridCol w="1274143">
                  <a:extLst>
                    <a:ext uri="{9D8B030D-6E8A-4147-A177-3AD203B41FA5}">
                      <a16:colId xmlns:a16="http://schemas.microsoft.com/office/drawing/2014/main" val="95352560"/>
                    </a:ext>
                  </a:extLst>
                </a:gridCol>
                <a:gridCol w="1252547">
                  <a:extLst>
                    <a:ext uri="{9D8B030D-6E8A-4147-A177-3AD203B41FA5}">
                      <a16:colId xmlns:a16="http://schemas.microsoft.com/office/drawing/2014/main" val="3482007332"/>
                    </a:ext>
                  </a:extLst>
                </a:gridCol>
                <a:gridCol w="907017">
                  <a:extLst>
                    <a:ext uri="{9D8B030D-6E8A-4147-A177-3AD203B41FA5}">
                      <a16:colId xmlns:a16="http://schemas.microsoft.com/office/drawing/2014/main" val="3780160470"/>
                    </a:ext>
                  </a:extLst>
                </a:gridCol>
                <a:gridCol w="1360525">
                  <a:extLst>
                    <a:ext uri="{9D8B030D-6E8A-4147-A177-3AD203B41FA5}">
                      <a16:colId xmlns:a16="http://schemas.microsoft.com/office/drawing/2014/main" val="4001841647"/>
                    </a:ext>
                  </a:extLst>
                </a:gridCol>
                <a:gridCol w="1166163">
                  <a:extLst>
                    <a:ext uri="{9D8B030D-6E8A-4147-A177-3AD203B41FA5}">
                      <a16:colId xmlns:a16="http://schemas.microsoft.com/office/drawing/2014/main" val="873345733"/>
                    </a:ext>
                  </a:extLst>
                </a:gridCol>
                <a:gridCol w="637071">
                  <a:extLst>
                    <a:ext uri="{9D8B030D-6E8A-4147-A177-3AD203B41FA5}">
                      <a16:colId xmlns:a16="http://schemas.microsoft.com/office/drawing/2014/main" val="983947984"/>
                    </a:ext>
                  </a:extLst>
                </a:gridCol>
                <a:gridCol w="1166163">
                  <a:extLst>
                    <a:ext uri="{9D8B030D-6E8A-4147-A177-3AD203B41FA5}">
                      <a16:colId xmlns:a16="http://schemas.microsoft.com/office/drawing/2014/main" val="3672483493"/>
                    </a:ext>
                  </a:extLst>
                </a:gridCol>
                <a:gridCol w="777443">
                  <a:extLst>
                    <a:ext uri="{9D8B030D-6E8A-4147-A177-3AD203B41FA5}">
                      <a16:colId xmlns:a16="http://schemas.microsoft.com/office/drawing/2014/main" val="1432498959"/>
                    </a:ext>
                  </a:extLst>
                </a:gridCol>
              </a:tblGrid>
              <a:tr h="214782">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214782">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214782">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21478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21478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21478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1455239019"/>
      </p:ext>
    </p:extLst>
  </p:cSld>
  <p:clrMapOvr>
    <a:masterClrMapping/>
  </p:clrMapOvr>
  <p:transition spd="slow"/>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0BEFA9-3A21-8F44-3B33-5175DD0EB78E}"/>
            </a:ext>
          </a:extLst>
        </p:cNvPr>
        <p:cNvGrpSpPr/>
        <p:nvPr/>
      </p:nvGrpSpPr>
      <p:grpSpPr>
        <a:xfrm>
          <a:off x="0" y="0"/>
          <a:ext cx="0" cy="0"/>
          <a:chOff x="0" y="0"/>
          <a:chExt cx="0" cy="0"/>
        </a:xfrm>
      </p:grpSpPr>
      <p:sp>
        <p:nvSpPr>
          <p:cNvPr id="6" name="Title 1">
            <a:extLst>
              <a:ext uri="{FF2B5EF4-FFF2-40B4-BE49-F238E27FC236}">
                <a16:creationId xmlns:a16="http://schemas.microsoft.com/office/drawing/2014/main" id="{01600E8C-B4B0-C1AC-040F-58464AE0B070}"/>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TL02 - 765KV D/C Sikar II – Narela</a:t>
            </a:r>
            <a:r>
              <a:rPr lang="en-US" sz="2400" b="1" dirty="0">
                <a:latin typeface="Calibri" panose="020F0502020204030204" pitchFamily="34" charset="0"/>
                <a:ea typeface="Calibri" panose="020F0502020204030204" pitchFamily="34" charset="0"/>
                <a:cs typeface="Calibri" panose="020F0502020204030204" pitchFamily="34" charset="0"/>
              </a:rPr>
              <a:t> (TA- 419)</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7" name="Table 6">
            <a:extLst>
              <a:ext uri="{FF2B5EF4-FFF2-40B4-BE49-F238E27FC236}">
                <a16:creationId xmlns:a16="http://schemas.microsoft.com/office/drawing/2014/main" id="{D611400B-176C-BE22-8A5C-31D149B5BA1B}"/>
              </a:ext>
            </a:extLst>
          </p:cNvPr>
          <p:cNvGraphicFramePr>
            <a:graphicFrameLocks noGrp="1"/>
          </p:cNvGraphicFramePr>
          <p:nvPr>
            <p:extLst>
              <p:ext uri="{D42A27DB-BD31-4B8C-83A1-F6EECF244321}">
                <p14:modId xmlns:p14="http://schemas.microsoft.com/office/powerpoint/2010/main" val="3601482931"/>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06/02/2024</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05/05/2025</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9" name="Table 8">
            <a:extLst>
              <a:ext uri="{FF2B5EF4-FFF2-40B4-BE49-F238E27FC236}">
                <a16:creationId xmlns:a16="http://schemas.microsoft.com/office/drawing/2014/main" id="{B78E583D-F454-1A42-6E8B-DB9C726BB6C8}"/>
              </a:ext>
            </a:extLst>
          </p:cNvPr>
          <p:cNvGraphicFramePr>
            <a:graphicFrameLocks noGrp="1"/>
          </p:cNvGraphicFramePr>
          <p:nvPr>
            <p:extLst>
              <p:ext uri="{D42A27DB-BD31-4B8C-83A1-F6EECF244321}">
                <p14:modId xmlns:p14="http://schemas.microsoft.com/office/powerpoint/2010/main" val="338504525"/>
              </p:ext>
            </p:extLst>
          </p:nvPr>
        </p:nvGraphicFramePr>
        <p:xfrm>
          <a:off x="238963" y="1472186"/>
          <a:ext cx="11714075" cy="5232700"/>
        </p:xfrm>
        <a:graphic>
          <a:graphicData uri="http://schemas.openxmlformats.org/drawingml/2006/table">
            <a:tbl>
              <a:tblPr/>
              <a:tblGrid>
                <a:gridCol w="843538">
                  <a:extLst>
                    <a:ext uri="{9D8B030D-6E8A-4147-A177-3AD203B41FA5}">
                      <a16:colId xmlns:a16="http://schemas.microsoft.com/office/drawing/2014/main" val="330956746"/>
                    </a:ext>
                  </a:extLst>
                </a:gridCol>
                <a:gridCol w="2204824">
                  <a:extLst>
                    <a:ext uri="{9D8B030D-6E8A-4147-A177-3AD203B41FA5}">
                      <a16:colId xmlns:a16="http://schemas.microsoft.com/office/drawing/2014/main" val="467016710"/>
                    </a:ext>
                  </a:extLst>
                </a:gridCol>
                <a:gridCol w="892739">
                  <a:extLst>
                    <a:ext uri="{9D8B030D-6E8A-4147-A177-3AD203B41FA5}">
                      <a16:colId xmlns:a16="http://schemas.microsoft.com/office/drawing/2014/main" val="2623573662"/>
                    </a:ext>
                  </a:extLst>
                </a:gridCol>
                <a:gridCol w="443619">
                  <a:extLst>
                    <a:ext uri="{9D8B030D-6E8A-4147-A177-3AD203B41FA5}">
                      <a16:colId xmlns:a16="http://schemas.microsoft.com/office/drawing/2014/main" val="3348155062"/>
                    </a:ext>
                  </a:extLst>
                </a:gridCol>
                <a:gridCol w="544286">
                  <a:extLst>
                    <a:ext uri="{9D8B030D-6E8A-4147-A177-3AD203B41FA5}">
                      <a16:colId xmlns:a16="http://schemas.microsoft.com/office/drawing/2014/main" val="3407175280"/>
                    </a:ext>
                  </a:extLst>
                </a:gridCol>
                <a:gridCol w="540839">
                  <a:extLst>
                    <a:ext uri="{9D8B030D-6E8A-4147-A177-3AD203B41FA5}">
                      <a16:colId xmlns:a16="http://schemas.microsoft.com/office/drawing/2014/main" val="3835865023"/>
                    </a:ext>
                  </a:extLst>
                </a:gridCol>
                <a:gridCol w="614354">
                  <a:extLst>
                    <a:ext uri="{9D8B030D-6E8A-4147-A177-3AD203B41FA5}">
                      <a16:colId xmlns:a16="http://schemas.microsoft.com/office/drawing/2014/main" val="709077319"/>
                    </a:ext>
                  </a:extLst>
                </a:gridCol>
                <a:gridCol w="455031">
                  <a:extLst>
                    <a:ext uri="{9D8B030D-6E8A-4147-A177-3AD203B41FA5}">
                      <a16:colId xmlns:a16="http://schemas.microsoft.com/office/drawing/2014/main" val="1087588403"/>
                    </a:ext>
                  </a:extLst>
                </a:gridCol>
                <a:gridCol w="491672">
                  <a:extLst>
                    <a:ext uri="{9D8B030D-6E8A-4147-A177-3AD203B41FA5}">
                      <a16:colId xmlns:a16="http://schemas.microsoft.com/office/drawing/2014/main" val="1978132890"/>
                    </a:ext>
                  </a:extLst>
                </a:gridCol>
                <a:gridCol w="528546">
                  <a:extLst>
                    <a:ext uri="{9D8B030D-6E8A-4147-A177-3AD203B41FA5}">
                      <a16:colId xmlns:a16="http://schemas.microsoft.com/office/drawing/2014/main" val="1472471097"/>
                    </a:ext>
                  </a:extLst>
                </a:gridCol>
                <a:gridCol w="528546">
                  <a:extLst>
                    <a:ext uri="{9D8B030D-6E8A-4147-A177-3AD203B41FA5}">
                      <a16:colId xmlns:a16="http://schemas.microsoft.com/office/drawing/2014/main" val="4151107971"/>
                    </a:ext>
                  </a:extLst>
                </a:gridCol>
                <a:gridCol w="516256">
                  <a:extLst>
                    <a:ext uri="{9D8B030D-6E8A-4147-A177-3AD203B41FA5}">
                      <a16:colId xmlns:a16="http://schemas.microsoft.com/office/drawing/2014/main" val="425587029"/>
                    </a:ext>
                  </a:extLst>
                </a:gridCol>
                <a:gridCol w="528546">
                  <a:extLst>
                    <a:ext uri="{9D8B030D-6E8A-4147-A177-3AD203B41FA5}">
                      <a16:colId xmlns:a16="http://schemas.microsoft.com/office/drawing/2014/main" val="2861279347"/>
                    </a:ext>
                  </a:extLst>
                </a:gridCol>
                <a:gridCol w="528546">
                  <a:extLst>
                    <a:ext uri="{9D8B030D-6E8A-4147-A177-3AD203B41FA5}">
                      <a16:colId xmlns:a16="http://schemas.microsoft.com/office/drawing/2014/main" val="470002717"/>
                    </a:ext>
                  </a:extLst>
                </a:gridCol>
                <a:gridCol w="516256">
                  <a:extLst>
                    <a:ext uri="{9D8B030D-6E8A-4147-A177-3AD203B41FA5}">
                      <a16:colId xmlns:a16="http://schemas.microsoft.com/office/drawing/2014/main" val="3542135224"/>
                    </a:ext>
                  </a:extLst>
                </a:gridCol>
                <a:gridCol w="503965">
                  <a:extLst>
                    <a:ext uri="{9D8B030D-6E8A-4147-A177-3AD203B41FA5}">
                      <a16:colId xmlns:a16="http://schemas.microsoft.com/office/drawing/2014/main" val="2066182156"/>
                    </a:ext>
                  </a:extLst>
                </a:gridCol>
                <a:gridCol w="516256">
                  <a:extLst>
                    <a:ext uri="{9D8B030D-6E8A-4147-A177-3AD203B41FA5}">
                      <a16:colId xmlns:a16="http://schemas.microsoft.com/office/drawing/2014/main" val="3474579885"/>
                    </a:ext>
                  </a:extLst>
                </a:gridCol>
                <a:gridCol w="516256">
                  <a:extLst>
                    <a:ext uri="{9D8B030D-6E8A-4147-A177-3AD203B41FA5}">
                      <a16:colId xmlns:a16="http://schemas.microsoft.com/office/drawing/2014/main" val="1602192749"/>
                    </a:ext>
                  </a:extLst>
                </a:gridCol>
              </a:tblGrid>
              <a:tr h="175421">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No. of month from NOA</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Qty.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Upto</a:t>
                      </a: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As on 01.05.26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Jul-26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Aug-26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Sep-26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Oct-26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Nov-26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Dec-26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Jan-27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Feb-27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Mar-27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341750030"/>
                  </a:ext>
                </a:extLst>
              </a:tr>
              <a:tr h="251775">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IN"/>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63433136"/>
                  </a:ext>
                </a:extLst>
              </a:tr>
              <a:tr h="175421">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4864030"/>
                  </a:ext>
                </a:extLst>
              </a:tr>
              <a:tr h="175421">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92204872"/>
                  </a:ext>
                </a:extLst>
              </a:tr>
              <a:tr h="175421">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8064827"/>
                  </a:ext>
                </a:extLst>
              </a:tr>
              <a:tr h="175421">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31382125"/>
                  </a:ext>
                </a:extLst>
              </a:tr>
              <a:tr h="175421">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Stubs Supply 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84174195"/>
                  </a:ext>
                </a:extLst>
              </a:tr>
              <a:tr h="175421">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 Supply Actual</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48442476"/>
                  </a:ext>
                </a:extLst>
              </a:tr>
              <a:tr h="175421">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794284895"/>
                  </a:ext>
                </a:extLst>
              </a:tr>
              <a:tr h="175421">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85639932"/>
                  </a:ext>
                </a:extLst>
              </a:tr>
              <a:tr h="175421">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48076848"/>
                  </a:ext>
                </a:extLst>
              </a:tr>
              <a:tr h="175421">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4915967"/>
                  </a:ext>
                </a:extLst>
              </a:tr>
              <a:tr h="175421">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76733000"/>
                  </a:ext>
                </a:extLst>
              </a:tr>
              <a:tr h="175421">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51575881"/>
                  </a:ext>
                </a:extLst>
              </a:tr>
              <a:tr h="175421">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76095068"/>
                  </a:ext>
                </a:extLst>
              </a:tr>
              <a:tr h="175421">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3795312704"/>
                  </a:ext>
                </a:extLst>
              </a:tr>
              <a:tr h="175421">
                <a:tc rowSpan="11">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90037553"/>
                  </a:ext>
                </a:extLst>
              </a:tr>
              <a:tr h="175421">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47927932"/>
                  </a:ext>
                </a:extLst>
              </a:tr>
              <a:tr h="175421">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7137584"/>
                  </a:ext>
                </a:extLst>
              </a:tr>
              <a:tr h="175421">
                <a:tc vMerge="1">
                  <a:txBody>
                    <a:bodyPr/>
                    <a:lstStyle/>
                    <a:p>
                      <a:endParaRPr lang="en-US"/>
                    </a:p>
                  </a:txBody>
                  <a:tcPr/>
                </a:tc>
                <a:tc rowSpan="2">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TSE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53577170"/>
                  </a:ext>
                </a:extLst>
              </a:tr>
              <a:tr h="175421">
                <a:tc vMerge="1">
                  <a:txBody>
                    <a:bodyPr/>
                    <a:lstStyle/>
                    <a:p>
                      <a:endParaRPr lang="en-US"/>
                    </a:p>
                  </a:txBody>
                  <a:tcPr/>
                </a:tc>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Manual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87594838"/>
                  </a:ext>
                </a:extLst>
              </a:tr>
              <a:tr h="175421">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91423490"/>
                  </a:ext>
                </a:extLst>
              </a:tr>
              <a:tr h="175421">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31144415"/>
                  </a:ext>
                </a:extLst>
              </a:tr>
              <a:tr h="175421">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59411858"/>
                  </a:ext>
                </a:extLst>
              </a:tr>
              <a:tr h="175421">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10348192"/>
                  </a:ext>
                </a:extLst>
              </a:tr>
              <a:tr h="175421">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71402620"/>
                  </a:ext>
                </a:extLst>
              </a:tr>
              <a:tr h="161139">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06786991"/>
                  </a:ext>
                </a:extLst>
              </a:tr>
            </a:tbl>
          </a:graphicData>
        </a:graphic>
      </p:graphicFrame>
    </p:spTree>
    <p:extLst>
      <p:ext uri="{BB962C8B-B14F-4D97-AF65-F5344CB8AC3E}">
        <p14:creationId xmlns:p14="http://schemas.microsoft.com/office/powerpoint/2010/main" val="3742811292"/>
      </p:ext>
    </p:extLst>
  </p:cSld>
  <p:clrMapOvr>
    <a:masterClrMapping/>
  </p:clrMapOvr>
  <p:transition spd="slow"/>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B181BB-DFB6-9F18-FFE5-FBC420CD5E47}"/>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2D25D3D9-8311-9BB0-1235-EB498A4D3E2D}"/>
              </a:ext>
            </a:extLst>
          </p:cNvPr>
          <p:cNvSpPr txBox="1"/>
          <p:nvPr/>
        </p:nvSpPr>
        <p:spPr>
          <a:xfrm>
            <a:off x="257175" y="1472184"/>
            <a:ext cx="11677650" cy="5312352"/>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pPr>
              <a:lnSpc>
                <a:spcPct val="150000"/>
              </a:lnSpc>
            </a:pPr>
            <a:r>
              <a:rPr lang="en-IN" dirty="0">
                <a:latin typeface="Calibri" panose="020F0502020204030204" pitchFamily="34" charset="0"/>
                <a:ea typeface="Calibri" panose="020F0502020204030204" pitchFamily="34" charset="0"/>
                <a:cs typeface="Calibri" panose="020F0502020204030204" pitchFamily="34" charset="0"/>
              </a:rPr>
              <a:t>1. Clearance of balance foundation locations for taking up works</a:t>
            </a:r>
          </a:p>
          <a:p>
            <a:pPr>
              <a:lnSpc>
                <a:spcPct val="150000"/>
              </a:lnSpc>
            </a:pPr>
            <a:r>
              <a:rPr lang="en-US" dirty="0">
                <a:latin typeface="Calibri" panose="020F0502020204030204" pitchFamily="34" charset="0"/>
                <a:ea typeface="Calibri" panose="020F0502020204030204" pitchFamily="34" charset="0"/>
                <a:cs typeface="Calibri" panose="020F0502020204030204" pitchFamily="34" charset="0"/>
              </a:rPr>
              <a:t>2. Severe ROW continues to affect opening of fronts in Talao and Charra villages affecting 11 locations</a:t>
            </a:r>
            <a:endParaRPr lang="en-IN" dirty="0">
              <a:latin typeface="Calibri" panose="020F0502020204030204" pitchFamily="34" charset="0"/>
              <a:ea typeface="Calibri" panose="020F0502020204030204" pitchFamily="34" charset="0"/>
              <a:cs typeface="Calibri" panose="020F0502020204030204" pitchFamily="34" charset="0"/>
            </a:endParaRPr>
          </a:p>
          <a:p>
            <a:pPr>
              <a:lnSpc>
                <a:spcPct val="150000"/>
              </a:lnSpc>
            </a:pPr>
            <a:r>
              <a:rPr lang="en-US" dirty="0">
                <a:latin typeface="Calibri" panose="020F0502020204030204" pitchFamily="34" charset="0"/>
                <a:ea typeface="Calibri" panose="020F0502020204030204" pitchFamily="34" charset="0"/>
                <a:cs typeface="Calibri" panose="020F0502020204030204" pitchFamily="34" charset="0"/>
              </a:rPr>
              <a:t>3. Locations are progressively being made clear of ROW and put to work. For water submerged locations approval of shallow design is critical</a:t>
            </a:r>
            <a:endParaRPr lang="en-IN" dirty="0">
              <a:latin typeface="Calibri" panose="020F0502020204030204" pitchFamily="34" charset="0"/>
              <a:ea typeface="Calibri" panose="020F0502020204030204" pitchFamily="34" charset="0"/>
              <a:cs typeface="Calibri" panose="020F0502020204030204" pitchFamily="34" charset="0"/>
            </a:endParaRPr>
          </a:p>
          <a:p>
            <a:pPr>
              <a:lnSpc>
                <a:spcPct val="150000"/>
              </a:lnSpc>
            </a:pPr>
            <a:r>
              <a:rPr lang="en-US" dirty="0">
                <a:latin typeface="Calibri" panose="020F0502020204030204" pitchFamily="34" charset="0"/>
                <a:ea typeface="Calibri" panose="020F0502020204030204" pitchFamily="34" charset="0"/>
                <a:cs typeface="Calibri" panose="020F0502020204030204" pitchFamily="34" charset="0"/>
              </a:rPr>
              <a:t>4. HORCL Approval is still pending affecting release of 6 Towers</a:t>
            </a:r>
            <a:endParaRPr lang="en-IN" dirty="0">
              <a:latin typeface="Calibri" panose="020F0502020204030204" pitchFamily="34" charset="0"/>
              <a:ea typeface="Calibri" panose="020F0502020204030204" pitchFamily="34" charset="0"/>
              <a:cs typeface="Calibri" panose="020F0502020204030204" pitchFamily="34" charset="0"/>
            </a:endParaRPr>
          </a:p>
          <a:p>
            <a:pPr>
              <a:lnSpc>
                <a:spcPct val="150000"/>
              </a:lnSpc>
            </a:pPr>
            <a:r>
              <a:rPr lang="en-US" dirty="0">
                <a:latin typeface="Calibri" panose="020F0502020204030204" pitchFamily="34" charset="0"/>
                <a:ea typeface="Calibri" panose="020F0502020204030204" pitchFamily="34" charset="0"/>
                <a:cs typeface="Calibri" panose="020F0502020204030204" pitchFamily="34" charset="0"/>
              </a:rPr>
              <a:t>5. Clearance of Stringing stretch</a:t>
            </a:r>
            <a:endParaRPr lang="en-IN" dirty="0">
              <a:latin typeface="Calibri" panose="020F0502020204030204" pitchFamily="34" charset="0"/>
              <a:ea typeface="Calibri" panose="020F0502020204030204" pitchFamily="34" charset="0"/>
              <a:cs typeface="Calibri" panose="020F0502020204030204" pitchFamily="34" charset="0"/>
            </a:endParaRPr>
          </a:p>
          <a:p>
            <a:pPr marL="742950" lvl="1" indent="-285750">
              <a:lnSpc>
                <a:spcPct val="150000"/>
              </a:lnSpc>
              <a:buFont typeface="Wingdings" panose="05000000000000000000" pitchFamily="2" charset="2"/>
              <a:buChar char="§"/>
            </a:pPr>
            <a:r>
              <a:rPr lang="en-US" dirty="0" err="1">
                <a:latin typeface="Calibri" panose="020F0502020204030204" pitchFamily="34" charset="0"/>
                <a:ea typeface="Calibri" panose="020F0502020204030204" pitchFamily="34" charset="0"/>
                <a:cs typeface="Calibri" panose="020F0502020204030204" pitchFamily="34" charset="0"/>
              </a:rPr>
              <a:t>Stringable</a:t>
            </a:r>
            <a:r>
              <a:rPr lang="en-US" dirty="0">
                <a:latin typeface="Calibri" panose="020F0502020204030204" pitchFamily="34" charset="0"/>
                <a:ea typeface="Calibri" panose="020F0502020204030204" pitchFamily="34" charset="0"/>
                <a:cs typeface="Calibri" panose="020F0502020204030204" pitchFamily="34" charset="0"/>
              </a:rPr>
              <a:t> sections totaling 18 Kms. in </a:t>
            </a:r>
            <a:r>
              <a:rPr lang="en-US" dirty="0" err="1">
                <a:latin typeface="Calibri" panose="020F0502020204030204" pitchFamily="34" charset="0"/>
                <a:ea typeface="Calibri" panose="020F0502020204030204" pitchFamily="34" charset="0"/>
                <a:cs typeface="Calibri" panose="020F0502020204030204" pitchFamily="34" charset="0"/>
              </a:rPr>
              <a:t>Mahendargarh</a:t>
            </a:r>
            <a:r>
              <a:rPr lang="en-US" dirty="0">
                <a:latin typeface="Calibri" panose="020F0502020204030204" pitchFamily="34" charset="0"/>
                <a:ea typeface="Calibri" panose="020F0502020204030204" pitchFamily="34" charset="0"/>
                <a:cs typeface="Calibri" panose="020F0502020204030204" pitchFamily="34" charset="0"/>
              </a:rPr>
              <a:t> District is ready which is free from any rectification </a:t>
            </a:r>
            <a:endParaRPr lang="en-IN" dirty="0">
              <a:latin typeface="Calibri" panose="020F0502020204030204" pitchFamily="34" charset="0"/>
              <a:ea typeface="Calibri" panose="020F0502020204030204" pitchFamily="34" charset="0"/>
              <a:cs typeface="Calibri" panose="020F0502020204030204" pitchFamily="34" charset="0"/>
            </a:endParaRPr>
          </a:p>
          <a:p>
            <a:pPr marL="742950" lvl="1" indent="-285750">
              <a:lnSpc>
                <a:spcPct val="150000"/>
              </a:lnSpc>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The Stringing gang has already been remobilized post idling since Jan-2026 due to ROW issues on account of pending MRC in </a:t>
            </a:r>
            <a:r>
              <a:rPr lang="en-US" dirty="0" err="1">
                <a:latin typeface="Calibri" panose="020F0502020204030204" pitchFamily="34" charset="0"/>
                <a:ea typeface="Calibri" panose="020F0502020204030204" pitchFamily="34" charset="0"/>
                <a:cs typeface="Calibri" panose="020F0502020204030204" pitchFamily="34" charset="0"/>
              </a:rPr>
              <a:t>Mahendragarh</a:t>
            </a:r>
            <a:r>
              <a:rPr lang="en-US" dirty="0">
                <a:latin typeface="Calibri" panose="020F0502020204030204" pitchFamily="34" charset="0"/>
                <a:ea typeface="Calibri" panose="020F0502020204030204" pitchFamily="34" charset="0"/>
                <a:cs typeface="Calibri" panose="020F0502020204030204" pitchFamily="34" charset="0"/>
              </a:rPr>
              <a:t> &amp; Rewari</a:t>
            </a:r>
            <a:endParaRPr lang="en-IN" dirty="0">
              <a:latin typeface="Calibri" panose="020F0502020204030204" pitchFamily="34" charset="0"/>
              <a:ea typeface="Calibri" panose="020F0502020204030204" pitchFamily="34" charset="0"/>
              <a:cs typeface="Calibri" panose="020F0502020204030204" pitchFamily="34" charset="0"/>
            </a:endParaRPr>
          </a:p>
          <a:p>
            <a:pPr marL="742950" lvl="1" indent="-285750">
              <a:lnSpc>
                <a:spcPct val="150000"/>
              </a:lnSpc>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The Pilot pulling started on 20</a:t>
            </a:r>
            <a:r>
              <a:rPr lang="en-US" baseline="30000" dirty="0">
                <a:latin typeface="Calibri" panose="020F0502020204030204" pitchFamily="34" charset="0"/>
                <a:ea typeface="Calibri" panose="020F0502020204030204" pitchFamily="34" charset="0"/>
                <a:cs typeface="Calibri" panose="020F0502020204030204" pitchFamily="34" charset="0"/>
              </a:rPr>
              <a:t>th</a:t>
            </a:r>
            <a:r>
              <a:rPr lang="en-US" dirty="0">
                <a:latin typeface="Calibri" panose="020F0502020204030204" pitchFamily="34" charset="0"/>
                <a:ea typeface="Calibri" panose="020F0502020204030204" pitchFamily="34" charset="0"/>
                <a:cs typeface="Calibri" panose="020F0502020204030204" pitchFamily="34" charset="0"/>
              </a:rPr>
              <a:t> April for 1</a:t>
            </a:r>
            <a:r>
              <a:rPr lang="en-US" baseline="30000" dirty="0">
                <a:latin typeface="Calibri" panose="020F0502020204030204" pitchFamily="34" charset="0"/>
                <a:ea typeface="Calibri" panose="020F0502020204030204" pitchFamily="34" charset="0"/>
                <a:cs typeface="Calibri" panose="020F0502020204030204" pitchFamily="34" charset="0"/>
              </a:rPr>
              <a:t>st</a:t>
            </a:r>
            <a:r>
              <a:rPr lang="en-US" dirty="0">
                <a:latin typeface="Calibri" panose="020F0502020204030204" pitchFamily="34" charset="0"/>
                <a:ea typeface="Calibri" panose="020F0502020204030204" pitchFamily="34" charset="0"/>
                <a:cs typeface="Calibri" panose="020F0502020204030204" pitchFamily="34" charset="0"/>
              </a:rPr>
              <a:t> section of B/0 to C/0 however it was stopped due to ROW</a:t>
            </a:r>
            <a:endParaRPr lang="en-IN" dirty="0">
              <a:latin typeface="Calibri" panose="020F0502020204030204" pitchFamily="34" charset="0"/>
              <a:ea typeface="Calibri" panose="020F0502020204030204" pitchFamily="34" charset="0"/>
              <a:cs typeface="Calibri" panose="020F0502020204030204" pitchFamily="34" charset="0"/>
            </a:endParaRPr>
          </a:p>
          <a:p>
            <a:pPr marL="742950" lvl="1" indent="-285750">
              <a:lnSpc>
                <a:spcPct val="150000"/>
              </a:lnSpc>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MRC of </a:t>
            </a:r>
            <a:r>
              <a:rPr lang="en-US" dirty="0" err="1">
                <a:latin typeface="Calibri" panose="020F0502020204030204" pitchFamily="34" charset="0"/>
                <a:ea typeface="Calibri" panose="020F0502020204030204" pitchFamily="34" charset="0"/>
                <a:cs typeface="Calibri" panose="020F0502020204030204" pitchFamily="34" charset="0"/>
              </a:rPr>
              <a:t>Mahendragarh</a:t>
            </a:r>
            <a:r>
              <a:rPr lang="en-US" dirty="0">
                <a:latin typeface="Calibri" panose="020F0502020204030204" pitchFamily="34" charset="0"/>
                <a:ea typeface="Calibri" panose="020F0502020204030204" pitchFamily="34" charset="0"/>
                <a:cs typeface="Calibri" panose="020F0502020204030204" pitchFamily="34" charset="0"/>
              </a:rPr>
              <a:t> is disputed &amp; for Rewari it is still pending, stringing Workfront is restricted 1 gang &amp; 2 TSEs are idling</a:t>
            </a:r>
            <a:r>
              <a:rPr lang="en-US" sz="1400" dirty="0">
                <a:latin typeface="Calibri" panose="020F0502020204030204" pitchFamily="34" charset="0"/>
                <a:ea typeface="Calibri" panose="020F0502020204030204" pitchFamily="34" charset="0"/>
                <a:cs typeface="Calibri" panose="020F0502020204030204" pitchFamily="34" charset="0"/>
              </a:rPr>
              <a:t>	</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
        <p:nvSpPr>
          <p:cNvPr id="7" name="Title 1">
            <a:extLst>
              <a:ext uri="{FF2B5EF4-FFF2-40B4-BE49-F238E27FC236}">
                <a16:creationId xmlns:a16="http://schemas.microsoft.com/office/drawing/2014/main" id="{89461C05-87AF-0352-1A58-9EFCC84E57B5}"/>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TL02 - 765KV D/C Sikar II – Narela</a:t>
            </a:r>
            <a:r>
              <a:rPr lang="en-US" sz="2400" b="1" dirty="0">
                <a:latin typeface="Calibri" panose="020F0502020204030204" pitchFamily="34" charset="0"/>
                <a:ea typeface="Calibri" panose="020F0502020204030204" pitchFamily="34" charset="0"/>
                <a:cs typeface="Calibri" panose="020F0502020204030204" pitchFamily="34" charset="0"/>
              </a:rPr>
              <a:t> (TA- 419)</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le 7">
            <a:extLst>
              <a:ext uri="{FF2B5EF4-FFF2-40B4-BE49-F238E27FC236}">
                <a16:creationId xmlns:a16="http://schemas.microsoft.com/office/drawing/2014/main" id="{B7B96948-CFA0-7E18-1692-AB0DE6E83AD0}"/>
              </a:ext>
            </a:extLst>
          </p:cNvPr>
          <p:cNvGraphicFramePr>
            <a:graphicFrameLocks noGrp="1"/>
          </p:cNvGraphicFramePr>
          <p:nvPr>
            <p:extLst>
              <p:ext uri="{D42A27DB-BD31-4B8C-83A1-F6EECF244321}">
                <p14:modId xmlns:p14="http://schemas.microsoft.com/office/powerpoint/2010/main" val="697220034"/>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06/02/2024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501</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05/05/2025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30/11/26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4093128623"/>
      </p:ext>
    </p:extLst>
  </p:cSld>
  <p:clrMapOvr>
    <a:masterClrMapping/>
  </p:clrMapOvr>
  <p:transition spd="slow"/>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5069F3-B52A-CCE5-3B8A-6A1429D8307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2CA7280-0CE6-F9F1-A6D9-0D481982980A}"/>
              </a:ext>
            </a:extLst>
          </p:cNvPr>
          <p:cNvSpPr>
            <a:spLocks noGrp="1"/>
          </p:cNvSpPr>
          <p:nvPr>
            <p:ph type="title"/>
          </p:nvPr>
        </p:nvSpPr>
        <p:spPr>
          <a:xfrm>
            <a:off x="140941" y="3429000"/>
            <a:ext cx="11676203" cy="551809"/>
          </a:xfrm>
        </p:spPr>
        <p:txBody>
          <a:bodyPr>
            <a:normAutofit fontScale="90000"/>
          </a:bodyPr>
          <a:lstStyle/>
          <a:p>
            <a:pPr algn="ctr"/>
            <a:r>
              <a:rPr lang="en-IN" dirty="0">
                <a:latin typeface="Calibri" panose="020F0502020204030204" pitchFamily="34" charset="0"/>
                <a:ea typeface="Calibri" panose="020F0502020204030204" pitchFamily="34" charset="0"/>
                <a:cs typeface="Calibri" panose="020F0502020204030204" pitchFamily="34" charset="0"/>
              </a:rPr>
              <a:t>Northern Region (NR-II) </a:t>
            </a:r>
          </a:p>
        </p:txBody>
      </p:sp>
    </p:spTree>
    <p:extLst>
      <p:ext uri="{BB962C8B-B14F-4D97-AF65-F5344CB8AC3E}">
        <p14:creationId xmlns:p14="http://schemas.microsoft.com/office/powerpoint/2010/main" val="675206396"/>
      </p:ext>
    </p:extLst>
  </p:cSld>
  <p:clrMapOvr>
    <a:masterClrMapping/>
  </p:clrMapOvr>
  <p:transition spd="slow"/>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F37A80-865E-5E06-7DD6-783F974D3E8F}"/>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20ECC1B8-4A60-63BD-9FB3-B0AA48DB2950}"/>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400 KV Siwani-Fatehabad TL &amp; Siwani-Patran TL </a:t>
            </a:r>
            <a:r>
              <a:rPr lang="en-US" sz="2400" b="1" dirty="0">
                <a:latin typeface="Calibri" panose="020F0502020204030204" pitchFamily="34" charset="0"/>
                <a:ea typeface="Calibri" panose="020F0502020204030204" pitchFamily="34" charset="0"/>
                <a:cs typeface="Calibri" panose="020F0502020204030204" pitchFamily="34" charset="0"/>
              </a:rPr>
              <a:t>(TA- 513)</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993208AE-D245-CE50-4BBD-CD03CD4F90F6}"/>
              </a:ext>
            </a:extLst>
          </p:cNvPr>
          <p:cNvGraphicFramePr>
            <a:graphicFrameLocks noGrp="1"/>
          </p:cNvGraphicFramePr>
          <p:nvPr>
            <p:extLst>
              <p:ext uri="{D42A27DB-BD31-4B8C-83A1-F6EECF244321}">
                <p14:modId xmlns:p14="http://schemas.microsoft.com/office/powerpoint/2010/main" val="2391122357"/>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22.12.26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3" name="Table 2">
            <a:extLst>
              <a:ext uri="{FF2B5EF4-FFF2-40B4-BE49-F238E27FC236}">
                <a16:creationId xmlns:a16="http://schemas.microsoft.com/office/drawing/2014/main" id="{5F0CD78C-9221-8549-B08B-2BEC61A4F97D}"/>
              </a:ext>
            </a:extLst>
          </p:cNvPr>
          <p:cNvGraphicFramePr>
            <a:graphicFrameLocks noGrp="1"/>
          </p:cNvGraphicFramePr>
          <p:nvPr>
            <p:extLst>
              <p:ext uri="{D42A27DB-BD31-4B8C-83A1-F6EECF244321}">
                <p14:modId xmlns:p14="http://schemas.microsoft.com/office/powerpoint/2010/main" val="447790848"/>
              </p:ext>
            </p:extLst>
          </p:nvPr>
        </p:nvGraphicFramePr>
        <p:xfrm>
          <a:off x="248031" y="1472185"/>
          <a:ext cx="11737224" cy="3877974"/>
        </p:xfrm>
        <a:graphic>
          <a:graphicData uri="http://schemas.openxmlformats.org/drawingml/2006/table">
            <a:tbl>
              <a:tblPr/>
              <a:tblGrid>
                <a:gridCol w="1140300">
                  <a:extLst>
                    <a:ext uri="{9D8B030D-6E8A-4147-A177-3AD203B41FA5}">
                      <a16:colId xmlns:a16="http://schemas.microsoft.com/office/drawing/2014/main" val="3134568255"/>
                    </a:ext>
                  </a:extLst>
                </a:gridCol>
                <a:gridCol w="1009230">
                  <a:extLst>
                    <a:ext uri="{9D8B030D-6E8A-4147-A177-3AD203B41FA5}">
                      <a16:colId xmlns:a16="http://schemas.microsoft.com/office/drawing/2014/main" val="529650208"/>
                    </a:ext>
                  </a:extLst>
                </a:gridCol>
                <a:gridCol w="760200">
                  <a:extLst>
                    <a:ext uri="{9D8B030D-6E8A-4147-A177-3AD203B41FA5}">
                      <a16:colId xmlns:a16="http://schemas.microsoft.com/office/drawing/2014/main" val="92458083"/>
                    </a:ext>
                  </a:extLst>
                </a:gridCol>
                <a:gridCol w="773307">
                  <a:extLst>
                    <a:ext uri="{9D8B030D-6E8A-4147-A177-3AD203B41FA5}">
                      <a16:colId xmlns:a16="http://schemas.microsoft.com/office/drawing/2014/main" val="1261093951"/>
                    </a:ext>
                  </a:extLst>
                </a:gridCol>
                <a:gridCol w="760200">
                  <a:extLst>
                    <a:ext uri="{9D8B030D-6E8A-4147-A177-3AD203B41FA5}">
                      <a16:colId xmlns:a16="http://schemas.microsoft.com/office/drawing/2014/main" val="3845723164"/>
                    </a:ext>
                  </a:extLst>
                </a:gridCol>
                <a:gridCol w="825733">
                  <a:extLst>
                    <a:ext uri="{9D8B030D-6E8A-4147-A177-3AD203B41FA5}">
                      <a16:colId xmlns:a16="http://schemas.microsoft.com/office/drawing/2014/main" val="2426758173"/>
                    </a:ext>
                  </a:extLst>
                </a:gridCol>
                <a:gridCol w="825733">
                  <a:extLst>
                    <a:ext uri="{9D8B030D-6E8A-4147-A177-3AD203B41FA5}">
                      <a16:colId xmlns:a16="http://schemas.microsoft.com/office/drawing/2014/main" val="7475768"/>
                    </a:ext>
                  </a:extLst>
                </a:gridCol>
                <a:gridCol w="707773">
                  <a:extLst>
                    <a:ext uri="{9D8B030D-6E8A-4147-A177-3AD203B41FA5}">
                      <a16:colId xmlns:a16="http://schemas.microsoft.com/office/drawing/2014/main" val="2676474225"/>
                    </a:ext>
                  </a:extLst>
                </a:gridCol>
                <a:gridCol w="273837">
                  <a:extLst>
                    <a:ext uri="{9D8B030D-6E8A-4147-A177-3AD203B41FA5}">
                      <a16:colId xmlns:a16="http://schemas.microsoft.com/office/drawing/2014/main" val="3819434327"/>
                    </a:ext>
                  </a:extLst>
                </a:gridCol>
                <a:gridCol w="302867">
                  <a:extLst>
                    <a:ext uri="{9D8B030D-6E8A-4147-A177-3AD203B41FA5}">
                      <a16:colId xmlns:a16="http://schemas.microsoft.com/office/drawing/2014/main" val="542824465"/>
                    </a:ext>
                  </a:extLst>
                </a:gridCol>
                <a:gridCol w="392077">
                  <a:extLst>
                    <a:ext uri="{9D8B030D-6E8A-4147-A177-3AD203B41FA5}">
                      <a16:colId xmlns:a16="http://schemas.microsoft.com/office/drawing/2014/main" val="3306756722"/>
                    </a:ext>
                  </a:extLst>
                </a:gridCol>
                <a:gridCol w="315696">
                  <a:extLst>
                    <a:ext uri="{9D8B030D-6E8A-4147-A177-3AD203B41FA5}">
                      <a16:colId xmlns:a16="http://schemas.microsoft.com/office/drawing/2014/main" val="337870763"/>
                    </a:ext>
                  </a:extLst>
                </a:gridCol>
                <a:gridCol w="214656">
                  <a:extLst>
                    <a:ext uri="{9D8B030D-6E8A-4147-A177-3AD203B41FA5}">
                      <a16:colId xmlns:a16="http://schemas.microsoft.com/office/drawing/2014/main" val="706361869"/>
                    </a:ext>
                  </a:extLst>
                </a:gridCol>
                <a:gridCol w="329184">
                  <a:extLst>
                    <a:ext uri="{9D8B030D-6E8A-4147-A177-3AD203B41FA5}">
                      <a16:colId xmlns:a16="http://schemas.microsoft.com/office/drawing/2014/main" val="4116551387"/>
                    </a:ext>
                  </a:extLst>
                </a:gridCol>
                <a:gridCol w="429768">
                  <a:extLst>
                    <a:ext uri="{9D8B030D-6E8A-4147-A177-3AD203B41FA5}">
                      <a16:colId xmlns:a16="http://schemas.microsoft.com/office/drawing/2014/main" val="3438594745"/>
                    </a:ext>
                  </a:extLst>
                </a:gridCol>
                <a:gridCol w="468004">
                  <a:extLst>
                    <a:ext uri="{9D8B030D-6E8A-4147-A177-3AD203B41FA5}">
                      <a16:colId xmlns:a16="http://schemas.microsoft.com/office/drawing/2014/main" val="2391851116"/>
                    </a:ext>
                  </a:extLst>
                </a:gridCol>
                <a:gridCol w="2208659">
                  <a:extLst>
                    <a:ext uri="{9D8B030D-6E8A-4147-A177-3AD203B41FA5}">
                      <a16:colId xmlns:a16="http://schemas.microsoft.com/office/drawing/2014/main" val="3502179738"/>
                    </a:ext>
                  </a:extLst>
                </a:gridCol>
              </a:tblGrid>
              <a:tr h="342604">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pPr algn="ctr"/>
                      <a:endParaRPr lang="en-US"/>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173147">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n-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t">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dirty="0">
                          <a:solidFill>
                            <a:schemeClr val="tx1"/>
                          </a:solidFill>
                          <a:effectLst/>
                          <a:latin typeface="+mn-lt"/>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34260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144.2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147.584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147.575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0.009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144.2</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144.2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342604">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387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399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340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20322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387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399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377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310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9</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310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257876">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144.2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147.584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147.584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100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257876">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144.2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147.69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147.69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35</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73147">
                <a:tc gridSpan="17">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42604">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173147">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597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rowSpan="2"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42 Nos supply pending to </a:t>
                      </a:r>
                      <a:r>
                        <a:rPr lang="en-US"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C.Survey</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&amp; 38 Nos Pending due to crossing NOC , Rest Supply under progress</a:t>
                      </a:r>
                    </a:p>
                  </a:txBody>
                  <a:tcPr marL="3983" marR="3983" marT="3983" marB="0" anchor="ct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solidFill>
                      <a:schemeClr val="bg1"/>
                    </a:solidFill>
                  </a:tcPr>
                </a:tc>
                <a:tc rowSpan="2" hMerge="1">
                  <a:txBody>
                    <a:bodyPr/>
                    <a:lstStyle/>
                    <a:p>
                      <a:endParaRPr lang="en-US"/>
                    </a:p>
                  </a:txBody>
                  <a:tcPr/>
                </a:tc>
                <a:tc rowSpan="2" hMerge="1">
                  <a:txBody>
                    <a:bodyPr/>
                    <a:lstStyle/>
                    <a:p>
                      <a:endParaRPr lang="en-US"/>
                    </a:p>
                  </a:txBody>
                  <a:tcPr/>
                </a:tc>
                <a:tc rowSpan="2" hMerge="1">
                  <a:txBody>
                    <a:bodyPr/>
                    <a:lstStyle/>
                    <a:p>
                      <a:endParaRPr lang="en-US"/>
                    </a:p>
                  </a:txBody>
                  <a:tcPr/>
                </a:tc>
                <a:tc rowSpan="2" hMerge="1">
                  <a:txBody>
                    <a:bodyPr/>
                    <a:lstStyle/>
                    <a:p>
                      <a:endParaRPr lang="en-US"/>
                    </a:p>
                  </a:txBody>
                  <a:tcPr/>
                </a:tc>
                <a:extLst>
                  <a:ext uri="{0D108BD9-81ED-4DB2-BD59-A6C34878D82A}">
                    <a16:rowId xmlns:a16="http://schemas.microsoft.com/office/drawing/2014/main" val="1754932322"/>
                  </a:ext>
                </a:extLst>
              </a:tr>
              <a:tr h="169457">
                <a:tc rowSpan="2">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490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rowSpan="2"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pPr algn="l"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574270701"/>
                  </a:ext>
                </a:extLst>
              </a:tr>
              <a:tr h="0">
                <a:tc vMerge="1">
                  <a:txBody>
                    <a:bodyPr/>
                    <a:lstStyle/>
                    <a:p>
                      <a:endParaRPr lang="en-IN"/>
                    </a:p>
                  </a:txBody>
                  <a:tcPr>
                    <a:lnT w="6350" cap="flat" cmpd="sng" algn="ctr">
                      <a:solidFill>
                        <a:srgbClr val="000000"/>
                      </a:solidFill>
                      <a:prstDash val="solid"/>
                      <a:round/>
                      <a:headEnd type="none" w="med" len="med"/>
                      <a:tailEnd type="none" w="med" len="med"/>
                    </a:lnT>
                  </a:tcPr>
                </a:tc>
                <a:tc vMerge="1">
                  <a:txBody>
                    <a:bodyPr/>
                    <a:lstStyle/>
                    <a:p>
                      <a:endParaRPr lang="en-IN"/>
                    </a:p>
                  </a:txBody>
                  <a:tcPr>
                    <a:lnT w="6350" cap="flat" cmpd="sng" algn="ctr">
                      <a:solidFill>
                        <a:srgbClr val="000000"/>
                      </a:solidFill>
                      <a:prstDash val="solid"/>
                      <a:round/>
                      <a:headEnd type="none" w="med" len="med"/>
                      <a:tailEnd type="none" w="med" len="med"/>
                    </a:lnT>
                  </a:tcPr>
                </a:tc>
                <a:tc vMerge="1">
                  <a:txBody>
                    <a:bodyPr/>
                    <a:lstStyle/>
                    <a:p>
                      <a:endParaRPr lang="en-IN"/>
                    </a:p>
                  </a:txBody>
                  <a:tcPr>
                    <a:lnT w="6350" cap="flat" cmpd="sng" algn="ctr">
                      <a:solidFill>
                        <a:srgbClr val="000000"/>
                      </a:solidFill>
                      <a:prstDash val="solid"/>
                      <a:round/>
                      <a:headEnd type="none" w="med" len="med"/>
                      <a:tailEnd type="none" w="med" len="med"/>
                    </a:lnT>
                  </a:tcPr>
                </a:tc>
                <a:tc vMerge="1">
                  <a:txBody>
                    <a:bodyPr/>
                    <a:lstStyle/>
                    <a:p>
                      <a:endParaRPr lang="en-IN"/>
                    </a:p>
                  </a:txBody>
                  <a:tcPr>
                    <a:lnT w="6350" cap="flat" cmpd="sng" algn="ctr">
                      <a:solidFill>
                        <a:srgbClr val="000000"/>
                      </a:solidFill>
                      <a:prstDash val="solid"/>
                      <a:round/>
                      <a:headEnd type="none" w="med" len="med"/>
                      <a:tailEnd type="none" w="med" len="med"/>
                    </a:lnT>
                  </a:tcPr>
                </a:tc>
                <a:tc vMerge="1">
                  <a:txBody>
                    <a:bodyPr/>
                    <a:lstStyle/>
                    <a:p>
                      <a:endParaRPr lang="en-IN"/>
                    </a:p>
                  </a:txBody>
                  <a:tcPr>
                    <a:lnT w="6350" cap="flat" cmpd="sng" algn="ctr">
                      <a:solidFill>
                        <a:srgbClr val="000000"/>
                      </a:solidFill>
                      <a:prstDash val="solid"/>
                      <a:round/>
                      <a:headEnd type="none" w="med" len="med"/>
                      <a:tailEnd type="none" w="med" len="med"/>
                    </a:lnT>
                  </a:tcPr>
                </a:tc>
                <a:tc vMerge="1">
                  <a:txBody>
                    <a:bodyPr/>
                    <a:lstStyle/>
                    <a:p>
                      <a:endParaRPr lang="en-IN"/>
                    </a:p>
                  </a:txBody>
                  <a:tcPr>
                    <a:lnT w="6350" cap="flat" cmpd="sng" algn="ctr">
                      <a:solidFill>
                        <a:srgbClr val="000000"/>
                      </a:solidFill>
                      <a:prstDash val="solid"/>
                      <a:round/>
                      <a:headEnd type="none" w="med" len="med"/>
                      <a:tailEnd type="none" w="med" len="med"/>
                    </a:lnT>
                  </a:tcPr>
                </a:tc>
                <a:tc vMerge="1">
                  <a:txBody>
                    <a:bodyPr/>
                    <a:lstStyle/>
                    <a:p>
                      <a:endParaRPr lang="en-IN"/>
                    </a:p>
                  </a:txBody>
                  <a:tcPr>
                    <a:lnT w="6350" cap="flat" cmpd="sng" algn="ctr">
                      <a:solidFill>
                        <a:srgbClr val="000000"/>
                      </a:solidFill>
                      <a:prstDash val="solid"/>
                      <a:round/>
                      <a:headEnd type="none" w="med" len="med"/>
                      <a:tailEnd type="none" w="med" len="med"/>
                    </a:lnT>
                  </a:tcPr>
                </a:tc>
                <a:tc vMerge="1">
                  <a:txBody>
                    <a:bodyPr/>
                    <a:lstStyle/>
                    <a:p>
                      <a:endParaRPr lang="en-IN"/>
                    </a:p>
                  </a:txBody>
                  <a:tcPr>
                    <a:lnT w="6350" cap="flat" cmpd="sng" algn="ctr">
                      <a:solidFill>
                        <a:srgbClr val="000000"/>
                      </a:solidFill>
                      <a:prstDash val="solid"/>
                      <a:round/>
                      <a:headEnd type="none" w="med" len="med"/>
                      <a:tailEnd type="none" w="med" len="med"/>
                    </a:lnT>
                  </a:tcPr>
                </a:tc>
                <a:tc gridSpan="2" vMerge="1">
                  <a:txBody>
                    <a:bodyPr/>
                    <a:lstStyle/>
                    <a:p>
                      <a:endParaRPr lang="en-IN"/>
                    </a:p>
                  </a:txBody>
                  <a:tcPr>
                    <a:lnT w="6350" cap="flat" cmpd="sng" algn="ctr">
                      <a:solidFill>
                        <a:srgbClr val="000000"/>
                      </a:solidFill>
                      <a:prstDash val="solid"/>
                      <a:round/>
                      <a:headEnd type="none" w="med" len="med"/>
                      <a:tailEnd type="none" w="med" len="med"/>
                    </a:lnT>
                  </a:tcPr>
                </a:tc>
                <a:tc hMerge="1" vMerge="1">
                  <a:txBody>
                    <a:bodyPr/>
                    <a:lstStyle/>
                    <a:p>
                      <a:endParaRPr lang="en-US"/>
                    </a:p>
                  </a:txBody>
                  <a:tcPr/>
                </a:tc>
                <a:tc gridSpan="2" vMerge="1">
                  <a:txBody>
                    <a:bodyPr/>
                    <a:lstStyle/>
                    <a:p>
                      <a:endParaRPr lang="en-IN"/>
                    </a:p>
                  </a:txBody>
                  <a:tcPr>
                    <a:lnT w="6350" cap="flat" cmpd="sng" algn="ctr">
                      <a:solidFill>
                        <a:srgbClr val="000000"/>
                      </a:solidFill>
                      <a:prstDash val="solid"/>
                      <a:round/>
                      <a:headEnd type="none" w="med" len="med"/>
                      <a:tailEnd type="none" w="med" len="med"/>
                    </a:lnT>
                  </a:tcPr>
                </a:tc>
                <a:tc hMerge="1" vMerge="1">
                  <a:txBody>
                    <a:bodyPr/>
                    <a:lstStyle/>
                    <a:p>
                      <a:endParaRPr lang="en-US"/>
                    </a:p>
                  </a:txBody>
                  <a:tcPr/>
                </a:tc>
                <a:tc rowSpan="6"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B w="6350" cap="flat" cmpd="sng" algn="ctr">
                      <a:solidFill>
                        <a:srgbClr val="000000"/>
                      </a:solidFill>
                      <a:prstDash val="solid"/>
                      <a:round/>
                      <a:headEnd type="none" w="med" len="med"/>
                      <a:tailEnd type="none" w="med" len="med"/>
                    </a:lnB>
                    <a:solidFill>
                      <a:schemeClr val="bg1"/>
                    </a:solidFill>
                  </a:tcPr>
                </a:tc>
                <a:tc rowSpan="6" hMerge="1">
                  <a:txBody>
                    <a:bodyPr/>
                    <a:lstStyle/>
                    <a:p>
                      <a:endParaRPr lang="en-US"/>
                    </a:p>
                  </a:txBody>
                  <a:tcPr/>
                </a:tc>
                <a:tc rowSpan="6" hMerge="1">
                  <a:txBody>
                    <a:bodyPr/>
                    <a:lstStyle/>
                    <a:p>
                      <a:endParaRPr lang="en-IN"/>
                    </a:p>
                  </a:txBody>
                  <a:tcPr/>
                </a:tc>
                <a:tc rowSpan="6" hMerge="1">
                  <a:txBody>
                    <a:bodyPr/>
                    <a:lstStyle/>
                    <a:p>
                      <a:endParaRPr lang="en-IN"/>
                    </a:p>
                  </a:txBody>
                  <a:tcPr/>
                </a:tc>
                <a:tc rowSpan="6" hMerge="1">
                  <a:txBody>
                    <a:bodyPr/>
                    <a:lstStyle/>
                    <a:p>
                      <a:endParaRPr lang="en-IN"/>
                    </a:p>
                  </a:txBody>
                  <a:tcPr/>
                </a:tc>
                <a:extLst>
                  <a:ext uri="{0D108BD9-81ED-4DB2-BD59-A6C34878D82A}">
                    <a16:rowId xmlns:a16="http://schemas.microsoft.com/office/drawing/2014/main" val="4139649746"/>
                  </a:ext>
                </a:extLst>
              </a:tr>
              <a:tr h="17314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3800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519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2495535454"/>
                  </a:ext>
                </a:extLst>
              </a:tr>
              <a:tr h="17314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69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2396488407"/>
                  </a:ext>
                </a:extLst>
              </a:tr>
              <a:tr h="173147">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5424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pPr algn="l"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419053964"/>
                  </a:ext>
                </a:extLst>
              </a:tr>
              <a:tr h="173147">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8000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5772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4005780108"/>
                  </a:ext>
                </a:extLst>
              </a:tr>
              <a:tr h="173147">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endParaRPr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5" name="Table 4">
            <a:extLst>
              <a:ext uri="{FF2B5EF4-FFF2-40B4-BE49-F238E27FC236}">
                <a16:creationId xmlns:a16="http://schemas.microsoft.com/office/drawing/2014/main" id="{440A4DFD-4221-45F8-3B54-F7632BBC3BF1}"/>
              </a:ext>
            </a:extLst>
          </p:cNvPr>
          <p:cNvGraphicFramePr>
            <a:graphicFrameLocks noGrp="1"/>
          </p:cNvGraphicFramePr>
          <p:nvPr>
            <p:extLst>
              <p:ext uri="{D42A27DB-BD31-4B8C-83A1-F6EECF244321}">
                <p14:modId xmlns:p14="http://schemas.microsoft.com/office/powerpoint/2010/main" val="2218959824"/>
              </p:ext>
            </p:extLst>
          </p:nvPr>
        </p:nvGraphicFramePr>
        <p:xfrm>
          <a:off x="248107" y="5418152"/>
          <a:ext cx="11737228" cy="1192192"/>
        </p:xfrm>
        <a:graphic>
          <a:graphicData uri="http://schemas.openxmlformats.org/drawingml/2006/table">
            <a:tbl>
              <a:tblPr/>
              <a:tblGrid>
                <a:gridCol w="1252547">
                  <a:extLst>
                    <a:ext uri="{9D8B030D-6E8A-4147-A177-3AD203B41FA5}">
                      <a16:colId xmlns:a16="http://schemas.microsoft.com/office/drawing/2014/main" val="4144033618"/>
                    </a:ext>
                  </a:extLst>
                </a:gridCol>
                <a:gridCol w="1112176">
                  <a:extLst>
                    <a:ext uri="{9D8B030D-6E8A-4147-A177-3AD203B41FA5}">
                      <a16:colId xmlns:a16="http://schemas.microsoft.com/office/drawing/2014/main" val="2710662077"/>
                    </a:ext>
                  </a:extLst>
                </a:gridCol>
                <a:gridCol w="831433">
                  <a:extLst>
                    <a:ext uri="{9D8B030D-6E8A-4147-A177-3AD203B41FA5}">
                      <a16:colId xmlns:a16="http://schemas.microsoft.com/office/drawing/2014/main" val="3810854777"/>
                    </a:ext>
                  </a:extLst>
                </a:gridCol>
                <a:gridCol w="1274143">
                  <a:extLst>
                    <a:ext uri="{9D8B030D-6E8A-4147-A177-3AD203B41FA5}">
                      <a16:colId xmlns:a16="http://schemas.microsoft.com/office/drawing/2014/main" val="95352560"/>
                    </a:ext>
                  </a:extLst>
                </a:gridCol>
                <a:gridCol w="1252547">
                  <a:extLst>
                    <a:ext uri="{9D8B030D-6E8A-4147-A177-3AD203B41FA5}">
                      <a16:colId xmlns:a16="http://schemas.microsoft.com/office/drawing/2014/main" val="3482007332"/>
                    </a:ext>
                  </a:extLst>
                </a:gridCol>
                <a:gridCol w="907017">
                  <a:extLst>
                    <a:ext uri="{9D8B030D-6E8A-4147-A177-3AD203B41FA5}">
                      <a16:colId xmlns:a16="http://schemas.microsoft.com/office/drawing/2014/main" val="3780160470"/>
                    </a:ext>
                  </a:extLst>
                </a:gridCol>
                <a:gridCol w="1360525">
                  <a:extLst>
                    <a:ext uri="{9D8B030D-6E8A-4147-A177-3AD203B41FA5}">
                      <a16:colId xmlns:a16="http://schemas.microsoft.com/office/drawing/2014/main" val="4001841647"/>
                    </a:ext>
                  </a:extLst>
                </a:gridCol>
                <a:gridCol w="1166163">
                  <a:extLst>
                    <a:ext uri="{9D8B030D-6E8A-4147-A177-3AD203B41FA5}">
                      <a16:colId xmlns:a16="http://schemas.microsoft.com/office/drawing/2014/main" val="873345733"/>
                    </a:ext>
                  </a:extLst>
                </a:gridCol>
                <a:gridCol w="637071">
                  <a:extLst>
                    <a:ext uri="{9D8B030D-6E8A-4147-A177-3AD203B41FA5}">
                      <a16:colId xmlns:a16="http://schemas.microsoft.com/office/drawing/2014/main" val="983947984"/>
                    </a:ext>
                  </a:extLst>
                </a:gridCol>
                <a:gridCol w="1166163">
                  <a:extLst>
                    <a:ext uri="{9D8B030D-6E8A-4147-A177-3AD203B41FA5}">
                      <a16:colId xmlns:a16="http://schemas.microsoft.com/office/drawing/2014/main" val="3672483493"/>
                    </a:ext>
                  </a:extLst>
                </a:gridCol>
                <a:gridCol w="777443">
                  <a:extLst>
                    <a:ext uri="{9D8B030D-6E8A-4147-A177-3AD203B41FA5}">
                      <a16:colId xmlns:a16="http://schemas.microsoft.com/office/drawing/2014/main" val="1432498959"/>
                    </a:ext>
                  </a:extLst>
                </a:gridCol>
              </a:tblGrid>
              <a:tr h="183092">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183092">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 </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 </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251332">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18309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18309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18309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4227259320"/>
      </p:ext>
    </p:extLst>
  </p:cSld>
  <p:clrMapOvr>
    <a:masterClrMapping/>
  </p:clrMapOvr>
  <p:transition spd="slow"/>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7C960D-A583-0DA9-2E9F-A12E9F3E27C3}"/>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A6964E43-1250-AC8A-440C-98C81A7F6CDD}"/>
              </a:ext>
            </a:extLst>
          </p:cNvPr>
          <p:cNvSpPr txBox="1"/>
          <p:nvPr/>
        </p:nvSpPr>
        <p:spPr>
          <a:xfrm>
            <a:off x="266321" y="1643634"/>
            <a:ext cx="11677650" cy="2492990"/>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endParaRPr lang="en-IN" b="1"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1. Market Rate Compensation (MRC) is still pending for finalization</a:t>
            </a:r>
          </a:p>
          <a:p>
            <a:pPr marL="342900" indent="-342900">
              <a:buAutoNum type="arabicPeriod"/>
            </a:pPr>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2. Work front availability</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3. Approval of the OPGW drum schedule is still pending due to which supply activities could not be initiated. The same was submitted to PGCIL on 10.03.2026</a:t>
            </a:r>
          </a:p>
          <a:p>
            <a:r>
              <a:rPr lang="en-US" sz="1200" dirty="0">
                <a:ea typeface="Calibri" panose="020F0502020204030204" pitchFamily="34" charset="0"/>
                <a:cs typeface="Calibri" panose="020F0502020204030204" pitchFamily="34" charset="0"/>
              </a:rPr>
              <a:t>	</a:t>
            </a:r>
            <a:endParaRPr lang="en-IN" sz="1200" dirty="0">
              <a:ea typeface="Calibri" panose="020F0502020204030204" pitchFamily="34" charset="0"/>
              <a:cs typeface="Calibri" panose="020F0502020204030204" pitchFamily="34" charset="0"/>
            </a:endParaRPr>
          </a:p>
        </p:txBody>
      </p:sp>
      <p:sp>
        <p:nvSpPr>
          <p:cNvPr id="4" name="Title 1">
            <a:extLst>
              <a:ext uri="{FF2B5EF4-FFF2-40B4-BE49-F238E27FC236}">
                <a16:creationId xmlns:a16="http://schemas.microsoft.com/office/drawing/2014/main" id="{2312B19A-C263-E463-3CF1-0D15B86EB762}"/>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400 KV Siwani-Fatehabad TL &amp; Siwani-Patran TL </a:t>
            </a:r>
            <a:r>
              <a:rPr lang="en-US" sz="2400" b="1" dirty="0">
                <a:latin typeface="Calibri" panose="020F0502020204030204" pitchFamily="34" charset="0"/>
                <a:ea typeface="Calibri" panose="020F0502020204030204" pitchFamily="34" charset="0"/>
                <a:cs typeface="Calibri" panose="020F0502020204030204" pitchFamily="34" charset="0"/>
              </a:rPr>
              <a:t>(TA- 513)</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6363CA04-EC5F-9494-3A0E-197075568E81}"/>
              </a:ext>
            </a:extLst>
          </p:cNvPr>
          <p:cNvGraphicFramePr>
            <a:graphicFrameLocks noGrp="1"/>
          </p:cNvGraphicFramePr>
          <p:nvPr>
            <p:extLst>
              <p:ext uri="{D42A27DB-BD31-4B8C-83A1-F6EECF244321}">
                <p14:modId xmlns:p14="http://schemas.microsoft.com/office/powerpoint/2010/main" val="2636099154"/>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22.01.2025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666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22.12.26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652604097"/>
      </p:ext>
    </p:extLst>
  </p:cSld>
  <p:clrMapOvr>
    <a:masterClrMapping/>
  </p:clrMapOvr>
  <p:transition spd="slow"/>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5BDCFB-4231-4984-B08D-B0A58D8E13DB}"/>
              </a:ext>
            </a:extLst>
          </p:cNvPr>
          <p:cNvSpPr>
            <a:spLocks noGrp="1"/>
          </p:cNvSpPr>
          <p:nvPr>
            <p:ph type="title"/>
          </p:nvPr>
        </p:nvSpPr>
        <p:spPr>
          <a:xfrm>
            <a:off x="257898" y="2877191"/>
            <a:ext cx="11676203" cy="551809"/>
          </a:xfrm>
        </p:spPr>
        <p:txBody>
          <a:bodyPr>
            <a:normAutofit fontScale="90000"/>
          </a:bodyPr>
          <a:lstStyle/>
          <a:p>
            <a:pPr algn="ctr"/>
            <a:r>
              <a:rPr lang="en-IN" dirty="0">
                <a:latin typeface="Calibri" panose="020F0502020204030204" pitchFamily="34" charset="0"/>
                <a:ea typeface="Calibri" panose="020F0502020204030204" pitchFamily="34" charset="0"/>
                <a:cs typeface="Calibri" panose="020F0502020204030204" pitchFamily="34" charset="0"/>
              </a:rPr>
              <a:t>Northern Region (NR-III)</a:t>
            </a:r>
          </a:p>
        </p:txBody>
      </p:sp>
    </p:spTree>
    <p:extLst>
      <p:ext uri="{BB962C8B-B14F-4D97-AF65-F5344CB8AC3E}">
        <p14:creationId xmlns:p14="http://schemas.microsoft.com/office/powerpoint/2010/main" val="3301918376"/>
      </p:ext>
    </p:extLst>
  </p:cSld>
  <p:clrMapOvr>
    <a:masterClrMapping/>
  </p:clrMapOvr>
  <p:transition spd="slow"/>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819C96-8130-5AE6-77BD-8E01E09BE662}"/>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D037527F-A51A-5C2A-07E3-36803E20FD96}"/>
              </a:ext>
            </a:extLst>
          </p:cNvPr>
          <p:cNvSpPr>
            <a:spLocks noGrp="1"/>
          </p:cNvSpPr>
          <p:nvPr>
            <p:ph type="title"/>
          </p:nvPr>
        </p:nvSpPr>
        <p:spPr>
          <a:xfrm>
            <a:off x="257175" y="587375"/>
            <a:ext cx="11677650" cy="550863"/>
          </a:xfrm>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TL03 - 765 KV D/C Neemrana II Bareilly Line (TA- 416)</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7" name="Table 6">
            <a:extLst>
              <a:ext uri="{FF2B5EF4-FFF2-40B4-BE49-F238E27FC236}">
                <a16:creationId xmlns:a16="http://schemas.microsoft.com/office/drawing/2014/main" id="{1DBA82B7-254F-27E7-A17B-C49AD26F428A}"/>
              </a:ext>
            </a:extLst>
          </p:cNvPr>
          <p:cNvGraphicFramePr>
            <a:graphicFrameLocks noGrp="1"/>
          </p:cNvGraphicFramePr>
          <p:nvPr>
            <p:extLst>
              <p:ext uri="{D42A27DB-BD31-4B8C-83A1-F6EECF244321}">
                <p14:modId xmlns:p14="http://schemas.microsoft.com/office/powerpoint/2010/main" val="1064510669"/>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07/02/2024</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06/11/2025</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3" name="Table 2">
            <a:extLst>
              <a:ext uri="{FF2B5EF4-FFF2-40B4-BE49-F238E27FC236}">
                <a16:creationId xmlns:a16="http://schemas.microsoft.com/office/drawing/2014/main" id="{7FEFE754-6853-B34B-60C1-00B0F5C925B0}"/>
              </a:ext>
            </a:extLst>
          </p:cNvPr>
          <p:cNvGraphicFramePr>
            <a:graphicFrameLocks noGrp="1"/>
          </p:cNvGraphicFramePr>
          <p:nvPr>
            <p:extLst>
              <p:ext uri="{D42A27DB-BD31-4B8C-83A1-F6EECF244321}">
                <p14:modId xmlns:p14="http://schemas.microsoft.com/office/powerpoint/2010/main" val="3428626028"/>
              </p:ext>
            </p:extLst>
          </p:nvPr>
        </p:nvGraphicFramePr>
        <p:xfrm>
          <a:off x="257175" y="1472186"/>
          <a:ext cx="11677647" cy="3709415"/>
        </p:xfrm>
        <a:graphic>
          <a:graphicData uri="http://schemas.openxmlformats.org/drawingml/2006/table">
            <a:tbl>
              <a:tblPr/>
              <a:tblGrid>
                <a:gridCol w="1134512">
                  <a:extLst>
                    <a:ext uri="{9D8B030D-6E8A-4147-A177-3AD203B41FA5}">
                      <a16:colId xmlns:a16="http://schemas.microsoft.com/office/drawing/2014/main" val="3134568255"/>
                    </a:ext>
                  </a:extLst>
                </a:gridCol>
                <a:gridCol w="1004107">
                  <a:extLst>
                    <a:ext uri="{9D8B030D-6E8A-4147-A177-3AD203B41FA5}">
                      <a16:colId xmlns:a16="http://schemas.microsoft.com/office/drawing/2014/main" val="529650208"/>
                    </a:ext>
                  </a:extLst>
                </a:gridCol>
                <a:gridCol w="756341">
                  <a:extLst>
                    <a:ext uri="{9D8B030D-6E8A-4147-A177-3AD203B41FA5}">
                      <a16:colId xmlns:a16="http://schemas.microsoft.com/office/drawing/2014/main" val="92458083"/>
                    </a:ext>
                  </a:extLst>
                </a:gridCol>
                <a:gridCol w="769382">
                  <a:extLst>
                    <a:ext uri="{9D8B030D-6E8A-4147-A177-3AD203B41FA5}">
                      <a16:colId xmlns:a16="http://schemas.microsoft.com/office/drawing/2014/main" val="1261093951"/>
                    </a:ext>
                  </a:extLst>
                </a:gridCol>
                <a:gridCol w="756341">
                  <a:extLst>
                    <a:ext uri="{9D8B030D-6E8A-4147-A177-3AD203B41FA5}">
                      <a16:colId xmlns:a16="http://schemas.microsoft.com/office/drawing/2014/main" val="3845723164"/>
                    </a:ext>
                  </a:extLst>
                </a:gridCol>
                <a:gridCol w="821542">
                  <a:extLst>
                    <a:ext uri="{9D8B030D-6E8A-4147-A177-3AD203B41FA5}">
                      <a16:colId xmlns:a16="http://schemas.microsoft.com/office/drawing/2014/main" val="2426758173"/>
                    </a:ext>
                  </a:extLst>
                </a:gridCol>
                <a:gridCol w="821542">
                  <a:extLst>
                    <a:ext uri="{9D8B030D-6E8A-4147-A177-3AD203B41FA5}">
                      <a16:colId xmlns:a16="http://schemas.microsoft.com/office/drawing/2014/main" val="7475768"/>
                    </a:ext>
                  </a:extLst>
                </a:gridCol>
                <a:gridCol w="704180">
                  <a:extLst>
                    <a:ext uri="{9D8B030D-6E8A-4147-A177-3AD203B41FA5}">
                      <a16:colId xmlns:a16="http://schemas.microsoft.com/office/drawing/2014/main" val="2676474225"/>
                    </a:ext>
                  </a:extLst>
                </a:gridCol>
                <a:gridCol w="242453">
                  <a:extLst>
                    <a:ext uri="{9D8B030D-6E8A-4147-A177-3AD203B41FA5}">
                      <a16:colId xmlns:a16="http://schemas.microsoft.com/office/drawing/2014/main" val="3819434327"/>
                    </a:ext>
                  </a:extLst>
                </a:gridCol>
                <a:gridCol w="331324">
                  <a:extLst>
                    <a:ext uri="{9D8B030D-6E8A-4147-A177-3AD203B41FA5}">
                      <a16:colId xmlns:a16="http://schemas.microsoft.com/office/drawing/2014/main" val="3567753616"/>
                    </a:ext>
                  </a:extLst>
                </a:gridCol>
                <a:gridCol w="364001">
                  <a:extLst>
                    <a:ext uri="{9D8B030D-6E8A-4147-A177-3AD203B41FA5}">
                      <a16:colId xmlns:a16="http://schemas.microsoft.com/office/drawing/2014/main" val="3306756722"/>
                    </a:ext>
                  </a:extLst>
                </a:gridCol>
                <a:gridCol w="340179">
                  <a:extLst>
                    <a:ext uri="{9D8B030D-6E8A-4147-A177-3AD203B41FA5}">
                      <a16:colId xmlns:a16="http://schemas.microsoft.com/office/drawing/2014/main" val="3065471946"/>
                    </a:ext>
                  </a:extLst>
                </a:gridCol>
                <a:gridCol w="164646">
                  <a:extLst>
                    <a:ext uri="{9D8B030D-6E8A-4147-A177-3AD203B41FA5}">
                      <a16:colId xmlns:a16="http://schemas.microsoft.com/office/drawing/2014/main" val="706361869"/>
                    </a:ext>
                  </a:extLst>
                </a:gridCol>
                <a:gridCol w="352425">
                  <a:extLst>
                    <a:ext uri="{9D8B030D-6E8A-4147-A177-3AD203B41FA5}">
                      <a16:colId xmlns:a16="http://schemas.microsoft.com/office/drawing/2014/main" val="3791554900"/>
                    </a:ext>
                  </a:extLst>
                </a:gridCol>
                <a:gridCol w="504825">
                  <a:extLst>
                    <a:ext uri="{9D8B030D-6E8A-4147-A177-3AD203B41FA5}">
                      <a16:colId xmlns:a16="http://schemas.microsoft.com/office/drawing/2014/main" val="3438594745"/>
                    </a:ext>
                  </a:extLst>
                </a:gridCol>
                <a:gridCol w="412399">
                  <a:extLst>
                    <a:ext uri="{9D8B030D-6E8A-4147-A177-3AD203B41FA5}">
                      <a16:colId xmlns:a16="http://schemas.microsoft.com/office/drawing/2014/main" val="2391851116"/>
                    </a:ext>
                  </a:extLst>
                </a:gridCol>
                <a:gridCol w="2197448">
                  <a:extLst>
                    <a:ext uri="{9D8B030D-6E8A-4147-A177-3AD203B41FA5}">
                      <a16:colId xmlns:a16="http://schemas.microsoft.com/office/drawing/2014/main" val="3502179738"/>
                    </a:ext>
                  </a:extLst>
                </a:gridCol>
              </a:tblGrid>
              <a:tr h="398350">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(Up to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201321">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n-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dirty="0">
                          <a:solidFill>
                            <a:schemeClr val="tx1"/>
                          </a:solidFill>
                          <a:effectLst/>
                          <a:latin typeface="+mn-lt"/>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29983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29983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29983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201321">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115.134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110.774</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4.36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8.4</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8.4</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201321">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28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201321">
                <a:tc gridSpan="17">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98350">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201321">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201321">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rowSpan="5"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5" hMerge="1">
                  <a:txBody>
                    <a:bodyPr/>
                    <a:lstStyle/>
                    <a:p>
                      <a:endParaRPr lang="en-US"/>
                    </a:p>
                  </a:txBody>
                  <a:tcPr/>
                </a:tc>
                <a:tc rowSpan="5" hMerge="1">
                  <a:txBody>
                    <a:bodyPr/>
                    <a:lstStyle/>
                    <a:p>
                      <a:endParaRPr lang="en-US"/>
                    </a:p>
                  </a:txBody>
                  <a:tcPr/>
                </a:tc>
                <a:tc rowSpan="5" hMerge="1">
                  <a:txBody>
                    <a:bodyPr/>
                    <a:lstStyle/>
                    <a:p>
                      <a:endParaRPr lang="en-US"/>
                    </a:p>
                  </a:txBody>
                  <a:tcPr/>
                </a:tc>
                <a:tc rowSpan="5" hMerge="1">
                  <a:txBody>
                    <a:bodyPr/>
                    <a:lstStyle/>
                    <a:p>
                      <a:endParaRPr lang="en-US"/>
                    </a:p>
                  </a:txBody>
                  <a:tcPr/>
                </a:tc>
                <a:extLst>
                  <a:ext uri="{0D108BD9-81ED-4DB2-BD59-A6C34878D82A}">
                    <a16:rowId xmlns:a16="http://schemas.microsoft.com/office/drawing/2014/main" val="574270701"/>
                  </a:ext>
                </a:extLst>
              </a:tr>
              <a:tr h="201321">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2495535454"/>
                  </a:ext>
                </a:extLst>
              </a:tr>
              <a:tr h="201321">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2396488407"/>
                  </a:ext>
                </a:extLst>
              </a:tr>
              <a:tr h="201321">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pPr algn="l"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419053964"/>
                  </a:ext>
                </a:extLst>
              </a:tr>
              <a:tr h="201321">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vMerge="1">
                  <a:txBody>
                    <a:bodyPr/>
                    <a:lstStyle/>
                    <a:p>
                      <a:endParaRPr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8" name="Table 7">
            <a:extLst>
              <a:ext uri="{FF2B5EF4-FFF2-40B4-BE49-F238E27FC236}">
                <a16:creationId xmlns:a16="http://schemas.microsoft.com/office/drawing/2014/main" id="{7FF6F0A7-DC04-772C-1EA8-04C63BB592C2}"/>
              </a:ext>
            </a:extLst>
          </p:cNvPr>
          <p:cNvGraphicFramePr>
            <a:graphicFrameLocks noGrp="1"/>
          </p:cNvGraphicFramePr>
          <p:nvPr>
            <p:extLst>
              <p:ext uri="{D42A27DB-BD31-4B8C-83A1-F6EECF244321}">
                <p14:modId xmlns:p14="http://schemas.microsoft.com/office/powerpoint/2010/main" val="3155559568"/>
              </p:ext>
            </p:extLst>
          </p:nvPr>
        </p:nvGraphicFramePr>
        <p:xfrm>
          <a:off x="252133" y="5181600"/>
          <a:ext cx="11705007" cy="1302924"/>
        </p:xfrm>
        <a:graphic>
          <a:graphicData uri="http://schemas.openxmlformats.org/drawingml/2006/table">
            <a:tbl>
              <a:tblPr/>
              <a:tblGrid>
                <a:gridCol w="1249109">
                  <a:extLst>
                    <a:ext uri="{9D8B030D-6E8A-4147-A177-3AD203B41FA5}">
                      <a16:colId xmlns:a16="http://schemas.microsoft.com/office/drawing/2014/main" val="4144033618"/>
                    </a:ext>
                  </a:extLst>
                </a:gridCol>
                <a:gridCol w="1109123">
                  <a:extLst>
                    <a:ext uri="{9D8B030D-6E8A-4147-A177-3AD203B41FA5}">
                      <a16:colId xmlns:a16="http://schemas.microsoft.com/office/drawing/2014/main" val="2710662077"/>
                    </a:ext>
                  </a:extLst>
                </a:gridCol>
                <a:gridCol w="829150">
                  <a:extLst>
                    <a:ext uri="{9D8B030D-6E8A-4147-A177-3AD203B41FA5}">
                      <a16:colId xmlns:a16="http://schemas.microsoft.com/office/drawing/2014/main" val="3810854777"/>
                    </a:ext>
                  </a:extLst>
                </a:gridCol>
                <a:gridCol w="1270645">
                  <a:extLst>
                    <a:ext uri="{9D8B030D-6E8A-4147-A177-3AD203B41FA5}">
                      <a16:colId xmlns:a16="http://schemas.microsoft.com/office/drawing/2014/main" val="95352560"/>
                    </a:ext>
                  </a:extLst>
                </a:gridCol>
                <a:gridCol w="1249109">
                  <a:extLst>
                    <a:ext uri="{9D8B030D-6E8A-4147-A177-3AD203B41FA5}">
                      <a16:colId xmlns:a16="http://schemas.microsoft.com/office/drawing/2014/main" val="3482007332"/>
                    </a:ext>
                  </a:extLst>
                </a:gridCol>
                <a:gridCol w="904527">
                  <a:extLst>
                    <a:ext uri="{9D8B030D-6E8A-4147-A177-3AD203B41FA5}">
                      <a16:colId xmlns:a16="http://schemas.microsoft.com/office/drawing/2014/main" val="3780160470"/>
                    </a:ext>
                  </a:extLst>
                </a:gridCol>
                <a:gridCol w="1356791">
                  <a:extLst>
                    <a:ext uri="{9D8B030D-6E8A-4147-A177-3AD203B41FA5}">
                      <a16:colId xmlns:a16="http://schemas.microsoft.com/office/drawing/2014/main" val="4001841647"/>
                    </a:ext>
                  </a:extLst>
                </a:gridCol>
                <a:gridCol w="1162961">
                  <a:extLst>
                    <a:ext uri="{9D8B030D-6E8A-4147-A177-3AD203B41FA5}">
                      <a16:colId xmlns:a16="http://schemas.microsoft.com/office/drawing/2014/main" val="873345733"/>
                    </a:ext>
                  </a:extLst>
                </a:gridCol>
                <a:gridCol w="635322">
                  <a:extLst>
                    <a:ext uri="{9D8B030D-6E8A-4147-A177-3AD203B41FA5}">
                      <a16:colId xmlns:a16="http://schemas.microsoft.com/office/drawing/2014/main" val="983947984"/>
                    </a:ext>
                  </a:extLst>
                </a:gridCol>
                <a:gridCol w="1162961">
                  <a:extLst>
                    <a:ext uri="{9D8B030D-6E8A-4147-A177-3AD203B41FA5}">
                      <a16:colId xmlns:a16="http://schemas.microsoft.com/office/drawing/2014/main" val="3672483493"/>
                    </a:ext>
                  </a:extLst>
                </a:gridCol>
                <a:gridCol w="775309">
                  <a:extLst>
                    <a:ext uri="{9D8B030D-6E8A-4147-A177-3AD203B41FA5}">
                      <a16:colId xmlns:a16="http://schemas.microsoft.com/office/drawing/2014/main" val="1432498959"/>
                    </a:ext>
                  </a:extLst>
                </a:gridCol>
              </a:tblGrid>
              <a:tr h="217154">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217154">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 </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217154">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21715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21715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21715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141223719"/>
      </p:ext>
    </p:extLst>
  </p:cSld>
  <p:clrMapOvr>
    <a:masterClrMapping/>
  </p:clrMapOvr>
  <p:transition spd="slow"/>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11CDD3-D6C2-0A53-F93F-DF96787E42CE}"/>
            </a:ext>
          </a:extLst>
        </p:cNvPr>
        <p:cNvGrpSpPr/>
        <p:nvPr/>
      </p:nvGrpSpPr>
      <p:grpSpPr>
        <a:xfrm>
          <a:off x="0" y="0"/>
          <a:ext cx="0" cy="0"/>
          <a:chOff x="0" y="0"/>
          <a:chExt cx="0" cy="0"/>
        </a:xfrm>
      </p:grpSpPr>
      <p:sp>
        <p:nvSpPr>
          <p:cNvPr id="6" name="Title 1">
            <a:extLst>
              <a:ext uri="{FF2B5EF4-FFF2-40B4-BE49-F238E27FC236}">
                <a16:creationId xmlns:a16="http://schemas.microsoft.com/office/drawing/2014/main" id="{383A3BEF-A2A6-B0B0-840D-96AB6CA118E3}"/>
              </a:ext>
            </a:extLst>
          </p:cNvPr>
          <p:cNvSpPr>
            <a:spLocks noGrp="1"/>
          </p:cNvSpPr>
          <p:nvPr>
            <p:ph type="title"/>
          </p:nvPr>
        </p:nvSpPr>
        <p:spPr>
          <a:xfrm>
            <a:off x="257175" y="587375"/>
            <a:ext cx="11677650" cy="550863"/>
          </a:xfrm>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TL03 - 765 KV D/C Neemrana II Bareilly Line (TA- 416)</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le 7">
            <a:extLst>
              <a:ext uri="{FF2B5EF4-FFF2-40B4-BE49-F238E27FC236}">
                <a16:creationId xmlns:a16="http://schemas.microsoft.com/office/drawing/2014/main" id="{261DCC8E-02E5-812E-FFD9-A42075014D3D}"/>
              </a:ext>
            </a:extLst>
          </p:cNvPr>
          <p:cNvGraphicFramePr>
            <a:graphicFrameLocks noGrp="1"/>
          </p:cNvGraphicFramePr>
          <p:nvPr>
            <p:extLst>
              <p:ext uri="{D42A27DB-BD31-4B8C-83A1-F6EECF244321}">
                <p14:modId xmlns:p14="http://schemas.microsoft.com/office/powerpoint/2010/main" val="2208100023"/>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07/02/2024</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06/11/2025</a:t>
                      </a: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9" name="Table 8">
            <a:extLst>
              <a:ext uri="{FF2B5EF4-FFF2-40B4-BE49-F238E27FC236}">
                <a16:creationId xmlns:a16="http://schemas.microsoft.com/office/drawing/2014/main" id="{ADDBCBAC-BC01-55B4-E067-5C2750F519DD}"/>
              </a:ext>
            </a:extLst>
          </p:cNvPr>
          <p:cNvGraphicFramePr>
            <a:graphicFrameLocks noGrp="1"/>
          </p:cNvGraphicFramePr>
          <p:nvPr>
            <p:extLst>
              <p:ext uri="{D42A27DB-BD31-4B8C-83A1-F6EECF244321}">
                <p14:modId xmlns:p14="http://schemas.microsoft.com/office/powerpoint/2010/main" val="3933671953"/>
              </p:ext>
            </p:extLst>
          </p:nvPr>
        </p:nvGraphicFramePr>
        <p:xfrm>
          <a:off x="257175" y="1468216"/>
          <a:ext cx="11686796" cy="5232700"/>
        </p:xfrm>
        <a:graphic>
          <a:graphicData uri="http://schemas.openxmlformats.org/drawingml/2006/table">
            <a:tbl>
              <a:tblPr/>
              <a:tblGrid>
                <a:gridCol w="841573">
                  <a:extLst>
                    <a:ext uri="{9D8B030D-6E8A-4147-A177-3AD203B41FA5}">
                      <a16:colId xmlns:a16="http://schemas.microsoft.com/office/drawing/2014/main" val="330956746"/>
                    </a:ext>
                  </a:extLst>
                </a:gridCol>
                <a:gridCol w="2183809">
                  <a:extLst>
                    <a:ext uri="{9D8B030D-6E8A-4147-A177-3AD203B41FA5}">
                      <a16:colId xmlns:a16="http://schemas.microsoft.com/office/drawing/2014/main" val="467016710"/>
                    </a:ext>
                  </a:extLst>
                </a:gridCol>
                <a:gridCol w="908523">
                  <a:extLst>
                    <a:ext uri="{9D8B030D-6E8A-4147-A177-3AD203B41FA5}">
                      <a16:colId xmlns:a16="http://schemas.microsoft.com/office/drawing/2014/main" val="2623573662"/>
                    </a:ext>
                  </a:extLst>
                </a:gridCol>
                <a:gridCol w="444044">
                  <a:extLst>
                    <a:ext uri="{9D8B030D-6E8A-4147-A177-3AD203B41FA5}">
                      <a16:colId xmlns:a16="http://schemas.microsoft.com/office/drawing/2014/main" val="3348155062"/>
                    </a:ext>
                  </a:extLst>
                </a:gridCol>
                <a:gridCol w="539580">
                  <a:extLst>
                    <a:ext uri="{9D8B030D-6E8A-4147-A177-3AD203B41FA5}">
                      <a16:colId xmlns:a16="http://schemas.microsoft.com/office/drawing/2014/main" val="3407175280"/>
                    </a:ext>
                  </a:extLst>
                </a:gridCol>
                <a:gridCol w="539580">
                  <a:extLst>
                    <a:ext uri="{9D8B030D-6E8A-4147-A177-3AD203B41FA5}">
                      <a16:colId xmlns:a16="http://schemas.microsoft.com/office/drawing/2014/main" val="3835865023"/>
                    </a:ext>
                  </a:extLst>
                </a:gridCol>
                <a:gridCol w="634758">
                  <a:extLst>
                    <a:ext uri="{9D8B030D-6E8A-4147-A177-3AD203B41FA5}">
                      <a16:colId xmlns:a16="http://schemas.microsoft.com/office/drawing/2014/main" val="1278068280"/>
                    </a:ext>
                  </a:extLst>
                </a:gridCol>
                <a:gridCol w="432137">
                  <a:extLst>
                    <a:ext uri="{9D8B030D-6E8A-4147-A177-3AD203B41FA5}">
                      <a16:colId xmlns:a16="http://schemas.microsoft.com/office/drawing/2014/main" val="1087588403"/>
                    </a:ext>
                  </a:extLst>
                </a:gridCol>
                <a:gridCol w="490526">
                  <a:extLst>
                    <a:ext uri="{9D8B030D-6E8A-4147-A177-3AD203B41FA5}">
                      <a16:colId xmlns:a16="http://schemas.microsoft.com/office/drawing/2014/main" val="1978132890"/>
                    </a:ext>
                  </a:extLst>
                </a:gridCol>
                <a:gridCol w="527315">
                  <a:extLst>
                    <a:ext uri="{9D8B030D-6E8A-4147-A177-3AD203B41FA5}">
                      <a16:colId xmlns:a16="http://schemas.microsoft.com/office/drawing/2014/main" val="1472471097"/>
                    </a:ext>
                  </a:extLst>
                </a:gridCol>
                <a:gridCol w="527315">
                  <a:extLst>
                    <a:ext uri="{9D8B030D-6E8A-4147-A177-3AD203B41FA5}">
                      <a16:colId xmlns:a16="http://schemas.microsoft.com/office/drawing/2014/main" val="4151107971"/>
                    </a:ext>
                  </a:extLst>
                </a:gridCol>
                <a:gridCol w="515054">
                  <a:extLst>
                    <a:ext uri="{9D8B030D-6E8A-4147-A177-3AD203B41FA5}">
                      <a16:colId xmlns:a16="http://schemas.microsoft.com/office/drawing/2014/main" val="425587029"/>
                    </a:ext>
                  </a:extLst>
                </a:gridCol>
                <a:gridCol w="527315">
                  <a:extLst>
                    <a:ext uri="{9D8B030D-6E8A-4147-A177-3AD203B41FA5}">
                      <a16:colId xmlns:a16="http://schemas.microsoft.com/office/drawing/2014/main" val="2861279347"/>
                    </a:ext>
                  </a:extLst>
                </a:gridCol>
                <a:gridCol w="527315">
                  <a:extLst>
                    <a:ext uri="{9D8B030D-6E8A-4147-A177-3AD203B41FA5}">
                      <a16:colId xmlns:a16="http://schemas.microsoft.com/office/drawing/2014/main" val="470002717"/>
                    </a:ext>
                  </a:extLst>
                </a:gridCol>
                <a:gridCol w="515054">
                  <a:extLst>
                    <a:ext uri="{9D8B030D-6E8A-4147-A177-3AD203B41FA5}">
                      <a16:colId xmlns:a16="http://schemas.microsoft.com/office/drawing/2014/main" val="3542135224"/>
                    </a:ext>
                  </a:extLst>
                </a:gridCol>
                <a:gridCol w="502790">
                  <a:extLst>
                    <a:ext uri="{9D8B030D-6E8A-4147-A177-3AD203B41FA5}">
                      <a16:colId xmlns:a16="http://schemas.microsoft.com/office/drawing/2014/main" val="2066182156"/>
                    </a:ext>
                  </a:extLst>
                </a:gridCol>
                <a:gridCol w="515054">
                  <a:extLst>
                    <a:ext uri="{9D8B030D-6E8A-4147-A177-3AD203B41FA5}">
                      <a16:colId xmlns:a16="http://schemas.microsoft.com/office/drawing/2014/main" val="3474579885"/>
                    </a:ext>
                  </a:extLst>
                </a:gridCol>
                <a:gridCol w="515054">
                  <a:extLst>
                    <a:ext uri="{9D8B030D-6E8A-4147-A177-3AD203B41FA5}">
                      <a16:colId xmlns:a16="http://schemas.microsoft.com/office/drawing/2014/main" val="1602192749"/>
                    </a:ext>
                  </a:extLst>
                </a:gridCol>
              </a:tblGrid>
              <a:tr h="175078">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No. of month from NOA</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Qty.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Upto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As on 01.05.26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Jul-26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Aug-26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Sep-26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Oct-26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Nov-26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Dec-26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Jan-27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Feb-27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Mar-27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341750030"/>
                  </a:ext>
                </a:extLst>
              </a:tr>
              <a:tr h="250379">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IN"/>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63433136"/>
                  </a:ext>
                </a:extLst>
              </a:tr>
              <a:tr h="175078">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4864030"/>
                  </a:ext>
                </a:extLst>
              </a:tr>
              <a:tr h="175078">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92204872"/>
                  </a:ext>
                </a:extLst>
              </a:tr>
              <a:tr h="175078">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8064827"/>
                  </a:ext>
                </a:extLst>
              </a:tr>
              <a:tr h="17507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31382125"/>
                  </a:ext>
                </a:extLst>
              </a:tr>
              <a:tr h="17507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Stubs Supply as per L2</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84174195"/>
                  </a:ext>
                </a:extLst>
              </a:tr>
              <a:tr h="17507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 Supply Actual</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48442476"/>
                  </a:ext>
                </a:extLst>
              </a:tr>
              <a:tr h="175078">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794284895"/>
                  </a:ext>
                </a:extLst>
              </a:tr>
              <a:tr h="175078">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85639932"/>
                  </a:ext>
                </a:extLst>
              </a:tr>
              <a:tr h="175078">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48076848"/>
                  </a:ext>
                </a:extLst>
              </a:tr>
              <a:tr h="175078">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4915967"/>
                  </a:ext>
                </a:extLst>
              </a:tr>
              <a:tr h="17507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76733000"/>
                  </a:ext>
                </a:extLst>
              </a:tr>
              <a:tr h="17507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51575881"/>
                  </a:ext>
                </a:extLst>
              </a:tr>
              <a:tr h="17507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76095068"/>
                  </a:ext>
                </a:extLst>
              </a:tr>
              <a:tr h="175078">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3795312704"/>
                  </a:ext>
                </a:extLst>
              </a:tr>
              <a:tr h="175078">
                <a:tc rowSpan="11">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90037553"/>
                  </a:ext>
                </a:extLst>
              </a:tr>
              <a:tr h="175078">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47927932"/>
                  </a:ext>
                </a:extLst>
              </a:tr>
              <a:tr h="175078">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7137584"/>
                  </a:ext>
                </a:extLst>
              </a:tr>
              <a:tr h="175078">
                <a:tc vMerge="1">
                  <a:txBody>
                    <a:bodyPr/>
                    <a:lstStyle/>
                    <a:p>
                      <a:endParaRPr lang="en-US"/>
                    </a:p>
                  </a:txBody>
                  <a:tcPr/>
                </a:tc>
                <a:tc rowSpan="2">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TSE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53577170"/>
                  </a:ext>
                </a:extLst>
              </a:tr>
              <a:tr h="175078">
                <a:tc vMerge="1">
                  <a:txBody>
                    <a:bodyPr/>
                    <a:lstStyle/>
                    <a:p>
                      <a:endParaRPr lang="en-US"/>
                    </a:p>
                  </a:txBody>
                  <a:tcPr/>
                </a:tc>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Manual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87594838"/>
                  </a:ext>
                </a:extLst>
              </a:tr>
              <a:tr h="175078">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91423490"/>
                  </a:ext>
                </a:extLst>
              </a:tr>
              <a:tr h="175078">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31144415"/>
                  </a:ext>
                </a:extLst>
              </a:tr>
              <a:tr h="175078">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59411858"/>
                  </a:ext>
                </a:extLst>
              </a:tr>
              <a:tr h="175078">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10348192"/>
                  </a:ext>
                </a:extLst>
              </a:tr>
              <a:tr h="175078">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71402620"/>
                  </a:ext>
                </a:extLst>
              </a:tr>
              <a:tr h="175078">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06786991"/>
                  </a:ext>
                </a:extLst>
              </a:tr>
            </a:tbl>
          </a:graphicData>
        </a:graphic>
      </p:graphicFrame>
    </p:spTree>
    <p:extLst>
      <p:ext uri="{BB962C8B-B14F-4D97-AF65-F5344CB8AC3E}">
        <p14:creationId xmlns:p14="http://schemas.microsoft.com/office/powerpoint/2010/main" val="360461577"/>
      </p:ext>
    </p:extLst>
  </p:cSld>
  <p:clrMapOvr>
    <a:masterClrMapping/>
  </p:clrMapOvr>
  <p:transition spd="slow"/>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F9C82B-6B16-FD18-338F-8EE7C608CA1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72A0E29-B605-E982-D222-CE63635BB9E9}"/>
              </a:ext>
            </a:extLst>
          </p:cNvPr>
          <p:cNvSpPr>
            <a:spLocks noGrp="1"/>
          </p:cNvSpPr>
          <p:nvPr>
            <p:ph type="title"/>
          </p:nvPr>
        </p:nvSpPr>
        <p:spPr>
          <a:xfrm>
            <a:off x="140941" y="3429000"/>
            <a:ext cx="11676203" cy="551809"/>
          </a:xfrm>
        </p:spPr>
        <p:txBody>
          <a:bodyPr>
            <a:normAutofit fontScale="90000"/>
          </a:bodyPr>
          <a:lstStyle/>
          <a:p>
            <a:pPr algn="ctr"/>
            <a:r>
              <a:rPr lang="en-IN" dirty="0">
                <a:latin typeface="Calibri" panose="020F0502020204030204" pitchFamily="34" charset="0"/>
                <a:ea typeface="Calibri" panose="020F0502020204030204" pitchFamily="34" charset="0"/>
                <a:cs typeface="Calibri" panose="020F0502020204030204" pitchFamily="34" charset="0"/>
              </a:rPr>
              <a:t>Southern Region (SR-I) </a:t>
            </a:r>
          </a:p>
        </p:txBody>
      </p:sp>
    </p:spTree>
    <p:extLst>
      <p:ext uri="{BB962C8B-B14F-4D97-AF65-F5344CB8AC3E}">
        <p14:creationId xmlns:p14="http://schemas.microsoft.com/office/powerpoint/2010/main" val="4034469309"/>
      </p:ext>
    </p:extLst>
  </p:cSld>
  <p:clrMapOvr>
    <a:masterClrMapping/>
  </p:clrMapOvr>
  <p:transition spd="slow"/>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72048573-5413-730B-3434-623FB3C576BA}"/>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a:t>
            </a:r>
            <a:r>
              <a:rPr lang="en-US" sz="2400" b="1" dirty="0">
                <a:latin typeface="Calibri" panose="020F0502020204030204" pitchFamily="34" charset="0"/>
                <a:ea typeface="Calibri" panose="020F0502020204030204" pitchFamily="34" charset="0"/>
                <a:cs typeface="Calibri" panose="020F0502020204030204" pitchFamily="34" charset="0"/>
              </a:rPr>
              <a:t>765kV D/c  </a:t>
            </a:r>
            <a:r>
              <a:rPr lang="en-US" sz="2400" b="1" dirty="0" err="1">
                <a:latin typeface="Calibri" panose="020F0502020204030204" pitchFamily="34" charset="0"/>
                <a:ea typeface="Calibri" panose="020F0502020204030204" pitchFamily="34" charset="0"/>
                <a:cs typeface="Calibri" panose="020F0502020204030204" pitchFamily="34" charset="0"/>
              </a:rPr>
              <a:t>Koppal</a:t>
            </a:r>
            <a:r>
              <a:rPr lang="en-US" sz="2400" b="1" dirty="0">
                <a:latin typeface="Calibri" panose="020F0502020204030204" pitchFamily="34" charset="0"/>
                <a:ea typeface="Calibri" panose="020F0502020204030204" pitchFamily="34" charset="0"/>
                <a:cs typeface="Calibri" panose="020F0502020204030204" pitchFamily="34" charset="0"/>
              </a:rPr>
              <a:t> II (PS)-Raichur (Part-1) TL Line (TA- 418)</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95BB5808-9D07-6772-2BFC-986BDC9B92F3}"/>
              </a:ext>
            </a:extLst>
          </p:cNvPr>
          <p:cNvGraphicFramePr>
            <a:graphicFrameLocks noGrp="1"/>
          </p:cNvGraphicFramePr>
          <p:nvPr>
            <p:extLst>
              <p:ext uri="{D42A27DB-BD31-4B8C-83A1-F6EECF244321}">
                <p14:modId xmlns:p14="http://schemas.microsoft.com/office/powerpoint/2010/main" val="1689499956"/>
              </p:ext>
            </p:extLst>
          </p:nvPr>
        </p:nvGraphicFramePr>
        <p:xfrm>
          <a:off x="257175" y="1464344"/>
          <a:ext cx="11677651" cy="3925049"/>
        </p:xfrm>
        <a:graphic>
          <a:graphicData uri="http://schemas.openxmlformats.org/drawingml/2006/table">
            <a:tbl>
              <a:tblPr/>
              <a:tblGrid>
                <a:gridCol w="1124103">
                  <a:extLst>
                    <a:ext uri="{9D8B030D-6E8A-4147-A177-3AD203B41FA5}">
                      <a16:colId xmlns:a16="http://schemas.microsoft.com/office/drawing/2014/main" val="3134568255"/>
                    </a:ext>
                  </a:extLst>
                </a:gridCol>
                <a:gridCol w="994896">
                  <a:extLst>
                    <a:ext uri="{9D8B030D-6E8A-4147-A177-3AD203B41FA5}">
                      <a16:colId xmlns:a16="http://schemas.microsoft.com/office/drawing/2014/main" val="529650208"/>
                    </a:ext>
                  </a:extLst>
                </a:gridCol>
                <a:gridCol w="749402">
                  <a:extLst>
                    <a:ext uri="{9D8B030D-6E8A-4147-A177-3AD203B41FA5}">
                      <a16:colId xmlns:a16="http://schemas.microsoft.com/office/drawing/2014/main" val="92458083"/>
                    </a:ext>
                  </a:extLst>
                </a:gridCol>
                <a:gridCol w="762323">
                  <a:extLst>
                    <a:ext uri="{9D8B030D-6E8A-4147-A177-3AD203B41FA5}">
                      <a16:colId xmlns:a16="http://schemas.microsoft.com/office/drawing/2014/main" val="1261093951"/>
                    </a:ext>
                  </a:extLst>
                </a:gridCol>
                <a:gridCol w="749402">
                  <a:extLst>
                    <a:ext uri="{9D8B030D-6E8A-4147-A177-3AD203B41FA5}">
                      <a16:colId xmlns:a16="http://schemas.microsoft.com/office/drawing/2014/main" val="3845723164"/>
                    </a:ext>
                  </a:extLst>
                </a:gridCol>
                <a:gridCol w="814004">
                  <a:extLst>
                    <a:ext uri="{9D8B030D-6E8A-4147-A177-3AD203B41FA5}">
                      <a16:colId xmlns:a16="http://schemas.microsoft.com/office/drawing/2014/main" val="2426758173"/>
                    </a:ext>
                  </a:extLst>
                </a:gridCol>
                <a:gridCol w="814004">
                  <a:extLst>
                    <a:ext uri="{9D8B030D-6E8A-4147-A177-3AD203B41FA5}">
                      <a16:colId xmlns:a16="http://schemas.microsoft.com/office/drawing/2014/main" val="7475768"/>
                    </a:ext>
                  </a:extLst>
                </a:gridCol>
                <a:gridCol w="697720">
                  <a:extLst>
                    <a:ext uri="{9D8B030D-6E8A-4147-A177-3AD203B41FA5}">
                      <a16:colId xmlns:a16="http://schemas.microsoft.com/office/drawing/2014/main" val="2676474225"/>
                    </a:ext>
                  </a:extLst>
                </a:gridCol>
                <a:gridCol w="160147">
                  <a:extLst>
                    <a:ext uri="{9D8B030D-6E8A-4147-A177-3AD203B41FA5}">
                      <a16:colId xmlns:a16="http://schemas.microsoft.com/office/drawing/2014/main" val="3819434327"/>
                    </a:ext>
                  </a:extLst>
                </a:gridCol>
                <a:gridCol w="408365">
                  <a:extLst>
                    <a:ext uri="{9D8B030D-6E8A-4147-A177-3AD203B41FA5}">
                      <a16:colId xmlns:a16="http://schemas.microsoft.com/office/drawing/2014/main" val="2812749089"/>
                    </a:ext>
                  </a:extLst>
                </a:gridCol>
                <a:gridCol w="332299">
                  <a:extLst>
                    <a:ext uri="{9D8B030D-6E8A-4147-A177-3AD203B41FA5}">
                      <a16:colId xmlns:a16="http://schemas.microsoft.com/office/drawing/2014/main" val="3306756722"/>
                    </a:ext>
                  </a:extLst>
                </a:gridCol>
                <a:gridCol w="472561">
                  <a:extLst>
                    <a:ext uri="{9D8B030D-6E8A-4147-A177-3AD203B41FA5}">
                      <a16:colId xmlns:a16="http://schemas.microsoft.com/office/drawing/2014/main" val="1767981671"/>
                    </a:ext>
                  </a:extLst>
                </a:gridCol>
                <a:gridCol w="482300">
                  <a:extLst>
                    <a:ext uri="{9D8B030D-6E8A-4147-A177-3AD203B41FA5}">
                      <a16:colId xmlns:a16="http://schemas.microsoft.com/office/drawing/2014/main" val="706361869"/>
                    </a:ext>
                  </a:extLst>
                </a:gridCol>
                <a:gridCol w="534129">
                  <a:extLst>
                    <a:ext uri="{9D8B030D-6E8A-4147-A177-3AD203B41FA5}">
                      <a16:colId xmlns:a16="http://schemas.microsoft.com/office/drawing/2014/main" val="3438594745"/>
                    </a:ext>
                  </a:extLst>
                </a:gridCol>
                <a:gridCol w="422106">
                  <a:extLst>
                    <a:ext uri="{9D8B030D-6E8A-4147-A177-3AD203B41FA5}">
                      <a16:colId xmlns:a16="http://schemas.microsoft.com/office/drawing/2014/main" val="2391851116"/>
                    </a:ext>
                  </a:extLst>
                </a:gridCol>
                <a:gridCol w="2159890">
                  <a:extLst>
                    <a:ext uri="{9D8B030D-6E8A-4147-A177-3AD203B41FA5}">
                      <a16:colId xmlns:a16="http://schemas.microsoft.com/office/drawing/2014/main" val="3502179738"/>
                    </a:ext>
                  </a:extLst>
                </a:gridCol>
              </a:tblGrid>
              <a:tr h="383000">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194794">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n-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t">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223549">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21079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198909">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19356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47.84</a:t>
                      </a: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200" b="0"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27.705</a:t>
                      </a: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20.135</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11.89</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11.9</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11.89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3.9</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13.27</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251614">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10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18.81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223549">
                <a:tc gridSpan="1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654899">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4">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19356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229001">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19356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495535454"/>
                  </a:ext>
                </a:extLst>
              </a:tr>
              <a:tr h="19356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96488407"/>
                  </a:ext>
                </a:extLst>
              </a:tr>
              <a:tr h="19356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19053964"/>
                  </a:ext>
                </a:extLst>
              </a:tr>
              <a:tr h="193563">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005780108"/>
                  </a:ext>
                </a:extLst>
              </a:tr>
              <a:tr h="19356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6" name="Table 5">
            <a:extLst>
              <a:ext uri="{FF2B5EF4-FFF2-40B4-BE49-F238E27FC236}">
                <a16:creationId xmlns:a16="http://schemas.microsoft.com/office/drawing/2014/main" id="{531F1723-0977-A9BA-20A2-0F7652FB89E9}"/>
              </a:ext>
            </a:extLst>
          </p:cNvPr>
          <p:cNvGraphicFramePr>
            <a:graphicFrameLocks noGrp="1"/>
          </p:cNvGraphicFramePr>
          <p:nvPr>
            <p:extLst>
              <p:ext uri="{D42A27DB-BD31-4B8C-83A1-F6EECF244321}">
                <p14:modId xmlns:p14="http://schemas.microsoft.com/office/powerpoint/2010/main" val="554913940"/>
              </p:ext>
            </p:extLst>
          </p:nvPr>
        </p:nvGraphicFramePr>
        <p:xfrm>
          <a:off x="257178" y="5389390"/>
          <a:ext cx="11677647" cy="1243584"/>
        </p:xfrm>
        <a:graphic>
          <a:graphicData uri="http://schemas.openxmlformats.org/drawingml/2006/table">
            <a:tbl>
              <a:tblPr/>
              <a:tblGrid>
                <a:gridCol w="1246189">
                  <a:extLst>
                    <a:ext uri="{9D8B030D-6E8A-4147-A177-3AD203B41FA5}">
                      <a16:colId xmlns:a16="http://schemas.microsoft.com/office/drawing/2014/main" val="4144033618"/>
                    </a:ext>
                  </a:extLst>
                </a:gridCol>
                <a:gridCol w="1106530">
                  <a:extLst>
                    <a:ext uri="{9D8B030D-6E8A-4147-A177-3AD203B41FA5}">
                      <a16:colId xmlns:a16="http://schemas.microsoft.com/office/drawing/2014/main" val="2710662077"/>
                    </a:ext>
                  </a:extLst>
                </a:gridCol>
                <a:gridCol w="827213">
                  <a:extLst>
                    <a:ext uri="{9D8B030D-6E8A-4147-A177-3AD203B41FA5}">
                      <a16:colId xmlns:a16="http://schemas.microsoft.com/office/drawing/2014/main" val="3810854777"/>
                    </a:ext>
                  </a:extLst>
                </a:gridCol>
                <a:gridCol w="1267676">
                  <a:extLst>
                    <a:ext uri="{9D8B030D-6E8A-4147-A177-3AD203B41FA5}">
                      <a16:colId xmlns:a16="http://schemas.microsoft.com/office/drawing/2014/main" val="95352560"/>
                    </a:ext>
                  </a:extLst>
                </a:gridCol>
                <a:gridCol w="1246189">
                  <a:extLst>
                    <a:ext uri="{9D8B030D-6E8A-4147-A177-3AD203B41FA5}">
                      <a16:colId xmlns:a16="http://schemas.microsoft.com/office/drawing/2014/main" val="3482007332"/>
                    </a:ext>
                  </a:extLst>
                </a:gridCol>
                <a:gridCol w="902413">
                  <a:extLst>
                    <a:ext uri="{9D8B030D-6E8A-4147-A177-3AD203B41FA5}">
                      <a16:colId xmlns:a16="http://schemas.microsoft.com/office/drawing/2014/main" val="3780160470"/>
                    </a:ext>
                  </a:extLst>
                </a:gridCol>
                <a:gridCol w="1353618">
                  <a:extLst>
                    <a:ext uri="{9D8B030D-6E8A-4147-A177-3AD203B41FA5}">
                      <a16:colId xmlns:a16="http://schemas.microsoft.com/office/drawing/2014/main" val="4001841647"/>
                    </a:ext>
                  </a:extLst>
                </a:gridCol>
                <a:gridCol w="1160243">
                  <a:extLst>
                    <a:ext uri="{9D8B030D-6E8A-4147-A177-3AD203B41FA5}">
                      <a16:colId xmlns:a16="http://schemas.microsoft.com/office/drawing/2014/main" val="873345733"/>
                    </a:ext>
                  </a:extLst>
                </a:gridCol>
                <a:gridCol w="633836">
                  <a:extLst>
                    <a:ext uri="{9D8B030D-6E8A-4147-A177-3AD203B41FA5}">
                      <a16:colId xmlns:a16="http://schemas.microsoft.com/office/drawing/2014/main" val="983947984"/>
                    </a:ext>
                  </a:extLst>
                </a:gridCol>
                <a:gridCol w="1160243">
                  <a:extLst>
                    <a:ext uri="{9D8B030D-6E8A-4147-A177-3AD203B41FA5}">
                      <a16:colId xmlns:a16="http://schemas.microsoft.com/office/drawing/2014/main" val="3672483493"/>
                    </a:ext>
                  </a:extLst>
                </a:gridCol>
                <a:gridCol w="773497">
                  <a:extLst>
                    <a:ext uri="{9D8B030D-6E8A-4147-A177-3AD203B41FA5}">
                      <a16:colId xmlns:a16="http://schemas.microsoft.com/office/drawing/2014/main" val="1432498959"/>
                    </a:ext>
                  </a:extLst>
                </a:gridCol>
              </a:tblGrid>
              <a:tr h="207264">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207264">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 </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207264">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20726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20726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20726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graphicFrame>
        <p:nvGraphicFramePr>
          <p:cNvPr id="7" name="Table 6">
            <a:extLst>
              <a:ext uri="{FF2B5EF4-FFF2-40B4-BE49-F238E27FC236}">
                <a16:creationId xmlns:a16="http://schemas.microsoft.com/office/drawing/2014/main" id="{DF33A549-139A-D5CA-5247-E5CFFAF9BE72}"/>
              </a:ext>
            </a:extLst>
          </p:cNvPr>
          <p:cNvGraphicFramePr>
            <a:graphicFrameLocks noGrp="1"/>
          </p:cNvGraphicFramePr>
          <p:nvPr>
            <p:extLst>
              <p:ext uri="{D42A27DB-BD31-4B8C-83A1-F6EECF244321}">
                <p14:modId xmlns:p14="http://schemas.microsoft.com/office/powerpoint/2010/main" val="750403349"/>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12/03/24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11/12/25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1944784375"/>
      </p:ext>
    </p:extLst>
  </p:cSld>
  <p:clrMapOvr>
    <a:masterClrMapping/>
  </p:clrMapOvr>
  <p:transition spd="slow"/>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FC042E15-B79E-4921-8C11-9323247F9471}"/>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a:t>
            </a:r>
            <a:r>
              <a:rPr lang="en-US" sz="2400" b="1" dirty="0">
                <a:latin typeface="Calibri" panose="020F0502020204030204" pitchFamily="34" charset="0"/>
                <a:ea typeface="Calibri" panose="020F0502020204030204" pitchFamily="34" charset="0"/>
                <a:cs typeface="Calibri" panose="020F0502020204030204" pitchFamily="34" charset="0"/>
              </a:rPr>
              <a:t>765kV D/C  </a:t>
            </a:r>
            <a:r>
              <a:rPr lang="en-US" sz="2400" b="1" dirty="0" err="1">
                <a:latin typeface="Calibri" panose="020F0502020204030204" pitchFamily="34" charset="0"/>
                <a:ea typeface="Calibri" panose="020F0502020204030204" pitchFamily="34" charset="0"/>
                <a:cs typeface="Calibri" panose="020F0502020204030204" pitchFamily="34" charset="0"/>
              </a:rPr>
              <a:t>Koppal</a:t>
            </a:r>
            <a:r>
              <a:rPr lang="en-US" sz="2400" b="1" dirty="0">
                <a:latin typeface="Calibri" panose="020F0502020204030204" pitchFamily="34" charset="0"/>
                <a:ea typeface="Calibri" panose="020F0502020204030204" pitchFamily="34" charset="0"/>
                <a:cs typeface="Calibri" panose="020F0502020204030204" pitchFamily="34" charset="0"/>
              </a:rPr>
              <a:t> II (PS)-Raichur (Part-1) TL Line (TA- 418)</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5" name="Table 4">
            <a:extLst>
              <a:ext uri="{FF2B5EF4-FFF2-40B4-BE49-F238E27FC236}">
                <a16:creationId xmlns:a16="http://schemas.microsoft.com/office/drawing/2014/main" id="{878B3627-9420-FE84-6B2D-CDBF860EFDD8}"/>
              </a:ext>
            </a:extLst>
          </p:cNvPr>
          <p:cNvGraphicFramePr>
            <a:graphicFrameLocks noGrp="1"/>
          </p:cNvGraphicFramePr>
          <p:nvPr>
            <p:extLst>
              <p:ext uri="{D42A27DB-BD31-4B8C-83A1-F6EECF244321}">
                <p14:modId xmlns:p14="http://schemas.microsoft.com/office/powerpoint/2010/main" val="904267635"/>
              </p:ext>
            </p:extLst>
          </p:nvPr>
        </p:nvGraphicFramePr>
        <p:xfrm>
          <a:off x="257175" y="1472184"/>
          <a:ext cx="11677648" cy="5306965"/>
        </p:xfrm>
        <a:graphic>
          <a:graphicData uri="http://schemas.openxmlformats.org/drawingml/2006/table">
            <a:tbl>
              <a:tblPr/>
              <a:tblGrid>
                <a:gridCol w="840915">
                  <a:extLst>
                    <a:ext uri="{9D8B030D-6E8A-4147-A177-3AD203B41FA5}">
                      <a16:colId xmlns:a16="http://schemas.microsoft.com/office/drawing/2014/main" val="330956746"/>
                    </a:ext>
                  </a:extLst>
                </a:gridCol>
                <a:gridCol w="2197968">
                  <a:extLst>
                    <a:ext uri="{9D8B030D-6E8A-4147-A177-3AD203B41FA5}">
                      <a16:colId xmlns:a16="http://schemas.microsoft.com/office/drawing/2014/main" val="467016710"/>
                    </a:ext>
                  </a:extLst>
                </a:gridCol>
                <a:gridCol w="902290">
                  <a:extLst>
                    <a:ext uri="{9D8B030D-6E8A-4147-A177-3AD203B41FA5}">
                      <a16:colId xmlns:a16="http://schemas.microsoft.com/office/drawing/2014/main" val="2623573662"/>
                    </a:ext>
                  </a:extLst>
                </a:gridCol>
                <a:gridCol w="433351">
                  <a:extLst>
                    <a:ext uri="{9D8B030D-6E8A-4147-A177-3AD203B41FA5}">
                      <a16:colId xmlns:a16="http://schemas.microsoft.com/office/drawing/2014/main" val="3348155062"/>
                    </a:ext>
                  </a:extLst>
                </a:gridCol>
                <a:gridCol w="539158">
                  <a:extLst>
                    <a:ext uri="{9D8B030D-6E8A-4147-A177-3AD203B41FA5}">
                      <a16:colId xmlns:a16="http://schemas.microsoft.com/office/drawing/2014/main" val="3407175280"/>
                    </a:ext>
                  </a:extLst>
                </a:gridCol>
                <a:gridCol w="539158">
                  <a:extLst>
                    <a:ext uri="{9D8B030D-6E8A-4147-A177-3AD203B41FA5}">
                      <a16:colId xmlns:a16="http://schemas.microsoft.com/office/drawing/2014/main" val="3835865023"/>
                    </a:ext>
                  </a:extLst>
                </a:gridCol>
                <a:gridCol w="647653">
                  <a:extLst>
                    <a:ext uri="{9D8B030D-6E8A-4147-A177-3AD203B41FA5}">
                      <a16:colId xmlns:a16="http://schemas.microsoft.com/office/drawing/2014/main" val="2195959190"/>
                    </a:ext>
                  </a:extLst>
                </a:gridCol>
                <a:gridCol w="418407">
                  <a:extLst>
                    <a:ext uri="{9D8B030D-6E8A-4147-A177-3AD203B41FA5}">
                      <a16:colId xmlns:a16="http://schemas.microsoft.com/office/drawing/2014/main" val="1087588403"/>
                    </a:ext>
                  </a:extLst>
                </a:gridCol>
                <a:gridCol w="490143">
                  <a:extLst>
                    <a:ext uri="{9D8B030D-6E8A-4147-A177-3AD203B41FA5}">
                      <a16:colId xmlns:a16="http://schemas.microsoft.com/office/drawing/2014/main" val="1978132890"/>
                    </a:ext>
                  </a:extLst>
                </a:gridCol>
                <a:gridCol w="526902">
                  <a:extLst>
                    <a:ext uri="{9D8B030D-6E8A-4147-A177-3AD203B41FA5}">
                      <a16:colId xmlns:a16="http://schemas.microsoft.com/office/drawing/2014/main" val="1472471097"/>
                    </a:ext>
                  </a:extLst>
                </a:gridCol>
                <a:gridCol w="526902">
                  <a:extLst>
                    <a:ext uri="{9D8B030D-6E8A-4147-A177-3AD203B41FA5}">
                      <a16:colId xmlns:a16="http://schemas.microsoft.com/office/drawing/2014/main" val="4151107971"/>
                    </a:ext>
                  </a:extLst>
                </a:gridCol>
                <a:gridCol w="514650">
                  <a:extLst>
                    <a:ext uri="{9D8B030D-6E8A-4147-A177-3AD203B41FA5}">
                      <a16:colId xmlns:a16="http://schemas.microsoft.com/office/drawing/2014/main" val="425587029"/>
                    </a:ext>
                  </a:extLst>
                </a:gridCol>
                <a:gridCol w="526902">
                  <a:extLst>
                    <a:ext uri="{9D8B030D-6E8A-4147-A177-3AD203B41FA5}">
                      <a16:colId xmlns:a16="http://schemas.microsoft.com/office/drawing/2014/main" val="2861279347"/>
                    </a:ext>
                  </a:extLst>
                </a:gridCol>
                <a:gridCol w="526902">
                  <a:extLst>
                    <a:ext uri="{9D8B030D-6E8A-4147-A177-3AD203B41FA5}">
                      <a16:colId xmlns:a16="http://schemas.microsoft.com/office/drawing/2014/main" val="470002717"/>
                    </a:ext>
                  </a:extLst>
                </a:gridCol>
                <a:gridCol w="514650">
                  <a:extLst>
                    <a:ext uri="{9D8B030D-6E8A-4147-A177-3AD203B41FA5}">
                      <a16:colId xmlns:a16="http://schemas.microsoft.com/office/drawing/2014/main" val="3542135224"/>
                    </a:ext>
                  </a:extLst>
                </a:gridCol>
                <a:gridCol w="502397">
                  <a:extLst>
                    <a:ext uri="{9D8B030D-6E8A-4147-A177-3AD203B41FA5}">
                      <a16:colId xmlns:a16="http://schemas.microsoft.com/office/drawing/2014/main" val="2066182156"/>
                    </a:ext>
                  </a:extLst>
                </a:gridCol>
                <a:gridCol w="514650">
                  <a:extLst>
                    <a:ext uri="{9D8B030D-6E8A-4147-A177-3AD203B41FA5}">
                      <a16:colId xmlns:a16="http://schemas.microsoft.com/office/drawing/2014/main" val="3474579885"/>
                    </a:ext>
                  </a:extLst>
                </a:gridCol>
                <a:gridCol w="514650">
                  <a:extLst>
                    <a:ext uri="{9D8B030D-6E8A-4147-A177-3AD203B41FA5}">
                      <a16:colId xmlns:a16="http://schemas.microsoft.com/office/drawing/2014/main" val="1602192749"/>
                    </a:ext>
                  </a:extLst>
                </a:gridCol>
              </a:tblGrid>
              <a:tr h="179088">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No. of month from NOA</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 Qty.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Upto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Balnce</a:t>
                      </a: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As on 01.05.26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Jul-26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Aug-26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Sep-26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Oct-26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Nov-26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Dec-26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Jan-27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Feb-27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Mar-27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341750030"/>
                  </a:ext>
                </a:extLst>
              </a:tr>
              <a:tr h="202043">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IN"/>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63433136"/>
                  </a:ext>
                </a:extLst>
              </a:tr>
              <a:tr h="179088">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4864030"/>
                  </a:ext>
                </a:extLst>
              </a:tr>
              <a:tr h="179088">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92204872"/>
                  </a:ext>
                </a:extLst>
              </a:tr>
              <a:tr h="202043">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8064827"/>
                  </a:ext>
                </a:extLst>
              </a:tr>
              <a:tr h="17908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31382125"/>
                  </a:ext>
                </a:extLst>
              </a:tr>
              <a:tr h="17908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Stubs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84174195"/>
                  </a:ext>
                </a:extLst>
              </a:tr>
              <a:tr h="17908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48442476"/>
                  </a:ext>
                </a:extLst>
              </a:tr>
              <a:tr h="179088">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794284895"/>
                  </a:ext>
                </a:extLst>
              </a:tr>
              <a:tr h="179088">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85639932"/>
                  </a:ext>
                </a:extLst>
              </a:tr>
              <a:tr h="179088">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48076848"/>
                  </a:ext>
                </a:extLst>
              </a:tr>
              <a:tr h="202043">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4915967"/>
                  </a:ext>
                </a:extLst>
              </a:tr>
              <a:tr h="17908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76733000"/>
                  </a:ext>
                </a:extLst>
              </a:tr>
              <a:tr h="17908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51575881"/>
                  </a:ext>
                </a:extLst>
              </a:tr>
              <a:tr h="17908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76095068"/>
                  </a:ext>
                </a:extLst>
              </a:tr>
              <a:tr h="179088">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3795312704"/>
                  </a:ext>
                </a:extLst>
              </a:tr>
              <a:tr h="179088">
                <a:tc rowSpan="11">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90037553"/>
                  </a:ext>
                </a:extLst>
              </a:tr>
              <a:tr h="179088">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47927932"/>
                  </a:ext>
                </a:extLst>
              </a:tr>
              <a:tr h="202043">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7137584"/>
                  </a:ext>
                </a:extLst>
              </a:tr>
              <a:tr h="179088">
                <a:tc vMerge="1">
                  <a:txBody>
                    <a:bodyPr/>
                    <a:lstStyle/>
                    <a:p>
                      <a:endParaRPr lang="en-US"/>
                    </a:p>
                  </a:txBody>
                  <a:tcPr/>
                </a:tc>
                <a:tc rowSpan="2">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TSE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53577170"/>
                  </a:ext>
                </a:extLst>
              </a:tr>
              <a:tr h="0">
                <a:tc vMerge="1">
                  <a:txBody>
                    <a:bodyPr/>
                    <a:lstStyle/>
                    <a:p>
                      <a:endParaRPr lang="en-US"/>
                    </a:p>
                  </a:txBody>
                  <a:tcPr/>
                </a:tc>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Manual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87594838"/>
                  </a:ext>
                </a:extLst>
              </a:tr>
              <a:tr h="202043">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91423490"/>
                  </a:ext>
                </a:extLst>
              </a:tr>
              <a:tr h="179088">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31144415"/>
                  </a:ext>
                </a:extLst>
              </a:tr>
              <a:tr h="202043">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59411858"/>
                  </a:ext>
                </a:extLst>
              </a:tr>
              <a:tr h="179088">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10348192"/>
                  </a:ext>
                </a:extLst>
              </a:tr>
              <a:tr h="179088">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71402620"/>
                  </a:ext>
                </a:extLst>
              </a:tr>
              <a:tr h="179088">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06786991"/>
                  </a:ext>
                </a:extLst>
              </a:tr>
            </a:tbl>
          </a:graphicData>
        </a:graphic>
      </p:graphicFrame>
      <p:graphicFrame>
        <p:nvGraphicFramePr>
          <p:cNvPr id="7" name="Table 6">
            <a:extLst>
              <a:ext uri="{FF2B5EF4-FFF2-40B4-BE49-F238E27FC236}">
                <a16:creationId xmlns:a16="http://schemas.microsoft.com/office/drawing/2014/main" id="{215EC84D-4A62-17F9-7A27-7446E39E6064}"/>
              </a:ext>
            </a:extLst>
          </p:cNvPr>
          <p:cNvGraphicFramePr>
            <a:graphicFrameLocks noGrp="1"/>
          </p:cNvGraphicFramePr>
          <p:nvPr>
            <p:extLst>
              <p:ext uri="{D42A27DB-BD31-4B8C-83A1-F6EECF244321}">
                <p14:modId xmlns:p14="http://schemas.microsoft.com/office/powerpoint/2010/main" val="1176247289"/>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12/03/24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11/12/25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3025619045"/>
      </p:ext>
    </p:extLst>
  </p:cSld>
  <p:clrMapOvr>
    <a:masterClrMapping/>
  </p:clrMapOvr>
  <p:transition spd="slow"/>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42EEE555-211F-C64E-27F9-44A594DCB9A7}"/>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a:t>
            </a:r>
            <a:r>
              <a:rPr lang="en-US" sz="2400" b="1" dirty="0">
                <a:latin typeface="Calibri" panose="020F0502020204030204" pitchFamily="34" charset="0"/>
                <a:ea typeface="Calibri" panose="020F0502020204030204" pitchFamily="34" charset="0"/>
                <a:cs typeface="Calibri" panose="020F0502020204030204" pitchFamily="34" charset="0"/>
              </a:rPr>
              <a:t>765kV D/c  </a:t>
            </a:r>
            <a:r>
              <a:rPr lang="en-US" sz="2400" b="1" dirty="0" err="1">
                <a:latin typeface="Calibri" panose="020F0502020204030204" pitchFamily="34" charset="0"/>
                <a:ea typeface="Calibri" panose="020F0502020204030204" pitchFamily="34" charset="0"/>
                <a:cs typeface="Calibri" panose="020F0502020204030204" pitchFamily="34" charset="0"/>
              </a:rPr>
              <a:t>Koppal</a:t>
            </a:r>
            <a:r>
              <a:rPr lang="en-US" sz="2400" b="1" dirty="0">
                <a:latin typeface="Calibri" panose="020F0502020204030204" pitchFamily="34" charset="0"/>
                <a:ea typeface="Calibri" panose="020F0502020204030204" pitchFamily="34" charset="0"/>
                <a:cs typeface="Calibri" panose="020F0502020204030204" pitchFamily="34" charset="0"/>
              </a:rPr>
              <a:t> II (PS)-Raichur (Part-1) TL Line (TA- 418)</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24B3E587-DC13-316D-6636-F610DC65FB64}"/>
              </a:ext>
            </a:extLst>
          </p:cNvPr>
          <p:cNvSpPr txBox="1"/>
          <p:nvPr/>
        </p:nvSpPr>
        <p:spPr>
          <a:xfrm>
            <a:off x="257175" y="1681734"/>
            <a:ext cx="11677650" cy="1477328"/>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pPr marL="342900" indent="-342900">
              <a:buAutoNum type="arabicPeriod"/>
            </a:pPr>
            <a:endParaRPr lang="en-US"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1. Clearance for final checking ROW 4 locations. ROW constraints affecting tack welding activities in 13 Locations</a:t>
            </a:r>
          </a:p>
          <a:p>
            <a:pPr marL="342900" indent="-342900">
              <a:buAutoNum type="arabicPeriod"/>
            </a:pPr>
            <a:endParaRPr lang="en-IN" dirty="0">
              <a:latin typeface="Calibri" panose="020F0502020204030204" pitchFamily="34" charset="0"/>
              <a:ea typeface="Calibri" panose="020F0502020204030204" pitchFamily="34" charset="0"/>
              <a:cs typeface="Calibri" panose="020F0502020204030204" pitchFamily="34" charset="0"/>
            </a:endParaRPr>
          </a:p>
          <a:p>
            <a:r>
              <a:rPr lang="en-US" dirty="0">
                <a:latin typeface="Calibri" panose="020F0502020204030204" pitchFamily="34" charset="0"/>
                <a:ea typeface="Calibri" panose="020F0502020204030204" pitchFamily="34" charset="0"/>
                <a:cs typeface="Calibri" panose="020F0502020204030204" pitchFamily="34" charset="0"/>
              </a:rPr>
              <a:t>2. Approval of the submitted Amendment–04, pending from 7</a:t>
            </a:r>
            <a:r>
              <a:rPr lang="en-US" baseline="30000" dirty="0">
                <a:latin typeface="Calibri" panose="020F0502020204030204" pitchFamily="34" charset="0"/>
                <a:ea typeface="Calibri" panose="020F0502020204030204" pitchFamily="34" charset="0"/>
                <a:cs typeface="Calibri" panose="020F0502020204030204" pitchFamily="34" charset="0"/>
              </a:rPr>
              <a:t>th</a:t>
            </a:r>
            <a:r>
              <a:rPr lang="en-US" dirty="0">
                <a:latin typeface="Calibri" panose="020F0502020204030204" pitchFamily="34" charset="0"/>
                <a:ea typeface="Calibri" panose="020F0502020204030204" pitchFamily="34" charset="0"/>
                <a:cs typeface="Calibri" panose="020F0502020204030204" pitchFamily="34" charset="0"/>
              </a:rPr>
              <a:t> Feb’26</a:t>
            </a:r>
          </a:p>
        </p:txBody>
      </p:sp>
      <p:graphicFrame>
        <p:nvGraphicFramePr>
          <p:cNvPr id="7" name="Table 6">
            <a:extLst>
              <a:ext uri="{FF2B5EF4-FFF2-40B4-BE49-F238E27FC236}">
                <a16:creationId xmlns:a16="http://schemas.microsoft.com/office/drawing/2014/main" id="{E05A8C17-40E4-1F31-ADC7-21C38F30FD46}"/>
              </a:ext>
            </a:extLst>
          </p:cNvPr>
          <p:cNvGraphicFramePr>
            <a:graphicFrameLocks noGrp="1"/>
          </p:cNvGraphicFramePr>
          <p:nvPr>
            <p:extLst>
              <p:ext uri="{D42A27DB-BD31-4B8C-83A1-F6EECF244321}">
                <p14:modId xmlns:p14="http://schemas.microsoft.com/office/powerpoint/2010/main" val="2312454843"/>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12/03/24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Cr.:148.6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11/12/25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30/06/26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387094330"/>
      </p:ext>
    </p:extLst>
  </p:cSld>
  <p:clrMapOvr>
    <a:masterClrMapping/>
  </p:clrMapOvr>
  <p:transition spd="slow"/>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F8ADF9-6E6B-834F-F221-5A5CE6C95242}"/>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9228A7AD-391B-8AF7-01D4-56F61A87C085}"/>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Bidar Ps – Maheshwaram </a:t>
            </a:r>
            <a:r>
              <a:rPr lang="en-US" sz="2400" b="1" dirty="0">
                <a:latin typeface="Calibri" panose="020F0502020204030204" pitchFamily="34" charset="0"/>
                <a:ea typeface="Calibri" panose="020F0502020204030204" pitchFamily="34" charset="0"/>
                <a:cs typeface="Calibri" panose="020F0502020204030204" pitchFamily="34" charset="0"/>
              </a:rPr>
              <a:t>(TA- 421)</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7" name="Table 6">
            <a:extLst>
              <a:ext uri="{FF2B5EF4-FFF2-40B4-BE49-F238E27FC236}">
                <a16:creationId xmlns:a16="http://schemas.microsoft.com/office/drawing/2014/main" id="{79A9CA10-3803-37E2-609C-0F2F99593B02}"/>
              </a:ext>
            </a:extLst>
          </p:cNvPr>
          <p:cNvGraphicFramePr>
            <a:graphicFrameLocks noGrp="1"/>
          </p:cNvGraphicFramePr>
          <p:nvPr>
            <p:extLst>
              <p:ext uri="{D42A27DB-BD31-4B8C-83A1-F6EECF244321}">
                <p14:modId xmlns:p14="http://schemas.microsoft.com/office/powerpoint/2010/main" val="2089081318"/>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10" name="Table 9">
            <a:extLst>
              <a:ext uri="{FF2B5EF4-FFF2-40B4-BE49-F238E27FC236}">
                <a16:creationId xmlns:a16="http://schemas.microsoft.com/office/drawing/2014/main" id="{3693C486-4F2E-9641-8AE3-2C5E4440956E}"/>
              </a:ext>
            </a:extLst>
          </p:cNvPr>
          <p:cNvGraphicFramePr>
            <a:graphicFrameLocks noGrp="1"/>
          </p:cNvGraphicFramePr>
          <p:nvPr>
            <p:extLst>
              <p:ext uri="{D42A27DB-BD31-4B8C-83A1-F6EECF244321}">
                <p14:modId xmlns:p14="http://schemas.microsoft.com/office/powerpoint/2010/main" val="1631974786"/>
              </p:ext>
            </p:extLst>
          </p:nvPr>
        </p:nvGraphicFramePr>
        <p:xfrm>
          <a:off x="248029" y="1472185"/>
          <a:ext cx="11686721" cy="3863686"/>
        </p:xfrm>
        <a:graphic>
          <a:graphicData uri="http://schemas.openxmlformats.org/drawingml/2006/table">
            <a:tbl>
              <a:tblPr/>
              <a:tblGrid>
                <a:gridCol w="1135393">
                  <a:extLst>
                    <a:ext uri="{9D8B030D-6E8A-4147-A177-3AD203B41FA5}">
                      <a16:colId xmlns:a16="http://schemas.microsoft.com/office/drawing/2014/main" val="3134568255"/>
                    </a:ext>
                  </a:extLst>
                </a:gridCol>
                <a:gridCol w="1004887">
                  <a:extLst>
                    <a:ext uri="{9D8B030D-6E8A-4147-A177-3AD203B41FA5}">
                      <a16:colId xmlns:a16="http://schemas.microsoft.com/office/drawing/2014/main" val="529650208"/>
                    </a:ext>
                  </a:extLst>
                </a:gridCol>
                <a:gridCol w="756929">
                  <a:extLst>
                    <a:ext uri="{9D8B030D-6E8A-4147-A177-3AD203B41FA5}">
                      <a16:colId xmlns:a16="http://schemas.microsoft.com/office/drawing/2014/main" val="92458083"/>
                    </a:ext>
                  </a:extLst>
                </a:gridCol>
                <a:gridCol w="769980">
                  <a:extLst>
                    <a:ext uri="{9D8B030D-6E8A-4147-A177-3AD203B41FA5}">
                      <a16:colId xmlns:a16="http://schemas.microsoft.com/office/drawing/2014/main" val="1261093951"/>
                    </a:ext>
                  </a:extLst>
                </a:gridCol>
                <a:gridCol w="756929">
                  <a:extLst>
                    <a:ext uri="{9D8B030D-6E8A-4147-A177-3AD203B41FA5}">
                      <a16:colId xmlns:a16="http://schemas.microsoft.com/office/drawing/2014/main" val="3845723164"/>
                    </a:ext>
                  </a:extLst>
                </a:gridCol>
                <a:gridCol w="822180">
                  <a:extLst>
                    <a:ext uri="{9D8B030D-6E8A-4147-A177-3AD203B41FA5}">
                      <a16:colId xmlns:a16="http://schemas.microsoft.com/office/drawing/2014/main" val="2426758173"/>
                    </a:ext>
                  </a:extLst>
                </a:gridCol>
                <a:gridCol w="822180">
                  <a:extLst>
                    <a:ext uri="{9D8B030D-6E8A-4147-A177-3AD203B41FA5}">
                      <a16:colId xmlns:a16="http://schemas.microsoft.com/office/drawing/2014/main" val="7475768"/>
                    </a:ext>
                  </a:extLst>
                </a:gridCol>
                <a:gridCol w="704728">
                  <a:extLst>
                    <a:ext uri="{9D8B030D-6E8A-4147-A177-3AD203B41FA5}">
                      <a16:colId xmlns:a16="http://schemas.microsoft.com/office/drawing/2014/main" val="2676474225"/>
                    </a:ext>
                  </a:extLst>
                </a:gridCol>
                <a:gridCol w="211669">
                  <a:extLst>
                    <a:ext uri="{9D8B030D-6E8A-4147-A177-3AD203B41FA5}">
                      <a16:colId xmlns:a16="http://schemas.microsoft.com/office/drawing/2014/main" val="3819434327"/>
                    </a:ext>
                  </a:extLst>
                </a:gridCol>
                <a:gridCol w="362554">
                  <a:extLst>
                    <a:ext uri="{9D8B030D-6E8A-4147-A177-3AD203B41FA5}">
                      <a16:colId xmlns:a16="http://schemas.microsoft.com/office/drawing/2014/main" val="3021805110"/>
                    </a:ext>
                  </a:extLst>
                </a:gridCol>
                <a:gridCol w="259238">
                  <a:extLst>
                    <a:ext uri="{9D8B030D-6E8A-4147-A177-3AD203B41FA5}">
                      <a16:colId xmlns:a16="http://schemas.microsoft.com/office/drawing/2014/main" val="3306756722"/>
                    </a:ext>
                  </a:extLst>
                </a:gridCol>
                <a:gridCol w="445490">
                  <a:extLst>
                    <a:ext uri="{9D8B030D-6E8A-4147-A177-3AD203B41FA5}">
                      <a16:colId xmlns:a16="http://schemas.microsoft.com/office/drawing/2014/main" val="3324902784"/>
                    </a:ext>
                  </a:extLst>
                </a:gridCol>
                <a:gridCol w="496342">
                  <a:extLst>
                    <a:ext uri="{9D8B030D-6E8A-4147-A177-3AD203B41FA5}">
                      <a16:colId xmlns:a16="http://schemas.microsoft.com/office/drawing/2014/main" val="706361869"/>
                    </a:ext>
                  </a:extLst>
                </a:gridCol>
                <a:gridCol w="438912">
                  <a:extLst>
                    <a:ext uri="{9D8B030D-6E8A-4147-A177-3AD203B41FA5}">
                      <a16:colId xmlns:a16="http://schemas.microsoft.com/office/drawing/2014/main" val="3438594745"/>
                    </a:ext>
                  </a:extLst>
                </a:gridCol>
                <a:gridCol w="500155">
                  <a:extLst>
                    <a:ext uri="{9D8B030D-6E8A-4147-A177-3AD203B41FA5}">
                      <a16:colId xmlns:a16="http://schemas.microsoft.com/office/drawing/2014/main" val="2391851116"/>
                    </a:ext>
                  </a:extLst>
                </a:gridCol>
                <a:gridCol w="2199155">
                  <a:extLst>
                    <a:ext uri="{9D8B030D-6E8A-4147-A177-3AD203B41FA5}">
                      <a16:colId xmlns:a16="http://schemas.microsoft.com/office/drawing/2014/main" val="3502179738"/>
                    </a:ext>
                  </a:extLst>
                </a:gridCol>
              </a:tblGrid>
              <a:tr h="360818">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a:solidFill>
                            <a:schemeClr val="tx1"/>
                          </a:solidFill>
                          <a:effectLst/>
                          <a:latin typeface="+mj-lt"/>
                        </a:rPr>
                        <a:t>Gangs Available</a:t>
                      </a:r>
                      <a:endParaRPr lang="en-US" sz="1200" b="1" i="0" u="none" strike="noStrike" dirty="0">
                        <a:solidFill>
                          <a:schemeClr val="tx1"/>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j-lt"/>
                        </a:rPr>
                        <a:t>Plan</a:t>
                      </a:r>
                      <a:br>
                        <a:rPr lang="en-US" sz="1200" b="1" i="0" u="none" strike="noStrike" dirty="0">
                          <a:solidFill>
                            <a:schemeClr val="tx1"/>
                          </a:solidFill>
                          <a:effectLst/>
                          <a:latin typeface="+mj-lt"/>
                        </a:rPr>
                      </a:br>
                      <a:r>
                        <a:rPr lang="en-US" sz="1200" b="1" i="0" u="none" strike="noStrike" dirty="0">
                          <a:solidFill>
                            <a:schemeClr val="tx1"/>
                          </a:solidFill>
                          <a:effectLst/>
                          <a:latin typeface="+mj-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June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185648">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lnT w="6350" cap="flat" cmpd="sng" algn="ctr">
                      <a:solidFill>
                        <a:srgbClr val="000000"/>
                      </a:solidFill>
                      <a:prstDash val="solid"/>
                      <a:round/>
                      <a:headEnd type="none" w="med" len="med"/>
                      <a:tailEnd type="none" w="med" len="med"/>
                    </a:lnT>
                  </a:tcPr>
                </a:tc>
                <a:tc hMerge="1" vMerge="1">
                  <a:txBody>
                    <a:bodyPr/>
                    <a:lstStyle/>
                    <a:p>
                      <a:pPr algn="ctr" fontAlgn="t">
                        <a:buNone/>
                      </a:pPr>
                      <a:r>
                        <a:rPr lang="en-US" sz="1200" b="1" i="0" u="none" strike="noStrike" dirty="0">
                          <a:solidFill>
                            <a:schemeClr val="tx1"/>
                          </a:solidFill>
                          <a:effectLst/>
                          <a:latin typeface="+mj-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26115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26115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26115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309</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360818">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121.342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113.361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7.981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a:solidFill>
                            <a:srgbClr val="000000"/>
                          </a:solidFill>
                          <a:effectLst/>
                          <a:latin typeface="+mj-lt"/>
                        </a:rPr>
                        <a:t>2</a:t>
                      </a: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14.192</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j-lt"/>
                        </a:rPr>
                        <a:t>14.19</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14.192</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26115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121.342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97.672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23.67</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23.67</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j-lt"/>
                        </a:rPr>
                        <a:t>23.67</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23.67</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82352">
                <a:tc gridSpan="1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lnT w="6350" cap="flat" cmpd="sng" algn="ctr">
                      <a:solidFill>
                        <a:srgbClr val="000000"/>
                      </a:solidFill>
                      <a:prstDash val="solid"/>
                      <a:round/>
                      <a:headEnd type="none" w="med" len="med"/>
                      <a:tailEnd type="none" w="med" len="med"/>
                    </a:lnT>
                  </a:tcPr>
                </a:tc>
                <a:tc hMerge="1">
                  <a:txBody>
                    <a:bodyPr/>
                    <a:lstStyle/>
                    <a:p>
                      <a:endParaRPr/>
                    </a:p>
                  </a:txBody>
                  <a:tcPr marL="3983" marR="3983" marT="3983" marB="0" anchor="ctr">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60818">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4">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18235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3Nos stubs in spare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223870">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3Nos towers in spare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18235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495535454"/>
                  </a:ext>
                </a:extLst>
              </a:tr>
              <a:tr h="18235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96488407"/>
                  </a:ext>
                </a:extLst>
              </a:tr>
              <a:tr h="18235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19053964"/>
                  </a:ext>
                </a:extLst>
              </a:tr>
              <a:tr h="18235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005780108"/>
                  </a:ext>
                </a:extLst>
              </a:tr>
              <a:tr h="182352">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j-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4">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lnL w="6350" cap="flat" cmpd="sng" algn="ctr">
                      <a:solidFill>
                        <a:srgbClr val="00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11" name="Table 10">
            <a:extLst>
              <a:ext uri="{FF2B5EF4-FFF2-40B4-BE49-F238E27FC236}">
                <a16:creationId xmlns:a16="http://schemas.microsoft.com/office/drawing/2014/main" id="{7A428589-5DC4-90EE-0E30-43C4F40E6A55}"/>
              </a:ext>
            </a:extLst>
          </p:cNvPr>
          <p:cNvGraphicFramePr>
            <a:graphicFrameLocks noGrp="1"/>
          </p:cNvGraphicFramePr>
          <p:nvPr>
            <p:extLst>
              <p:ext uri="{D42A27DB-BD31-4B8C-83A1-F6EECF244321}">
                <p14:modId xmlns:p14="http://schemas.microsoft.com/office/powerpoint/2010/main" val="3221209142"/>
              </p:ext>
            </p:extLst>
          </p:nvPr>
        </p:nvGraphicFramePr>
        <p:xfrm>
          <a:off x="248029" y="5344796"/>
          <a:ext cx="11677576" cy="1325340"/>
        </p:xfrm>
        <a:graphic>
          <a:graphicData uri="http://schemas.openxmlformats.org/drawingml/2006/table">
            <a:tbl>
              <a:tblPr/>
              <a:tblGrid>
                <a:gridCol w="1246181">
                  <a:extLst>
                    <a:ext uri="{9D8B030D-6E8A-4147-A177-3AD203B41FA5}">
                      <a16:colId xmlns:a16="http://schemas.microsoft.com/office/drawing/2014/main" val="4144033618"/>
                    </a:ext>
                  </a:extLst>
                </a:gridCol>
                <a:gridCol w="1106524">
                  <a:extLst>
                    <a:ext uri="{9D8B030D-6E8A-4147-A177-3AD203B41FA5}">
                      <a16:colId xmlns:a16="http://schemas.microsoft.com/office/drawing/2014/main" val="2710662077"/>
                    </a:ext>
                  </a:extLst>
                </a:gridCol>
                <a:gridCol w="827207">
                  <a:extLst>
                    <a:ext uri="{9D8B030D-6E8A-4147-A177-3AD203B41FA5}">
                      <a16:colId xmlns:a16="http://schemas.microsoft.com/office/drawing/2014/main" val="3810854777"/>
                    </a:ext>
                  </a:extLst>
                </a:gridCol>
                <a:gridCol w="1267667">
                  <a:extLst>
                    <a:ext uri="{9D8B030D-6E8A-4147-A177-3AD203B41FA5}">
                      <a16:colId xmlns:a16="http://schemas.microsoft.com/office/drawing/2014/main" val="95352560"/>
                    </a:ext>
                  </a:extLst>
                </a:gridCol>
                <a:gridCol w="1246181">
                  <a:extLst>
                    <a:ext uri="{9D8B030D-6E8A-4147-A177-3AD203B41FA5}">
                      <a16:colId xmlns:a16="http://schemas.microsoft.com/office/drawing/2014/main" val="3482007332"/>
                    </a:ext>
                  </a:extLst>
                </a:gridCol>
                <a:gridCol w="902407">
                  <a:extLst>
                    <a:ext uri="{9D8B030D-6E8A-4147-A177-3AD203B41FA5}">
                      <a16:colId xmlns:a16="http://schemas.microsoft.com/office/drawing/2014/main" val="3780160470"/>
                    </a:ext>
                  </a:extLst>
                </a:gridCol>
                <a:gridCol w="1353610">
                  <a:extLst>
                    <a:ext uri="{9D8B030D-6E8A-4147-A177-3AD203B41FA5}">
                      <a16:colId xmlns:a16="http://schemas.microsoft.com/office/drawing/2014/main" val="4001841647"/>
                    </a:ext>
                  </a:extLst>
                </a:gridCol>
                <a:gridCol w="1160237">
                  <a:extLst>
                    <a:ext uri="{9D8B030D-6E8A-4147-A177-3AD203B41FA5}">
                      <a16:colId xmlns:a16="http://schemas.microsoft.com/office/drawing/2014/main" val="873345733"/>
                    </a:ext>
                  </a:extLst>
                </a:gridCol>
                <a:gridCol w="633833">
                  <a:extLst>
                    <a:ext uri="{9D8B030D-6E8A-4147-A177-3AD203B41FA5}">
                      <a16:colId xmlns:a16="http://schemas.microsoft.com/office/drawing/2014/main" val="983947984"/>
                    </a:ext>
                  </a:extLst>
                </a:gridCol>
                <a:gridCol w="1160237">
                  <a:extLst>
                    <a:ext uri="{9D8B030D-6E8A-4147-A177-3AD203B41FA5}">
                      <a16:colId xmlns:a16="http://schemas.microsoft.com/office/drawing/2014/main" val="3672483493"/>
                    </a:ext>
                  </a:extLst>
                </a:gridCol>
                <a:gridCol w="773492">
                  <a:extLst>
                    <a:ext uri="{9D8B030D-6E8A-4147-A177-3AD203B41FA5}">
                      <a16:colId xmlns:a16="http://schemas.microsoft.com/office/drawing/2014/main" val="1432498959"/>
                    </a:ext>
                  </a:extLst>
                </a:gridCol>
              </a:tblGrid>
              <a:tr h="220890">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220890">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 </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  </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220890">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220890">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220890">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220890">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2811331996"/>
      </p:ext>
    </p:extLst>
  </p:cSld>
  <p:clrMapOvr>
    <a:masterClrMapping/>
  </p:clrMapOvr>
  <p:transition spd="slow"/>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495CD8-D7E5-0AD7-AC4A-8676169F561F}"/>
            </a:ext>
          </a:extLst>
        </p:cNvPr>
        <p:cNvGrpSpPr/>
        <p:nvPr/>
      </p:nvGrpSpPr>
      <p:grpSpPr>
        <a:xfrm>
          <a:off x="0" y="0"/>
          <a:ext cx="0" cy="0"/>
          <a:chOff x="0" y="0"/>
          <a:chExt cx="0" cy="0"/>
        </a:xfrm>
      </p:grpSpPr>
      <p:sp>
        <p:nvSpPr>
          <p:cNvPr id="6" name="Title 1">
            <a:extLst>
              <a:ext uri="{FF2B5EF4-FFF2-40B4-BE49-F238E27FC236}">
                <a16:creationId xmlns:a16="http://schemas.microsoft.com/office/drawing/2014/main" id="{0FF7CE72-8C5C-0F1F-C1FB-8E37E172AB85}"/>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Bidar Ps – Maheshwaram </a:t>
            </a:r>
            <a:r>
              <a:rPr lang="en-US" sz="2400" b="1" dirty="0">
                <a:latin typeface="Calibri" panose="020F0502020204030204" pitchFamily="34" charset="0"/>
                <a:ea typeface="Calibri" panose="020F0502020204030204" pitchFamily="34" charset="0"/>
                <a:cs typeface="Calibri" panose="020F0502020204030204" pitchFamily="34" charset="0"/>
              </a:rPr>
              <a:t>(TA- 421)</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le 7">
            <a:extLst>
              <a:ext uri="{FF2B5EF4-FFF2-40B4-BE49-F238E27FC236}">
                <a16:creationId xmlns:a16="http://schemas.microsoft.com/office/drawing/2014/main" id="{46AA5CFB-3564-B9CA-20FA-F3CFA15D8333}"/>
              </a:ext>
            </a:extLst>
          </p:cNvPr>
          <p:cNvGraphicFramePr>
            <a:graphicFrameLocks noGrp="1"/>
          </p:cNvGraphicFramePr>
          <p:nvPr>
            <p:extLst>
              <p:ext uri="{D42A27DB-BD31-4B8C-83A1-F6EECF244321}">
                <p14:modId xmlns:p14="http://schemas.microsoft.com/office/powerpoint/2010/main" val="4068022960"/>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10" name="Table 9">
            <a:extLst>
              <a:ext uri="{FF2B5EF4-FFF2-40B4-BE49-F238E27FC236}">
                <a16:creationId xmlns:a16="http://schemas.microsoft.com/office/drawing/2014/main" id="{888F2C7A-4351-2D6F-C1EC-8536191EBFB5}"/>
              </a:ext>
            </a:extLst>
          </p:cNvPr>
          <p:cNvGraphicFramePr>
            <a:graphicFrameLocks noGrp="1"/>
          </p:cNvGraphicFramePr>
          <p:nvPr>
            <p:extLst>
              <p:ext uri="{D42A27DB-BD31-4B8C-83A1-F6EECF244321}">
                <p14:modId xmlns:p14="http://schemas.microsoft.com/office/powerpoint/2010/main" val="1629577471"/>
              </p:ext>
            </p:extLst>
          </p:nvPr>
        </p:nvGraphicFramePr>
        <p:xfrm>
          <a:off x="248108" y="1472185"/>
          <a:ext cx="11686715" cy="5237533"/>
        </p:xfrm>
        <a:graphic>
          <a:graphicData uri="http://schemas.openxmlformats.org/drawingml/2006/table">
            <a:tbl>
              <a:tblPr/>
              <a:tblGrid>
                <a:gridCol w="844376">
                  <a:extLst>
                    <a:ext uri="{9D8B030D-6E8A-4147-A177-3AD203B41FA5}">
                      <a16:colId xmlns:a16="http://schemas.microsoft.com/office/drawing/2014/main" val="330956746"/>
                    </a:ext>
                  </a:extLst>
                </a:gridCol>
                <a:gridCol w="2207015">
                  <a:extLst>
                    <a:ext uri="{9D8B030D-6E8A-4147-A177-3AD203B41FA5}">
                      <a16:colId xmlns:a16="http://schemas.microsoft.com/office/drawing/2014/main" val="467016710"/>
                    </a:ext>
                  </a:extLst>
                </a:gridCol>
                <a:gridCol w="937865">
                  <a:extLst>
                    <a:ext uri="{9D8B030D-6E8A-4147-A177-3AD203B41FA5}">
                      <a16:colId xmlns:a16="http://schemas.microsoft.com/office/drawing/2014/main" val="2623573662"/>
                    </a:ext>
                  </a:extLst>
                </a:gridCol>
                <a:gridCol w="595063">
                  <a:extLst>
                    <a:ext uri="{9D8B030D-6E8A-4147-A177-3AD203B41FA5}">
                      <a16:colId xmlns:a16="http://schemas.microsoft.com/office/drawing/2014/main" val="3348155062"/>
                    </a:ext>
                  </a:extLst>
                </a:gridCol>
                <a:gridCol w="558434">
                  <a:extLst>
                    <a:ext uri="{9D8B030D-6E8A-4147-A177-3AD203B41FA5}">
                      <a16:colId xmlns:a16="http://schemas.microsoft.com/office/drawing/2014/main" val="3407175280"/>
                    </a:ext>
                  </a:extLst>
                </a:gridCol>
                <a:gridCol w="502374">
                  <a:extLst>
                    <a:ext uri="{9D8B030D-6E8A-4147-A177-3AD203B41FA5}">
                      <a16:colId xmlns:a16="http://schemas.microsoft.com/office/drawing/2014/main" val="3835865023"/>
                    </a:ext>
                  </a:extLst>
                </a:gridCol>
                <a:gridCol w="567950">
                  <a:extLst>
                    <a:ext uri="{9D8B030D-6E8A-4147-A177-3AD203B41FA5}">
                      <a16:colId xmlns:a16="http://schemas.microsoft.com/office/drawing/2014/main" val="3904565189"/>
                    </a:ext>
                  </a:extLst>
                </a:gridCol>
                <a:gridCol w="500332">
                  <a:extLst>
                    <a:ext uri="{9D8B030D-6E8A-4147-A177-3AD203B41FA5}">
                      <a16:colId xmlns:a16="http://schemas.microsoft.com/office/drawing/2014/main" val="1087588403"/>
                    </a:ext>
                  </a:extLst>
                </a:gridCol>
                <a:gridCol w="394749">
                  <a:extLst>
                    <a:ext uri="{9D8B030D-6E8A-4147-A177-3AD203B41FA5}">
                      <a16:colId xmlns:a16="http://schemas.microsoft.com/office/drawing/2014/main" val="1978132890"/>
                    </a:ext>
                  </a:extLst>
                </a:gridCol>
                <a:gridCol w="463799">
                  <a:extLst>
                    <a:ext uri="{9D8B030D-6E8A-4147-A177-3AD203B41FA5}">
                      <a16:colId xmlns:a16="http://schemas.microsoft.com/office/drawing/2014/main" val="1472471097"/>
                    </a:ext>
                  </a:extLst>
                </a:gridCol>
                <a:gridCol w="525056">
                  <a:extLst>
                    <a:ext uri="{9D8B030D-6E8A-4147-A177-3AD203B41FA5}">
                      <a16:colId xmlns:a16="http://schemas.microsoft.com/office/drawing/2014/main" val="4151107971"/>
                    </a:ext>
                  </a:extLst>
                </a:gridCol>
                <a:gridCol w="507554">
                  <a:extLst>
                    <a:ext uri="{9D8B030D-6E8A-4147-A177-3AD203B41FA5}">
                      <a16:colId xmlns:a16="http://schemas.microsoft.com/office/drawing/2014/main" val="425587029"/>
                    </a:ext>
                  </a:extLst>
                </a:gridCol>
                <a:gridCol w="498304">
                  <a:extLst>
                    <a:ext uri="{9D8B030D-6E8A-4147-A177-3AD203B41FA5}">
                      <a16:colId xmlns:a16="http://schemas.microsoft.com/office/drawing/2014/main" val="2861279347"/>
                    </a:ext>
                  </a:extLst>
                </a:gridCol>
                <a:gridCol w="529071">
                  <a:extLst>
                    <a:ext uri="{9D8B030D-6E8A-4147-A177-3AD203B41FA5}">
                      <a16:colId xmlns:a16="http://schemas.microsoft.com/office/drawing/2014/main" val="470002717"/>
                    </a:ext>
                  </a:extLst>
                </a:gridCol>
                <a:gridCol w="516769">
                  <a:extLst>
                    <a:ext uri="{9D8B030D-6E8A-4147-A177-3AD203B41FA5}">
                      <a16:colId xmlns:a16="http://schemas.microsoft.com/office/drawing/2014/main" val="3542135224"/>
                    </a:ext>
                  </a:extLst>
                </a:gridCol>
                <a:gridCol w="504466">
                  <a:extLst>
                    <a:ext uri="{9D8B030D-6E8A-4147-A177-3AD203B41FA5}">
                      <a16:colId xmlns:a16="http://schemas.microsoft.com/office/drawing/2014/main" val="2066182156"/>
                    </a:ext>
                  </a:extLst>
                </a:gridCol>
                <a:gridCol w="516769">
                  <a:extLst>
                    <a:ext uri="{9D8B030D-6E8A-4147-A177-3AD203B41FA5}">
                      <a16:colId xmlns:a16="http://schemas.microsoft.com/office/drawing/2014/main" val="3474579885"/>
                    </a:ext>
                  </a:extLst>
                </a:gridCol>
                <a:gridCol w="516769">
                  <a:extLst>
                    <a:ext uri="{9D8B030D-6E8A-4147-A177-3AD203B41FA5}">
                      <a16:colId xmlns:a16="http://schemas.microsoft.com/office/drawing/2014/main" val="1602192749"/>
                    </a:ext>
                  </a:extLst>
                </a:gridCol>
              </a:tblGrid>
              <a:tr h="347471">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No. of month from NOA</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 Qty.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Upto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As on 01.05.26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Jul-26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Aug-26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Sep-26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Oct-26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Nov-26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Dec-26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Jan-27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Feb-27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Mar-27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341750030"/>
                  </a:ext>
                </a:extLst>
              </a:tr>
              <a:tr h="210312">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IN"/>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63433136"/>
                  </a:ext>
                </a:extLst>
              </a:tr>
              <a:tr h="186607">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4864030"/>
                  </a:ext>
                </a:extLst>
              </a:tr>
              <a:tr h="1866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92204872"/>
                  </a:ext>
                </a:extLst>
              </a:tr>
              <a:tr h="1866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8064827"/>
                  </a:ext>
                </a:extLst>
              </a:tr>
              <a:tr h="1866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31382125"/>
                  </a:ext>
                </a:extLst>
              </a:tr>
              <a:tr h="171543">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Stubs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84174195"/>
                  </a:ext>
                </a:extLst>
              </a:tr>
              <a:tr h="1866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48442476"/>
                  </a:ext>
                </a:extLst>
              </a:tr>
              <a:tr h="186607">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794284895"/>
                  </a:ext>
                </a:extLst>
              </a:tr>
              <a:tr h="186607">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85639932"/>
                  </a:ext>
                </a:extLst>
              </a:tr>
              <a:tr h="1866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48076848"/>
                  </a:ext>
                </a:extLst>
              </a:tr>
              <a:tr h="1866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4915967"/>
                  </a:ext>
                </a:extLst>
              </a:tr>
              <a:tr h="1866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76733000"/>
                  </a:ext>
                </a:extLst>
              </a:tr>
              <a:tr h="1866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51575881"/>
                  </a:ext>
                </a:extLst>
              </a:tr>
              <a:tr h="1866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76095068"/>
                  </a:ext>
                </a:extLst>
              </a:tr>
              <a:tr h="186607">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3795312704"/>
                  </a:ext>
                </a:extLst>
              </a:tr>
              <a:tr h="186607">
                <a:tc rowSpan="11">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90037553"/>
                  </a:ext>
                </a:extLst>
              </a:tr>
              <a:tr h="1866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47927932"/>
                  </a:ext>
                </a:extLst>
              </a:tr>
              <a:tr h="186607">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7137584"/>
                  </a:ext>
                </a:extLst>
              </a:tr>
              <a:tr h="186607">
                <a:tc vMerge="1">
                  <a:txBody>
                    <a:bodyPr/>
                    <a:lstStyle/>
                    <a:p>
                      <a:endParaRPr lang="en-US"/>
                    </a:p>
                  </a:txBody>
                  <a:tcPr/>
                </a:tc>
                <a:tc rowSpan="2">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TSE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53577170"/>
                  </a:ext>
                </a:extLst>
              </a:tr>
              <a:tr h="186607">
                <a:tc vMerge="1">
                  <a:txBody>
                    <a:bodyPr/>
                    <a:lstStyle/>
                    <a:p>
                      <a:endParaRPr lang="en-US"/>
                    </a:p>
                  </a:txBody>
                  <a:tcPr/>
                </a:tc>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Manual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87594838"/>
                  </a:ext>
                </a:extLst>
              </a:tr>
              <a:tr h="186607">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91423490"/>
                  </a:ext>
                </a:extLst>
              </a:tr>
              <a:tr h="186607">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31144415"/>
                  </a:ext>
                </a:extLst>
              </a:tr>
              <a:tr h="186607">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59411858"/>
                  </a:ext>
                </a:extLst>
              </a:tr>
              <a:tr h="186607">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10348192"/>
                  </a:ext>
                </a:extLst>
              </a:tr>
              <a:tr h="186607">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71402620"/>
                  </a:ext>
                </a:extLst>
              </a:tr>
              <a:tr h="186607">
                <a:tc vMerge="1">
                  <a:txBody>
                    <a:bodyPr/>
                    <a:lstStyle/>
                    <a:p>
                      <a:endParaRPr lang="en-US"/>
                    </a:p>
                  </a:txBody>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en-US" sz="1200" b="0"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06786991"/>
                  </a:ext>
                </a:extLst>
              </a:tr>
            </a:tbl>
          </a:graphicData>
        </a:graphic>
      </p:graphicFrame>
    </p:spTree>
    <p:extLst>
      <p:ext uri="{BB962C8B-B14F-4D97-AF65-F5344CB8AC3E}">
        <p14:creationId xmlns:p14="http://schemas.microsoft.com/office/powerpoint/2010/main" val="3161436288"/>
      </p:ext>
    </p:extLst>
  </p:cSld>
  <p:clrMapOvr>
    <a:masterClrMapping/>
  </p:clrMapOvr>
  <p:transition spd="slow"/>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3B2296-3437-F443-7E78-D93E5D9DE6B7}"/>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213DA05E-7DEF-D65A-9337-2CC35ABB6DCB}"/>
              </a:ext>
            </a:extLst>
          </p:cNvPr>
          <p:cNvSpPr txBox="1"/>
          <p:nvPr/>
        </p:nvSpPr>
        <p:spPr>
          <a:xfrm>
            <a:off x="257175" y="1713484"/>
            <a:ext cx="11677650" cy="1138773"/>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pPr algn="just"/>
            <a:endParaRPr lang="en-US"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1. Amendment # 4 is pending since from Feb’26</a:t>
            </a:r>
          </a:p>
          <a:p>
            <a:pPr algn="just"/>
            <a:r>
              <a:rPr lang="en-US" sz="1400" dirty="0">
                <a:ea typeface="Calibri" panose="020F0502020204030204" pitchFamily="34" charset="0"/>
                <a:cs typeface="Calibri" panose="020F0502020204030204" pitchFamily="34" charset="0"/>
              </a:rPr>
              <a:t>	</a:t>
            </a:r>
            <a:endParaRPr lang="en-IN" sz="1400" dirty="0">
              <a:ea typeface="Calibri" panose="020F0502020204030204" pitchFamily="34" charset="0"/>
              <a:cs typeface="Calibri" panose="020F0502020204030204" pitchFamily="34" charset="0"/>
            </a:endParaRPr>
          </a:p>
        </p:txBody>
      </p:sp>
      <p:sp>
        <p:nvSpPr>
          <p:cNvPr id="4" name="Title 1">
            <a:extLst>
              <a:ext uri="{FF2B5EF4-FFF2-40B4-BE49-F238E27FC236}">
                <a16:creationId xmlns:a16="http://schemas.microsoft.com/office/drawing/2014/main" id="{0979B584-A0CC-B56B-760D-94D21C3619BD}"/>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TL01 - 765KV D/C Bidar Ps – Maheshwaram </a:t>
            </a:r>
            <a:r>
              <a:rPr lang="en-US" sz="2400" b="1" dirty="0">
                <a:latin typeface="Calibri" panose="020F0502020204030204" pitchFamily="34" charset="0"/>
                <a:ea typeface="Calibri" panose="020F0502020204030204" pitchFamily="34" charset="0"/>
                <a:cs typeface="Calibri" panose="020F0502020204030204" pitchFamily="34" charset="0"/>
              </a:rPr>
              <a:t>(TA- 421)</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le 7">
            <a:extLst>
              <a:ext uri="{FF2B5EF4-FFF2-40B4-BE49-F238E27FC236}">
                <a16:creationId xmlns:a16="http://schemas.microsoft.com/office/drawing/2014/main" id="{E9E2756B-BC4B-DF26-15A6-0B9060A1AA24}"/>
              </a:ext>
            </a:extLst>
          </p:cNvPr>
          <p:cNvGraphicFramePr>
            <a:graphicFrameLocks noGrp="1"/>
          </p:cNvGraphicFramePr>
          <p:nvPr>
            <p:extLst>
              <p:ext uri="{D42A27DB-BD31-4B8C-83A1-F6EECF244321}">
                <p14:modId xmlns:p14="http://schemas.microsoft.com/office/powerpoint/2010/main" val="1073243651"/>
              </p:ext>
            </p:extLst>
          </p:nvPr>
        </p:nvGraphicFramePr>
        <p:xfrm>
          <a:off x="238962" y="1234440"/>
          <a:ext cx="11695864" cy="237744"/>
        </p:xfrm>
        <a:graphic>
          <a:graphicData uri="http://schemas.openxmlformats.org/drawingml/2006/table">
            <a:tbl>
              <a:tblPr/>
              <a:tblGrid>
                <a:gridCol w="2923966">
                  <a:extLst>
                    <a:ext uri="{9D8B030D-6E8A-4147-A177-3AD203B41FA5}">
                      <a16:colId xmlns:a16="http://schemas.microsoft.com/office/drawing/2014/main" val="906577857"/>
                    </a:ext>
                  </a:extLst>
                </a:gridCol>
                <a:gridCol w="2923966">
                  <a:extLst>
                    <a:ext uri="{9D8B030D-6E8A-4147-A177-3AD203B41FA5}">
                      <a16:colId xmlns:a16="http://schemas.microsoft.com/office/drawing/2014/main" val="1761629044"/>
                    </a:ext>
                  </a:extLst>
                </a:gridCol>
                <a:gridCol w="2923966">
                  <a:extLst>
                    <a:ext uri="{9D8B030D-6E8A-4147-A177-3AD203B41FA5}">
                      <a16:colId xmlns:a16="http://schemas.microsoft.com/office/drawing/2014/main" val="949399120"/>
                    </a:ext>
                  </a:extLst>
                </a:gridCol>
                <a:gridCol w="2923966">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14/03/24</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370 </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14/11/25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May’26</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1571513264"/>
      </p:ext>
    </p:extLst>
  </p:cSld>
  <p:clrMapOvr>
    <a:masterClrMapping/>
  </p:clrMapOvr>
  <p:transition spd="slow"/>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F2A127-01D8-6591-848D-1390C6FE9951}"/>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DA7A9F1C-0F0B-6C88-F709-1A7B85D5FB26}"/>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TL02 - </a:t>
            </a:r>
            <a:r>
              <a:rPr lang="en-US" sz="2400" b="1" dirty="0">
                <a:latin typeface="Calibri" panose="020F0502020204030204" pitchFamily="34" charset="0"/>
                <a:ea typeface="Calibri" panose="020F0502020204030204" pitchFamily="34" charset="0"/>
                <a:cs typeface="Calibri" panose="020F0502020204030204" pitchFamily="34" charset="0"/>
              </a:rPr>
              <a:t>765kV D/C Kurnool IV – Bidar Line  (TA- 601)</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3F9A8BC0-3065-3975-927F-033349724886}"/>
              </a:ext>
            </a:extLst>
          </p:cNvPr>
          <p:cNvGraphicFramePr>
            <a:graphicFrameLocks noGrp="1"/>
          </p:cNvGraphicFramePr>
          <p:nvPr>
            <p:extLst>
              <p:ext uri="{D42A27DB-BD31-4B8C-83A1-F6EECF244321}">
                <p14:modId xmlns:p14="http://schemas.microsoft.com/office/powerpoint/2010/main" val="3018568247"/>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3" name="Table 2">
            <a:extLst>
              <a:ext uri="{FF2B5EF4-FFF2-40B4-BE49-F238E27FC236}">
                <a16:creationId xmlns:a16="http://schemas.microsoft.com/office/drawing/2014/main" id="{1BA780DD-8BBA-69D0-73B6-A8628603A6C9}"/>
              </a:ext>
            </a:extLst>
          </p:cNvPr>
          <p:cNvGraphicFramePr>
            <a:graphicFrameLocks noGrp="1"/>
          </p:cNvGraphicFramePr>
          <p:nvPr>
            <p:extLst>
              <p:ext uri="{D42A27DB-BD31-4B8C-83A1-F6EECF244321}">
                <p14:modId xmlns:p14="http://schemas.microsoft.com/office/powerpoint/2010/main" val="1228079976"/>
              </p:ext>
            </p:extLst>
          </p:nvPr>
        </p:nvGraphicFramePr>
        <p:xfrm>
          <a:off x="248029" y="1472185"/>
          <a:ext cx="11686797" cy="3857197"/>
        </p:xfrm>
        <a:graphic>
          <a:graphicData uri="http://schemas.openxmlformats.org/drawingml/2006/table">
            <a:tbl>
              <a:tblPr/>
              <a:tblGrid>
                <a:gridCol w="1135401">
                  <a:extLst>
                    <a:ext uri="{9D8B030D-6E8A-4147-A177-3AD203B41FA5}">
                      <a16:colId xmlns:a16="http://schemas.microsoft.com/office/drawing/2014/main" val="3134568255"/>
                    </a:ext>
                  </a:extLst>
                </a:gridCol>
                <a:gridCol w="1004893">
                  <a:extLst>
                    <a:ext uri="{9D8B030D-6E8A-4147-A177-3AD203B41FA5}">
                      <a16:colId xmlns:a16="http://schemas.microsoft.com/office/drawing/2014/main" val="529650208"/>
                    </a:ext>
                  </a:extLst>
                </a:gridCol>
                <a:gridCol w="756934">
                  <a:extLst>
                    <a:ext uri="{9D8B030D-6E8A-4147-A177-3AD203B41FA5}">
                      <a16:colId xmlns:a16="http://schemas.microsoft.com/office/drawing/2014/main" val="92458083"/>
                    </a:ext>
                  </a:extLst>
                </a:gridCol>
                <a:gridCol w="769985">
                  <a:extLst>
                    <a:ext uri="{9D8B030D-6E8A-4147-A177-3AD203B41FA5}">
                      <a16:colId xmlns:a16="http://schemas.microsoft.com/office/drawing/2014/main" val="1261093951"/>
                    </a:ext>
                  </a:extLst>
                </a:gridCol>
                <a:gridCol w="756934">
                  <a:extLst>
                    <a:ext uri="{9D8B030D-6E8A-4147-A177-3AD203B41FA5}">
                      <a16:colId xmlns:a16="http://schemas.microsoft.com/office/drawing/2014/main" val="3845723164"/>
                    </a:ext>
                  </a:extLst>
                </a:gridCol>
                <a:gridCol w="822185">
                  <a:extLst>
                    <a:ext uri="{9D8B030D-6E8A-4147-A177-3AD203B41FA5}">
                      <a16:colId xmlns:a16="http://schemas.microsoft.com/office/drawing/2014/main" val="2426758173"/>
                    </a:ext>
                  </a:extLst>
                </a:gridCol>
                <a:gridCol w="822185">
                  <a:extLst>
                    <a:ext uri="{9D8B030D-6E8A-4147-A177-3AD203B41FA5}">
                      <a16:colId xmlns:a16="http://schemas.microsoft.com/office/drawing/2014/main" val="7475768"/>
                    </a:ext>
                  </a:extLst>
                </a:gridCol>
                <a:gridCol w="704732">
                  <a:extLst>
                    <a:ext uri="{9D8B030D-6E8A-4147-A177-3AD203B41FA5}">
                      <a16:colId xmlns:a16="http://schemas.microsoft.com/office/drawing/2014/main" val="2676474225"/>
                    </a:ext>
                  </a:extLst>
                </a:gridCol>
                <a:gridCol w="172433">
                  <a:extLst>
                    <a:ext uri="{9D8B030D-6E8A-4147-A177-3AD203B41FA5}">
                      <a16:colId xmlns:a16="http://schemas.microsoft.com/office/drawing/2014/main" val="3819434327"/>
                    </a:ext>
                  </a:extLst>
                </a:gridCol>
                <a:gridCol w="401793">
                  <a:extLst>
                    <a:ext uri="{9D8B030D-6E8A-4147-A177-3AD203B41FA5}">
                      <a16:colId xmlns:a16="http://schemas.microsoft.com/office/drawing/2014/main" val="1543301423"/>
                    </a:ext>
                  </a:extLst>
                </a:gridCol>
                <a:gridCol w="299270">
                  <a:extLst>
                    <a:ext uri="{9D8B030D-6E8A-4147-A177-3AD203B41FA5}">
                      <a16:colId xmlns:a16="http://schemas.microsoft.com/office/drawing/2014/main" val="3306756722"/>
                    </a:ext>
                  </a:extLst>
                </a:gridCol>
                <a:gridCol w="405462">
                  <a:extLst>
                    <a:ext uri="{9D8B030D-6E8A-4147-A177-3AD203B41FA5}">
                      <a16:colId xmlns:a16="http://schemas.microsoft.com/office/drawing/2014/main" val="4144423997"/>
                    </a:ext>
                  </a:extLst>
                </a:gridCol>
                <a:gridCol w="168135">
                  <a:extLst>
                    <a:ext uri="{9D8B030D-6E8A-4147-A177-3AD203B41FA5}">
                      <a16:colId xmlns:a16="http://schemas.microsoft.com/office/drawing/2014/main" val="706361869"/>
                    </a:ext>
                  </a:extLst>
                </a:gridCol>
                <a:gridCol w="309560">
                  <a:extLst>
                    <a:ext uri="{9D8B030D-6E8A-4147-A177-3AD203B41FA5}">
                      <a16:colId xmlns:a16="http://schemas.microsoft.com/office/drawing/2014/main" val="2026678798"/>
                    </a:ext>
                  </a:extLst>
                </a:gridCol>
                <a:gridCol w="500760">
                  <a:extLst>
                    <a:ext uri="{9D8B030D-6E8A-4147-A177-3AD203B41FA5}">
                      <a16:colId xmlns:a16="http://schemas.microsoft.com/office/drawing/2014/main" val="3438594745"/>
                    </a:ext>
                  </a:extLst>
                </a:gridCol>
                <a:gridCol w="456965">
                  <a:extLst>
                    <a:ext uri="{9D8B030D-6E8A-4147-A177-3AD203B41FA5}">
                      <a16:colId xmlns:a16="http://schemas.microsoft.com/office/drawing/2014/main" val="2391851116"/>
                    </a:ext>
                  </a:extLst>
                </a:gridCol>
                <a:gridCol w="2199170">
                  <a:extLst>
                    <a:ext uri="{9D8B030D-6E8A-4147-A177-3AD203B41FA5}">
                      <a16:colId xmlns:a16="http://schemas.microsoft.com/office/drawing/2014/main" val="3502179738"/>
                    </a:ext>
                  </a:extLst>
                </a:gridCol>
              </a:tblGrid>
              <a:tr h="362267">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200594">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n-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dirty="0">
                          <a:solidFill>
                            <a:schemeClr val="tx1"/>
                          </a:solidFill>
                          <a:effectLst/>
                          <a:latin typeface="+mn-lt"/>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362267">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0.400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NA</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27129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292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172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266607">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292</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71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221</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35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18308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113.286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113.286</a:t>
                      </a: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272676">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113.286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113.286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r>
                        <a:rPr lang="en-US" sz="1200">
                          <a:latin typeface="Calibri" panose="020F0502020204030204" pitchFamily="34" charset="0"/>
                          <a:ea typeface="Calibri" panose="020F0502020204030204" pitchFamily="34" charset="0"/>
                          <a:cs typeface="Calibri" panose="020F0502020204030204" pitchFamily="34" charset="0"/>
                        </a:rPr>
                        <a:t>0</a:t>
                      </a: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83085">
                <a:tc gridSpan="17">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62267">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18308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 completed in May(02 Loc under hold)</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241892">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02 loc Under hold by PGCIL</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18308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495535454"/>
                  </a:ext>
                </a:extLst>
              </a:tr>
              <a:tr h="18308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96488407"/>
                  </a:ext>
                </a:extLst>
              </a:tr>
              <a:tr h="18308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19053964"/>
                  </a:ext>
                </a:extLst>
              </a:tr>
              <a:tr h="183085">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005780108"/>
                  </a:ext>
                </a:extLst>
              </a:tr>
              <a:tr h="18308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5" name="Table 4">
            <a:extLst>
              <a:ext uri="{FF2B5EF4-FFF2-40B4-BE49-F238E27FC236}">
                <a16:creationId xmlns:a16="http://schemas.microsoft.com/office/drawing/2014/main" id="{CA5E237A-29B8-E354-2872-34B34DA1ADAE}"/>
              </a:ext>
            </a:extLst>
          </p:cNvPr>
          <p:cNvGraphicFramePr>
            <a:graphicFrameLocks noGrp="1"/>
          </p:cNvGraphicFramePr>
          <p:nvPr>
            <p:extLst>
              <p:ext uri="{D42A27DB-BD31-4B8C-83A1-F6EECF244321}">
                <p14:modId xmlns:p14="http://schemas.microsoft.com/office/powerpoint/2010/main" val="2934445205"/>
              </p:ext>
            </p:extLst>
          </p:nvPr>
        </p:nvGraphicFramePr>
        <p:xfrm>
          <a:off x="238963" y="5335009"/>
          <a:ext cx="11705008" cy="1255887"/>
        </p:xfrm>
        <a:graphic>
          <a:graphicData uri="http://schemas.openxmlformats.org/drawingml/2006/table">
            <a:tbl>
              <a:tblPr/>
              <a:tblGrid>
                <a:gridCol w="1249108">
                  <a:extLst>
                    <a:ext uri="{9D8B030D-6E8A-4147-A177-3AD203B41FA5}">
                      <a16:colId xmlns:a16="http://schemas.microsoft.com/office/drawing/2014/main" val="4144033618"/>
                    </a:ext>
                  </a:extLst>
                </a:gridCol>
                <a:gridCol w="1109123">
                  <a:extLst>
                    <a:ext uri="{9D8B030D-6E8A-4147-A177-3AD203B41FA5}">
                      <a16:colId xmlns:a16="http://schemas.microsoft.com/office/drawing/2014/main" val="2710662077"/>
                    </a:ext>
                  </a:extLst>
                </a:gridCol>
                <a:gridCol w="829150">
                  <a:extLst>
                    <a:ext uri="{9D8B030D-6E8A-4147-A177-3AD203B41FA5}">
                      <a16:colId xmlns:a16="http://schemas.microsoft.com/office/drawing/2014/main" val="3810854777"/>
                    </a:ext>
                  </a:extLst>
                </a:gridCol>
                <a:gridCol w="1270646">
                  <a:extLst>
                    <a:ext uri="{9D8B030D-6E8A-4147-A177-3AD203B41FA5}">
                      <a16:colId xmlns:a16="http://schemas.microsoft.com/office/drawing/2014/main" val="95352560"/>
                    </a:ext>
                  </a:extLst>
                </a:gridCol>
                <a:gridCol w="1249108">
                  <a:extLst>
                    <a:ext uri="{9D8B030D-6E8A-4147-A177-3AD203B41FA5}">
                      <a16:colId xmlns:a16="http://schemas.microsoft.com/office/drawing/2014/main" val="3482007332"/>
                    </a:ext>
                  </a:extLst>
                </a:gridCol>
                <a:gridCol w="904528">
                  <a:extLst>
                    <a:ext uri="{9D8B030D-6E8A-4147-A177-3AD203B41FA5}">
                      <a16:colId xmlns:a16="http://schemas.microsoft.com/office/drawing/2014/main" val="3780160470"/>
                    </a:ext>
                  </a:extLst>
                </a:gridCol>
                <a:gridCol w="1356790">
                  <a:extLst>
                    <a:ext uri="{9D8B030D-6E8A-4147-A177-3AD203B41FA5}">
                      <a16:colId xmlns:a16="http://schemas.microsoft.com/office/drawing/2014/main" val="4001841647"/>
                    </a:ext>
                  </a:extLst>
                </a:gridCol>
                <a:gridCol w="1162962">
                  <a:extLst>
                    <a:ext uri="{9D8B030D-6E8A-4147-A177-3AD203B41FA5}">
                      <a16:colId xmlns:a16="http://schemas.microsoft.com/office/drawing/2014/main" val="873345733"/>
                    </a:ext>
                  </a:extLst>
                </a:gridCol>
                <a:gridCol w="635322">
                  <a:extLst>
                    <a:ext uri="{9D8B030D-6E8A-4147-A177-3AD203B41FA5}">
                      <a16:colId xmlns:a16="http://schemas.microsoft.com/office/drawing/2014/main" val="983947984"/>
                    </a:ext>
                  </a:extLst>
                </a:gridCol>
                <a:gridCol w="1162962">
                  <a:extLst>
                    <a:ext uri="{9D8B030D-6E8A-4147-A177-3AD203B41FA5}">
                      <a16:colId xmlns:a16="http://schemas.microsoft.com/office/drawing/2014/main" val="3672483493"/>
                    </a:ext>
                  </a:extLst>
                </a:gridCol>
                <a:gridCol w="775309">
                  <a:extLst>
                    <a:ext uri="{9D8B030D-6E8A-4147-A177-3AD203B41FA5}">
                      <a16:colId xmlns:a16="http://schemas.microsoft.com/office/drawing/2014/main" val="1432498959"/>
                    </a:ext>
                  </a:extLst>
                </a:gridCol>
              </a:tblGrid>
              <a:tr h="151391">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213543">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213543">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21354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21354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21354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16327959"/>
      </p:ext>
    </p:extLst>
  </p:cSld>
  <p:clrMapOvr>
    <a:masterClrMapping/>
  </p:clrMapOvr>
  <p:transition spd="slow"/>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D5F2C3-6016-6B65-B561-EFC5494B20E8}"/>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8F8D8C69-36BA-2216-3324-A27A3002AC27}"/>
              </a:ext>
            </a:extLst>
          </p:cNvPr>
          <p:cNvSpPr txBox="1"/>
          <p:nvPr/>
        </p:nvSpPr>
        <p:spPr>
          <a:xfrm>
            <a:off x="257175" y="1602295"/>
            <a:ext cx="11677650" cy="2308324"/>
          </a:xfrm>
          <a:prstGeom prst="rect">
            <a:avLst/>
          </a:prstGeom>
          <a:noFill/>
        </p:spPr>
        <p:txBody>
          <a:bodyPr wrap="square" rtlCol="0">
            <a:spAutoFit/>
          </a:bodyPr>
          <a:lstStyle/>
          <a:p>
            <a:r>
              <a:rPr lang="en-IN" b="1" dirty="0">
                <a:latin typeface="Calibri" panose="020F0502020204030204" pitchFamily="34" charset="0"/>
                <a:ea typeface="Calibri" panose="020F0502020204030204" pitchFamily="34" charset="0"/>
                <a:cs typeface="Calibri" panose="020F0502020204030204" pitchFamily="34" charset="0"/>
              </a:rPr>
              <a:t>Issues / Support Required</a:t>
            </a:r>
          </a:p>
          <a:p>
            <a:pPr algn="just"/>
            <a:endParaRPr lang="en-US"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1. All Crossing Proposals (11 proposal:6 PLC, 3 NH and 2 Railway), are submitted but no approval received till date</a:t>
            </a:r>
          </a:p>
          <a:p>
            <a:pPr marL="342900" indent="-342900">
              <a:buAutoNum type="arabicPeriod"/>
            </a:pPr>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2. RC Foundation Drawings Required ( DC1, DC2, DD1, DD2)- For 14 Location</a:t>
            </a:r>
          </a:p>
          <a:p>
            <a:endParaRPr lang="en-IN" dirty="0">
              <a:latin typeface="Calibri" panose="020F0502020204030204" pitchFamily="34" charset="0"/>
              <a:ea typeface="Calibri" panose="020F0502020204030204" pitchFamily="34" charset="0"/>
              <a:cs typeface="Calibri" panose="020F0502020204030204" pitchFamily="34" charset="0"/>
            </a:endParaRPr>
          </a:p>
          <a:p>
            <a:r>
              <a:rPr lang="en-IN" dirty="0">
                <a:latin typeface="Calibri" panose="020F0502020204030204" pitchFamily="34" charset="0"/>
                <a:ea typeface="Calibri" panose="020F0502020204030204" pitchFamily="34" charset="0"/>
                <a:cs typeface="Calibri" panose="020F0502020204030204" pitchFamily="34" charset="0"/>
              </a:rPr>
              <a:t>3. Two location – 110 /0 and 111/0 has been hold from PGCIL, which is hold due to widening of NH. Consequently 0.4 km of check survey is also hold</a:t>
            </a:r>
            <a:r>
              <a:rPr lang="en-US" sz="1200" dirty="0">
                <a:ea typeface="Calibri" panose="020F0502020204030204" pitchFamily="34" charset="0"/>
                <a:cs typeface="Calibri" panose="020F0502020204030204" pitchFamily="34" charset="0"/>
              </a:rPr>
              <a:t>	</a:t>
            </a:r>
            <a:endParaRPr lang="en-IN" sz="1200" dirty="0">
              <a:ea typeface="Calibri" panose="020F0502020204030204" pitchFamily="34" charset="0"/>
              <a:cs typeface="Calibri" panose="020F0502020204030204" pitchFamily="34" charset="0"/>
            </a:endParaRPr>
          </a:p>
        </p:txBody>
      </p:sp>
      <p:sp>
        <p:nvSpPr>
          <p:cNvPr id="4" name="Title 1">
            <a:extLst>
              <a:ext uri="{FF2B5EF4-FFF2-40B4-BE49-F238E27FC236}">
                <a16:creationId xmlns:a16="http://schemas.microsoft.com/office/drawing/2014/main" id="{2656972D-8778-452D-DC78-0C4A2E926D4E}"/>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TL02 - </a:t>
            </a:r>
            <a:r>
              <a:rPr lang="en-US" sz="2400" b="1" dirty="0">
                <a:latin typeface="Calibri" panose="020F0502020204030204" pitchFamily="34" charset="0"/>
                <a:ea typeface="Calibri" panose="020F0502020204030204" pitchFamily="34" charset="0"/>
                <a:cs typeface="Calibri" panose="020F0502020204030204" pitchFamily="34" charset="0"/>
              </a:rPr>
              <a:t>765kV D/C Kurnool IV – Bidar Line  (TA- 601)</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le 7">
            <a:extLst>
              <a:ext uri="{FF2B5EF4-FFF2-40B4-BE49-F238E27FC236}">
                <a16:creationId xmlns:a16="http://schemas.microsoft.com/office/drawing/2014/main" id="{BFAF7227-6F0D-8B07-62D5-7C0313153629}"/>
              </a:ext>
            </a:extLst>
          </p:cNvPr>
          <p:cNvGraphicFramePr>
            <a:graphicFrameLocks noGrp="1"/>
          </p:cNvGraphicFramePr>
          <p:nvPr>
            <p:extLst>
              <p:ext uri="{D42A27DB-BD31-4B8C-83A1-F6EECF244321}">
                <p14:modId xmlns:p14="http://schemas.microsoft.com/office/powerpoint/2010/main" val="1824719221"/>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DATE: 13/05/25</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LOA Value in Cr.: 517.07</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CONTRACTUAL COMPLETION: 12/04/27</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r>
                        <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rPr>
                        <a:t>PLANNED COMPLETION: 12/04/27</a:t>
                      </a: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spTree>
    <p:extLst>
      <p:ext uri="{BB962C8B-B14F-4D97-AF65-F5344CB8AC3E}">
        <p14:creationId xmlns:p14="http://schemas.microsoft.com/office/powerpoint/2010/main" val="2723920528"/>
      </p:ext>
    </p:extLst>
  </p:cSld>
  <p:clrMapOvr>
    <a:masterClrMapping/>
  </p:clrMapOvr>
  <p:transition spd="slow"/>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682E3E-95C8-2E9D-91AE-9CCAC21D645B}"/>
              </a:ext>
            </a:extLst>
          </p:cNvPr>
          <p:cNvSpPr>
            <a:spLocks noGrp="1"/>
          </p:cNvSpPr>
          <p:nvPr>
            <p:ph type="title"/>
          </p:nvPr>
        </p:nvSpPr>
        <p:spPr>
          <a:xfrm>
            <a:off x="3681323" y="3296917"/>
            <a:ext cx="4209949" cy="551809"/>
          </a:xfrm>
        </p:spPr>
        <p:txBody>
          <a:bodyPr>
            <a:normAutofit fontScale="90000"/>
          </a:bodyPr>
          <a:lstStyle/>
          <a:p>
            <a:r>
              <a:rPr lang="en-IN" dirty="0">
                <a:latin typeface="Calibri" panose="020F0502020204030204" pitchFamily="34" charset="0"/>
                <a:ea typeface="Calibri" panose="020F0502020204030204" pitchFamily="34" charset="0"/>
                <a:cs typeface="Calibri" panose="020F0502020204030204" pitchFamily="34" charset="0"/>
              </a:rPr>
              <a:t>North East Project</a:t>
            </a:r>
          </a:p>
        </p:txBody>
      </p:sp>
    </p:spTree>
    <p:extLst>
      <p:ext uri="{BB962C8B-B14F-4D97-AF65-F5344CB8AC3E}">
        <p14:creationId xmlns:p14="http://schemas.microsoft.com/office/powerpoint/2010/main" val="3704224567"/>
      </p:ext>
    </p:extLst>
  </p:cSld>
  <p:clrMapOvr>
    <a:masterClrMapping/>
  </p:clrMapOvr>
  <p:transition spd="slow"/>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F2A127-01D8-6591-848D-1390C6FE9951}"/>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DA7A9F1C-0F0B-6C88-F709-1A7B85D5FB26}"/>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TW24 - </a:t>
            </a:r>
            <a:r>
              <a:rPr lang="en-US" sz="2400" b="1" dirty="0">
                <a:latin typeface="Calibri" panose="020F0502020204030204" pitchFamily="34" charset="0"/>
                <a:ea typeface="Calibri" panose="020F0502020204030204" pitchFamily="34" charset="0"/>
                <a:cs typeface="Calibri" panose="020F0502020204030204" pitchFamily="34" charset="0"/>
              </a:rPr>
              <a:t>132kV </a:t>
            </a:r>
            <a:r>
              <a:rPr lang="en-US" sz="2400" b="1" dirty="0" err="1">
                <a:latin typeface="Calibri" panose="020F0502020204030204" pitchFamily="34" charset="0"/>
                <a:ea typeface="Calibri" panose="020F0502020204030204" pitchFamily="34" charset="0"/>
                <a:cs typeface="Calibri" panose="020F0502020204030204" pitchFamily="34" charset="0"/>
              </a:rPr>
              <a:t>Tawang-Lumla</a:t>
            </a:r>
            <a:r>
              <a:rPr lang="en-US" sz="2400" b="1" dirty="0">
                <a:latin typeface="Calibri" panose="020F0502020204030204" pitchFamily="34" charset="0"/>
                <a:ea typeface="Calibri" panose="020F0502020204030204" pitchFamily="34" charset="0"/>
                <a:cs typeface="Calibri" panose="020F0502020204030204" pitchFamily="34" charset="0"/>
              </a:rPr>
              <a:t> Line</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3F9A8BC0-3065-3975-927F-033349724886}"/>
              </a:ext>
            </a:extLst>
          </p:cNvPr>
          <p:cNvGraphicFramePr>
            <a:graphicFrameLocks noGrp="1"/>
          </p:cNvGraphicFramePr>
          <p:nvPr>
            <p:extLst>
              <p:ext uri="{D42A27DB-BD31-4B8C-83A1-F6EECF244321}">
                <p14:modId xmlns:p14="http://schemas.microsoft.com/office/powerpoint/2010/main" val="1248095867"/>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3" name="Table 2">
            <a:extLst>
              <a:ext uri="{FF2B5EF4-FFF2-40B4-BE49-F238E27FC236}">
                <a16:creationId xmlns:a16="http://schemas.microsoft.com/office/drawing/2014/main" id="{1BA780DD-8BBA-69D0-73B6-A8628603A6C9}"/>
              </a:ext>
            </a:extLst>
          </p:cNvPr>
          <p:cNvGraphicFramePr>
            <a:graphicFrameLocks noGrp="1"/>
          </p:cNvGraphicFramePr>
          <p:nvPr>
            <p:extLst>
              <p:ext uri="{D42A27DB-BD31-4B8C-83A1-F6EECF244321}">
                <p14:modId xmlns:p14="http://schemas.microsoft.com/office/powerpoint/2010/main" val="540584932"/>
              </p:ext>
            </p:extLst>
          </p:nvPr>
        </p:nvGraphicFramePr>
        <p:xfrm>
          <a:off x="248029" y="1472183"/>
          <a:ext cx="11686797" cy="4069877"/>
        </p:xfrm>
        <a:graphic>
          <a:graphicData uri="http://schemas.openxmlformats.org/drawingml/2006/table">
            <a:tbl>
              <a:tblPr/>
              <a:tblGrid>
                <a:gridCol w="1135401">
                  <a:extLst>
                    <a:ext uri="{9D8B030D-6E8A-4147-A177-3AD203B41FA5}">
                      <a16:colId xmlns:a16="http://schemas.microsoft.com/office/drawing/2014/main" val="3134568255"/>
                    </a:ext>
                  </a:extLst>
                </a:gridCol>
                <a:gridCol w="1004893">
                  <a:extLst>
                    <a:ext uri="{9D8B030D-6E8A-4147-A177-3AD203B41FA5}">
                      <a16:colId xmlns:a16="http://schemas.microsoft.com/office/drawing/2014/main" val="529650208"/>
                    </a:ext>
                  </a:extLst>
                </a:gridCol>
                <a:gridCol w="756934">
                  <a:extLst>
                    <a:ext uri="{9D8B030D-6E8A-4147-A177-3AD203B41FA5}">
                      <a16:colId xmlns:a16="http://schemas.microsoft.com/office/drawing/2014/main" val="92458083"/>
                    </a:ext>
                  </a:extLst>
                </a:gridCol>
                <a:gridCol w="769985">
                  <a:extLst>
                    <a:ext uri="{9D8B030D-6E8A-4147-A177-3AD203B41FA5}">
                      <a16:colId xmlns:a16="http://schemas.microsoft.com/office/drawing/2014/main" val="1261093951"/>
                    </a:ext>
                  </a:extLst>
                </a:gridCol>
                <a:gridCol w="756934">
                  <a:extLst>
                    <a:ext uri="{9D8B030D-6E8A-4147-A177-3AD203B41FA5}">
                      <a16:colId xmlns:a16="http://schemas.microsoft.com/office/drawing/2014/main" val="3845723164"/>
                    </a:ext>
                  </a:extLst>
                </a:gridCol>
                <a:gridCol w="822185">
                  <a:extLst>
                    <a:ext uri="{9D8B030D-6E8A-4147-A177-3AD203B41FA5}">
                      <a16:colId xmlns:a16="http://schemas.microsoft.com/office/drawing/2014/main" val="2426758173"/>
                    </a:ext>
                  </a:extLst>
                </a:gridCol>
                <a:gridCol w="822185">
                  <a:extLst>
                    <a:ext uri="{9D8B030D-6E8A-4147-A177-3AD203B41FA5}">
                      <a16:colId xmlns:a16="http://schemas.microsoft.com/office/drawing/2014/main" val="7475768"/>
                    </a:ext>
                  </a:extLst>
                </a:gridCol>
                <a:gridCol w="704732">
                  <a:extLst>
                    <a:ext uri="{9D8B030D-6E8A-4147-A177-3AD203B41FA5}">
                      <a16:colId xmlns:a16="http://schemas.microsoft.com/office/drawing/2014/main" val="2676474225"/>
                    </a:ext>
                  </a:extLst>
                </a:gridCol>
                <a:gridCol w="172433">
                  <a:extLst>
                    <a:ext uri="{9D8B030D-6E8A-4147-A177-3AD203B41FA5}">
                      <a16:colId xmlns:a16="http://schemas.microsoft.com/office/drawing/2014/main" val="3819434327"/>
                    </a:ext>
                  </a:extLst>
                </a:gridCol>
                <a:gridCol w="401793">
                  <a:extLst>
                    <a:ext uri="{9D8B030D-6E8A-4147-A177-3AD203B41FA5}">
                      <a16:colId xmlns:a16="http://schemas.microsoft.com/office/drawing/2014/main" val="1543301423"/>
                    </a:ext>
                  </a:extLst>
                </a:gridCol>
                <a:gridCol w="299270">
                  <a:extLst>
                    <a:ext uri="{9D8B030D-6E8A-4147-A177-3AD203B41FA5}">
                      <a16:colId xmlns:a16="http://schemas.microsoft.com/office/drawing/2014/main" val="3306756722"/>
                    </a:ext>
                  </a:extLst>
                </a:gridCol>
                <a:gridCol w="405462">
                  <a:extLst>
                    <a:ext uri="{9D8B030D-6E8A-4147-A177-3AD203B41FA5}">
                      <a16:colId xmlns:a16="http://schemas.microsoft.com/office/drawing/2014/main" val="4144423997"/>
                    </a:ext>
                  </a:extLst>
                </a:gridCol>
                <a:gridCol w="168135">
                  <a:extLst>
                    <a:ext uri="{9D8B030D-6E8A-4147-A177-3AD203B41FA5}">
                      <a16:colId xmlns:a16="http://schemas.microsoft.com/office/drawing/2014/main" val="706361869"/>
                    </a:ext>
                  </a:extLst>
                </a:gridCol>
                <a:gridCol w="309560">
                  <a:extLst>
                    <a:ext uri="{9D8B030D-6E8A-4147-A177-3AD203B41FA5}">
                      <a16:colId xmlns:a16="http://schemas.microsoft.com/office/drawing/2014/main" val="2026678798"/>
                    </a:ext>
                  </a:extLst>
                </a:gridCol>
                <a:gridCol w="500760">
                  <a:extLst>
                    <a:ext uri="{9D8B030D-6E8A-4147-A177-3AD203B41FA5}">
                      <a16:colId xmlns:a16="http://schemas.microsoft.com/office/drawing/2014/main" val="3438594745"/>
                    </a:ext>
                  </a:extLst>
                </a:gridCol>
                <a:gridCol w="456965">
                  <a:extLst>
                    <a:ext uri="{9D8B030D-6E8A-4147-A177-3AD203B41FA5}">
                      <a16:colId xmlns:a16="http://schemas.microsoft.com/office/drawing/2014/main" val="2391851116"/>
                    </a:ext>
                  </a:extLst>
                </a:gridCol>
                <a:gridCol w="2199170">
                  <a:extLst>
                    <a:ext uri="{9D8B030D-6E8A-4147-A177-3AD203B41FA5}">
                      <a16:colId xmlns:a16="http://schemas.microsoft.com/office/drawing/2014/main" val="3502179738"/>
                    </a:ext>
                  </a:extLst>
                </a:gridCol>
              </a:tblGrid>
              <a:tr h="387918">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LOA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per L2</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(April'26)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Gangs Available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Gangs Available</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hMerge="1">
                  <a:txBody>
                    <a:bodyPr/>
                    <a:lstStyle/>
                    <a:p>
                      <a:pPr algn="ctr" fontAlgn="ctr">
                        <a:buNone/>
                      </a:pPr>
                      <a:r>
                        <a:rPr lang="en-US" sz="1200" b="1" i="0" u="none" strike="noStrike" dirty="0">
                          <a:solidFill>
                            <a:schemeClr val="tx1"/>
                          </a:solidFill>
                          <a:effectLst/>
                          <a:latin typeface="+mn-lt"/>
                        </a:rPr>
                        <a:t>Plan</a:t>
                      </a:r>
                      <a:br>
                        <a:rPr lang="en-US" sz="1200" b="1" i="0" u="none" strike="noStrike" dirty="0">
                          <a:solidFill>
                            <a:schemeClr val="tx1"/>
                          </a:solidFill>
                          <a:effectLst/>
                          <a:latin typeface="+mn-lt"/>
                        </a:rPr>
                      </a:br>
                      <a:r>
                        <a:rPr lang="en-US" sz="1200" b="1" i="0" u="none" strike="noStrike" dirty="0">
                          <a:solidFill>
                            <a:schemeClr val="tx1"/>
                          </a:solidFill>
                          <a:effectLst/>
                          <a:latin typeface="+mn-lt"/>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Jul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7487329"/>
                  </a:ext>
                </a:extLst>
              </a:tr>
              <a:tr h="219227">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gridSpan="2" vMerge="1">
                  <a:txBody>
                    <a:bodyPr/>
                    <a:lstStyle/>
                    <a:p>
                      <a:endParaRPr lang="en-US"/>
                    </a:p>
                  </a:txBody>
                  <a:tcPr/>
                </a:tc>
                <a:tc hMerge="1" vMerge="1">
                  <a:txBody>
                    <a:bodyPr/>
                    <a:lstStyle/>
                    <a:p>
                      <a:endParaRPr lang="en-US"/>
                    </a:p>
                  </a:txBody>
                  <a:tcPr/>
                </a:tc>
                <a:tc gridSpan="2" vMerge="1">
                  <a:txBody>
                    <a:bodyPr/>
                    <a:lstStyle/>
                    <a:p>
                      <a:endParaRPr lang="en-US"/>
                    </a:p>
                  </a:txBody>
                  <a:tcPr/>
                </a:tc>
                <a:tc hMerge="1" vMerge="1">
                  <a:txBody>
                    <a:bodyPr/>
                    <a:lstStyle/>
                    <a:p>
                      <a:pPr algn="ctr" fontAlgn="t">
                        <a:buNone/>
                      </a:pPr>
                      <a:r>
                        <a:rPr lang="en-US" sz="1200" b="1" i="0" u="none" strike="noStrike" dirty="0">
                          <a:solidFill>
                            <a:schemeClr val="tx1"/>
                          </a:solidFill>
                          <a:effectLst/>
                          <a:latin typeface="+mn-lt"/>
                        </a:rPr>
                        <a:t>Plan</a:t>
                      </a: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r>
                        <a:rPr lang="en-US" sz="1200" b="1" i="0" u="none" strike="noStrike" dirty="0">
                          <a:solidFill>
                            <a:schemeClr val="tx1"/>
                          </a:solidFill>
                          <a:effectLst/>
                          <a:latin typeface="+mn-lt"/>
                        </a:rPr>
                        <a:t>Act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526864894"/>
                  </a:ext>
                </a:extLst>
              </a:tr>
              <a:tr h="28606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Check Survey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0.400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0881651"/>
                  </a:ext>
                </a:extLst>
              </a:tr>
              <a:tr h="296494">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40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35564836"/>
                  </a:ext>
                </a:extLst>
              </a:tr>
              <a:tr h="291370">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35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9234601"/>
                  </a:ext>
                </a:extLst>
              </a:tr>
              <a:tr h="28606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r>
                        <a:rPr lang="en-US" sz="1200" b="0" i="0" u="none" strike="noStrike" dirty="0">
                          <a:solidFill>
                            <a:srgbClr val="000000"/>
                          </a:solidFill>
                          <a:effectLst/>
                          <a:latin typeface="+mn-lt"/>
                        </a:rPr>
                        <a:t>00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05590560"/>
                  </a:ext>
                </a:extLst>
              </a:tr>
              <a:tr h="28606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OPGW Stringing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a:endParaRPr lang="en-US" sz="1200"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38969537"/>
                  </a:ext>
                </a:extLst>
              </a:tr>
              <a:tr h="196049">
                <a:tc gridSpan="17">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Supply Status:</a:t>
                      </a: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lang="en-US"/>
                    </a:p>
                  </a:txBody>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hMerge="1">
                  <a:txBody>
                    <a:bodyPr/>
                    <a:lstStyle/>
                    <a:p>
                      <a:endParaRPr dirty="0"/>
                    </a:p>
                  </a:txBody>
                  <a:tcPr marL="3983" marR="3983" marT="398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2276271315"/>
                  </a:ext>
                </a:extLst>
              </a:tr>
              <a:tr h="387918">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Item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US" sz="1200" b="1" i="0" u="none" strike="noStrike" dirty="0">
                        <a:solidFill>
                          <a:schemeClr val="tx1"/>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5">
                  <a:txBody>
                    <a:bodyPr/>
                    <a:lstStyle/>
                    <a:p>
                      <a:pPr algn="ctr" fontAlgn="ctr">
                        <a:buNone/>
                      </a:pPr>
                      <a:endPar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898095577"/>
                  </a:ext>
                </a:extLst>
              </a:tr>
              <a:tr h="19207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54932322"/>
                  </a:ext>
                </a:extLst>
              </a:tr>
              <a:tr h="264360">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Tower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74270701"/>
                  </a:ext>
                </a:extLst>
              </a:tr>
              <a:tr h="196049">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495535454"/>
                  </a:ext>
                </a:extLst>
              </a:tr>
              <a:tr h="196049">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Earthwire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96488407"/>
                  </a:ext>
                </a:extLst>
              </a:tr>
              <a:tr h="196049">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19053964"/>
                  </a:ext>
                </a:extLst>
              </a:tr>
              <a:tr h="196049">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210KN CLR</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005780108"/>
                  </a:ext>
                </a:extLst>
              </a:tr>
              <a:tr h="192075">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HW Fittings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2">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buNone/>
                      </a:pPr>
                      <a:endParaRPr lang="en-US" sz="1200" b="0" i="0" u="none" strike="noStrike" dirty="0">
                        <a:solidFill>
                          <a:srgbClr val="000000"/>
                        </a:solidFill>
                        <a:effectLst/>
                        <a:latin typeface="+mn-lt"/>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gridSpan="5">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203982265"/>
                  </a:ext>
                </a:extLst>
              </a:tr>
            </a:tbl>
          </a:graphicData>
        </a:graphic>
      </p:graphicFrame>
      <p:graphicFrame>
        <p:nvGraphicFramePr>
          <p:cNvPr id="5" name="Table 4">
            <a:extLst>
              <a:ext uri="{FF2B5EF4-FFF2-40B4-BE49-F238E27FC236}">
                <a16:creationId xmlns:a16="http://schemas.microsoft.com/office/drawing/2014/main" id="{CA5E237A-29B8-E354-2872-34B34DA1ADAE}"/>
              </a:ext>
            </a:extLst>
          </p:cNvPr>
          <p:cNvGraphicFramePr>
            <a:graphicFrameLocks noGrp="1"/>
          </p:cNvGraphicFramePr>
          <p:nvPr>
            <p:extLst>
              <p:ext uri="{D42A27DB-BD31-4B8C-83A1-F6EECF244321}">
                <p14:modId xmlns:p14="http://schemas.microsoft.com/office/powerpoint/2010/main" val="1181994931"/>
              </p:ext>
            </p:extLst>
          </p:nvPr>
        </p:nvGraphicFramePr>
        <p:xfrm>
          <a:off x="248029" y="5542060"/>
          <a:ext cx="11705008" cy="1129032"/>
        </p:xfrm>
        <a:graphic>
          <a:graphicData uri="http://schemas.openxmlformats.org/drawingml/2006/table">
            <a:tbl>
              <a:tblPr/>
              <a:tblGrid>
                <a:gridCol w="1249108">
                  <a:extLst>
                    <a:ext uri="{9D8B030D-6E8A-4147-A177-3AD203B41FA5}">
                      <a16:colId xmlns:a16="http://schemas.microsoft.com/office/drawing/2014/main" val="4144033618"/>
                    </a:ext>
                  </a:extLst>
                </a:gridCol>
                <a:gridCol w="1109123">
                  <a:extLst>
                    <a:ext uri="{9D8B030D-6E8A-4147-A177-3AD203B41FA5}">
                      <a16:colId xmlns:a16="http://schemas.microsoft.com/office/drawing/2014/main" val="2710662077"/>
                    </a:ext>
                  </a:extLst>
                </a:gridCol>
                <a:gridCol w="829150">
                  <a:extLst>
                    <a:ext uri="{9D8B030D-6E8A-4147-A177-3AD203B41FA5}">
                      <a16:colId xmlns:a16="http://schemas.microsoft.com/office/drawing/2014/main" val="3810854777"/>
                    </a:ext>
                  </a:extLst>
                </a:gridCol>
                <a:gridCol w="1270646">
                  <a:extLst>
                    <a:ext uri="{9D8B030D-6E8A-4147-A177-3AD203B41FA5}">
                      <a16:colId xmlns:a16="http://schemas.microsoft.com/office/drawing/2014/main" val="95352560"/>
                    </a:ext>
                  </a:extLst>
                </a:gridCol>
                <a:gridCol w="1249108">
                  <a:extLst>
                    <a:ext uri="{9D8B030D-6E8A-4147-A177-3AD203B41FA5}">
                      <a16:colId xmlns:a16="http://schemas.microsoft.com/office/drawing/2014/main" val="3482007332"/>
                    </a:ext>
                  </a:extLst>
                </a:gridCol>
                <a:gridCol w="904528">
                  <a:extLst>
                    <a:ext uri="{9D8B030D-6E8A-4147-A177-3AD203B41FA5}">
                      <a16:colId xmlns:a16="http://schemas.microsoft.com/office/drawing/2014/main" val="3780160470"/>
                    </a:ext>
                  </a:extLst>
                </a:gridCol>
                <a:gridCol w="1356790">
                  <a:extLst>
                    <a:ext uri="{9D8B030D-6E8A-4147-A177-3AD203B41FA5}">
                      <a16:colId xmlns:a16="http://schemas.microsoft.com/office/drawing/2014/main" val="4001841647"/>
                    </a:ext>
                  </a:extLst>
                </a:gridCol>
                <a:gridCol w="1162962">
                  <a:extLst>
                    <a:ext uri="{9D8B030D-6E8A-4147-A177-3AD203B41FA5}">
                      <a16:colId xmlns:a16="http://schemas.microsoft.com/office/drawing/2014/main" val="873345733"/>
                    </a:ext>
                  </a:extLst>
                </a:gridCol>
                <a:gridCol w="635322">
                  <a:extLst>
                    <a:ext uri="{9D8B030D-6E8A-4147-A177-3AD203B41FA5}">
                      <a16:colId xmlns:a16="http://schemas.microsoft.com/office/drawing/2014/main" val="983947984"/>
                    </a:ext>
                  </a:extLst>
                </a:gridCol>
                <a:gridCol w="1162962">
                  <a:extLst>
                    <a:ext uri="{9D8B030D-6E8A-4147-A177-3AD203B41FA5}">
                      <a16:colId xmlns:a16="http://schemas.microsoft.com/office/drawing/2014/main" val="3672483493"/>
                    </a:ext>
                  </a:extLst>
                </a:gridCol>
                <a:gridCol w="775309">
                  <a:extLst>
                    <a:ext uri="{9D8B030D-6E8A-4147-A177-3AD203B41FA5}">
                      <a16:colId xmlns:a16="http://schemas.microsoft.com/office/drawing/2014/main" val="1432498959"/>
                    </a:ext>
                  </a:extLst>
                </a:gridCol>
              </a:tblGrid>
              <a:tr h="173603">
                <a:tc gridSpan="11">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 Availability Status</a:t>
                      </a:r>
                    </a:p>
                  </a:txBody>
                  <a:tcPr marL="5292" marR="5292" marT="52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68508823"/>
                  </a:ext>
                </a:extLst>
              </a:tr>
              <a:tr h="173603">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Feb’26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Mar’26</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Apr’26</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116158039"/>
                  </a:ext>
                </a:extLst>
              </a:tr>
              <a:tr h="173603">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Front</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Gang</a:t>
                      </a: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81631727"/>
                  </a:ext>
                </a:extLst>
              </a:tr>
              <a:tr h="17360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30637647"/>
                  </a:ext>
                </a:extLst>
              </a:tr>
              <a:tr h="17360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Erection</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91716030"/>
                  </a:ext>
                </a:extLst>
              </a:tr>
              <a:tr h="173603">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5292" marR="5292" marT="5292"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292" marR="5292" marT="5292"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1711667"/>
                  </a:ext>
                </a:extLst>
              </a:tr>
            </a:tbl>
          </a:graphicData>
        </a:graphic>
      </p:graphicFrame>
    </p:spTree>
    <p:extLst>
      <p:ext uri="{BB962C8B-B14F-4D97-AF65-F5344CB8AC3E}">
        <p14:creationId xmlns:p14="http://schemas.microsoft.com/office/powerpoint/2010/main" val="3207228030"/>
      </p:ext>
    </p:extLst>
  </p:cSld>
  <p:clrMapOvr>
    <a:masterClrMapping/>
  </p:clrMapOvr>
  <p:transition spd="slow"/>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0F9144-8B05-AA80-30C8-96D18DEC8684}"/>
            </a:ext>
          </a:extLst>
        </p:cNvPr>
        <p:cNvGrpSpPr/>
        <p:nvPr/>
      </p:nvGrpSpPr>
      <p:grpSpPr>
        <a:xfrm>
          <a:off x="0" y="0"/>
          <a:ext cx="0" cy="0"/>
          <a:chOff x="0" y="0"/>
          <a:chExt cx="0" cy="0"/>
        </a:xfrm>
      </p:grpSpPr>
      <p:sp>
        <p:nvSpPr>
          <p:cNvPr id="6" name="Title 1">
            <a:extLst>
              <a:ext uri="{FF2B5EF4-FFF2-40B4-BE49-F238E27FC236}">
                <a16:creationId xmlns:a16="http://schemas.microsoft.com/office/drawing/2014/main" id="{AE10282C-0DF9-1F91-75A4-68DAD4B9024A}"/>
              </a:ext>
            </a:extLst>
          </p:cNvPr>
          <p:cNvSpPr>
            <a:spLocks noGrp="1"/>
          </p:cNvSpPr>
          <p:nvPr>
            <p:ph type="title"/>
          </p:nvPr>
        </p:nvSpPr>
        <p:spPr>
          <a:xfrm>
            <a:off x="257175" y="587375"/>
            <a:ext cx="11677650" cy="550863"/>
          </a:xfrm>
        </p:spPr>
        <p:txBody>
          <a:bodyPr>
            <a:normAutofit/>
          </a:bodyPr>
          <a:lstStyle/>
          <a:p>
            <a:r>
              <a:rPr lang="nn-NO" sz="2400" b="1" dirty="0">
                <a:latin typeface="Calibri" panose="020F0502020204030204" pitchFamily="34" charset="0"/>
                <a:ea typeface="Calibri" panose="020F0502020204030204" pitchFamily="34" charset="0"/>
                <a:cs typeface="Calibri" panose="020F0502020204030204" pitchFamily="34" charset="0"/>
              </a:rPr>
              <a:t>TW24 - </a:t>
            </a:r>
            <a:r>
              <a:rPr lang="en-US" sz="2400" b="1" dirty="0">
                <a:latin typeface="Calibri" panose="020F0502020204030204" pitchFamily="34" charset="0"/>
                <a:ea typeface="Calibri" panose="020F0502020204030204" pitchFamily="34" charset="0"/>
                <a:cs typeface="Calibri" panose="020F0502020204030204" pitchFamily="34" charset="0"/>
              </a:rPr>
              <a:t>132kV </a:t>
            </a:r>
            <a:r>
              <a:rPr lang="en-US" sz="2400" b="1" dirty="0" err="1">
                <a:latin typeface="Calibri" panose="020F0502020204030204" pitchFamily="34" charset="0"/>
                <a:ea typeface="Calibri" panose="020F0502020204030204" pitchFamily="34" charset="0"/>
                <a:cs typeface="Calibri" panose="020F0502020204030204" pitchFamily="34" charset="0"/>
              </a:rPr>
              <a:t>Tawang-Lumla</a:t>
            </a:r>
            <a:r>
              <a:rPr lang="en-US" sz="2400" b="1" dirty="0">
                <a:latin typeface="Calibri" panose="020F0502020204030204" pitchFamily="34" charset="0"/>
                <a:ea typeface="Calibri" panose="020F0502020204030204" pitchFamily="34" charset="0"/>
                <a:cs typeface="Calibri" panose="020F0502020204030204" pitchFamily="34" charset="0"/>
              </a:rPr>
              <a:t> Line</a:t>
            </a:r>
            <a:endParaRPr lang="en-IN" sz="24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Table 1">
            <a:extLst>
              <a:ext uri="{FF2B5EF4-FFF2-40B4-BE49-F238E27FC236}">
                <a16:creationId xmlns:a16="http://schemas.microsoft.com/office/drawing/2014/main" id="{AA2BF330-747C-14AF-C566-DA927C03371C}"/>
              </a:ext>
            </a:extLst>
          </p:cNvPr>
          <p:cNvGraphicFramePr>
            <a:graphicFrameLocks noGrp="1"/>
          </p:cNvGraphicFramePr>
          <p:nvPr>
            <p:extLst>
              <p:ext uri="{D42A27DB-BD31-4B8C-83A1-F6EECF244321}">
                <p14:modId xmlns:p14="http://schemas.microsoft.com/office/powerpoint/2010/main" val="2759554918"/>
              </p:ext>
            </p:extLst>
          </p:nvPr>
        </p:nvGraphicFramePr>
        <p:xfrm>
          <a:off x="238963" y="1234440"/>
          <a:ext cx="11705008" cy="237744"/>
        </p:xfrm>
        <a:graphic>
          <a:graphicData uri="http://schemas.openxmlformats.org/drawingml/2006/table">
            <a:tbl>
              <a:tblPr/>
              <a:tblGrid>
                <a:gridCol w="2926252">
                  <a:extLst>
                    <a:ext uri="{9D8B030D-6E8A-4147-A177-3AD203B41FA5}">
                      <a16:colId xmlns:a16="http://schemas.microsoft.com/office/drawing/2014/main" val="906577857"/>
                    </a:ext>
                  </a:extLst>
                </a:gridCol>
                <a:gridCol w="2926252">
                  <a:extLst>
                    <a:ext uri="{9D8B030D-6E8A-4147-A177-3AD203B41FA5}">
                      <a16:colId xmlns:a16="http://schemas.microsoft.com/office/drawing/2014/main" val="1761629044"/>
                    </a:ext>
                  </a:extLst>
                </a:gridCol>
                <a:gridCol w="2926252">
                  <a:extLst>
                    <a:ext uri="{9D8B030D-6E8A-4147-A177-3AD203B41FA5}">
                      <a16:colId xmlns:a16="http://schemas.microsoft.com/office/drawing/2014/main" val="949399120"/>
                    </a:ext>
                  </a:extLst>
                </a:gridCol>
                <a:gridCol w="2926252">
                  <a:extLst>
                    <a:ext uri="{9D8B030D-6E8A-4147-A177-3AD203B41FA5}">
                      <a16:colId xmlns:a16="http://schemas.microsoft.com/office/drawing/2014/main" val="2985635341"/>
                    </a:ext>
                  </a:extLst>
                </a:gridCol>
              </a:tblGrid>
              <a:tr h="237744">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tc>
                  <a:txBody>
                    <a:bodyPr/>
                    <a:lstStyle/>
                    <a:p>
                      <a:pPr algn="ctr" fontAlgn="ctr">
                        <a:buNone/>
                      </a:pPr>
                      <a:endParaRPr lang="en-US" sz="1200" b="1" i="0" u="none" strike="noStrike" dirty="0">
                        <a:solidFill>
                          <a:srgbClr val="FFFFFF"/>
                        </a:solidFill>
                        <a:effectLst/>
                        <a:latin typeface="Calibri" panose="020F0502020204030204" pitchFamily="34" charset="0"/>
                        <a:ea typeface="Calibri" panose="020F0502020204030204" pitchFamily="34" charset="0"/>
                        <a:cs typeface="Calibri" panose="020F0502020204030204" pitchFamily="34" charset="0"/>
                      </a:endParaRPr>
                    </a:p>
                  </a:txBody>
                  <a:tcPr marL="4285" marR="4285" marT="428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568175195"/>
                  </a:ext>
                </a:extLst>
              </a:tr>
            </a:tbl>
          </a:graphicData>
        </a:graphic>
      </p:graphicFrame>
      <p:graphicFrame>
        <p:nvGraphicFramePr>
          <p:cNvPr id="4" name="Table 3">
            <a:extLst>
              <a:ext uri="{FF2B5EF4-FFF2-40B4-BE49-F238E27FC236}">
                <a16:creationId xmlns:a16="http://schemas.microsoft.com/office/drawing/2014/main" id="{560C4DED-5BFB-1997-DB69-4D6A36E0B324}"/>
              </a:ext>
            </a:extLst>
          </p:cNvPr>
          <p:cNvGraphicFramePr>
            <a:graphicFrameLocks noGrp="1"/>
          </p:cNvGraphicFramePr>
          <p:nvPr>
            <p:extLst>
              <p:ext uri="{D42A27DB-BD31-4B8C-83A1-F6EECF244321}">
                <p14:modId xmlns:p14="http://schemas.microsoft.com/office/powerpoint/2010/main" val="685435258"/>
              </p:ext>
            </p:extLst>
          </p:nvPr>
        </p:nvGraphicFramePr>
        <p:xfrm>
          <a:off x="257175" y="1472184"/>
          <a:ext cx="11677653" cy="5378373"/>
        </p:xfrm>
        <a:graphic>
          <a:graphicData uri="http://schemas.openxmlformats.org/drawingml/2006/table">
            <a:tbl>
              <a:tblPr/>
              <a:tblGrid>
                <a:gridCol w="881619">
                  <a:extLst>
                    <a:ext uri="{9D8B030D-6E8A-4147-A177-3AD203B41FA5}">
                      <a16:colId xmlns:a16="http://schemas.microsoft.com/office/drawing/2014/main" val="330956746"/>
                    </a:ext>
                  </a:extLst>
                </a:gridCol>
                <a:gridCol w="2304360">
                  <a:extLst>
                    <a:ext uri="{9D8B030D-6E8A-4147-A177-3AD203B41FA5}">
                      <a16:colId xmlns:a16="http://schemas.microsoft.com/office/drawing/2014/main" val="467016710"/>
                    </a:ext>
                  </a:extLst>
                </a:gridCol>
                <a:gridCol w="873576">
                  <a:extLst>
                    <a:ext uri="{9D8B030D-6E8A-4147-A177-3AD203B41FA5}">
                      <a16:colId xmlns:a16="http://schemas.microsoft.com/office/drawing/2014/main" val="2623573662"/>
                    </a:ext>
                  </a:extLst>
                </a:gridCol>
                <a:gridCol w="526716">
                  <a:extLst>
                    <a:ext uri="{9D8B030D-6E8A-4147-A177-3AD203B41FA5}">
                      <a16:colId xmlns:a16="http://schemas.microsoft.com/office/drawing/2014/main" val="3348155062"/>
                    </a:ext>
                  </a:extLst>
                </a:gridCol>
                <a:gridCol w="565255">
                  <a:extLst>
                    <a:ext uri="{9D8B030D-6E8A-4147-A177-3AD203B41FA5}">
                      <a16:colId xmlns:a16="http://schemas.microsoft.com/office/drawing/2014/main" val="3407175280"/>
                    </a:ext>
                  </a:extLst>
                </a:gridCol>
                <a:gridCol w="565255">
                  <a:extLst>
                    <a:ext uri="{9D8B030D-6E8A-4147-A177-3AD203B41FA5}">
                      <a16:colId xmlns:a16="http://schemas.microsoft.com/office/drawing/2014/main" val="864901109"/>
                    </a:ext>
                  </a:extLst>
                </a:gridCol>
                <a:gridCol w="552408">
                  <a:extLst>
                    <a:ext uri="{9D8B030D-6E8A-4147-A177-3AD203B41FA5}">
                      <a16:colId xmlns:a16="http://schemas.microsoft.com/office/drawing/2014/main" val="1087588403"/>
                    </a:ext>
                  </a:extLst>
                </a:gridCol>
                <a:gridCol w="513868">
                  <a:extLst>
                    <a:ext uri="{9D8B030D-6E8A-4147-A177-3AD203B41FA5}">
                      <a16:colId xmlns:a16="http://schemas.microsoft.com/office/drawing/2014/main" val="1978132890"/>
                    </a:ext>
                  </a:extLst>
                </a:gridCol>
                <a:gridCol w="552408">
                  <a:extLst>
                    <a:ext uri="{9D8B030D-6E8A-4147-A177-3AD203B41FA5}">
                      <a16:colId xmlns:a16="http://schemas.microsoft.com/office/drawing/2014/main" val="1472471097"/>
                    </a:ext>
                  </a:extLst>
                </a:gridCol>
                <a:gridCol w="552408">
                  <a:extLst>
                    <a:ext uri="{9D8B030D-6E8A-4147-A177-3AD203B41FA5}">
                      <a16:colId xmlns:a16="http://schemas.microsoft.com/office/drawing/2014/main" val="4151107971"/>
                    </a:ext>
                  </a:extLst>
                </a:gridCol>
                <a:gridCol w="539562">
                  <a:extLst>
                    <a:ext uri="{9D8B030D-6E8A-4147-A177-3AD203B41FA5}">
                      <a16:colId xmlns:a16="http://schemas.microsoft.com/office/drawing/2014/main" val="425587029"/>
                    </a:ext>
                  </a:extLst>
                </a:gridCol>
                <a:gridCol w="552408">
                  <a:extLst>
                    <a:ext uri="{9D8B030D-6E8A-4147-A177-3AD203B41FA5}">
                      <a16:colId xmlns:a16="http://schemas.microsoft.com/office/drawing/2014/main" val="2861279347"/>
                    </a:ext>
                  </a:extLst>
                </a:gridCol>
                <a:gridCol w="552408">
                  <a:extLst>
                    <a:ext uri="{9D8B030D-6E8A-4147-A177-3AD203B41FA5}">
                      <a16:colId xmlns:a16="http://schemas.microsoft.com/office/drawing/2014/main" val="470002717"/>
                    </a:ext>
                  </a:extLst>
                </a:gridCol>
                <a:gridCol w="539562">
                  <a:extLst>
                    <a:ext uri="{9D8B030D-6E8A-4147-A177-3AD203B41FA5}">
                      <a16:colId xmlns:a16="http://schemas.microsoft.com/office/drawing/2014/main" val="3542135224"/>
                    </a:ext>
                  </a:extLst>
                </a:gridCol>
                <a:gridCol w="526716">
                  <a:extLst>
                    <a:ext uri="{9D8B030D-6E8A-4147-A177-3AD203B41FA5}">
                      <a16:colId xmlns:a16="http://schemas.microsoft.com/office/drawing/2014/main" val="2066182156"/>
                    </a:ext>
                  </a:extLst>
                </a:gridCol>
                <a:gridCol w="539562">
                  <a:extLst>
                    <a:ext uri="{9D8B030D-6E8A-4147-A177-3AD203B41FA5}">
                      <a16:colId xmlns:a16="http://schemas.microsoft.com/office/drawing/2014/main" val="3474579885"/>
                    </a:ext>
                  </a:extLst>
                </a:gridCol>
                <a:gridCol w="539562">
                  <a:extLst>
                    <a:ext uri="{9D8B030D-6E8A-4147-A177-3AD203B41FA5}">
                      <a16:colId xmlns:a16="http://schemas.microsoft.com/office/drawing/2014/main" val="1602192749"/>
                    </a:ext>
                  </a:extLst>
                </a:gridCol>
              </a:tblGrid>
              <a:tr h="128016">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No. of month from NOA</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rtl="0" fontAlgn="ctr">
                        <a:buNone/>
                      </a:pPr>
                      <a:endParaRPr lang="en-US" sz="1100" b="1" i="0" u="none" strike="noStrike" dirty="0">
                        <a:solidFill>
                          <a:schemeClr val="tx1"/>
                        </a:solidFill>
                        <a:effectLst/>
                        <a:latin typeface="+mj-lt"/>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 Qty. </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a:solidFill>
                            <a:schemeClr val="tx1"/>
                          </a:solidFill>
                          <a:effectLst/>
                          <a:latin typeface="Calibri" panose="020F0502020204030204" pitchFamily="34" charset="0"/>
                          <a:ea typeface="Calibri" panose="020F0502020204030204" pitchFamily="34" charset="0"/>
                          <a:cs typeface="Calibri" panose="020F0502020204030204" pitchFamily="34" charset="0"/>
                        </a:rPr>
                        <a:t>Upto Apr-26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 As on 01.05.26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Jun-26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Jul-26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Aug-26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Sep-26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Oct-26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Nov-26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Dec-26</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Jan-27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Feb-27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Mar-27</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341750030"/>
                  </a:ext>
                </a:extLst>
              </a:tr>
              <a:tr h="179240">
                <a:tc gridSpan="2">
                  <a:txBody>
                    <a:bodyPr/>
                    <a:lstStyle/>
                    <a:p>
                      <a:pPr algn="ctr" rtl="0"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US"/>
                    </a:p>
                  </a:txBody>
                  <a:tcPr/>
                </a:tc>
                <a:tc vMerge="1">
                  <a:txBody>
                    <a:bodyPr/>
                    <a:lstStyle/>
                    <a:p>
                      <a:endParaRPr lang="en-US"/>
                    </a:p>
                  </a:txBody>
                  <a:tcPr>
                    <a:lnL w="6350" cap="flat" cmpd="sng" algn="ctr">
                      <a:solidFill>
                        <a:srgbClr val="000000"/>
                      </a:solidFill>
                      <a:prstDash val="solid"/>
                      <a:round/>
                      <a:headEnd type="none" w="med" len="med"/>
                      <a:tailEnd type="none" w="med" len="med"/>
                    </a:lnL>
                  </a:tcPr>
                </a:tc>
                <a:tc vMerge="1">
                  <a:txBody>
                    <a:bodyPr/>
                    <a:lstStyle/>
                    <a:p>
                      <a:endParaRPr lang="en-US"/>
                    </a:p>
                  </a:txBody>
                  <a:tcPr/>
                </a:tc>
                <a:tc vMerge="1">
                  <a:txBody>
                    <a:bodyPr/>
                    <a:lstStyle/>
                    <a:p>
                      <a:endParaRPr lang="en-US"/>
                    </a:p>
                  </a:txBody>
                  <a:tcPr/>
                </a:tc>
                <a:tc vMerge="1">
                  <a:txBody>
                    <a:bodyPr/>
                    <a:lstStyle/>
                    <a:p>
                      <a:endParaRPr lang="en-IN"/>
                    </a:p>
                  </a:txBody>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dirty="0"/>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63433136"/>
                  </a:ext>
                </a:extLst>
              </a:tr>
              <a:tr h="179240">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4864030"/>
                  </a:ext>
                </a:extLst>
              </a:tr>
              <a:tr h="179240">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92204872"/>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8064827"/>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31382125"/>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Stubs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84174195"/>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Stub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48442476"/>
                  </a:ext>
                </a:extLst>
              </a:tr>
              <a:tr h="179240">
                <a:tc>
                  <a:txBody>
                    <a:bodyPr/>
                    <a:lstStyle/>
                    <a:p>
                      <a:pPr algn="ctr" fontAlgn="b">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794284895"/>
                  </a:ext>
                </a:extLst>
              </a:tr>
              <a:tr h="179240">
                <a:tc rowSpan="6">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Erection</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85639932"/>
                  </a:ext>
                </a:extLst>
              </a:tr>
              <a:tr h="179240">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48076848"/>
                  </a:ext>
                </a:extLst>
              </a:tr>
              <a:tr h="332863">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4915967"/>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76733000"/>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51575881"/>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76095068"/>
                  </a:ext>
                </a:extLst>
              </a:tr>
              <a:tr h="179240">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tc>
                  <a:txBody>
                    <a:bodyPr/>
                    <a:lstStyle/>
                    <a:p>
                      <a:pPr algn="ctr"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B7B7B"/>
                    </a:solidFill>
                  </a:tcPr>
                </a:tc>
                <a:extLst>
                  <a:ext uri="{0D108BD9-81ED-4DB2-BD59-A6C34878D82A}">
                    <a16:rowId xmlns:a16="http://schemas.microsoft.com/office/drawing/2014/main" val="3795312704"/>
                  </a:ext>
                </a:extLst>
              </a:tr>
              <a:tr h="179240">
                <a:tc rowSpan="11">
                  <a:txBody>
                    <a:bodyPr/>
                    <a:lstStyle/>
                    <a:p>
                      <a:pPr algn="ctr"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Stringing</a:t>
                      </a:r>
                    </a:p>
                  </a:txBody>
                  <a:tcPr marL="4310" marR="4310" marT="4310" marB="0" anchor="ctr">
                    <a:lnL w="6350" cap="flat" cmpd="sng" algn="ctr">
                      <a:solidFill>
                        <a:srgbClr val="000000"/>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b">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90037553"/>
                  </a:ext>
                </a:extLst>
              </a:tr>
              <a:tr h="179240">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Completion Plan</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47927932"/>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Front Required from POWERGRID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7137584"/>
                  </a:ext>
                </a:extLst>
              </a:tr>
              <a:tr h="179240">
                <a:tc vMerge="1">
                  <a:txBody>
                    <a:bodyPr/>
                    <a:lstStyle/>
                    <a:p>
                      <a:endParaRPr lang="en-US"/>
                    </a:p>
                  </a:txBody>
                  <a:tcPr/>
                </a:tc>
                <a:tc rowSpan="2">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Gangs Planned</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TSE (Nos)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53577170"/>
                  </a:ext>
                </a:extLst>
              </a:tr>
              <a:tr h="179240">
                <a:tc vMerge="1">
                  <a:txBody>
                    <a:bodyPr/>
                    <a:lstStyle/>
                    <a:p>
                      <a:endParaRPr lang="en-US"/>
                    </a:p>
                  </a:txBody>
                  <a:tcPr/>
                </a:tc>
                <a:tc vMerge="1">
                  <a:txBody>
                    <a:bodyPr/>
                    <a:lstStyle/>
                    <a:p>
                      <a:endParaRPr lang="en-US"/>
                    </a:p>
                  </a:txBody>
                  <a:tcPr>
                    <a:lnT w="6350" cap="flat" cmpd="sng" algn="ctr">
                      <a:solidFill>
                        <a:srgbClr val="000000"/>
                      </a:solidFill>
                      <a:prstDash val="solid"/>
                      <a:round/>
                      <a:headEnd type="none" w="med" len="med"/>
                      <a:tailEnd type="none" w="med" len="med"/>
                    </a:lnT>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Manual (Nos)</a:t>
                      </a:r>
                    </a:p>
                  </a:txBody>
                  <a:tcPr marL="4310" marR="4310" marT="4310" marB="0" anchor="ctr">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87594838"/>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91423490"/>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Conductor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31144415"/>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59411858"/>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Insulator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Nos</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10348192"/>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as per L2</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71402620"/>
                  </a:ext>
                </a:extLst>
              </a:tr>
              <a:tr h="179240">
                <a:tc vMerge="1">
                  <a:txBody>
                    <a:bodyPr/>
                    <a:lstStyle/>
                    <a:p>
                      <a:endParaRPr lang="en-US"/>
                    </a:p>
                  </a:txBody>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Hardware Supply Actual</a:t>
                      </a:r>
                    </a:p>
                  </a:txBody>
                  <a:tcPr marL="4310" marR="4310" marT="4310" marB="0" anchor="ctr">
                    <a:lnL w="1270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4310" marR="4310" marT="43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06786991"/>
                  </a:ext>
                </a:extLst>
              </a:tr>
            </a:tbl>
          </a:graphicData>
        </a:graphic>
      </p:graphicFrame>
    </p:spTree>
    <p:extLst>
      <p:ext uri="{BB962C8B-B14F-4D97-AF65-F5344CB8AC3E}">
        <p14:creationId xmlns:p14="http://schemas.microsoft.com/office/powerpoint/2010/main" val="753942689"/>
      </p:ext>
    </p:extLst>
  </p:cSld>
  <p:clrMapOvr>
    <a:masterClrMapping/>
  </p:clrMapOvr>
  <p:transition spd="slow"/>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5BDB0B-A43A-3894-7872-A7BBA7439352}"/>
              </a:ext>
            </a:extLst>
          </p:cNvPr>
          <p:cNvSpPr>
            <a:spLocks noGrp="1"/>
          </p:cNvSpPr>
          <p:nvPr>
            <p:ph type="title"/>
          </p:nvPr>
        </p:nvSpPr>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400 KV D/C Twin Line </a:t>
            </a:r>
            <a:r>
              <a:rPr lang="en-US" sz="2400" b="1" dirty="0" err="1">
                <a:latin typeface="Calibri" panose="020F0502020204030204" pitchFamily="34" charset="0"/>
                <a:ea typeface="Calibri" panose="020F0502020204030204" pitchFamily="34" charset="0"/>
                <a:cs typeface="Calibri" panose="020F0502020204030204" pitchFamily="34" charset="0"/>
              </a:rPr>
              <a:t>Latehar</a:t>
            </a:r>
            <a:r>
              <a:rPr lang="en-US" sz="2400" b="1" dirty="0">
                <a:latin typeface="Calibri" panose="020F0502020204030204" pitchFamily="34" charset="0"/>
                <a:ea typeface="Calibri" panose="020F0502020204030204" pitchFamily="34" charset="0"/>
                <a:cs typeface="Calibri" panose="020F0502020204030204" pitchFamily="34" charset="0"/>
              </a:rPr>
              <a:t>- </a:t>
            </a:r>
            <a:r>
              <a:rPr lang="en-US" sz="2400" b="1" dirty="0" err="1">
                <a:latin typeface="Calibri" panose="020F0502020204030204" pitchFamily="34" charset="0"/>
                <a:ea typeface="Calibri" panose="020F0502020204030204" pitchFamily="34" charset="0"/>
                <a:cs typeface="Calibri" panose="020F0502020204030204" pitchFamily="34" charset="0"/>
              </a:rPr>
              <a:t>Patraru</a:t>
            </a:r>
            <a:r>
              <a:rPr lang="en-US" sz="2400" b="1" dirty="0">
                <a:latin typeface="Calibri" panose="020F0502020204030204" pitchFamily="34" charset="0"/>
                <a:ea typeface="Calibri" panose="020F0502020204030204" pitchFamily="34" charset="0"/>
                <a:cs typeface="Calibri" panose="020F0502020204030204" pitchFamily="34" charset="0"/>
              </a:rPr>
              <a:t> </a:t>
            </a:r>
            <a:endParaRPr lang="en-IN" sz="2400" b="1" dirty="0"/>
          </a:p>
        </p:txBody>
      </p:sp>
      <p:graphicFrame>
        <p:nvGraphicFramePr>
          <p:cNvPr id="4" name="Table 3">
            <a:extLst>
              <a:ext uri="{FF2B5EF4-FFF2-40B4-BE49-F238E27FC236}">
                <a16:creationId xmlns:a16="http://schemas.microsoft.com/office/drawing/2014/main" id="{69968241-8A24-8C2B-567F-D794905C5844}"/>
              </a:ext>
            </a:extLst>
          </p:cNvPr>
          <p:cNvGraphicFramePr>
            <a:graphicFrameLocks noGrp="1"/>
          </p:cNvGraphicFramePr>
          <p:nvPr>
            <p:extLst>
              <p:ext uri="{D42A27DB-BD31-4B8C-83A1-F6EECF244321}">
                <p14:modId xmlns:p14="http://schemas.microsoft.com/office/powerpoint/2010/main" val="1865889017"/>
              </p:ext>
            </p:extLst>
          </p:nvPr>
        </p:nvGraphicFramePr>
        <p:xfrm>
          <a:off x="252600" y="1394060"/>
          <a:ext cx="11582841" cy="5299791"/>
        </p:xfrm>
        <a:graphic>
          <a:graphicData uri="http://schemas.openxmlformats.org/drawingml/2006/table">
            <a:tbl>
              <a:tblPr/>
              <a:tblGrid>
                <a:gridCol w="1532476">
                  <a:extLst>
                    <a:ext uri="{9D8B030D-6E8A-4147-A177-3AD203B41FA5}">
                      <a16:colId xmlns:a16="http://schemas.microsoft.com/office/drawing/2014/main" val="2945481774"/>
                    </a:ext>
                  </a:extLst>
                </a:gridCol>
                <a:gridCol w="1356326">
                  <a:extLst>
                    <a:ext uri="{9D8B030D-6E8A-4147-A177-3AD203B41FA5}">
                      <a16:colId xmlns:a16="http://schemas.microsoft.com/office/drawing/2014/main" val="842665922"/>
                    </a:ext>
                  </a:extLst>
                </a:gridCol>
                <a:gridCol w="1021650">
                  <a:extLst>
                    <a:ext uri="{9D8B030D-6E8A-4147-A177-3AD203B41FA5}">
                      <a16:colId xmlns:a16="http://schemas.microsoft.com/office/drawing/2014/main" val="4249830902"/>
                    </a:ext>
                  </a:extLst>
                </a:gridCol>
                <a:gridCol w="1109721">
                  <a:extLst>
                    <a:ext uri="{9D8B030D-6E8A-4147-A177-3AD203B41FA5}">
                      <a16:colId xmlns:a16="http://schemas.microsoft.com/office/drawing/2014/main" val="2127017706"/>
                    </a:ext>
                  </a:extLst>
                </a:gridCol>
                <a:gridCol w="903740">
                  <a:extLst>
                    <a:ext uri="{9D8B030D-6E8A-4147-A177-3AD203B41FA5}">
                      <a16:colId xmlns:a16="http://schemas.microsoft.com/office/drawing/2014/main" val="3571549201"/>
                    </a:ext>
                  </a:extLst>
                </a:gridCol>
                <a:gridCol w="629729">
                  <a:extLst>
                    <a:ext uri="{9D8B030D-6E8A-4147-A177-3AD203B41FA5}">
                      <a16:colId xmlns:a16="http://schemas.microsoft.com/office/drawing/2014/main" val="3938933806"/>
                    </a:ext>
                  </a:extLst>
                </a:gridCol>
                <a:gridCol w="768268">
                  <a:extLst>
                    <a:ext uri="{9D8B030D-6E8A-4147-A177-3AD203B41FA5}">
                      <a16:colId xmlns:a16="http://schemas.microsoft.com/office/drawing/2014/main" val="648536464"/>
                    </a:ext>
                  </a:extLst>
                </a:gridCol>
                <a:gridCol w="957015">
                  <a:extLst>
                    <a:ext uri="{9D8B030D-6E8A-4147-A177-3AD203B41FA5}">
                      <a16:colId xmlns:a16="http://schemas.microsoft.com/office/drawing/2014/main" val="2331378001"/>
                    </a:ext>
                  </a:extLst>
                </a:gridCol>
                <a:gridCol w="577969">
                  <a:extLst>
                    <a:ext uri="{9D8B030D-6E8A-4147-A177-3AD203B41FA5}">
                      <a16:colId xmlns:a16="http://schemas.microsoft.com/office/drawing/2014/main" val="3804950279"/>
                    </a:ext>
                  </a:extLst>
                </a:gridCol>
                <a:gridCol w="2725947">
                  <a:extLst>
                    <a:ext uri="{9D8B030D-6E8A-4147-A177-3AD203B41FA5}">
                      <a16:colId xmlns:a16="http://schemas.microsoft.com/office/drawing/2014/main" val="3820144489"/>
                    </a:ext>
                  </a:extLst>
                </a:gridCol>
              </a:tblGrid>
              <a:tr h="500896">
                <a:tc rowSpan="2">
                  <a:txBody>
                    <a:bodyPr/>
                    <a:lstStyle/>
                    <a:p>
                      <a:pPr algn="ctr" fontAlgn="ctr">
                        <a:buNone/>
                      </a:pP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Particulars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Total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(Till 30.04.26)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01.05.26)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May 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rowSpan="2">
                  <a:txBody>
                    <a:bodyPr/>
                    <a:lstStyle/>
                    <a:p>
                      <a:pPr algn="ctr" fontAlgn="ctr">
                        <a:buNone/>
                      </a:pP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Cu. Progress </a:t>
                      </a:r>
                      <a:r>
                        <a:rPr lang="en-US" sz="1400" b="1" i="0" u="none" strike="noStrike"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upto</a:t>
                      </a: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date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WIP</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846131601"/>
                  </a:ext>
                </a:extLst>
              </a:tr>
              <a:tr h="28307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Plan</a:t>
                      </a:r>
                      <a:endParaRPr lang="en-IN" dirty="0"/>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a:t>
                      </a:r>
                      <a:endParaRPr lang="en-IN" dirty="0"/>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864048426"/>
                  </a:ext>
                </a:extLst>
              </a:tr>
              <a:tr h="382845">
                <a:tc>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Loc</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275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29</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275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t">
                        <a:buNone/>
                      </a:pPr>
                      <a:r>
                        <a:rPr lang="en-US" sz="140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Forest approval awaited. 29 Loc in Forest</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00796395"/>
                  </a:ext>
                </a:extLst>
              </a:tr>
              <a:tr h="319055">
                <a:tc gridSpan="10">
                  <a:txBody>
                    <a:bodyPr/>
                    <a:lstStyle/>
                    <a:p>
                      <a:pPr marL="0" algn="ctr" defTabSz="914400" rtl="0" eaLnBrk="1" fontAlgn="ctr" latinLnBrk="0" hangingPunct="1">
                        <a:buNone/>
                      </a:pPr>
                      <a:endParaRPr lang="en-US" sz="1400" b="1"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marL="0" algn="ctr" defTabSz="914400" rtl="0" eaLnBrk="1" fontAlgn="ctr" latinLnBrk="0" hangingPunct="1">
                        <a:buNone/>
                      </a:pPr>
                      <a:endParaRPr lang="en-US" sz="1200" b="1"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endParaRPr lang="en-US" sz="1200" b="1"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endParaRPr lang="en-US" sz="1200" b="1"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endParaRPr lang="en-US" sz="1200" b="1"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endParaRPr lang="en-IN"/>
                    </a:p>
                  </a:txBody>
                  <a:tcPr/>
                </a:tc>
                <a:tc hMerge="1">
                  <a:txBody>
                    <a:bodyPr/>
                    <a:lstStyle/>
                    <a:p>
                      <a:endParaRPr lang="en-IN"/>
                    </a:p>
                  </a:txBody>
                  <a:tcPr/>
                </a:tc>
                <a:tc hMerge="1">
                  <a:txBody>
                    <a:bodyPr/>
                    <a:lstStyle/>
                    <a:p>
                      <a:pPr marL="0" algn="ctr" defTabSz="914400" rtl="0" eaLnBrk="1" fontAlgn="ctr" latinLnBrk="0" hangingPunct="1">
                        <a:buNone/>
                      </a:pPr>
                      <a:endParaRPr lang="en-US" sz="1200" b="1"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endParaRPr lang="en-US" sz="1200" b="1"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marL="0" algn="ctr" defTabSz="914400" rtl="0" eaLnBrk="1" fontAlgn="ctr" latinLnBrk="0" hangingPunct="1">
                        <a:buNone/>
                      </a:pPr>
                      <a:endParaRPr lang="en-US" sz="1200" b="1"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53048419"/>
                  </a:ext>
                </a:extLst>
              </a:tr>
              <a:tr h="376229">
                <a:tc>
                  <a:txBody>
                    <a:bodyPr/>
                    <a:lstStyle/>
                    <a:p>
                      <a:pPr algn="l" fontAlgn="ctr">
                        <a:buNone/>
                      </a:pPr>
                      <a:r>
                        <a:rPr lang="en-IN" sz="140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Stub Rectification work</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Leg</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514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323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193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a:latin typeface="Calibri" panose="020F0502020204030204" pitchFamily="34" charset="0"/>
                          <a:ea typeface="Calibri" panose="020F0502020204030204" pitchFamily="34" charset="0"/>
                          <a:cs typeface="Calibri" panose="020F0502020204030204" pitchFamily="34" charset="0"/>
                        </a:rPr>
                        <a:t>66</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32</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355</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Forest -115 Leg (32 Loc)</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9645707"/>
                  </a:ext>
                </a:extLst>
              </a:tr>
              <a:tr h="369379">
                <a:tc>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No. of Gangs</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a:latin typeface="Calibri" panose="020F0502020204030204" pitchFamily="34" charset="0"/>
                          <a:ea typeface="Calibri" panose="020F0502020204030204" pitchFamily="34" charset="0"/>
                          <a:cs typeface="Calibri" panose="020F0502020204030204" pitchFamily="34" charset="0"/>
                        </a:rPr>
                        <a:t>5</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58630397"/>
                  </a:ext>
                </a:extLst>
              </a:tr>
              <a:tr h="369379">
                <a:tc>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Gang Strength</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16</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602456518"/>
                  </a:ext>
                </a:extLst>
              </a:tr>
              <a:tr h="369379">
                <a:tc>
                  <a:txBody>
                    <a:bodyPr/>
                    <a:lstStyle/>
                    <a:p>
                      <a:pPr algn="l" fontAlgn="ctr">
                        <a:buNone/>
                      </a:pPr>
                      <a:r>
                        <a:rPr lang="en-US" sz="140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Tower Erection </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Loc</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304</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266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38</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266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40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Forest approval awaited. 38 Loc in Forest</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25066637"/>
                  </a:ext>
                </a:extLst>
              </a:tr>
              <a:tr h="713570">
                <a:tc>
                  <a:txBody>
                    <a:bodyPr/>
                    <a:lstStyle/>
                    <a:p>
                      <a:pPr algn="l" fontAlgn="ctr">
                        <a:buNone/>
                      </a:pPr>
                      <a:r>
                        <a:rPr lang="en-US" sz="140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Tower Erection work against Theft &amp; Collapsed Portion</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Loc</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95645500"/>
                  </a:ext>
                </a:extLst>
              </a:tr>
              <a:tr h="713570">
                <a:tc>
                  <a:txBody>
                    <a:bodyPr/>
                    <a:lstStyle/>
                    <a:p>
                      <a:pPr algn="l" fontAlgn="ctr">
                        <a:buNone/>
                      </a:pPr>
                      <a:r>
                        <a:rPr lang="en-US" sz="140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Partial Tower Rectification due to Theft</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Loc</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11810768"/>
                  </a:ext>
                </a:extLst>
              </a:tr>
              <a:tr h="369379">
                <a:tc>
                  <a:txBody>
                    <a:bodyPr/>
                    <a:lstStyle/>
                    <a:p>
                      <a:pPr algn="l" fontAlgn="ctr">
                        <a:buNone/>
                      </a:pPr>
                      <a:r>
                        <a:rPr lang="en-IN" sz="140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Stringing</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107.51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2.190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105.32</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2.190</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28168252"/>
                  </a:ext>
                </a:extLst>
              </a:tr>
              <a:tr h="369379">
                <a:tc>
                  <a:txBody>
                    <a:bodyPr/>
                    <a:lstStyle/>
                    <a:p>
                      <a:pPr algn="l" fontAlgn="ctr">
                        <a:buNone/>
                      </a:pPr>
                      <a:r>
                        <a:rPr lang="en-IN" sz="1400"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OPGW Stringing</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KM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107.51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107.51</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186897208"/>
                  </a:ext>
                </a:extLst>
              </a:tr>
            </a:tbl>
          </a:graphicData>
        </a:graphic>
      </p:graphicFrame>
    </p:spTree>
    <p:extLst>
      <p:ext uri="{BB962C8B-B14F-4D97-AF65-F5344CB8AC3E}">
        <p14:creationId xmlns:p14="http://schemas.microsoft.com/office/powerpoint/2010/main" val="3653553968"/>
      </p:ext>
    </p:extLst>
  </p:cSld>
  <p:clrMapOvr>
    <a:masterClrMapping/>
  </p:clrMapOvr>
  <p:transition spd="slow"/>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9EBE3B-62DC-1AA2-88E4-B92C5C18F0A9}"/>
              </a:ext>
            </a:extLst>
          </p:cNvPr>
          <p:cNvSpPr>
            <a:spLocks noGrp="1"/>
          </p:cNvSpPr>
          <p:nvPr>
            <p:ph type="title"/>
          </p:nvPr>
        </p:nvSpPr>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Sikkim Tower Pkg TK04 </a:t>
            </a:r>
            <a:endParaRPr lang="en-IN" sz="2400" b="1" dirty="0"/>
          </a:p>
        </p:txBody>
      </p:sp>
      <p:sp>
        <p:nvSpPr>
          <p:cNvPr id="5" name="TextBox 4">
            <a:extLst>
              <a:ext uri="{FF2B5EF4-FFF2-40B4-BE49-F238E27FC236}">
                <a16:creationId xmlns:a16="http://schemas.microsoft.com/office/drawing/2014/main" id="{99A4FF7D-EB0D-3CDD-5F22-FE128F2B2BB3}"/>
              </a:ext>
            </a:extLst>
          </p:cNvPr>
          <p:cNvSpPr txBox="1"/>
          <p:nvPr/>
        </p:nvSpPr>
        <p:spPr>
          <a:xfrm>
            <a:off x="257899" y="1430898"/>
            <a:ext cx="6150634" cy="390363"/>
          </a:xfrm>
          <a:prstGeom prst="rect">
            <a:avLst/>
          </a:prstGeom>
          <a:noFill/>
        </p:spPr>
        <p:txBody>
          <a:bodyPr wrap="square">
            <a:spAutoFit/>
          </a:bodyPr>
          <a:lstStyle/>
          <a:p>
            <a:pPr marL="342900" lvl="0" indent="-342900" algn="just">
              <a:lnSpc>
                <a:spcPct val="115000"/>
              </a:lnSpc>
              <a:spcAft>
                <a:spcPts val="1000"/>
              </a:spcAft>
              <a:buFont typeface="+mj-lt"/>
              <a:buAutoNum type="arabicParenR"/>
            </a:pPr>
            <a:r>
              <a:rPr lang="en-US" sz="1800" b="1" u="sng" strike="noStrike" dirty="0">
                <a:effectLst/>
                <a:latin typeface="Calibri" panose="020F0502020204030204" pitchFamily="34" charset="0"/>
                <a:ea typeface="Calibri" panose="020F0502020204030204" pitchFamily="34" charset="0"/>
                <a:cs typeface="Calibri" panose="020F0502020204030204" pitchFamily="34" charset="0"/>
              </a:rPr>
              <a:t>220 KV D/C </a:t>
            </a:r>
            <a:r>
              <a:rPr lang="en-US" sz="1800" b="1" u="sng" strike="noStrike" dirty="0" err="1">
                <a:effectLst/>
                <a:latin typeface="Calibri" panose="020F0502020204030204" pitchFamily="34" charset="0"/>
                <a:ea typeface="Calibri" panose="020F0502020204030204" pitchFamily="34" charset="0"/>
                <a:cs typeface="Calibri" panose="020F0502020204030204" pitchFamily="34" charset="0"/>
              </a:rPr>
              <a:t>Dikchu</a:t>
            </a:r>
            <a:r>
              <a:rPr lang="en-US" sz="1800" b="1" u="sng" strike="noStrike" dirty="0">
                <a:effectLst/>
                <a:latin typeface="Calibri" panose="020F0502020204030204" pitchFamily="34" charset="0"/>
                <a:ea typeface="Calibri" panose="020F0502020204030204" pitchFamily="34" charset="0"/>
                <a:cs typeface="Calibri" panose="020F0502020204030204" pitchFamily="34" charset="0"/>
              </a:rPr>
              <a:t> - </a:t>
            </a:r>
            <a:r>
              <a:rPr lang="en-US" sz="1800" b="1" u="sng" strike="noStrike" dirty="0" err="1">
                <a:effectLst/>
                <a:latin typeface="Calibri" panose="020F0502020204030204" pitchFamily="34" charset="0"/>
                <a:ea typeface="Calibri" panose="020F0502020204030204" pitchFamily="34" charset="0"/>
                <a:cs typeface="Calibri" panose="020F0502020204030204" pitchFamily="34" charset="0"/>
              </a:rPr>
              <a:t>Singhik</a:t>
            </a:r>
            <a:r>
              <a:rPr lang="en-US" sz="1800" b="1" u="sng" strike="noStrike" dirty="0">
                <a:effectLst/>
                <a:latin typeface="Calibri" panose="020F0502020204030204" pitchFamily="34" charset="0"/>
                <a:ea typeface="Calibri" panose="020F0502020204030204" pitchFamily="34" charset="0"/>
                <a:cs typeface="Calibri" panose="020F0502020204030204" pitchFamily="34" charset="0"/>
              </a:rPr>
              <a:t> Transmission Line</a:t>
            </a:r>
            <a:endParaRPr lang="en-IN" sz="1200" u="none" strike="noStrike" dirty="0">
              <a:effectLst/>
              <a:latin typeface="Calibri" panose="020F0502020204030204" pitchFamily="34" charset="0"/>
              <a:ea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BAF82F5D-889E-766F-B7B7-CAB0C59048E3}"/>
              </a:ext>
            </a:extLst>
          </p:cNvPr>
          <p:cNvSpPr txBox="1"/>
          <p:nvPr/>
        </p:nvSpPr>
        <p:spPr>
          <a:xfrm>
            <a:off x="340744" y="1913320"/>
            <a:ext cx="11460192" cy="2600199"/>
          </a:xfrm>
          <a:prstGeom prst="rect">
            <a:avLst/>
          </a:prstGeom>
          <a:noFill/>
        </p:spPr>
        <p:txBody>
          <a:bodyPr wrap="square">
            <a:spAutoFit/>
          </a:bodyPr>
          <a:lstStyle/>
          <a:p>
            <a:pPr lvl="0" algn="just">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a) The partially completed 132/66kv </a:t>
            </a:r>
            <a:r>
              <a:rPr lang="en-US" sz="1400" dirty="0" err="1">
                <a:effectLst/>
                <a:latin typeface="Calibri" panose="020F0502020204030204" pitchFamily="34" charset="0"/>
                <a:ea typeface="Calibri" panose="020F0502020204030204" pitchFamily="34" charset="0"/>
                <a:cs typeface="Calibri" panose="020F0502020204030204" pitchFamily="34" charset="0"/>
              </a:rPr>
              <a:t>Singhik</a:t>
            </a:r>
            <a:r>
              <a:rPr lang="en-US" sz="1400" dirty="0">
                <a:effectLst/>
                <a:latin typeface="Calibri" panose="020F0502020204030204" pitchFamily="34" charset="0"/>
                <a:ea typeface="Calibri" panose="020F0502020204030204" pitchFamily="34" charset="0"/>
                <a:cs typeface="Calibri" panose="020F0502020204030204" pitchFamily="34" charset="0"/>
              </a:rPr>
              <a:t> Sub-station has been abandon by Powergrid due to rapid sinking of entire 132/66kv </a:t>
            </a:r>
            <a:r>
              <a:rPr lang="en-US" sz="1400" dirty="0" err="1">
                <a:effectLst/>
                <a:latin typeface="Calibri" panose="020F0502020204030204" pitchFamily="34" charset="0"/>
                <a:ea typeface="Calibri" panose="020F0502020204030204" pitchFamily="34" charset="0"/>
                <a:cs typeface="Calibri" panose="020F0502020204030204" pitchFamily="34" charset="0"/>
              </a:rPr>
              <a:t>Singhik</a:t>
            </a:r>
            <a:r>
              <a:rPr lang="en-US" sz="1400" dirty="0">
                <a:effectLst/>
                <a:latin typeface="Calibri" panose="020F0502020204030204" pitchFamily="34" charset="0"/>
                <a:ea typeface="Calibri" panose="020F0502020204030204" pitchFamily="34" charset="0"/>
                <a:cs typeface="Calibri" panose="020F0502020204030204" pitchFamily="34" charset="0"/>
              </a:rPr>
              <a:t> Sub-Station Land</a:t>
            </a:r>
            <a:endParaRPr lang="en-IN" sz="1400" dirty="0">
              <a:effectLst/>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b) Based on abandonment of 132/66kv </a:t>
            </a:r>
            <a:r>
              <a:rPr lang="en-US" sz="1400" dirty="0" err="1">
                <a:effectLst/>
                <a:latin typeface="Calibri" panose="020F0502020204030204" pitchFamily="34" charset="0"/>
                <a:ea typeface="Calibri" panose="020F0502020204030204" pitchFamily="34" charset="0"/>
                <a:cs typeface="Calibri" panose="020F0502020204030204" pitchFamily="34" charset="0"/>
              </a:rPr>
              <a:t>Singhik</a:t>
            </a:r>
            <a:r>
              <a:rPr lang="en-US" sz="1400" dirty="0">
                <a:effectLst/>
                <a:latin typeface="Calibri" panose="020F0502020204030204" pitchFamily="34" charset="0"/>
                <a:ea typeface="Calibri" panose="020F0502020204030204" pitchFamily="34" charset="0"/>
                <a:cs typeface="Calibri" panose="020F0502020204030204" pitchFamily="34" charset="0"/>
              </a:rPr>
              <a:t> Sub-Station, the scope of the above said line has been reduced </a:t>
            </a:r>
            <a:r>
              <a:rPr lang="en-US" sz="1400" dirty="0" err="1">
                <a:effectLst/>
                <a:latin typeface="Calibri" panose="020F0502020204030204" pitchFamily="34" charset="0"/>
                <a:ea typeface="Calibri" panose="020F0502020204030204" pitchFamily="34" charset="0"/>
                <a:cs typeface="Calibri" panose="020F0502020204030204" pitchFamily="34" charset="0"/>
              </a:rPr>
              <a:t>upto</a:t>
            </a:r>
            <a:r>
              <a:rPr lang="en-US" sz="1400" dirty="0">
                <a:effectLst/>
                <a:latin typeface="Calibri" panose="020F0502020204030204" pitchFamily="34" charset="0"/>
                <a:ea typeface="Calibri" panose="020F0502020204030204" pitchFamily="34" charset="0"/>
                <a:cs typeface="Calibri" panose="020F0502020204030204" pitchFamily="34" charset="0"/>
              </a:rPr>
              <a:t> AP86/0 from </a:t>
            </a:r>
            <a:r>
              <a:rPr lang="en-US" sz="1400" dirty="0" err="1">
                <a:effectLst/>
                <a:latin typeface="Calibri" panose="020F0502020204030204" pitchFamily="34" charset="0"/>
                <a:ea typeface="Calibri" panose="020F0502020204030204" pitchFamily="34" charset="0"/>
                <a:cs typeface="Calibri" panose="020F0502020204030204" pitchFamily="34" charset="0"/>
              </a:rPr>
              <a:t>Dikchu</a:t>
            </a:r>
            <a:r>
              <a:rPr lang="en-US" sz="1400" dirty="0">
                <a:effectLst/>
                <a:latin typeface="Calibri" panose="020F0502020204030204" pitchFamily="34" charset="0"/>
                <a:ea typeface="Calibri" panose="020F0502020204030204" pitchFamily="34" charset="0"/>
                <a:cs typeface="Calibri" panose="020F0502020204030204" pitchFamily="34" charset="0"/>
              </a:rPr>
              <a:t> SS end and Powergrid suggested for charging of the said line up to AP86/0 from </a:t>
            </a:r>
            <a:r>
              <a:rPr lang="en-US" sz="1400" dirty="0" err="1">
                <a:effectLst/>
                <a:latin typeface="Calibri" panose="020F0502020204030204" pitchFamily="34" charset="0"/>
                <a:ea typeface="Calibri" panose="020F0502020204030204" pitchFamily="34" charset="0"/>
                <a:cs typeface="Calibri" panose="020F0502020204030204" pitchFamily="34" charset="0"/>
              </a:rPr>
              <a:t>Dikchu</a:t>
            </a:r>
            <a:r>
              <a:rPr lang="en-US" sz="1400" dirty="0">
                <a:effectLst/>
                <a:latin typeface="Calibri" panose="020F0502020204030204" pitchFamily="34" charset="0"/>
                <a:ea typeface="Calibri" panose="020F0502020204030204" pitchFamily="34" charset="0"/>
                <a:cs typeface="Calibri" panose="020F0502020204030204" pitchFamily="34" charset="0"/>
              </a:rPr>
              <a:t> SS end i.e. 21.516 KM Line Length against Total Line Length 22.440 KM</a:t>
            </a:r>
          </a:p>
          <a:p>
            <a:pPr lvl="0"/>
            <a:r>
              <a:rPr lang="en-US" sz="1400" dirty="0">
                <a:latin typeface="Calibri" panose="020F0502020204030204" pitchFamily="34" charset="0"/>
                <a:ea typeface="Calibri" panose="020F0502020204030204" pitchFamily="34" charset="0"/>
                <a:cs typeface="Calibri" panose="020F0502020204030204" pitchFamily="34" charset="0"/>
              </a:rPr>
              <a:t>c) Due to reduction of scope the line from AP 86/0 to </a:t>
            </a:r>
            <a:r>
              <a:rPr lang="en-US" sz="1400" dirty="0" err="1">
                <a:latin typeface="Calibri" panose="020F0502020204030204" pitchFamily="34" charset="0"/>
                <a:ea typeface="Calibri" panose="020F0502020204030204" pitchFamily="34" charset="0"/>
                <a:cs typeface="Calibri" panose="020F0502020204030204" pitchFamily="34" charset="0"/>
              </a:rPr>
              <a:t>Singhik</a:t>
            </a:r>
            <a:r>
              <a:rPr lang="en-US" sz="1400" dirty="0">
                <a:latin typeface="Calibri" panose="020F0502020204030204" pitchFamily="34" charset="0"/>
                <a:ea typeface="Calibri" panose="020F0502020204030204" pitchFamily="34" charset="0"/>
                <a:cs typeface="Calibri" panose="020F0502020204030204" pitchFamily="34" charset="0"/>
              </a:rPr>
              <a:t> SS Gantry i.e. 0.711KM has been abandon resulting 5 Nos Erected &amp; Strung Tower Location  near </a:t>
            </a:r>
            <a:r>
              <a:rPr lang="en-US" sz="1400" dirty="0" err="1">
                <a:latin typeface="Calibri" panose="020F0502020204030204" pitchFamily="34" charset="0"/>
                <a:ea typeface="Calibri" panose="020F0502020204030204" pitchFamily="34" charset="0"/>
                <a:cs typeface="Calibri" panose="020F0502020204030204" pitchFamily="34" charset="0"/>
              </a:rPr>
              <a:t>Singhik</a:t>
            </a:r>
            <a:r>
              <a:rPr lang="en-US" sz="1400" dirty="0">
                <a:latin typeface="Calibri" panose="020F0502020204030204" pitchFamily="34" charset="0"/>
                <a:ea typeface="Calibri" panose="020F0502020204030204" pitchFamily="34" charset="0"/>
                <a:cs typeface="Calibri" panose="020F0502020204030204" pitchFamily="34" charset="0"/>
              </a:rPr>
              <a:t> SS end i.e. AP87/0 (DCS+9), AP88/0 (DD+18), AP89/0 (DCS+9), AP90/0 (DD+18), AP91/0 (DD+6 DE AUX) has also been abandoned</a:t>
            </a:r>
          </a:p>
          <a:p>
            <a:pPr lvl="0"/>
            <a:r>
              <a:rPr lang="en-US" sz="1400" b="1" dirty="0">
                <a:latin typeface="Calibri" panose="020F0502020204030204" pitchFamily="34" charset="0"/>
                <a:ea typeface="Calibri" panose="020F0502020204030204" pitchFamily="34" charset="0"/>
                <a:cs typeface="Calibri" panose="020F0502020204030204" pitchFamily="34" charset="0"/>
              </a:rPr>
              <a:t> </a:t>
            </a:r>
            <a:endParaRPr lang="en-IN" sz="1400" dirty="0">
              <a:latin typeface="Calibri" panose="020F0502020204030204" pitchFamily="34" charset="0"/>
              <a:ea typeface="Calibri" panose="020F0502020204030204" pitchFamily="34" charset="0"/>
              <a:cs typeface="Calibri" panose="020F0502020204030204" pitchFamily="34" charset="0"/>
            </a:endParaRPr>
          </a:p>
          <a:p>
            <a:pPr lvl="0"/>
            <a:r>
              <a:rPr lang="en-US" sz="1400" dirty="0">
                <a:latin typeface="Calibri" panose="020F0502020204030204" pitchFamily="34" charset="0"/>
                <a:ea typeface="Calibri" panose="020F0502020204030204" pitchFamily="34" charset="0"/>
                <a:cs typeface="Calibri" panose="020F0502020204030204" pitchFamily="34" charset="0"/>
              </a:rPr>
              <a:t>d) Based on </a:t>
            </a:r>
            <a:r>
              <a:rPr lang="en-US" sz="1400" dirty="0" err="1">
                <a:latin typeface="Calibri" panose="020F0502020204030204" pitchFamily="34" charset="0"/>
                <a:ea typeface="Calibri" panose="020F0502020204030204" pitchFamily="34" charset="0"/>
                <a:cs typeface="Calibri" panose="020F0502020204030204" pitchFamily="34" charset="0"/>
              </a:rPr>
              <a:t>Sl</a:t>
            </a:r>
            <a:r>
              <a:rPr lang="en-US" sz="1400" dirty="0">
                <a:latin typeface="Calibri" panose="020F0502020204030204" pitchFamily="34" charset="0"/>
                <a:ea typeface="Calibri" panose="020F0502020204030204" pitchFamily="34" charset="0"/>
                <a:cs typeface="Calibri" panose="020F0502020204030204" pitchFamily="34" charset="0"/>
              </a:rPr>
              <a:t> No. (</a:t>
            </a:r>
            <a:r>
              <a:rPr lang="en-US" sz="1400" dirty="0" err="1">
                <a:latin typeface="Calibri" panose="020F0502020204030204" pitchFamily="34" charset="0"/>
                <a:ea typeface="Calibri" panose="020F0502020204030204" pitchFamily="34" charset="0"/>
                <a:cs typeface="Calibri" panose="020F0502020204030204" pitchFamily="34" charset="0"/>
              </a:rPr>
              <a:t>a,b,c</a:t>
            </a:r>
            <a:r>
              <a:rPr lang="en-US" sz="1400" dirty="0">
                <a:latin typeface="Calibri" panose="020F0502020204030204" pitchFamily="34" charset="0"/>
                <a:ea typeface="Calibri" panose="020F0502020204030204" pitchFamily="34" charset="0"/>
                <a:cs typeface="Calibri" panose="020F0502020204030204" pitchFamily="34" charset="0"/>
              </a:rPr>
              <a:t>) above the balance work and its completion timeline are as follows:</a:t>
            </a:r>
            <a:endParaRPr lang="en-IN" sz="1400" dirty="0">
              <a:latin typeface="Calibri" panose="020F0502020204030204" pitchFamily="34" charset="0"/>
              <a:ea typeface="Calibri" panose="020F0502020204030204" pitchFamily="34" charset="0"/>
              <a:cs typeface="Calibri" panose="020F0502020204030204" pitchFamily="34" charset="0"/>
            </a:endParaRPr>
          </a:p>
          <a:p>
            <a:r>
              <a:rPr lang="en-US" sz="1400" dirty="0">
                <a:latin typeface="Calibri" panose="020F0502020204030204" pitchFamily="34" charset="0"/>
                <a:ea typeface="Calibri" panose="020F0502020204030204" pitchFamily="34" charset="0"/>
                <a:cs typeface="Calibri" panose="020F0502020204030204" pitchFamily="34" charset="0"/>
              </a:rPr>
              <a:t>        </a:t>
            </a:r>
          </a:p>
          <a:p>
            <a:r>
              <a:rPr lang="en-US" sz="1400" dirty="0">
                <a:latin typeface="Calibri" panose="020F0502020204030204" pitchFamily="34" charset="0"/>
                <a:ea typeface="Calibri" panose="020F0502020204030204" pitchFamily="34" charset="0"/>
                <a:cs typeface="Calibri" panose="020F0502020204030204" pitchFamily="34" charset="0"/>
              </a:rPr>
              <a:t>Conductor Stringing – 4 Span (76/0-77/0 &amp; 79A/0 to 81/0 i.e. 627 </a:t>
            </a:r>
            <a:r>
              <a:rPr lang="en-US" sz="1400" dirty="0" err="1">
                <a:latin typeface="Calibri" panose="020F0502020204030204" pitchFamily="34" charset="0"/>
                <a:ea typeface="Calibri" panose="020F0502020204030204" pitchFamily="34" charset="0"/>
                <a:cs typeface="Calibri" panose="020F0502020204030204" pitchFamily="34" charset="0"/>
              </a:rPr>
              <a:t>Mtr</a:t>
            </a:r>
            <a:r>
              <a:rPr lang="en-US" sz="1400" dirty="0">
                <a:latin typeface="Calibri" panose="020F0502020204030204" pitchFamily="34" charset="0"/>
                <a:ea typeface="Calibri" panose="020F0502020204030204" pitchFamily="34" charset="0"/>
                <a:cs typeface="Calibri" panose="020F0502020204030204" pitchFamily="34" charset="0"/>
              </a:rPr>
              <a:t>), OPGW Stringing – 12.588KM and Cutting of Soil for obtaining ground clearance in 47/0-48/0 and 51/0 to 52/0</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9" name="Table 8">
            <a:extLst>
              <a:ext uri="{FF2B5EF4-FFF2-40B4-BE49-F238E27FC236}">
                <a16:creationId xmlns:a16="http://schemas.microsoft.com/office/drawing/2014/main" id="{5E8326AD-E119-EB06-4C3D-B6A0B0BB76E4}"/>
              </a:ext>
            </a:extLst>
          </p:cNvPr>
          <p:cNvGraphicFramePr>
            <a:graphicFrameLocks noGrp="1"/>
          </p:cNvGraphicFramePr>
          <p:nvPr>
            <p:extLst>
              <p:ext uri="{D42A27DB-BD31-4B8C-83A1-F6EECF244321}">
                <p14:modId xmlns:p14="http://schemas.microsoft.com/office/powerpoint/2010/main" val="1228864667"/>
              </p:ext>
            </p:extLst>
          </p:nvPr>
        </p:nvGraphicFramePr>
        <p:xfrm>
          <a:off x="836762" y="4605578"/>
          <a:ext cx="10640683" cy="1875844"/>
        </p:xfrm>
        <a:graphic>
          <a:graphicData uri="http://schemas.openxmlformats.org/drawingml/2006/table">
            <a:tbl>
              <a:tblPr/>
              <a:tblGrid>
                <a:gridCol w="2015602">
                  <a:extLst>
                    <a:ext uri="{9D8B030D-6E8A-4147-A177-3AD203B41FA5}">
                      <a16:colId xmlns:a16="http://schemas.microsoft.com/office/drawing/2014/main" val="149397833"/>
                    </a:ext>
                  </a:extLst>
                </a:gridCol>
                <a:gridCol w="1783921">
                  <a:extLst>
                    <a:ext uri="{9D8B030D-6E8A-4147-A177-3AD203B41FA5}">
                      <a16:colId xmlns:a16="http://schemas.microsoft.com/office/drawing/2014/main" val="3622379874"/>
                    </a:ext>
                  </a:extLst>
                </a:gridCol>
                <a:gridCol w="1343735">
                  <a:extLst>
                    <a:ext uri="{9D8B030D-6E8A-4147-A177-3AD203B41FA5}">
                      <a16:colId xmlns:a16="http://schemas.microsoft.com/office/drawing/2014/main" val="1059588278"/>
                    </a:ext>
                  </a:extLst>
                </a:gridCol>
                <a:gridCol w="1459571">
                  <a:extLst>
                    <a:ext uri="{9D8B030D-6E8A-4147-A177-3AD203B41FA5}">
                      <a16:colId xmlns:a16="http://schemas.microsoft.com/office/drawing/2014/main" val="2626708815"/>
                    </a:ext>
                  </a:extLst>
                </a:gridCol>
                <a:gridCol w="1188652">
                  <a:extLst>
                    <a:ext uri="{9D8B030D-6E8A-4147-A177-3AD203B41FA5}">
                      <a16:colId xmlns:a16="http://schemas.microsoft.com/office/drawing/2014/main" val="3110708562"/>
                    </a:ext>
                  </a:extLst>
                </a:gridCol>
                <a:gridCol w="828258">
                  <a:extLst>
                    <a:ext uri="{9D8B030D-6E8A-4147-A177-3AD203B41FA5}">
                      <a16:colId xmlns:a16="http://schemas.microsoft.com/office/drawing/2014/main" val="1304343103"/>
                    </a:ext>
                  </a:extLst>
                </a:gridCol>
                <a:gridCol w="1010472">
                  <a:extLst>
                    <a:ext uri="{9D8B030D-6E8A-4147-A177-3AD203B41FA5}">
                      <a16:colId xmlns:a16="http://schemas.microsoft.com/office/drawing/2014/main" val="1448817563"/>
                    </a:ext>
                  </a:extLst>
                </a:gridCol>
                <a:gridCol w="1010472">
                  <a:extLst>
                    <a:ext uri="{9D8B030D-6E8A-4147-A177-3AD203B41FA5}">
                      <a16:colId xmlns:a16="http://schemas.microsoft.com/office/drawing/2014/main" val="202703365"/>
                    </a:ext>
                  </a:extLst>
                </a:gridCol>
              </a:tblGrid>
              <a:tr h="227758">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 Line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May-26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May-26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Completion Timeline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pPr algn="ctr" fontAlgn="ctr">
                        <a:buNone/>
                      </a:pPr>
                      <a:endPar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10739892"/>
                  </a:ext>
                </a:extLst>
              </a:tr>
              <a:tr h="258360">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Jun-26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July-26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Aug-26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47677265"/>
                  </a:ext>
                </a:extLst>
              </a:tr>
              <a:tr h="201768">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NOS</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 </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 </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77457704"/>
                  </a:ext>
                </a:extLst>
              </a:tr>
              <a:tr h="195841">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Tower Erection</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NOS</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 </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89873063"/>
                  </a:ext>
                </a:extLst>
              </a:tr>
              <a:tr h="195841">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Stringing</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KM</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 </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452986716"/>
                  </a:ext>
                </a:extLst>
              </a:tr>
              <a:tr h="169775">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OPGW Stringing</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KM</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25964555"/>
                  </a:ext>
                </a:extLst>
              </a:tr>
              <a:tr h="169775">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Cutting of Soil</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Cum</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89654798"/>
                  </a:ext>
                </a:extLst>
              </a:tr>
              <a:tr h="195841">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Dismantling of Erected Tower</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MT</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42547156"/>
                  </a:ext>
                </a:extLst>
              </a:tr>
              <a:tr h="169775">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De-Stringing</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KM</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0288075"/>
                  </a:ext>
                </a:extLst>
              </a:tr>
            </a:tbl>
          </a:graphicData>
        </a:graphic>
      </p:graphicFrame>
    </p:spTree>
    <p:extLst>
      <p:ext uri="{BB962C8B-B14F-4D97-AF65-F5344CB8AC3E}">
        <p14:creationId xmlns:p14="http://schemas.microsoft.com/office/powerpoint/2010/main" val="2843820549"/>
      </p:ext>
    </p:extLst>
  </p:cSld>
  <p:clrMapOvr>
    <a:masterClrMapping/>
  </p:clrMapOvr>
  <p:transition spd="slow"/>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10435D-9FF4-FDF1-B24D-C9A8238FE6A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E8F0292-7C6F-30BD-EA27-7C424A35D8BA}"/>
              </a:ext>
            </a:extLst>
          </p:cNvPr>
          <p:cNvSpPr>
            <a:spLocks noGrp="1"/>
          </p:cNvSpPr>
          <p:nvPr>
            <p:ph type="title"/>
          </p:nvPr>
        </p:nvSpPr>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Sikkim Tower Pkg TK04 </a:t>
            </a:r>
            <a:endParaRPr lang="en-IN" sz="2400" b="1" dirty="0"/>
          </a:p>
        </p:txBody>
      </p:sp>
      <p:sp>
        <p:nvSpPr>
          <p:cNvPr id="5" name="TextBox 4">
            <a:extLst>
              <a:ext uri="{FF2B5EF4-FFF2-40B4-BE49-F238E27FC236}">
                <a16:creationId xmlns:a16="http://schemas.microsoft.com/office/drawing/2014/main" id="{3B21CCB5-CE83-A1A2-6857-294865EFF679}"/>
              </a:ext>
            </a:extLst>
          </p:cNvPr>
          <p:cNvSpPr txBox="1"/>
          <p:nvPr/>
        </p:nvSpPr>
        <p:spPr>
          <a:xfrm>
            <a:off x="257899" y="1276936"/>
            <a:ext cx="9498576" cy="395173"/>
          </a:xfrm>
          <a:prstGeom prst="rect">
            <a:avLst/>
          </a:prstGeom>
          <a:noFill/>
        </p:spPr>
        <p:txBody>
          <a:bodyPr wrap="square">
            <a:spAutoFit/>
          </a:bodyPr>
          <a:lstStyle/>
          <a:p>
            <a:pPr algn="just">
              <a:lnSpc>
                <a:spcPct val="115000"/>
              </a:lnSpc>
              <a:spcAft>
                <a:spcPts val="1000"/>
              </a:spcAft>
            </a:pPr>
            <a:r>
              <a:rPr lang="en-US" b="1" u="sng" dirty="0">
                <a:latin typeface="Calibri" panose="020F0502020204030204" pitchFamily="34" charset="0"/>
                <a:ea typeface="Calibri" panose="020F0502020204030204" pitchFamily="34" charset="0"/>
                <a:cs typeface="Calibri" panose="020F0502020204030204" pitchFamily="34" charset="0"/>
              </a:rPr>
              <a:t>2. 220 KV D/C </a:t>
            </a:r>
            <a:r>
              <a:rPr lang="en-US" b="1" u="sng" dirty="0" err="1">
                <a:latin typeface="Calibri" panose="020F0502020204030204" pitchFamily="34" charset="0"/>
                <a:ea typeface="Calibri" panose="020F0502020204030204" pitchFamily="34" charset="0"/>
                <a:cs typeface="Calibri" panose="020F0502020204030204" pitchFamily="34" charset="0"/>
              </a:rPr>
              <a:t>Singhik</a:t>
            </a:r>
            <a:r>
              <a:rPr lang="en-US" b="1" u="sng" dirty="0">
                <a:latin typeface="Calibri" panose="020F0502020204030204" pitchFamily="34" charset="0"/>
                <a:ea typeface="Calibri" panose="020F0502020204030204" pitchFamily="34" charset="0"/>
                <a:cs typeface="Calibri" panose="020F0502020204030204" pitchFamily="34" charset="0"/>
              </a:rPr>
              <a:t> - </a:t>
            </a:r>
            <a:r>
              <a:rPr lang="en-US" b="1" u="sng" dirty="0" err="1">
                <a:latin typeface="Calibri" panose="020F0502020204030204" pitchFamily="34" charset="0"/>
                <a:ea typeface="Calibri" panose="020F0502020204030204" pitchFamily="34" charset="0"/>
                <a:cs typeface="Calibri" panose="020F0502020204030204" pitchFamily="34" charset="0"/>
              </a:rPr>
              <a:t>Chungthang</a:t>
            </a:r>
            <a:r>
              <a:rPr lang="en-US" b="1" u="sng" dirty="0">
                <a:latin typeface="Calibri" panose="020F0502020204030204" pitchFamily="34" charset="0"/>
                <a:ea typeface="Calibri" panose="020F0502020204030204" pitchFamily="34" charset="0"/>
                <a:cs typeface="Calibri" panose="020F0502020204030204" pitchFamily="34" charset="0"/>
              </a:rPr>
              <a:t> Transmission Line</a:t>
            </a:r>
            <a:endParaRPr lang="en-IN" dirty="0">
              <a:latin typeface="Calibri" panose="020F0502020204030204" pitchFamily="34" charset="0"/>
              <a:ea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8BA1826F-2870-3BDA-881F-FFC71D4D6F51}"/>
              </a:ext>
            </a:extLst>
          </p:cNvPr>
          <p:cNvSpPr txBox="1"/>
          <p:nvPr/>
        </p:nvSpPr>
        <p:spPr>
          <a:xfrm>
            <a:off x="365904" y="1672109"/>
            <a:ext cx="11460192" cy="1426031"/>
          </a:xfrm>
          <a:prstGeom prst="rect">
            <a:avLst/>
          </a:prstGeom>
          <a:noFill/>
        </p:spPr>
        <p:txBody>
          <a:bodyPr wrap="square">
            <a:spAutoFit/>
          </a:bodyPr>
          <a:lstStyle/>
          <a:p>
            <a:pPr lvl="0" algn="just">
              <a:spcAft>
                <a:spcPts val="1000"/>
              </a:spcAft>
            </a:pPr>
            <a:r>
              <a:rPr lang="en-US" sz="1400" dirty="0">
                <a:latin typeface="Calibri" panose="020F0502020204030204" pitchFamily="34" charset="0"/>
                <a:ea typeface="Calibri" panose="020F0502020204030204" pitchFamily="34" charset="0"/>
                <a:cs typeface="Calibri" panose="020F0502020204030204" pitchFamily="34" charset="0"/>
              </a:rPr>
              <a:t>a) Due to Natural Disaster i.e. Teesta GLOF Flood on 04.10.2023 and subsequent Cloud burst Flash Flood in North Sikkim on 18th Jun'24 &amp; 20</a:t>
            </a:r>
            <a:r>
              <a:rPr lang="en-US" sz="1400" baseline="30000" dirty="0">
                <a:latin typeface="Calibri" panose="020F0502020204030204" pitchFamily="34" charset="0"/>
                <a:ea typeface="Calibri" panose="020F0502020204030204" pitchFamily="34" charset="0"/>
                <a:cs typeface="Calibri" panose="020F0502020204030204" pitchFamily="34" charset="0"/>
              </a:rPr>
              <a:t>th</a:t>
            </a:r>
            <a:r>
              <a:rPr lang="en-US" sz="1400" dirty="0">
                <a:latin typeface="Calibri" panose="020F0502020204030204" pitchFamily="34" charset="0"/>
                <a:ea typeface="Calibri" panose="020F0502020204030204" pitchFamily="34" charset="0"/>
                <a:cs typeface="Calibri" panose="020F0502020204030204" pitchFamily="34" charset="0"/>
              </a:rPr>
              <a:t> May’25 the portion of above said constructed line i.e. 19.479km from AP28/0 to </a:t>
            </a:r>
            <a:r>
              <a:rPr lang="en-US" sz="1400" dirty="0" err="1">
                <a:latin typeface="Calibri" panose="020F0502020204030204" pitchFamily="34" charset="0"/>
                <a:ea typeface="Calibri" panose="020F0502020204030204" pitchFamily="34" charset="0"/>
                <a:cs typeface="Calibri" panose="020F0502020204030204" pitchFamily="34" charset="0"/>
              </a:rPr>
              <a:t>Chungthang</a:t>
            </a:r>
            <a:r>
              <a:rPr lang="en-US" sz="1400" dirty="0">
                <a:latin typeface="Calibri" panose="020F0502020204030204" pitchFamily="34" charset="0"/>
                <a:ea typeface="Calibri" panose="020F0502020204030204" pitchFamily="34" charset="0"/>
                <a:cs typeface="Calibri" panose="020F0502020204030204" pitchFamily="34" charset="0"/>
              </a:rPr>
              <a:t> Sub-station completely damage/washout out of total line length of 29.009km. Till date most part of the Line is inaccessible after Natural disaster</a:t>
            </a:r>
            <a:endParaRPr lang="en-IN" sz="1400" dirty="0">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IN" sz="1400" dirty="0">
                <a:latin typeface="Calibri" panose="020F0502020204030204" pitchFamily="34" charset="0"/>
                <a:ea typeface="Calibri" panose="020F0502020204030204" pitchFamily="34" charset="0"/>
                <a:cs typeface="Calibri" panose="020F0502020204030204" pitchFamily="34" charset="0"/>
              </a:rPr>
              <a:t>b) </a:t>
            </a:r>
            <a:r>
              <a:rPr lang="en-US" sz="1400" dirty="0">
                <a:latin typeface="Calibri" panose="020F0502020204030204" pitchFamily="34" charset="0"/>
                <a:ea typeface="Calibri" panose="020F0502020204030204" pitchFamily="34" charset="0"/>
                <a:cs typeface="Calibri" panose="020F0502020204030204" pitchFamily="34" charset="0"/>
              </a:rPr>
              <a:t>132/66kv </a:t>
            </a:r>
            <a:r>
              <a:rPr lang="en-US" sz="1400" dirty="0" err="1">
                <a:latin typeface="Calibri" panose="020F0502020204030204" pitchFamily="34" charset="0"/>
                <a:ea typeface="Calibri" panose="020F0502020204030204" pitchFamily="34" charset="0"/>
                <a:cs typeface="Calibri" panose="020F0502020204030204" pitchFamily="34" charset="0"/>
              </a:rPr>
              <a:t>Singhik</a:t>
            </a:r>
            <a:r>
              <a:rPr lang="en-US" sz="1400" dirty="0">
                <a:latin typeface="Calibri" panose="020F0502020204030204" pitchFamily="34" charset="0"/>
                <a:ea typeface="Calibri" panose="020F0502020204030204" pitchFamily="34" charset="0"/>
                <a:cs typeface="Calibri" panose="020F0502020204030204" pitchFamily="34" charset="0"/>
              </a:rPr>
              <a:t> Sub-Station and 132/66kv </a:t>
            </a:r>
            <a:r>
              <a:rPr lang="en-US" sz="1400" dirty="0" err="1">
                <a:latin typeface="Calibri" panose="020F0502020204030204" pitchFamily="34" charset="0"/>
                <a:ea typeface="Calibri" panose="020F0502020204030204" pitchFamily="34" charset="0"/>
                <a:cs typeface="Calibri" panose="020F0502020204030204" pitchFamily="34" charset="0"/>
              </a:rPr>
              <a:t>Chungthang</a:t>
            </a:r>
            <a:r>
              <a:rPr lang="en-US" sz="1400" dirty="0">
                <a:latin typeface="Calibri" panose="020F0502020204030204" pitchFamily="34" charset="0"/>
                <a:ea typeface="Calibri" panose="020F0502020204030204" pitchFamily="34" charset="0"/>
                <a:cs typeface="Calibri" panose="020F0502020204030204" pitchFamily="34" charset="0"/>
              </a:rPr>
              <a:t> Sub-Station have been declared as abandoned by Powergrid</a:t>
            </a:r>
            <a:endParaRPr lang="en-IN" sz="1400" dirty="0">
              <a:latin typeface="Calibri" panose="020F0502020204030204" pitchFamily="34" charset="0"/>
              <a:ea typeface="Calibri" panose="020F0502020204030204" pitchFamily="34" charset="0"/>
              <a:cs typeface="Calibri" panose="020F0502020204030204" pitchFamily="34" charset="0"/>
            </a:endParaRPr>
          </a:p>
          <a:p>
            <a:pPr lvl="0"/>
            <a:r>
              <a:rPr lang="en-US" sz="1400" dirty="0">
                <a:latin typeface="Calibri" panose="020F0502020204030204" pitchFamily="34" charset="0"/>
                <a:ea typeface="Calibri" panose="020F0502020204030204" pitchFamily="34" charset="0"/>
                <a:cs typeface="Calibri" panose="020F0502020204030204" pitchFamily="34" charset="0"/>
              </a:rPr>
              <a:t>c) The status of balance work before Natural Disaster is as follows</a:t>
            </a:r>
            <a:endParaRPr lang="en-US" dirty="0"/>
          </a:p>
        </p:txBody>
      </p:sp>
      <p:graphicFrame>
        <p:nvGraphicFramePr>
          <p:cNvPr id="9" name="Table 8">
            <a:extLst>
              <a:ext uri="{FF2B5EF4-FFF2-40B4-BE49-F238E27FC236}">
                <a16:creationId xmlns:a16="http://schemas.microsoft.com/office/drawing/2014/main" id="{99DAD66F-DE1B-F24D-2799-A09E1B42AE4B}"/>
              </a:ext>
            </a:extLst>
          </p:cNvPr>
          <p:cNvGraphicFramePr>
            <a:graphicFrameLocks noGrp="1"/>
          </p:cNvGraphicFramePr>
          <p:nvPr>
            <p:extLst>
              <p:ext uri="{D42A27DB-BD31-4B8C-83A1-F6EECF244321}">
                <p14:modId xmlns:p14="http://schemas.microsoft.com/office/powerpoint/2010/main" val="571157395"/>
              </p:ext>
            </p:extLst>
          </p:nvPr>
        </p:nvGraphicFramePr>
        <p:xfrm>
          <a:off x="819510" y="3159696"/>
          <a:ext cx="10834775" cy="1379335"/>
        </p:xfrm>
        <a:graphic>
          <a:graphicData uri="http://schemas.openxmlformats.org/drawingml/2006/table">
            <a:tbl>
              <a:tblPr/>
              <a:tblGrid>
                <a:gridCol w="2052368">
                  <a:extLst>
                    <a:ext uri="{9D8B030D-6E8A-4147-A177-3AD203B41FA5}">
                      <a16:colId xmlns:a16="http://schemas.microsoft.com/office/drawing/2014/main" val="149397833"/>
                    </a:ext>
                  </a:extLst>
                </a:gridCol>
                <a:gridCol w="1816461">
                  <a:extLst>
                    <a:ext uri="{9D8B030D-6E8A-4147-A177-3AD203B41FA5}">
                      <a16:colId xmlns:a16="http://schemas.microsoft.com/office/drawing/2014/main" val="3622379874"/>
                    </a:ext>
                  </a:extLst>
                </a:gridCol>
                <a:gridCol w="1368245">
                  <a:extLst>
                    <a:ext uri="{9D8B030D-6E8A-4147-A177-3AD203B41FA5}">
                      <a16:colId xmlns:a16="http://schemas.microsoft.com/office/drawing/2014/main" val="1059588278"/>
                    </a:ext>
                  </a:extLst>
                </a:gridCol>
                <a:gridCol w="1486195">
                  <a:extLst>
                    <a:ext uri="{9D8B030D-6E8A-4147-A177-3AD203B41FA5}">
                      <a16:colId xmlns:a16="http://schemas.microsoft.com/office/drawing/2014/main" val="2626708815"/>
                    </a:ext>
                  </a:extLst>
                </a:gridCol>
                <a:gridCol w="1210334">
                  <a:extLst>
                    <a:ext uri="{9D8B030D-6E8A-4147-A177-3AD203B41FA5}">
                      <a16:colId xmlns:a16="http://schemas.microsoft.com/office/drawing/2014/main" val="3110708562"/>
                    </a:ext>
                  </a:extLst>
                </a:gridCol>
                <a:gridCol w="843366">
                  <a:extLst>
                    <a:ext uri="{9D8B030D-6E8A-4147-A177-3AD203B41FA5}">
                      <a16:colId xmlns:a16="http://schemas.microsoft.com/office/drawing/2014/main" val="1304343103"/>
                    </a:ext>
                  </a:extLst>
                </a:gridCol>
                <a:gridCol w="1028903">
                  <a:extLst>
                    <a:ext uri="{9D8B030D-6E8A-4147-A177-3AD203B41FA5}">
                      <a16:colId xmlns:a16="http://schemas.microsoft.com/office/drawing/2014/main" val="1448817563"/>
                    </a:ext>
                  </a:extLst>
                </a:gridCol>
                <a:gridCol w="1028903">
                  <a:extLst>
                    <a:ext uri="{9D8B030D-6E8A-4147-A177-3AD203B41FA5}">
                      <a16:colId xmlns:a16="http://schemas.microsoft.com/office/drawing/2014/main" val="202703365"/>
                    </a:ext>
                  </a:extLst>
                </a:gridCol>
              </a:tblGrid>
              <a:tr h="245076">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 Line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Sep-23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Sep-23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Completion Timeline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pPr algn="ctr" fontAlgn="ctr">
                        <a:buNone/>
                      </a:pPr>
                      <a:endPar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10739892"/>
                  </a:ext>
                </a:extLst>
              </a:tr>
              <a:tr h="27800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Jan-26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Feb-26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Mar-26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47677265"/>
                  </a:ext>
                </a:extLst>
              </a:tr>
              <a:tr h="217110">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Foundation</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NOS</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gridSpan="3">
                  <a:txBody>
                    <a:bodyPr/>
                    <a:lstStyle/>
                    <a:p>
                      <a:pPr marL="0" marR="0" lvl="0" indent="0" algn="ctr" defTabSz="914400" rtl="0" eaLnBrk="1" fontAlgn="auto" latinLnBrk="0" hangingPunct="1">
                        <a:lnSpc>
                          <a:spcPct val="115000"/>
                        </a:lnSpc>
                        <a:spcBef>
                          <a:spcPts val="0"/>
                        </a:spcBef>
                        <a:spcAft>
                          <a:spcPts val="1000"/>
                        </a:spcAft>
                        <a:buClrTx/>
                        <a:buSzTx/>
                        <a:buFontTx/>
                        <a:buNone/>
                        <a:tabLst/>
                        <a:defRPr/>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h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h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77457704"/>
                  </a:ext>
                </a:extLst>
              </a:tr>
              <a:tr h="213048">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Tower Erection</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NOS</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89873063"/>
                  </a:ext>
                </a:extLst>
              </a:tr>
              <a:tr h="213048">
                <a:tc>
                  <a:txBody>
                    <a:bodyPr/>
                    <a:lstStyle/>
                    <a:p>
                      <a:pPr algn="just">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Stringing</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KM</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452986716"/>
                  </a:ext>
                </a:extLst>
              </a:tr>
              <a:tr h="213048">
                <a:tc>
                  <a:txBody>
                    <a:bodyPr/>
                    <a:lstStyle/>
                    <a:p>
                      <a:pPr algn="just">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OPGW Stringing</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KM</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25964555"/>
                  </a:ext>
                </a:extLst>
              </a:tr>
            </a:tbl>
          </a:graphicData>
        </a:graphic>
      </p:graphicFrame>
      <p:sp>
        <p:nvSpPr>
          <p:cNvPr id="6" name="TextBox 5">
            <a:extLst>
              <a:ext uri="{FF2B5EF4-FFF2-40B4-BE49-F238E27FC236}">
                <a16:creationId xmlns:a16="http://schemas.microsoft.com/office/drawing/2014/main" id="{2C17F1D5-4709-F720-B7FB-C0392252A2B9}"/>
              </a:ext>
            </a:extLst>
          </p:cNvPr>
          <p:cNvSpPr txBox="1"/>
          <p:nvPr/>
        </p:nvSpPr>
        <p:spPr>
          <a:xfrm>
            <a:off x="257899" y="4647283"/>
            <a:ext cx="6150634" cy="395173"/>
          </a:xfrm>
          <a:prstGeom prst="rect">
            <a:avLst/>
          </a:prstGeom>
          <a:noFill/>
        </p:spPr>
        <p:txBody>
          <a:bodyPr wrap="square">
            <a:spAutoFit/>
          </a:bodyPr>
          <a:lstStyle/>
          <a:p>
            <a:pPr algn="just">
              <a:lnSpc>
                <a:spcPct val="115000"/>
              </a:lnSpc>
              <a:spcAft>
                <a:spcPts val="1000"/>
              </a:spcAft>
            </a:pPr>
            <a:r>
              <a:rPr lang="en-US" b="1" u="sng" dirty="0">
                <a:latin typeface="Calibri" panose="020F0502020204030204" pitchFamily="34" charset="0"/>
                <a:ea typeface="Calibri" panose="020F0502020204030204" pitchFamily="34" charset="0"/>
                <a:cs typeface="Calibri" panose="020F0502020204030204" pitchFamily="34" charset="0"/>
              </a:rPr>
              <a:t>3. 66 KV D/C </a:t>
            </a:r>
            <a:r>
              <a:rPr lang="en-US" b="1" u="sng" dirty="0" err="1">
                <a:latin typeface="Calibri" panose="020F0502020204030204" pitchFamily="34" charset="0"/>
                <a:ea typeface="Calibri" panose="020F0502020204030204" pitchFamily="34" charset="0"/>
                <a:cs typeface="Calibri" panose="020F0502020204030204" pitchFamily="34" charset="0"/>
              </a:rPr>
              <a:t>Chungthang</a:t>
            </a:r>
            <a:r>
              <a:rPr lang="en-US" b="1" u="sng" dirty="0">
                <a:latin typeface="Calibri" panose="020F0502020204030204" pitchFamily="34" charset="0"/>
                <a:ea typeface="Calibri" panose="020F0502020204030204" pitchFamily="34" charset="0"/>
                <a:cs typeface="Calibri" panose="020F0502020204030204" pitchFamily="34" charset="0"/>
              </a:rPr>
              <a:t> - Lachen Transmission Line</a:t>
            </a:r>
            <a:endParaRPr lang="en-IN" dirty="0">
              <a:latin typeface="Calibri" panose="020F0502020204030204" pitchFamily="34" charset="0"/>
              <a:ea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ACE7756F-145C-AA14-287B-7240307AE0C5}"/>
              </a:ext>
            </a:extLst>
          </p:cNvPr>
          <p:cNvSpPr txBox="1"/>
          <p:nvPr/>
        </p:nvSpPr>
        <p:spPr>
          <a:xfrm>
            <a:off x="461513" y="5108299"/>
            <a:ext cx="10446762" cy="1426031"/>
          </a:xfrm>
          <a:prstGeom prst="rect">
            <a:avLst/>
          </a:prstGeom>
          <a:noFill/>
        </p:spPr>
        <p:txBody>
          <a:bodyPr wrap="square">
            <a:spAutoFit/>
          </a:bodyPr>
          <a:lstStyle/>
          <a:p>
            <a:pPr lvl="0" algn="just">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a) Due to Natural Disaster i.e. Teesta GLOF Flood on 04.10.2023 and subsequent Cloud burst Flash Flood in North Sikkim on 18th Jun'24 &amp; 20</a:t>
            </a:r>
            <a:r>
              <a:rPr lang="en-US" sz="1400" baseline="30000" dirty="0">
                <a:effectLst/>
                <a:latin typeface="Calibri" panose="020F0502020204030204" pitchFamily="34" charset="0"/>
                <a:ea typeface="Calibri" panose="020F0502020204030204" pitchFamily="34" charset="0"/>
                <a:cs typeface="Calibri" panose="020F0502020204030204" pitchFamily="34" charset="0"/>
              </a:rPr>
              <a:t>th</a:t>
            </a:r>
            <a:r>
              <a:rPr lang="en-US" sz="1400" dirty="0">
                <a:effectLst/>
                <a:latin typeface="Calibri" panose="020F0502020204030204" pitchFamily="34" charset="0"/>
                <a:ea typeface="Calibri" panose="020F0502020204030204" pitchFamily="34" charset="0"/>
                <a:cs typeface="Calibri" panose="020F0502020204030204" pitchFamily="34" charset="0"/>
              </a:rPr>
              <a:t> May’25 the portion of above said constructed line completely damage/washout. Till date most part of the Line is inaccessible after Natural disaster</a:t>
            </a:r>
            <a:endParaRPr lang="en-IN" sz="1400" dirty="0">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b) 132/66kv </a:t>
            </a:r>
            <a:r>
              <a:rPr lang="en-US" sz="1400" dirty="0" err="1">
                <a:effectLst/>
                <a:latin typeface="Calibri" panose="020F0502020204030204" pitchFamily="34" charset="0"/>
                <a:ea typeface="Calibri" panose="020F0502020204030204" pitchFamily="34" charset="0"/>
                <a:cs typeface="Calibri" panose="020F0502020204030204" pitchFamily="34" charset="0"/>
              </a:rPr>
              <a:t>Singhik</a:t>
            </a:r>
            <a:r>
              <a:rPr lang="en-US" sz="1400" dirty="0">
                <a:effectLst/>
                <a:latin typeface="Calibri" panose="020F0502020204030204" pitchFamily="34" charset="0"/>
                <a:ea typeface="Calibri" panose="020F0502020204030204" pitchFamily="34" charset="0"/>
                <a:cs typeface="Calibri" panose="020F0502020204030204" pitchFamily="34" charset="0"/>
              </a:rPr>
              <a:t> Sub-Station and 132/66kv </a:t>
            </a:r>
            <a:r>
              <a:rPr lang="en-US" sz="1400" dirty="0" err="1">
                <a:effectLst/>
                <a:latin typeface="Calibri" panose="020F0502020204030204" pitchFamily="34" charset="0"/>
                <a:ea typeface="Calibri" panose="020F0502020204030204" pitchFamily="34" charset="0"/>
                <a:cs typeface="Calibri" panose="020F0502020204030204" pitchFamily="34" charset="0"/>
              </a:rPr>
              <a:t>Chungthang</a:t>
            </a:r>
            <a:r>
              <a:rPr lang="en-US" sz="1400" dirty="0">
                <a:effectLst/>
                <a:latin typeface="Calibri" panose="020F0502020204030204" pitchFamily="34" charset="0"/>
                <a:ea typeface="Calibri" panose="020F0502020204030204" pitchFamily="34" charset="0"/>
                <a:cs typeface="Calibri" panose="020F0502020204030204" pitchFamily="34" charset="0"/>
              </a:rPr>
              <a:t> Sub-Station have been declared as abandoned by Powergrid</a:t>
            </a:r>
            <a:endParaRPr lang="en-IN" sz="1400" dirty="0">
              <a:effectLst/>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c) The status of balance work before Natural Disaster is as follows: -</a:t>
            </a:r>
            <a:endParaRPr lang="en-IN" sz="1400" dirty="0">
              <a:effectLst/>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694599626"/>
      </p:ext>
    </p:extLst>
  </p:cSld>
  <p:clrMapOvr>
    <a:masterClrMapping/>
  </p:clrMapOvr>
  <p:transition spd="slow"/>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0B54A7-1440-426F-3D0B-5908D1AB5686}"/>
              </a:ext>
            </a:extLst>
          </p:cNvPr>
          <p:cNvSpPr>
            <a:spLocks noGrp="1"/>
          </p:cNvSpPr>
          <p:nvPr>
            <p:ph type="title"/>
          </p:nvPr>
        </p:nvSpPr>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Sikkim Tower Pkg TK04 </a:t>
            </a:r>
            <a:endParaRPr lang="en-IN" sz="2400" dirty="0"/>
          </a:p>
        </p:txBody>
      </p:sp>
      <p:graphicFrame>
        <p:nvGraphicFramePr>
          <p:cNvPr id="5" name="Table 4">
            <a:extLst>
              <a:ext uri="{FF2B5EF4-FFF2-40B4-BE49-F238E27FC236}">
                <a16:creationId xmlns:a16="http://schemas.microsoft.com/office/drawing/2014/main" id="{9895ED60-49FA-B8EB-322F-82132487E698}"/>
              </a:ext>
            </a:extLst>
          </p:cNvPr>
          <p:cNvGraphicFramePr>
            <a:graphicFrameLocks noGrp="1"/>
          </p:cNvGraphicFramePr>
          <p:nvPr>
            <p:extLst>
              <p:ext uri="{D42A27DB-BD31-4B8C-83A1-F6EECF244321}">
                <p14:modId xmlns:p14="http://schemas.microsoft.com/office/powerpoint/2010/main" val="525646347"/>
              </p:ext>
            </p:extLst>
          </p:nvPr>
        </p:nvGraphicFramePr>
        <p:xfrm>
          <a:off x="1190446" y="1331769"/>
          <a:ext cx="9885871" cy="1379335"/>
        </p:xfrm>
        <a:graphic>
          <a:graphicData uri="http://schemas.openxmlformats.org/drawingml/2006/table">
            <a:tbl>
              <a:tblPr/>
              <a:tblGrid>
                <a:gridCol w="1872623">
                  <a:extLst>
                    <a:ext uri="{9D8B030D-6E8A-4147-A177-3AD203B41FA5}">
                      <a16:colId xmlns:a16="http://schemas.microsoft.com/office/drawing/2014/main" val="149397833"/>
                    </a:ext>
                  </a:extLst>
                </a:gridCol>
                <a:gridCol w="1657377">
                  <a:extLst>
                    <a:ext uri="{9D8B030D-6E8A-4147-A177-3AD203B41FA5}">
                      <a16:colId xmlns:a16="http://schemas.microsoft.com/office/drawing/2014/main" val="3622379874"/>
                    </a:ext>
                  </a:extLst>
                </a:gridCol>
                <a:gridCol w="1248415">
                  <a:extLst>
                    <a:ext uri="{9D8B030D-6E8A-4147-A177-3AD203B41FA5}">
                      <a16:colId xmlns:a16="http://schemas.microsoft.com/office/drawing/2014/main" val="1059588278"/>
                    </a:ext>
                  </a:extLst>
                </a:gridCol>
                <a:gridCol w="1356035">
                  <a:extLst>
                    <a:ext uri="{9D8B030D-6E8A-4147-A177-3AD203B41FA5}">
                      <a16:colId xmlns:a16="http://schemas.microsoft.com/office/drawing/2014/main" val="2626708815"/>
                    </a:ext>
                  </a:extLst>
                </a:gridCol>
                <a:gridCol w="1104333">
                  <a:extLst>
                    <a:ext uri="{9D8B030D-6E8A-4147-A177-3AD203B41FA5}">
                      <a16:colId xmlns:a16="http://schemas.microsoft.com/office/drawing/2014/main" val="3110708562"/>
                    </a:ext>
                  </a:extLst>
                </a:gridCol>
                <a:gridCol w="769504">
                  <a:extLst>
                    <a:ext uri="{9D8B030D-6E8A-4147-A177-3AD203B41FA5}">
                      <a16:colId xmlns:a16="http://schemas.microsoft.com/office/drawing/2014/main" val="1304343103"/>
                    </a:ext>
                  </a:extLst>
                </a:gridCol>
                <a:gridCol w="938792">
                  <a:extLst>
                    <a:ext uri="{9D8B030D-6E8A-4147-A177-3AD203B41FA5}">
                      <a16:colId xmlns:a16="http://schemas.microsoft.com/office/drawing/2014/main" val="1448817563"/>
                    </a:ext>
                  </a:extLst>
                </a:gridCol>
                <a:gridCol w="938792">
                  <a:extLst>
                    <a:ext uri="{9D8B030D-6E8A-4147-A177-3AD203B41FA5}">
                      <a16:colId xmlns:a16="http://schemas.microsoft.com/office/drawing/2014/main" val="202703365"/>
                    </a:ext>
                  </a:extLst>
                </a:gridCol>
              </a:tblGrid>
              <a:tr h="245076">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Line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Sep-23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Sep-23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Completion Timeline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pPr algn="ctr" fontAlgn="ctr">
                        <a:buNone/>
                      </a:pPr>
                      <a:endPar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10739892"/>
                  </a:ext>
                </a:extLst>
              </a:tr>
              <a:tr h="27800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Jan-26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Feb-26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Mar-26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47677265"/>
                  </a:ext>
                </a:extLst>
              </a:tr>
              <a:tr h="217110">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Foundation</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NOS</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gridSpan="3">
                  <a:txBody>
                    <a:bodyPr/>
                    <a:lstStyle/>
                    <a:p>
                      <a:pPr marL="0" marR="0" lvl="0" indent="0" algn="ctr" defTabSz="914400" rtl="0" eaLnBrk="1" fontAlgn="auto" latinLnBrk="0" hangingPunct="1">
                        <a:lnSpc>
                          <a:spcPct val="115000"/>
                        </a:lnSpc>
                        <a:spcBef>
                          <a:spcPts val="0"/>
                        </a:spcBef>
                        <a:spcAft>
                          <a:spcPts val="1000"/>
                        </a:spcAft>
                        <a:buClrTx/>
                        <a:buSzTx/>
                        <a:buFontTx/>
                        <a:buNone/>
                        <a:tabLst/>
                        <a:defRPr/>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h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h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77457704"/>
                  </a:ext>
                </a:extLst>
              </a:tr>
              <a:tr h="213048">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Tower Erection</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NOS</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89873063"/>
                  </a:ext>
                </a:extLst>
              </a:tr>
              <a:tr h="213048">
                <a:tc>
                  <a:txBody>
                    <a:bodyPr/>
                    <a:lstStyle/>
                    <a:p>
                      <a:pPr algn="just">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Stringing</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KM</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452986716"/>
                  </a:ext>
                </a:extLst>
              </a:tr>
              <a:tr h="213048">
                <a:tc>
                  <a:txBody>
                    <a:bodyPr/>
                    <a:lstStyle/>
                    <a:p>
                      <a:pPr algn="just">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OPGW Stringing</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KM</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25964555"/>
                  </a:ext>
                </a:extLst>
              </a:tr>
            </a:tbl>
          </a:graphicData>
        </a:graphic>
      </p:graphicFrame>
      <p:sp>
        <p:nvSpPr>
          <p:cNvPr id="7" name="TextBox 6">
            <a:extLst>
              <a:ext uri="{FF2B5EF4-FFF2-40B4-BE49-F238E27FC236}">
                <a16:creationId xmlns:a16="http://schemas.microsoft.com/office/drawing/2014/main" id="{6D93AAF6-B8FD-A951-83FA-C3944DDF661B}"/>
              </a:ext>
            </a:extLst>
          </p:cNvPr>
          <p:cNvSpPr txBox="1"/>
          <p:nvPr/>
        </p:nvSpPr>
        <p:spPr>
          <a:xfrm>
            <a:off x="257899" y="2823101"/>
            <a:ext cx="6150634" cy="395173"/>
          </a:xfrm>
          <a:prstGeom prst="rect">
            <a:avLst/>
          </a:prstGeom>
          <a:noFill/>
        </p:spPr>
        <p:txBody>
          <a:bodyPr wrap="square">
            <a:spAutoFit/>
          </a:bodyPr>
          <a:lstStyle/>
          <a:p>
            <a:pPr algn="just">
              <a:lnSpc>
                <a:spcPct val="115000"/>
              </a:lnSpc>
              <a:spcAft>
                <a:spcPts val="1000"/>
              </a:spcAft>
            </a:pPr>
            <a:r>
              <a:rPr lang="en-US" b="1" u="sng" dirty="0">
                <a:latin typeface="Calibri" panose="020F0502020204030204" pitchFamily="34" charset="0"/>
                <a:ea typeface="Calibri" panose="020F0502020204030204" pitchFamily="34" charset="0"/>
                <a:cs typeface="Calibri" panose="020F0502020204030204" pitchFamily="34" charset="0"/>
              </a:rPr>
              <a:t>4. 66 KV S/C </a:t>
            </a:r>
            <a:r>
              <a:rPr lang="en-US" b="1" u="sng" dirty="0" err="1">
                <a:latin typeface="Calibri" panose="020F0502020204030204" pitchFamily="34" charset="0"/>
                <a:ea typeface="Calibri" panose="020F0502020204030204" pitchFamily="34" charset="0"/>
                <a:cs typeface="Calibri" panose="020F0502020204030204" pitchFamily="34" charset="0"/>
              </a:rPr>
              <a:t>Singhik</a:t>
            </a:r>
            <a:r>
              <a:rPr lang="en-US" b="1" u="sng" dirty="0">
                <a:latin typeface="Calibri" panose="020F0502020204030204" pitchFamily="34" charset="0"/>
                <a:ea typeface="Calibri" panose="020F0502020204030204" pitchFamily="34" charset="0"/>
                <a:cs typeface="Calibri" panose="020F0502020204030204" pitchFamily="34" charset="0"/>
              </a:rPr>
              <a:t> – Mangan Transmission Line</a:t>
            </a:r>
            <a:endParaRPr lang="en-IN" dirty="0">
              <a:latin typeface="Calibri" panose="020F0502020204030204" pitchFamily="34" charset="0"/>
              <a:ea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46FD9AF2-1BE0-184E-6AD5-0E2C7BFF60F0}"/>
              </a:ext>
            </a:extLst>
          </p:cNvPr>
          <p:cNvSpPr txBox="1"/>
          <p:nvPr/>
        </p:nvSpPr>
        <p:spPr>
          <a:xfrm>
            <a:off x="385314" y="3299066"/>
            <a:ext cx="11421372" cy="1769715"/>
          </a:xfrm>
          <a:prstGeom prst="rect">
            <a:avLst/>
          </a:prstGeom>
          <a:noFill/>
        </p:spPr>
        <p:txBody>
          <a:bodyPr wrap="square">
            <a:spAutoFit/>
          </a:bodyPr>
          <a:lstStyle/>
          <a:p>
            <a:pPr lvl="0" algn="just">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a) </a:t>
            </a:r>
            <a:r>
              <a:rPr lang="en-US" sz="1400" b="1" dirty="0">
                <a:effectLst/>
                <a:latin typeface="Calibri" panose="020F0502020204030204" pitchFamily="34" charset="0"/>
                <a:ea typeface="Calibri" panose="020F0502020204030204" pitchFamily="34" charset="0"/>
                <a:cs typeface="Calibri" panose="020F0502020204030204" pitchFamily="34" charset="0"/>
              </a:rPr>
              <a:t>Line was Physically Completed on 15.03.2024</a:t>
            </a:r>
            <a:r>
              <a:rPr lang="en-US" sz="1400" dirty="0">
                <a:effectLst/>
                <a:latin typeface="Calibri" panose="020F0502020204030204" pitchFamily="34" charset="0"/>
                <a:ea typeface="Calibri" panose="020F0502020204030204" pitchFamily="34" charset="0"/>
                <a:cs typeface="Calibri" panose="020F0502020204030204" pitchFamily="34" charset="0"/>
              </a:rPr>
              <a:t> (except Mangan Side Gantry Connection due to Non availability of 11kv shutdown)</a:t>
            </a:r>
            <a:endParaRPr lang="en-IN" sz="1400" dirty="0">
              <a:effectLst/>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b) Due to Natural Disaster i.e. Cloud burst Flash Flood in North Sikkim on 18th Jun'24 &amp; 20</a:t>
            </a:r>
            <a:r>
              <a:rPr lang="en-US" sz="1400" baseline="30000" dirty="0">
                <a:effectLst/>
                <a:latin typeface="Calibri" panose="020F0502020204030204" pitchFamily="34" charset="0"/>
                <a:ea typeface="Calibri" panose="020F0502020204030204" pitchFamily="34" charset="0"/>
                <a:cs typeface="Calibri" panose="020F0502020204030204" pitchFamily="34" charset="0"/>
              </a:rPr>
              <a:t>th</a:t>
            </a:r>
            <a:r>
              <a:rPr lang="en-US" sz="1400" dirty="0">
                <a:effectLst/>
                <a:latin typeface="Calibri" panose="020F0502020204030204" pitchFamily="34" charset="0"/>
                <a:ea typeface="Calibri" panose="020F0502020204030204" pitchFamily="34" charset="0"/>
                <a:cs typeface="Calibri" panose="020F0502020204030204" pitchFamily="34" charset="0"/>
              </a:rPr>
              <a:t> May’25, 2 Nos erected and Strung Tower Location No. M27/0 &amp; M28/0 near Mangan Sub-station is completely collapsed</a:t>
            </a:r>
            <a:endParaRPr lang="en-IN" sz="1400" dirty="0">
              <a:effectLst/>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c) Route diversion proposal near Mangan SS area from M26A/0 to M29/0 by incorporating 1 No 132 KV High Extension Tower is under approval at PG RHQ Kolkata. </a:t>
            </a:r>
            <a:r>
              <a:rPr lang="en-IN" sz="1400" dirty="0">
                <a:effectLst/>
                <a:latin typeface="Calibri" panose="020F0502020204030204" pitchFamily="34" charset="0"/>
                <a:ea typeface="Calibri" panose="020F0502020204030204" pitchFamily="34" charset="0"/>
                <a:cs typeface="Calibri" panose="020F0502020204030204" pitchFamily="34" charset="0"/>
              </a:rPr>
              <a:t>2 Nos Foundation, 2 Nos collapsed Erected Tower </a:t>
            </a:r>
            <a:r>
              <a:rPr lang="en-IN" sz="1400" dirty="0" err="1">
                <a:effectLst/>
                <a:latin typeface="Calibri" panose="020F0502020204030204" pitchFamily="34" charset="0"/>
                <a:ea typeface="Calibri" panose="020F0502020204030204" pitchFamily="34" charset="0"/>
                <a:cs typeface="Calibri" panose="020F0502020204030204" pitchFamily="34" charset="0"/>
              </a:rPr>
              <a:t>i.e</a:t>
            </a:r>
            <a:r>
              <a:rPr lang="en-IN" sz="1400" dirty="0">
                <a:effectLst/>
                <a:latin typeface="Calibri" panose="020F0502020204030204" pitchFamily="34" charset="0"/>
                <a:ea typeface="Calibri" panose="020F0502020204030204" pitchFamily="34" charset="0"/>
                <a:cs typeface="Calibri" panose="020F0502020204030204" pitchFamily="34" charset="0"/>
              </a:rPr>
              <a:t> M27/0 &amp; M28/0 will be abandon in Proposed Route</a:t>
            </a:r>
          </a:p>
          <a:p>
            <a:r>
              <a:rPr lang="en-US" sz="1400" dirty="0">
                <a:effectLst/>
                <a:latin typeface="Calibri" panose="020F0502020204030204" pitchFamily="34" charset="0"/>
                <a:ea typeface="Calibri" panose="020F0502020204030204" pitchFamily="34" charset="0"/>
                <a:cs typeface="Calibri" panose="020F0502020204030204" pitchFamily="34" charset="0"/>
              </a:rPr>
              <a:t>d) The status of balance work before Natural Disaster is as follows: </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0" name="Table 9">
            <a:extLst>
              <a:ext uri="{FF2B5EF4-FFF2-40B4-BE49-F238E27FC236}">
                <a16:creationId xmlns:a16="http://schemas.microsoft.com/office/drawing/2014/main" id="{1EC8E89A-BABD-E062-30E4-1C6BD33A53E7}"/>
              </a:ext>
            </a:extLst>
          </p:cNvPr>
          <p:cNvGraphicFramePr>
            <a:graphicFrameLocks noGrp="1"/>
          </p:cNvGraphicFramePr>
          <p:nvPr>
            <p:extLst>
              <p:ext uri="{D42A27DB-BD31-4B8C-83A1-F6EECF244321}">
                <p14:modId xmlns:p14="http://schemas.microsoft.com/office/powerpoint/2010/main" val="1512699634"/>
              </p:ext>
            </p:extLst>
          </p:nvPr>
        </p:nvGraphicFramePr>
        <p:xfrm>
          <a:off x="1190445" y="5230364"/>
          <a:ext cx="9885872" cy="1403213"/>
        </p:xfrm>
        <a:graphic>
          <a:graphicData uri="http://schemas.openxmlformats.org/drawingml/2006/table">
            <a:tbl>
              <a:tblPr/>
              <a:tblGrid>
                <a:gridCol w="1872623">
                  <a:extLst>
                    <a:ext uri="{9D8B030D-6E8A-4147-A177-3AD203B41FA5}">
                      <a16:colId xmlns:a16="http://schemas.microsoft.com/office/drawing/2014/main" val="149397833"/>
                    </a:ext>
                  </a:extLst>
                </a:gridCol>
                <a:gridCol w="1657376">
                  <a:extLst>
                    <a:ext uri="{9D8B030D-6E8A-4147-A177-3AD203B41FA5}">
                      <a16:colId xmlns:a16="http://schemas.microsoft.com/office/drawing/2014/main" val="3622379874"/>
                    </a:ext>
                  </a:extLst>
                </a:gridCol>
                <a:gridCol w="1248416">
                  <a:extLst>
                    <a:ext uri="{9D8B030D-6E8A-4147-A177-3AD203B41FA5}">
                      <a16:colId xmlns:a16="http://schemas.microsoft.com/office/drawing/2014/main" val="1059588278"/>
                    </a:ext>
                  </a:extLst>
                </a:gridCol>
                <a:gridCol w="1356034">
                  <a:extLst>
                    <a:ext uri="{9D8B030D-6E8A-4147-A177-3AD203B41FA5}">
                      <a16:colId xmlns:a16="http://schemas.microsoft.com/office/drawing/2014/main" val="2626708815"/>
                    </a:ext>
                  </a:extLst>
                </a:gridCol>
                <a:gridCol w="1104333">
                  <a:extLst>
                    <a:ext uri="{9D8B030D-6E8A-4147-A177-3AD203B41FA5}">
                      <a16:colId xmlns:a16="http://schemas.microsoft.com/office/drawing/2014/main" val="3110708562"/>
                    </a:ext>
                  </a:extLst>
                </a:gridCol>
                <a:gridCol w="769504">
                  <a:extLst>
                    <a:ext uri="{9D8B030D-6E8A-4147-A177-3AD203B41FA5}">
                      <a16:colId xmlns:a16="http://schemas.microsoft.com/office/drawing/2014/main" val="1304343103"/>
                    </a:ext>
                  </a:extLst>
                </a:gridCol>
                <a:gridCol w="938793">
                  <a:extLst>
                    <a:ext uri="{9D8B030D-6E8A-4147-A177-3AD203B41FA5}">
                      <a16:colId xmlns:a16="http://schemas.microsoft.com/office/drawing/2014/main" val="1448817563"/>
                    </a:ext>
                  </a:extLst>
                </a:gridCol>
                <a:gridCol w="938793">
                  <a:extLst>
                    <a:ext uri="{9D8B030D-6E8A-4147-A177-3AD203B41FA5}">
                      <a16:colId xmlns:a16="http://schemas.microsoft.com/office/drawing/2014/main" val="202703365"/>
                    </a:ext>
                  </a:extLst>
                </a:gridCol>
              </a:tblGrid>
              <a:tr h="187845">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 Line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May-26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May-26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Completion Timeline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pPr algn="ctr" fontAlgn="ctr">
                        <a:buNone/>
                      </a:pPr>
                      <a:endPar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10739892"/>
                  </a:ext>
                </a:extLst>
              </a:tr>
              <a:tr h="213084">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Jun-26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July-26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Aug-26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47677265"/>
                  </a:ext>
                </a:extLst>
              </a:tr>
              <a:tr h="166409">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NOS</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 </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77457704"/>
                  </a:ext>
                </a:extLst>
              </a:tr>
              <a:tr h="163296">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Tower Erection</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NOS</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 </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89873063"/>
                  </a:ext>
                </a:extLst>
              </a:tr>
              <a:tr h="163296">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Stringing</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KM</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452986716"/>
                  </a:ext>
                </a:extLst>
              </a:tr>
              <a:tr h="163296">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OPGW Stringing</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KM</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 </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 </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25964555"/>
                  </a:ext>
                </a:extLst>
              </a:tr>
            </a:tbl>
          </a:graphicData>
        </a:graphic>
      </p:graphicFrame>
    </p:spTree>
    <p:extLst>
      <p:ext uri="{BB962C8B-B14F-4D97-AF65-F5344CB8AC3E}">
        <p14:creationId xmlns:p14="http://schemas.microsoft.com/office/powerpoint/2010/main" val="3886815878"/>
      </p:ext>
    </p:extLst>
  </p:cSld>
  <p:clrMapOvr>
    <a:masterClrMapping/>
  </p:clrMapOvr>
  <p:transition spd="slow"/>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B6AAD4-ACB0-C523-2398-AAEFDC5AD9E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B220948-4F3B-B6F3-DE80-12210E627602}"/>
              </a:ext>
            </a:extLst>
          </p:cNvPr>
          <p:cNvSpPr>
            <a:spLocks noGrp="1"/>
          </p:cNvSpPr>
          <p:nvPr>
            <p:ph type="title"/>
          </p:nvPr>
        </p:nvSpPr>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Sikkim Tower Pkg TK04 </a:t>
            </a:r>
            <a:endParaRPr lang="en-IN" sz="2400" dirty="0"/>
          </a:p>
        </p:txBody>
      </p:sp>
      <p:sp>
        <p:nvSpPr>
          <p:cNvPr id="7" name="TextBox 6">
            <a:extLst>
              <a:ext uri="{FF2B5EF4-FFF2-40B4-BE49-F238E27FC236}">
                <a16:creationId xmlns:a16="http://schemas.microsoft.com/office/drawing/2014/main" id="{D2CDEC3F-6611-4649-31C1-16935B2B3D69}"/>
              </a:ext>
            </a:extLst>
          </p:cNvPr>
          <p:cNvSpPr txBox="1"/>
          <p:nvPr/>
        </p:nvSpPr>
        <p:spPr>
          <a:xfrm>
            <a:off x="385314" y="2056673"/>
            <a:ext cx="6150634" cy="395173"/>
          </a:xfrm>
          <a:prstGeom prst="rect">
            <a:avLst/>
          </a:prstGeom>
          <a:noFill/>
        </p:spPr>
        <p:txBody>
          <a:bodyPr wrap="square">
            <a:spAutoFit/>
          </a:bodyPr>
          <a:lstStyle/>
          <a:p>
            <a:pPr algn="just">
              <a:lnSpc>
                <a:spcPct val="115000"/>
              </a:lnSpc>
              <a:spcAft>
                <a:spcPts val="1000"/>
              </a:spcAft>
            </a:pPr>
            <a:r>
              <a:rPr lang="en-US" b="1" u="sng" dirty="0">
                <a:latin typeface="Calibri" panose="020F0502020204030204" pitchFamily="34" charset="0"/>
                <a:ea typeface="Calibri" panose="020F0502020204030204" pitchFamily="34" charset="0"/>
                <a:cs typeface="Calibri" panose="020F0502020204030204" pitchFamily="34" charset="0"/>
              </a:rPr>
              <a:t>5. LILO of 66 kV Rabon - Maltin line at </a:t>
            </a:r>
            <a:r>
              <a:rPr lang="en-US" b="1" u="sng" dirty="0" err="1">
                <a:latin typeface="Calibri" panose="020F0502020204030204" pitchFamily="34" charset="0"/>
                <a:ea typeface="Calibri" panose="020F0502020204030204" pitchFamily="34" charset="0"/>
                <a:cs typeface="Calibri" panose="020F0502020204030204" pitchFamily="34" charset="0"/>
              </a:rPr>
              <a:t>Chungthag</a:t>
            </a:r>
            <a:endParaRPr lang="en-IN" dirty="0"/>
          </a:p>
        </p:txBody>
      </p:sp>
      <p:graphicFrame>
        <p:nvGraphicFramePr>
          <p:cNvPr id="10" name="Table 9">
            <a:extLst>
              <a:ext uri="{FF2B5EF4-FFF2-40B4-BE49-F238E27FC236}">
                <a16:creationId xmlns:a16="http://schemas.microsoft.com/office/drawing/2014/main" id="{67DED0E4-19E9-684C-9734-C4B622E54AC3}"/>
              </a:ext>
            </a:extLst>
          </p:cNvPr>
          <p:cNvGraphicFramePr>
            <a:graphicFrameLocks noGrp="1"/>
          </p:cNvGraphicFramePr>
          <p:nvPr>
            <p:extLst>
              <p:ext uri="{D42A27DB-BD31-4B8C-83A1-F6EECF244321}">
                <p14:modId xmlns:p14="http://schemas.microsoft.com/office/powerpoint/2010/main" val="3964382885"/>
              </p:ext>
            </p:extLst>
          </p:nvPr>
        </p:nvGraphicFramePr>
        <p:xfrm>
          <a:off x="923027" y="4386165"/>
          <a:ext cx="10213676" cy="1356858"/>
        </p:xfrm>
        <a:graphic>
          <a:graphicData uri="http://schemas.openxmlformats.org/drawingml/2006/table">
            <a:tbl>
              <a:tblPr/>
              <a:tblGrid>
                <a:gridCol w="1934717">
                  <a:extLst>
                    <a:ext uri="{9D8B030D-6E8A-4147-A177-3AD203B41FA5}">
                      <a16:colId xmlns:a16="http://schemas.microsoft.com/office/drawing/2014/main" val="149397833"/>
                    </a:ext>
                  </a:extLst>
                </a:gridCol>
                <a:gridCol w="1712332">
                  <a:extLst>
                    <a:ext uri="{9D8B030D-6E8A-4147-A177-3AD203B41FA5}">
                      <a16:colId xmlns:a16="http://schemas.microsoft.com/office/drawing/2014/main" val="3622379874"/>
                    </a:ext>
                  </a:extLst>
                </a:gridCol>
                <a:gridCol w="1289812">
                  <a:extLst>
                    <a:ext uri="{9D8B030D-6E8A-4147-A177-3AD203B41FA5}">
                      <a16:colId xmlns:a16="http://schemas.microsoft.com/office/drawing/2014/main" val="1059588278"/>
                    </a:ext>
                  </a:extLst>
                </a:gridCol>
                <a:gridCol w="1400998">
                  <a:extLst>
                    <a:ext uri="{9D8B030D-6E8A-4147-A177-3AD203B41FA5}">
                      <a16:colId xmlns:a16="http://schemas.microsoft.com/office/drawing/2014/main" val="2626708815"/>
                    </a:ext>
                  </a:extLst>
                </a:gridCol>
                <a:gridCol w="1140952">
                  <a:extLst>
                    <a:ext uri="{9D8B030D-6E8A-4147-A177-3AD203B41FA5}">
                      <a16:colId xmlns:a16="http://schemas.microsoft.com/office/drawing/2014/main" val="3110708562"/>
                    </a:ext>
                  </a:extLst>
                </a:gridCol>
                <a:gridCol w="795021">
                  <a:extLst>
                    <a:ext uri="{9D8B030D-6E8A-4147-A177-3AD203B41FA5}">
                      <a16:colId xmlns:a16="http://schemas.microsoft.com/office/drawing/2014/main" val="1304343103"/>
                    </a:ext>
                  </a:extLst>
                </a:gridCol>
                <a:gridCol w="969922">
                  <a:extLst>
                    <a:ext uri="{9D8B030D-6E8A-4147-A177-3AD203B41FA5}">
                      <a16:colId xmlns:a16="http://schemas.microsoft.com/office/drawing/2014/main" val="1448817563"/>
                    </a:ext>
                  </a:extLst>
                </a:gridCol>
                <a:gridCol w="969922">
                  <a:extLst>
                    <a:ext uri="{9D8B030D-6E8A-4147-A177-3AD203B41FA5}">
                      <a16:colId xmlns:a16="http://schemas.microsoft.com/office/drawing/2014/main" val="202703365"/>
                    </a:ext>
                  </a:extLst>
                </a:gridCol>
              </a:tblGrid>
              <a:tr h="187845">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 Line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Sep-23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Sep-23</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Completion Timeline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pPr algn="ctr" fontAlgn="ctr">
                        <a:buNone/>
                      </a:pPr>
                      <a:endPar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10739892"/>
                  </a:ext>
                </a:extLst>
              </a:tr>
              <a:tr h="213084">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Jan-26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Feb-26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Mar-26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47677265"/>
                  </a:ext>
                </a:extLst>
              </a:tr>
              <a:tr h="166409">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NOS</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gridSpan="3">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hMerge="1">
                  <a:txBody>
                    <a:bodyPr/>
                    <a:lstStyle/>
                    <a:p>
                      <a:pPr algn="ctr">
                        <a:lnSpc>
                          <a:spcPct val="115000"/>
                        </a:lnSpc>
                        <a:spcAft>
                          <a:spcPts val="1000"/>
                        </a:spcAft>
                        <a:buNone/>
                      </a:pPr>
                      <a:endParaRPr lang="en-IN" sz="1100">
                        <a:effectLst/>
                        <a:latin typeface="Calibri" panose="020F0502020204030204" pitchFamily="34" charset="0"/>
                        <a:ea typeface="Times New Roman" panose="02020603050405020304" pitchFamily="18" charset="0"/>
                        <a:cs typeface="Times New Roman" panose="02020603050405020304" pitchFamily="18"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hMerge="1">
                  <a:txBody>
                    <a:bodyPr/>
                    <a:lstStyle/>
                    <a:p>
                      <a:pPr algn="ctr">
                        <a:lnSpc>
                          <a:spcPct val="115000"/>
                        </a:lnSpc>
                        <a:spcAft>
                          <a:spcPts val="1000"/>
                        </a:spcAft>
                        <a:buNone/>
                      </a:pPr>
                      <a:endParaRPr lang="en-IN" sz="1100">
                        <a:effectLst/>
                        <a:latin typeface="Calibri" panose="020F0502020204030204" pitchFamily="34" charset="0"/>
                        <a:ea typeface="Times New Roman" panose="02020603050405020304" pitchFamily="18" charset="0"/>
                        <a:cs typeface="Times New Roman" panose="02020603050405020304" pitchFamily="18"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77457704"/>
                  </a:ext>
                </a:extLst>
              </a:tr>
              <a:tr h="163296">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Tower Erection</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NOS</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100" dirty="0">
                        <a:effectLst/>
                        <a:latin typeface="Calibri" panose="020F0502020204030204" pitchFamily="34" charset="0"/>
                        <a:ea typeface="Times New Roman" panose="02020603050405020304" pitchFamily="18" charset="0"/>
                        <a:cs typeface="Times New Roman" panose="02020603050405020304" pitchFamily="18"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100" dirty="0">
                        <a:effectLst/>
                        <a:latin typeface="Calibri" panose="020F0502020204030204" pitchFamily="34" charset="0"/>
                        <a:ea typeface="Times New Roman" panose="02020603050405020304" pitchFamily="18" charset="0"/>
                        <a:cs typeface="Times New Roman" panose="02020603050405020304" pitchFamily="18"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100">
                        <a:effectLst/>
                        <a:latin typeface="Calibri" panose="020F0502020204030204" pitchFamily="34" charset="0"/>
                        <a:ea typeface="Times New Roman" panose="02020603050405020304" pitchFamily="18" charset="0"/>
                        <a:cs typeface="Times New Roman" panose="02020603050405020304" pitchFamily="18"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89873063"/>
                  </a:ext>
                </a:extLst>
              </a:tr>
              <a:tr h="163296">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Stringing</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KM</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100">
                        <a:effectLst/>
                        <a:latin typeface="Calibri" panose="020F0502020204030204" pitchFamily="34" charset="0"/>
                        <a:ea typeface="Times New Roman" panose="02020603050405020304" pitchFamily="18" charset="0"/>
                        <a:cs typeface="Times New Roman" panose="02020603050405020304" pitchFamily="18"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100" dirty="0">
                        <a:effectLst/>
                        <a:latin typeface="Calibri" panose="020F0502020204030204" pitchFamily="34" charset="0"/>
                        <a:ea typeface="Times New Roman" panose="02020603050405020304" pitchFamily="18" charset="0"/>
                        <a:cs typeface="Times New Roman" panose="02020603050405020304" pitchFamily="18"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100" dirty="0">
                        <a:effectLst/>
                        <a:latin typeface="Calibri" panose="020F0502020204030204" pitchFamily="34" charset="0"/>
                        <a:ea typeface="Times New Roman" panose="02020603050405020304" pitchFamily="18" charset="0"/>
                        <a:cs typeface="Times New Roman" panose="02020603050405020304" pitchFamily="18"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452986716"/>
                  </a:ext>
                </a:extLst>
              </a:tr>
              <a:tr h="163296">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OPGW Stringing</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KM</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100">
                        <a:effectLst/>
                        <a:latin typeface="Calibri" panose="020F0502020204030204" pitchFamily="34" charset="0"/>
                        <a:ea typeface="Times New Roman" panose="02020603050405020304" pitchFamily="18" charset="0"/>
                        <a:cs typeface="Times New Roman" panose="02020603050405020304" pitchFamily="18"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100">
                        <a:effectLst/>
                        <a:latin typeface="Calibri" panose="020F0502020204030204" pitchFamily="34" charset="0"/>
                        <a:ea typeface="Times New Roman" panose="02020603050405020304" pitchFamily="18" charset="0"/>
                        <a:cs typeface="Times New Roman" panose="02020603050405020304" pitchFamily="18"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100" dirty="0">
                        <a:effectLst/>
                        <a:latin typeface="Calibri" panose="020F0502020204030204" pitchFamily="34" charset="0"/>
                        <a:ea typeface="Times New Roman" panose="02020603050405020304" pitchFamily="18" charset="0"/>
                        <a:cs typeface="Times New Roman" panose="02020603050405020304" pitchFamily="18"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25964555"/>
                  </a:ext>
                </a:extLst>
              </a:tr>
            </a:tbl>
          </a:graphicData>
        </a:graphic>
      </p:graphicFrame>
      <p:sp>
        <p:nvSpPr>
          <p:cNvPr id="4" name="TextBox 3">
            <a:extLst>
              <a:ext uri="{FF2B5EF4-FFF2-40B4-BE49-F238E27FC236}">
                <a16:creationId xmlns:a16="http://schemas.microsoft.com/office/drawing/2014/main" id="{863D2870-56D9-8E78-5885-92697DC882F3}"/>
              </a:ext>
            </a:extLst>
          </p:cNvPr>
          <p:cNvSpPr txBox="1"/>
          <p:nvPr/>
        </p:nvSpPr>
        <p:spPr>
          <a:xfrm>
            <a:off x="257899" y="1476579"/>
            <a:ext cx="11612048" cy="523220"/>
          </a:xfrm>
          <a:prstGeom prst="rect">
            <a:avLst/>
          </a:prstGeom>
          <a:noFill/>
        </p:spPr>
        <p:txBody>
          <a:bodyPr wrap="square">
            <a:spAutoFit/>
          </a:bodyPr>
          <a:lstStyle/>
          <a:p>
            <a:r>
              <a:rPr lang="en-US" sz="1400" dirty="0">
                <a:effectLst/>
                <a:latin typeface="Calibri" panose="020F0502020204030204" pitchFamily="34" charset="0"/>
                <a:ea typeface="Calibri" panose="020F0502020204030204" pitchFamily="34" charset="0"/>
                <a:cs typeface="Calibri" panose="020F0502020204030204" pitchFamily="34" charset="0"/>
              </a:rPr>
              <a:t>e) 132/66kv </a:t>
            </a:r>
            <a:r>
              <a:rPr lang="en-US" sz="1400" dirty="0" err="1">
                <a:effectLst/>
                <a:latin typeface="Calibri" panose="020F0502020204030204" pitchFamily="34" charset="0"/>
                <a:ea typeface="Calibri" panose="020F0502020204030204" pitchFamily="34" charset="0"/>
                <a:cs typeface="Calibri" panose="020F0502020204030204" pitchFamily="34" charset="0"/>
              </a:rPr>
              <a:t>Singhik</a:t>
            </a:r>
            <a:r>
              <a:rPr lang="en-US" sz="1400" dirty="0">
                <a:effectLst/>
                <a:latin typeface="Calibri" panose="020F0502020204030204" pitchFamily="34" charset="0"/>
                <a:ea typeface="Calibri" panose="020F0502020204030204" pitchFamily="34" charset="0"/>
                <a:cs typeface="Calibri" panose="020F0502020204030204" pitchFamily="34" charset="0"/>
              </a:rPr>
              <a:t> Sub-Station have been declared as abandoned by Powergrid resulting 1 No Erected &amp; Strung Tower Location near </a:t>
            </a:r>
            <a:r>
              <a:rPr lang="en-US" sz="1400" dirty="0" err="1">
                <a:effectLst/>
                <a:latin typeface="Calibri" panose="020F0502020204030204" pitchFamily="34" charset="0"/>
                <a:ea typeface="Calibri" panose="020F0502020204030204" pitchFamily="34" charset="0"/>
                <a:cs typeface="Calibri" panose="020F0502020204030204" pitchFamily="34" charset="0"/>
              </a:rPr>
              <a:t>Singhik</a:t>
            </a:r>
            <a:r>
              <a:rPr lang="en-US" sz="1400" dirty="0">
                <a:effectLst/>
                <a:latin typeface="Calibri" panose="020F0502020204030204" pitchFamily="34" charset="0"/>
                <a:ea typeface="Calibri" panose="020F0502020204030204" pitchFamily="34" charset="0"/>
                <a:cs typeface="Calibri" panose="020F0502020204030204" pitchFamily="34" charset="0"/>
              </a:rPr>
              <a:t> SS end i.e. AP- D/E(M TL) (SD+0) has also been abandoned</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8FBF5A20-9953-43FC-D5B6-FE40FF5135C6}"/>
              </a:ext>
            </a:extLst>
          </p:cNvPr>
          <p:cNvSpPr txBox="1"/>
          <p:nvPr/>
        </p:nvSpPr>
        <p:spPr>
          <a:xfrm>
            <a:off x="385314" y="2519291"/>
            <a:ext cx="11548788" cy="1554272"/>
          </a:xfrm>
          <a:prstGeom prst="rect">
            <a:avLst/>
          </a:prstGeom>
          <a:noFill/>
        </p:spPr>
        <p:txBody>
          <a:bodyPr wrap="square">
            <a:spAutoFit/>
          </a:bodyPr>
          <a:lstStyle/>
          <a:p>
            <a:pPr lvl="0" algn="just">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a) </a:t>
            </a:r>
            <a:r>
              <a:rPr lang="en-US" sz="1400" b="1" dirty="0">
                <a:effectLst/>
                <a:latin typeface="Calibri" panose="020F0502020204030204" pitchFamily="34" charset="0"/>
                <a:ea typeface="Calibri" panose="020F0502020204030204" pitchFamily="34" charset="0"/>
                <a:cs typeface="Calibri" panose="020F0502020204030204" pitchFamily="34" charset="0"/>
              </a:rPr>
              <a:t>Line was Physically Completed on 31.01.2022</a:t>
            </a:r>
            <a:r>
              <a:rPr lang="en-US" sz="1400" dirty="0">
                <a:effectLst/>
                <a:latin typeface="Calibri" panose="020F0502020204030204" pitchFamily="34" charset="0"/>
                <a:ea typeface="Calibri" panose="020F0502020204030204" pitchFamily="34" charset="0"/>
                <a:cs typeface="Calibri" panose="020F0502020204030204" pitchFamily="34" charset="0"/>
              </a:rPr>
              <a:t> (except </a:t>
            </a:r>
            <a:r>
              <a:rPr lang="en-US" sz="1400" dirty="0" err="1">
                <a:effectLst/>
                <a:latin typeface="Calibri" panose="020F0502020204030204" pitchFamily="34" charset="0"/>
                <a:ea typeface="Calibri" panose="020F0502020204030204" pitchFamily="34" charset="0"/>
                <a:cs typeface="Calibri" panose="020F0502020204030204" pitchFamily="34" charset="0"/>
              </a:rPr>
              <a:t>Chungthang</a:t>
            </a:r>
            <a:r>
              <a:rPr lang="en-US" sz="1400" dirty="0">
                <a:effectLst/>
                <a:latin typeface="Calibri" panose="020F0502020204030204" pitchFamily="34" charset="0"/>
                <a:ea typeface="Calibri" panose="020F0502020204030204" pitchFamily="34" charset="0"/>
                <a:cs typeface="Calibri" panose="020F0502020204030204" pitchFamily="34" charset="0"/>
              </a:rPr>
              <a:t> SS Gantry Connection due to Non readiness of </a:t>
            </a:r>
            <a:r>
              <a:rPr lang="en-US" sz="1400" dirty="0" err="1">
                <a:effectLst/>
                <a:latin typeface="Calibri" panose="020F0502020204030204" pitchFamily="34" charset="0"/>
                <a:ea typeface="Calibri" panose="020F0502020204030204" pitchFamily="34" charset="0"/>
                <a:cs typeface="Calibri" panose="020F0502020204030204" pitchFamily="34" charset="0"/>
              </a:rPr>
              <a:t>Chungthang</a:t>
            </a:r>
            <a:r>
              <a:rPr lang="en-US" sz="1400" dirty="0">
                <a:effectLst/>
                <a:latin typeface="Calibri" panose="020F0502020204030204" pitchFamily="34" charset="0"/>
                <a:ea typeface="Calibri" panose="020F0502020204030204" pitchFamily="34" charset="0"/>
                <a:cs typeface="Calibri" panose="020F0502020204030204" pitchFamily="34" charset="0"/>
              </a:rPr>
              <a:t> Gantry and LILO connection due to non-availability of shutdown of 66 KV Existing Rabon – Malting Line)</a:t>
            </a:r>
            <a:endParaRPr lang="en-IN" sz="1400" dirty="0">
              <a:effectLst/>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b) Due to Natural Disaster i.e. Teesta GLOF Flood on 04.10.2023 the Line is inaccessible after Natural disaster</a:t>
            </a:r>
            <a:endParaRPr lang="en-IN" sz="1400" dirty="0">
              <a:effectLst/>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US" sz="1400" dirty="0">
                <a:latin typeface="Calibri" panose="020F0502020204030204" pitchFamily="34" charset="0"/>
                <a:ea typeface="Calibri" panose="020F0502020204030204" pitchFamily="34" charset="0"/>
                <a:cs typeface="Calibri" panose="020F0502020204030204" pitchFamily="34" charset="0"/>
              </a:rPr>
              <a:t>c) </a:t>
            </a:r>
            <a:r>
              <a:rPr lang="en-US" sz="1400" dirty="0">
                <a:effectLst/>
                <a:latin typeface="Calibri" panose="020F0502020204030204" pitchFamily="34" charset="0"/>
                <a:ea typeface="Calibri" panose="020F0502020204030204" pitchFamily="34" charset="0"/>
                <a:cs typeface="Calibri" panose="020F0502020204030204" pitchFamily="34" charset="0"/>
              </a:rPr>
              <a:t>132/66kv </a:t>
            </a:r>
            <a:r>
              <a:rPr lang="en-US" sz="1400" dirty="0" err="1">
                <a:effectLst/>
                <a:latin typeface="Calibri" panose="020F0502020204030204" pitchFamily="34" charset="0"/>
                <a:ea typeface="Calibri" panose="020F0502020204030204" pitchFamily="34" charset="0"/>
                <a:cs typeface="Calibri" panose="020F0502020204030204" pitchFamily="34" charset="0"/>
              </a:rPr>
              <a:t>Chungthang</a:t>
            </a:r>
            <a:r>
              <a:rPr lang="en-US" sz="1400" dirty="0">
                <a:effectLst/>
                <a:latin typeface="Calibri" panose="020F0502020204030204" pitchFamily="34" charset="0"/>
                <a:ea typeface="Calibri" panose="020F0502020204030204" pitchFamily="34" charset="0"/>
                <a:cs typeface="Calibri" panose="020F0502020204030204" pitchFamily="34" charset="0"/>
              </a:rPr>
              <a:t> Sub-Station has been declared as abandoned by Powergrid</a:t>
            </a:r>
            <a:endParaRPr lang="en-IN" sz="1400" dirty="0">
              <a:effectLst/>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d) The status of balance work before Natural Disaster is as follows: -</a:t>
            </a:r>
            <a:endParaRPr lang="en-IN" sz="1400" dirty="0">
              <a:effectLst/>
              <a:latin typeface="Calibri" panose="020F0502020204030204" pitchFamily="34" charset="0"/>
              <a:ea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FD539CC7-E1AD-0E65-2296-6953F9743976}"/>
              </a:ext>
            </a:extLst>
          </p:cNvPr>
          <p:cNvSpPr txBox="1"/>
          <p:nvPr/>
        </p:nvSpPr>
        <p:spPr>
          <a:xfrm>
            <a:off x="385314" y="5945291"/>
            <a:ext cx="11357218" cy="325538"/>
          </a:xfrm>
          <a:prstGeom prst="rect">
            <a:avLst/>
          </a:prstGeom>
          <a:noFill/>
        </p:spPr>
        <p:txBody>
          <a:bodyPr wrap="square">
            <a:spAutoFit/>
          </a:bodyPr>
          <a:lstStyle/>
          <a:p>
            <a:pPr lvl="0" algn="just">
              <a:lnSpc>
                <a:spcPct val="115000"/>
              </a:lnSpc>
              <a:spcAft>
                <a:spcPts val="1000"/>
              </a:spcAft>
            </a:pPr>
            <a:r>
              <a:rPr lang="en-US" sz="1400" dirty="0">
                <a:effectLst/>
                <a:latin typeface="Calibri" panose="020F0502020204030204" pitchFamily="34" charset="0"/>
                <a:ea typeface="Calibri" panose="020F0502020204030204" pitchFamily="34" charset="0"/>
                <a:cs typeface="Calibri" panose="020F0502020204030204" pitchFamily="34" charset="0"/>
              </a:rPr>
              <a:t>e) De-scope of line by PGCIL after Sikkim Flood on </a:t>
            </a:r>
            <a:r>
              <a:rPr lang="en-US" sz="1400" dirty="0" err="1">
                <a:effectLst/>
                <a:latin typeface="Calibri" panose="020F0502020204030204" pitchFamily="34" charset="0"/>
                <a:ea typeface="Calibri" panose="020F0502020204030204" pitchFamily="34" charset="0"/>
                <a:cs typeface="Calibri" panose="020F0502020204030204" pitchFamily="34" charset="0"/>
              </a:rPr>
              <a:t>dtd</a:t>
            </a:r>
            <a:r>
              <a:rPr lang="en-US" sz="1400" dirty="0">
                <a:effectLst/>
                <a:latin typeface="Calibri" panose="020F0502020204030204" pitchFamily="34" charset="0"/>
                <a:ea typeface="Calibri" panose="020F0502020204030204" pitchFamily="34" charset="0"/>
                <a:cs typeface="Calibri" panose="020F0502020204030204" pitchFamily="34" charset="0"/>
              </a:rPr>
              <a:t> 04/10/2023 vide their letter reference No. ER-II/CSSTDS/GTK/TK-04/1766 dated 08/05/2024</a:t>
            </a:r>
            <a:endParaRPr lang="en-IN" sz="1600" dirty="0">
              <a:effectLst/>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04345231"/>
      </p:ext>
    </p:extLst>
  </p:cSld>
  <p:clrMapOvr>
    <a:masterClrMapping/>
  </p:clrMapOvr>
  <p:transition spd="slow"/>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485C3A-0DF0-0E75-51EF-95BC31293F2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C017BAF-4241-7D00-204B-CB0C58DCD22F}"/>
              </a:ext>
            </a:extLst>
          </p:cNvPr>
          <p:cNvSpPr>
            <a:spLocks noGrp="1"/>
          </p:cNvSpPr>
          <p:nvPr>
            <p:ph type="title"/>
          </p:nvPr>
        </p:nvSpPr>
        <p:spPr/>
        <p:txBody>
          <a:bodyPr>
            <a:normAutofit/>
          </a:bodyPr>
          <a:lstStyle/>
          <a:p>
            <a:r>
              <a:rPr lang="en-US" sz="2400" b="1" dirty="0">
                <a:latin typeface="Calibri" panose="020F0502020204030204" pitchFamily="34" charset="0"/>
                <a:ea typeface="Calibri" panose="020F0502020204030204" pitchFamily="34" charset="0"/>
                <a:cs typeface="Calibri" panose="020F0502020204030204" pitchFamily="34" charset="0"/>
              </a:rPr>
              <a:t>Sikkim Tower Pkg TK04 </a:t>
            </a:r>
            <a:endParaRPr lang="en-IN" sz="2400" b="1" dirty="0"/>
          </a:p>
        </p:txBody>
      </p:sp>
      <p:sp>
        <p:nvSpPr>
          <p:cNvPr id="5" name="TextBox 4">
            <a:extLst>
              <a:ext uri="{FF2B5EF4-FFF2-40B4-BE49-F238E27FC236}">
                <a16:creationId xmlns:a16="http://schemas.microsoft.com/office/drawing/2014/main" id="{D7F9CCA1-E3EB-EC68-DD90-6E210AC9E6EF}"/>
              </a:ext>
            </a:extLst>
          </p:cNvPr>
          <p:cNvSpPr txBox="1"/>
          <p:nvPr/>
        </p:nvSpPr>
        <p:spPr>
          <a:xfrm>
            <a:off x="257899" y="1367390"/>
            <a:ext cx="9498576" cy="394467"/>
          </a:xfrm>
          <a:prstGeom prst="rect">
            <a:avLst/>
          </a:prstGeom>
          <a:noFill/>
        </p:spPr>
        <p:txBody>
          <a:bodyPr wrap="square">
            <a:spAutoFit/>
          </a:bodyPr>
          <a:lstStyle/>
          <a:p>
            <a:pPr algn="just">
              <a:lnSpc>
                <a:spcPct val="115000"/>
              </a:lnSpc>
              <a:spcAft>
                <a:spcPts val="1000"/>
              </a:spcAft>
            </a:pPr>
            <a:r>
              <a:rPr lang="en-US" b="1" u="sng" dirty="0">
                <a:latin typeface="Calibri" panose="020F0502020204030204" pitchFamily="34" charset="0"/>
                <a:ea typeface="Calibri" panose="020F0502020204030204" pitchFamily="34" charset="0"/>
                <a:cs typeface="Calibri" panose="020F0502020204030204" pitchFamily="34" charset="0"/>
              </a:rPr>
              <a:t>6. 66 KV D/C </a:t>
            </a:r>
            <a:r>
              <a:rPr lang="en-US" b="1" u="sng" dirty="0" err="1">
                <a:latin typeface="Calibri" panose="020F0502020204030204" pitchFamily="34" charset="0"/>
                <a:ea typeface="Calibri" panose="020F0502020204030204" pitchFamily="34" charset="0"/>
                <a:cs typeface="Calibri" panose="020F0502020204030204" pitchFamily="34" charset="0"/>
              </a:rPr>
              <a:t>Singhik</a:t>
            </a:r>
            <a:r>
              <a:rPr lang="en-US" b="1" u="sng" dirty="0">
                <a:latin typeface="Calibri" panose="020F0502020204030204" pitchFamily="34" charset="0"/>
                <a:ea typeface="Calibri" panose="020F0502020204030204" pitchFamily="34" charset="0"/>
                <a:cs typeface="Calibri" panose="020F0502020204030204" pitchFamily="34" charset="0"/>
              </a:rPr>
              <a:t> – </a:t>
            </a:r>
            <a:r>
              <a:rPr lang="en-US" b="1" u="sng" dirty="0" err="1">
                <a:latin typeface="Calibri" panose="020F0502020204030204" pitchFamily="34" charset="0"/>
                <a:ea typeface="Calibri" panose="020F0502020204030204" pitchFamily="34" charset="0"/>
                <a:cs typeface="Calibri" panose="020F0502020204030204" pitchFamily="34" charset="0"/>
              </a:rPr>
              <a:t>Passidong</a:t>
            </a:r>
            <a:r>
              <a:rPr lang="en-US" b="1" u="sng" dirty="0">
                <a:latin typeface="Calibri" panose="020F0502020204030204" pitchFamily="34" charset="0"/>
                <a:ea typeface="Calibri" panose="020F0502020204030204" pitchFamily="34" charset="0"/>
                <a:cs typeface="Calibri" panose="020F0502020204030204" pitchFamily="34" charset="0"/>
              </a:rPr>
              <a:t> Transmission Line </a:t>
            </a:r>
            <a:endParaRPr lang="en-IN" dirty="0">
              <a:latin typeface="Calibri" panose="020F0502020204030204" pitchFamily="34" charset="0"/>
              <a:ea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366A6DC7-6AB8-0A0E-27A5-4ED6FE545B05}"/>
              </a:ext>
            </a:extLst>
          </p:cNvPr>
          <p:cNvSpPr txBox="1"/>
          <p:nvPr/>
        </p:nvSpPr>
        <p:spPr>
          <a:xfrm>
            <a:off x="365904" y="1855637"/>
            <a:ext cx="11460192" cy="2113399"/>
          </a:xfrm>
          <a:prstGeom prst="rect">
            <a:avLst/>
          </a:prstGeom>
          <a:noFill/>
        </p:spPr>
        <p:txBody>
          <a:bodyPr wrap="square">
            <a:spAutoFit/>
          </a:bodyPr>
          <a:lstStyle/>
          <a:p>
            <a:pPr lvl="0" algn="just">
              <a:spcAft>
                <a:spcPts val="1000"/>
              </a:spcAft>
            </a:pPr>
            <a:r>
              <a:rPr lang="en-US" sz="1400" dirty="0">
                <a:latin typeface="Calibri" panose="020F0502020204030204" pitchFamily="34" charset="0"/>
                <a:ea typeface="Calibri" panose="020F0502020204030204" pitchFamily="34" charset="0"/>
                <a:cs typeface="Calibri" panose="020F0502020204030204" pitchFamily="34" charset="0"/>
              </a:rPr>
              <a:t>a) Line was Physically completed on 31/12/2021 </a:t>
            </a:r>
            <a:r>
              <a:rPr lang="en-US" sz="1400" b="1" dirty="0">
                <a:latin typeface="Calibri" panose="020F0502020204030204" pitchFamily="34" charset="0"/>
                <a:ea typeface="Calibri" panose="020F0502020204030204" pitchFamily="34" charset="0"/>
                <a:cs typeface="Calibri" panose="020F0502020204030204" pitchFamily="34" charset="0"/>
              </a:rPr>
              <a:t>(Except </a:t>
            </a:r>
            <a:r>
              <a:rPr lang="en-US" sz="1400" b="1" dirty="0" err="1">
                <a:latin typeface="Calibri" panose="020F0502020204030204" pitchFamily="34" charset="0"/>
                <a:ea typeface="Calibri" panose="020F0502020204030204" pitchFamily="34" charset="0"/>
                <a:cs typeface="Calibri" panose="020F0502020204030204" pitchFamily="34" charset="0"/>
              </a:rPr>
              <a:t>Passingdong</a:t>
            </a:r>
            <a:r>
              <a:rPr lang="en-US" sz="1400" b="1" dirty="0">
                <a:latin typeface="Calibri" panose="020F0502020204030204" pitchFamily="34" charset="0"/>
                <a:ea typeface="Calibri" panose="020F0502020204030204" pitchFamily="34" charset="0"/>
                <a:cs typeface="Calibri" panose="020F0502020204030204" pitchFamily="34" charset="0"/>
              </a:rPr>
              <a:t> S/</a:t>
            </a:r>
            <a:r>
              <a:rPr lang="en-US" sz="1400" b="1" dirty="0" err="1">
                <a:latin typeface="Calibri" panose="020F0502020204030204" pitchFamily="34" charset="0"/>
                <a:ea typeface="Calibri" panose="020F0502020204030204" pitchFamily="34" charset="0"/>
                <a:cs typeface="Calibri" panose="020F0502020204030204" pitchFamily="34" charset="0"/>
              </a:rPr>
              <a:t>stn</a:t>
            </a:r>
            <a:r>
              <a:rPr lang="en-US" sz="1400" b="1" dirty="0">
                <a:latin typeface="Calibri" panose="020F0502020204030204" pitchFamily="34" charset="0"/>
                <a:ea typeface="Calibri" panose="020F0502020204030204" pitchFamily="34" charset="0"/>
                <a:cs typeface="Calibri" panose="020F0502020204030204" pitchFamily="34" charset="0"/>
              </a:rPr>
              <a:t> Gantry connection due to non-readiness of </a:t>
            </a:r>
            <a:r>
              <a:rPr lang="en-US" sz="1400" b="1" dirty="0" err="1">
                <a:latin typeface="Calibri" panose="020F0502020204030204" pitchFamily="34" charset="0"/>
                <a:ea typeface="Calibri" panose="020F0502020204030204" pitchFamily="34" charset="0"/>
                <a:cs typeface="Calibri" panose="020F0502020204030204" pitchFamily="34" charset="0"/>
              </a:rPr>
              <a:t>Passidong</a:t>
            </a:r>
            <a:r>
              <a:rPr lang="en-US" sz="1400" b="1" dirty="0">
                <a:latin typeface="Calibri" panose="020F0502020204030204" pitchFamily="34" charset="0"/>
                <a:ea typeface="Calibri" panose="020F0502020204030204" pitchFamily="34" charset="0"/>
                <a:cs typeface="Calibri" panose="020F0502020204030204" pitchFamily="34" charset="0"/>
              </a:rPr>
              <a:t> Gantry)</a:t>
            </a:r>
            <a:endParaRPr lang="en-IN" sz="1400" b="1" dirty="0">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US" sz="1400" dirty="0">
                <a:latin typeface="Calibri" panose="020F0502020204030204" pitchFamily="34" charset="0"/>
                <a:ea typeface="Calibri" panose="020F0502020204030204" pitchFamily="34" charset="0"/>
                <a:cs typeface="Calibri" panose="020F0502020204030204" pitchFamily="34" charset="0"/>
              </a:rPr>
              <a:t>b) Due to Natural Disaster i.e. Cloud burst Flash Flood in North Sikkim on 18th Jun'24 &amp; 20</a:t>
            </a:r>
            <a:r>
              <a:rPr lang="en-US" sz="1400" baseline="30000" dirty="0">
                <a:latin typeface="Calibri" panose="020F0502020204030204" pitchFamily="34" charset="0"/>
                <a:ea typeface="Calibri" panose="020F0502020204030204" pitchFamily="34" charset="0"/>
                <a:cs typeface="Calibri" panose="020F0502020204030204" pitchFamily="34" charset="0"/>
              </a:rPr>
              <a:t>th</a:t>
            </a:r>
            <a:r>
              <a:rPr lang="en-US" sz="1400" dirty="0">
                <a:latin typeface="Calibri" panose="020F0502020204030204" pitchFamily="34" charset="0"/>
                <a:ea typeface="Calibri" panose="020F0502020204030204" pitchFamily="34" charset="0"/>
                <a:cs typeface="Calibri" panose="020F0502020204030204" pitchFamily="34" charset="0"/>
              </a:rPr>
              <a:t> May’25 3 Nos Erected and Strung Tower Location No. AP 1B/0 (DD+0), AP 1D/0 (DD+0) &amp; AP 2/0 (DC+0) fully collapsed</a:t>
            </a:r>
            <a:endParaRPr lang="en-IN" sz="1400" dirty="0">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US" sz="1400" dirty="0">
                <a:latin typeface="Calibri" panose="020F0502020204030204" pitchFamily="34" charset="0"/>
                <a:ea typeface="Calibri" panose="020F0502020204030204" pitchFamily="34" charset="0"/>
                <a:cs typeface="Calibri" panose="020F0502020204030204" pitchFamily="34" charset="0"/>
              </a:rPr>
              <a:t>c) The partial completed 132/66kv </a:t>
            </a:r>
            <a:r>
              <a:rPr lang="en-US" sz="1400" dirty="0" err="1">
                <a:latin typeface="Calibri" panose="020F0502020204030204" pitchFamily="34" charset="0"/>
                <a:ea typeface="Calibri" panose="020F0502020204030204" pitchFamily="34" charset="0"/>
                <a:cs typeface="Calibri" panose="020F0502020204030204" pitchFamily="34" charset="0"/>
              </a:rPr>
              <a:t>Singhik</a:t>
            </a:r>
            <a:r>
              <a:rPr lang="en-US" sz="1400" dirty="0">
                <a:latin typeface="Calibri" panose="020F0502020204030204" pitchFamily="34" charset="0"/>
                <a:ea typeface="Calibri" panose="020F0502020204030204" pitchFamily="34" charset="0"/>
                <a:cs typeface="Calibri" panose="020F0502020204030204" pitchFamily="34" charset="0"/>
              </a:rPr>
              <a:t> Sub-station has been abandoned by Powergrid due to rapid sinking of entire 132/66kv </a:t>
            </a:r>
            <a:r>
              <a:rPr lang="en-US" sz="1400" dirty="0" err="1">
                <a:latin typeface="Calibri" panose="020F0502020204030204" pitchFamily="34" charset="0"/>
                <a:ea typeface="Calibri" panose="020F0502020204030204" pitchFamily="34" charset="0"/>
                <a:cs typeface="Calibri" panose="020F0502020204030204" pitchFamily="34" charset="0"/>
              </a:rPr>
              <a:t>Singhik</a:t>
            </a:r>
            <a:r>
              <a:rPr lang="en-US" sz="1400" dirty="0">
                <a:latin typeface="Calibri" panose="020F0502020204030204" pitchFamily="34" charset="0"/>
                <a:ea typeface="Calibri" panose="020F0502020204030204" pitchFamily="34" charset="0"/>
                <a:cs typeface="Calibri" panose="020F0502020204030204" pitchFamily="34" charset="0"/>
              </a:rPr>
              <a:t> Sub-Station Land</a:t>
            </a:r>
            <a:endParaRPr lang="en-IN" sz="1400" dirty="0">
              <a:latin typeface="Calibri" panose="020F0502020204030204" pitchFamily="34" charset="0"/>
              <a:ea typeface="Calibri" panose="020F0502020204030204" pitchFamily="34" charset="0"/>
              <a:cs typeface="Calibri" panose="020F0502020204030204" pitchFamily="34" charset="0"/>
            </a:endParaRPr>
          </a:p>
          <a:p>
            <a:pPr lvl="0" algn="just">
              <a:spcAft>
                <a:spcPts val="1000"/>
              </a:spcAft>
            </a:pPr>
            <a:r>
              <a:rPr lang="en-US" sz="1400" dirty="0">
                <a:latin typeface="Calibri" panose="020F0502020204030204" pitchFamily="34" charset="0"/>
                <a:ea typeface="Calibri" panose="020F0502020204030204" pitchFamily="34" charset="0"/>
                <a:cs typeface="Calibri" panose="020F0502020204030204" pitchFamily="34" charset="0"/>
              </a:rPr>
              <a:t>d) Based on abandonment of </a:t>
            </a:r>
            <a:r>
              <a:rPr lang="en-US" sz="1400" dirty="0" err="1">
                <a:latin typeface="Calibri" panose="020F0502020204030204" pitchFamily="34" charset="0"/>
                <a:ea typeface="Calibri" panose="020F0502020204030204" pitchFamily="34" charset="0"/>
                <a:cs typeface="Calibri" panose="020F0502020204030204" pitchFamily="34" charset="0"/>
              </a:rPr>
              <a:t>Singhik</a:t>
            </a:r>
            <a:r>
              <a:rPr lang="en-US" sz="1400" dirty="0">
                <a:latin typeface="Calibri" panose="020F0502020204030204" pitchFamily="34" charset="0"/>
                <a:ea typeface="Calibri" panose="020F0502020204030204" pitchFamily="34" charset="0"/>
                <a:cs typeface="Calibri" panose="020F0502020204030204" pitchFamily="34" charset="0"/>
              </a:rPr>
              <a:t> Sub-Station the 22 Nos Erected and Strung Tower Location from AP- </a:t>
            </a:r>
            <a:r>
              <a:rPr lang="en-IN" sz="1400" dirty="0">
                <a:latin typeface="Calibri" panose="020F0502020204030204" pitchFamily="34" charset="0"/>
                <a:ea typeface="Calibri" panose="020F0502020204030204" pitchFamily="34" charset="0"/>
                <a:cs typeface="Calibri" panose="020F0502020204030204" pitchFamily="34" charset="0"/>
              </a:rPr>
              <a:t>DE(PTL) to AP 19/0 may yet to be abandoned </a:t>
            </a:r>
            <a:r>
              <a:rPr lang="en-US" sz="1400" dirty="0">
                <a:latin typeface="Calibri" panose="020F0502020204030204" pitchFamily="34" charset="0"/>
                <a:ea typeface="Calibri" panose="020F0502020204030204" pitchFamily="34" charset="0"/>
                <a:cs typeface="Calibri" panose="020F0502020204030204" pitchFamily="34" charset="0"/>
              </a:rPr>
              <a:t>i.e. 3.225 KM Line Length will be abandoned against Total Line Length of 4.357 KM </a:t>
            </a:r>
          </a:p>
          <a:p>
            <a:pPr lvl="0" algn="just">
              <a:spcAft>
                <a:spcPts val="1000"/>
              </a:spcAft>
            </a:pPr>
            <a:r>
              <a:rPr lang="en-US" sz="1400" dirty="0">
                <a:latin typeface="Calibri" panose="020F0502020204030204" pitchFamily="34" charset="0"/>
                <a:ea typeface="Calibri" panose="020F0502020204030204" pitchFamily="34" charset="0"/>
                <a:cs typeface="Calibri" panose="020F0502020204030204" pitchFamily="34" charset="0"/>
              </a:rPr>
              <a:t>e) The status of balance work before Natural Disaster is as follows: -</a:t>
            </a:r>
            <a:endParaRPr lang="en-IN" sz="1400" dirty="0">
              <a:latin typeface="Calibri" panose="020F0502020204030204" pitchFamily="34" charset="0"/>
              <a:ea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5E12B943-B1D8-4E07-46A1-EF49E2DE6F18}"/>
              </a:ext>
            </a:extLst>
          </p:cNvPr>
          <p:cNvSpPr txBox="1"/>
          <p:nvPr/>
        </p:nvSpPr>
        <p:spPr>
          <a:xfrm>
            <a:off x="257899" y="5574682"/>
            <a:ext cx="11395495" cy="394467"/>
          </a:xfrm>
          <a:prstGeom prst="rect">
            <a:avLst/>
          </a:prstGeom>
          <a:noFill/>
        </p:spPr>
        <p:txBody>
          <a:bodyPr wrap="square">
            <a:spAutoFit/>
          </a:bodyPr>
          <a:lstStyle/>
          <a:p>
            <a:pPr algn="just">
              <a:lnSpc>
                <a:spcPct val="115000"/>
              </a:lnSpc>
              <a:spcAft>
                <a:spcPts val="1000"/>
              </a:spcAft>
            </a:pPr>
            <a:r>
              <a:rPr lang="en-US" b="1" u="sng" dirty="0">
                <a:latin typeface="Calibri" panose="020F0502020204030204" pitchFamily="34" charset="0"/>
                <a:ea typeface="Calibri" panose="020F0502020204030204" pitchFamily="34" charset="0"/>
                <a:cs typeface="Calibri" panose="020F0502020204030204" pitchFamily="34" charset="0"/>
              </a:rPr>
              <a:t>7. LILO of one circuit of 220 KV D/C </a:t>
            </a:r>
            <a:r>
              <a:rPr lang="en-US" b="1" u="sng" dirty="0" err="1">
                <a:latin typeface="Calibri" panose="020F0502020204030204" pitchFamily="34" charset="0"/>
                <a:ea typeface="Calibri" panose="020F0502020204030204" pitchFamily="34" charset="0"/>
                <a:cs typeface="Calibri" panose="020F0502020204030204" pitchFamily="34" charset="0"/>
              </a:rPr>
              <a:t>Dikchu</a:t>
            </a:r>
            <a:r>
              <a:rPr lang="en-US" b="1" u="sng" dirty="0">
                <a:latin typeface="Calibri" panose="020F0502020204030204" pitchFamily="34" charset="0"/>
                <a:ea typeface="Calibri" panose="020F0502020204030204" pitchFamily="34" charset="0"/>
                <a:cs typeface="Calibri" panose="020F0502020204030204" pitchFamily="34" charset="0"/>
              </a:rPr>
              <a:t> – </a:t>
            </a:r>
            <a:r>
              <a:rPr lang="en-US" b="1" u="sng" dirty="0" err="1">
                <a:latin typeface="Calibri" panose="020F0502020204030204" pitchFamily="34" charset="0"/>
                <a:ea typeface="Calibri" panose="020F0502020204030204" pitchFamily="34" charset="0"/>
                <a:cs typeface="Calibri" panose="020F0502020204030204" pitchFamily="34" charset="0"/>
              </a:rPr>
              <a:t>Singhik</a:t>
            </a:r>
            <a:r>
              <a:rPr lang="en-US" b="1" u="sng" dirty="0">
                <a:latin typeface="Calibri" panose="020F0502020204030204" pitchFamily="34" charset="0"/>
                <a:ea typeface="Calibri" panose="020F0502020204030204" pitchFamily="34" charset="0"/>
                <a:cs typeface="Calibri" panose="020F0502020204030204" pitchFamily="34" charset="0"/>
              </a:rPr>
              <a:t> Trans. Line at Sneha Kinetic HEP at </a:t>
            </a:r>
            <a:r>
              <a:rPr lang="en-US" b="1" u="sng" dirty="0" err="1">
                <a:latin typeface="Calibri" panose="020F0502020204030204" pitchFamily="34" charset="0"/>
                <a:ea typeface="Calibri" panose="020F0502020204030204" pitchFamily="34" charset="0"/>
                <a:cs typeface="Calibri" panose="020F0502020204030204" pitchFamily="34" charset="0"/>
              </a:rPr>
              <a:t>Dikchu</a:t>
            </a:r>
            <a:endParaRPr lang="en-IN"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3" name="Table 2">
            <a:extLst>
              <a:ext uri="{FF2B5EF4-FFF2-40B4-BE49-F238E27FC236}">
                <a16:creationId xmlns:a16="http://schemas.microsoft.com/office/drawing/2014/main" id="{6A849358-0E46-C6D9-B404-2BA227A3CF87}"/>
              </a:ext>
            </a:extLst>
          </p:cNvPr>
          <p:cNvGraphicFramePr>
            <a:graphicFrameLocks noGrp="1"/>
          </p:cNvGraphicFramePr>
          <p:nvPr>
            <p:extLst>
              <p:ext uri="{D42A27DB-BD31-4B8C-83A1-F6EECF244321}">
                <p14:modId xmlns:p14="http://schemas.microsoft.com/office/powerpoint/2010/main" val="1890188854"/>
              </p:ext>
            </p:extLst>
          </p:nvPr>
        </p:nvGraphicFramePr>
        <p:xfrm>
          <a:off x="821749" y="4107816"/>
          <a:ext cx="10354403" cy="1192901"/>
        </p:xfrm>
        <a:graphic>
          <a:graphicData uri="http://schemas.openxmlformats.org/drawingml/2006/table">
            <a:tbl>
              <a:tblPr/>
              <a:tblGrid>
                <a:gridCol w="1961374">
                  <a:extLst>
                    <a:ext uri="{9D8B030D-6E8A-4147-A177-3AD203B41FA5}">
                      <a16:colId xmlns:a16="http://schemas.microsoft.com/office/drawing/2014/main" val="149397833"/>
                    </a:ext>
                  </a:extLst>
                </a:gridCol>
                <a:gridCol w="1735926">
                  <a:extLst>
                    <a:ext uri="{9D8B030D-6E8A-4147-A177-3AD203B41FA5}">
                      <a16:colId xmlns:a16="http://schemas.microsoft.com/office/drawing/2014/main" val="3622379874"/>
                    </a:ext>
                  </a:extLst>
                </a:gridCol>
                <a:gridCol w="1307583">
                  <a:extLst>
                    <a:ext uri="{9D8B030D-6E8A-4147-A177-3AD203B41FA5}">
                      <a16:colId xmlns:a16="http://schemas.microsoft.com/office/drawing/2014/main" val="1059588278"/>
                    </a:ext>
                  </a:extLst>
                </a:gridCol>
                <a:gridCol w="1420302">
                  <a:extLst>
                    <a:ext uri="{9D8B030D-6E8A-4147-A177-3AD203B41FA5}">
                      <a16:colId xmlns:a16="http://schemas.microsoft.com/office/drawing/2014/main" val="2626708815"/>
                    </a:ext>
                  </a:extLst>
                </a:gridCol>
                <a:gridCol w="1156672">
                  <a:extLst>
                    <a:ext uri="{9D8B030D-6E8A-4147-A177-3AD203B41FA5}">
                      <a16:colId xmlns:a16="http://schemas.microsoft.com/office/drawing/2014/main" val="3110708562"/>
                    </a:ext>
                  </a:extLst>
                </a:gridCol>
                <a:gridCol w="805974">
                  <a:extLst>
                    <a:ext uri="{9D8B030D-6E8A-4147-A177-3AD203B41FA5}">
                      <a16:colId xmlns:a16="http://schemas.microsoft.com/office/drawing/2014/main" val="1304343103"/>
                    </a:ext>
                  </a:extLst>
                </a:gridCol>
                <a:gridCol w="983286">
                  <a:extLst>
                    <a:ext uri="{9D8B030D-6E8A-4147-A177-3AD203B41FA5}">
                      <a16:colId xmlns:a16="http://schemas.microsoft.com/office/drawing/2014/main" val="1448817563"/>
                    </a:ext>
                  </a:extLst>
                </a:gridCol>
                <a:gridCol w="983286">
                  <a:extLst>
                    <a:ext uri="{9D8B030D-6E8A-4147-A177-3AD203B41FA5}">
                      <a16:colId xmlns:a16="http://schemas.microsoft.com/office/drawing/2014/main" val="202703365"/>
                    </a:ext>
                  </a:extLst>
                </a:gridCol>
              </a:tblGrid>
              <a:tr h="187845">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Activity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UoM</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Revised Line Qty</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Completed</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May-26)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rowSpan="2">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Balance</a:t>
                      </a:r>
                      <a:b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 on May-26</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3">
                  <a:txBody>
                    <a:bodyPr/>
                    <a:lstStyle/>
                    <a:p>
                      <a:pPr algn="ctr" fontAlgn="ctr">
                        <a:buNone/>
                      </a:pPr>
                      <a:r>
                        <a:rPr lang="en-US" sz="12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Completion Timeline</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pPr algn="ctr" fontAlgn="ctr">
                        <a:buNone/>
                      </a:pPr>
                      <a:endParaRPr lang="en-US"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10739892"/>
                  </a:ext>
                </a:extLst>
              </a:tr>
              <a:tr h="213084">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Jun-26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July-26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a:r>
                        <a:rPr lang="en-US" sz="1200" b="1" dirty="0">
                          <a:latin typeface="Calibri" panose="020F0502020204030204" pitchFamily="34" charset="0"/>
                          <a:ea typeface="Calibri" panose="020F0502020204030204" pitchFamily="34" charset="0"/>
                          <a:cs typeface="Calibri" panose="020F0502020204030204" pitchFamily="34" charset="0"/>
                        </a:rPr>
                        <a:t>Aug-26</a:t>
                      </a:r>
                      <a:endParaRPr lang="en-IN" sz="1200" b="1" dirty="0">
                        <a:latin typeface="Calibri" panose="020F0502020204030204" pitchFamily="34" charset="0"/>
                        <a:ea typeface="Calibri" panose="020F0502020204030204" pitchFamily="34" charset="0"/>
                        <a:cs typeface="Calibri" panose="020F0502020204030204" pitchFamily="34" charset="0"/>
                      </a:endParaRP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47677265"/>
                  </a:ext>
                </a:extLst>
              </a:tr>
              <a:tr h="166409">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a:t>
                      </a:r>
                    </a:p>
                  </a:txBody>
                  <a:tcPr marL="3983" marR="3983" marT="398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NOS</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gridSpan="3">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h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h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77457704"/>
                  </a:ext>
                </a:extLst>
              </a:tr>
              <a:tr h="163296">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Tower Erection</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NOS</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89873063"/>
                  </a:ext>
                </a:extLst>
              </a:tr>
              <a:tr h="163296">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Stringing</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KM</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452986716"/>
                  </a:ext>
                </a:extLst>
              </a:tr>
              <a:tr h="163296">
                <a:tc>
                  <a:txBody>
                    <a:bodyPr/>
                    <a:lstStyle/>
                    <a:p>
                      <a:pPr algn="just">
                        <a:lnSpc>
                          <a:spcPct val="115000"/>
                        </a:lnSpc>
                        <a:spcAft>
                          <a:spcPts val="1000"/>
                        </a:spcAft>
                        <a:buNone/>
                      </a:pPr>
                      <a:r>
                        <a:rPr lang="en-US" sz="1200" dirty="0">
                          <a:effectLst/>
                          <a:latin typeface="Calibri" panose="020F0502020204030204" pitchFamily="34" charset="0"/>
                          <a:ea typeface="Calibri" panose="020F0502020204030204" pitchFamily="34" charset="0"/>
                          <a:cs typeface="Calibri" panose="020F0502020204030204" pitchFamily="34" charset="0"/>
                        </a:rPr>
                        <a:t>OPGW Stringing</a:t>
                      </a: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r>
                        <a:rPr lang="en-US" sz="1200">
                          <a:effectLst/>
                          <a:latin typeface="Calibri" panose="020F0502020204030204" pitchFamily="34" charset="0"/>
                          <a:ea typeface="Calibri" panose="020F0502020204030204" pitchFamily="34" charset="0"/>
                          <a:cs typeface="Calibri" panose="020F0502020204030204" pitchFamily="34" charset="0"/>
                        </a:rPr>
                        <a:t>KM</a:t>
                      </a: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235" marR="67235"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gridSpan="3" vMerge="1">
                  <a:txBody>
                    <a:bodyPr/>
                    <a:lstStyle/>
                    <a:p>
                      <a:pPr algn="ctr">
                        <a:lnSpc>
                          <a:spcPct val="115000"/>
                        </a:lnSpc>
                        <a:spcAft>
                          <a:spcPts val="1000"/>
                        </a:spcAft>
                        <a:buNone/>
                      </a:pPr>
                      <a:endParaRPr lang="en-IN" sz="120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vMerge="1">
                  <a:txBody>
                    <a:bodyPr/>
                    <a:lstStyle/>
                    <a:p>
                      <a:pPr algn="ctr">
                        <a:lnSpc>
                          <a:spcPct val="115000"/>
                        </a:lnSpc>
                        <a:spcAft>
                          <a:spcPts val="1000"/>
                        </a:spcAft>
                        <a:buNone/>
                      </a:pPr>
                      <a:endParaRPr lang="en-IN" sz="1200" dirty="0">
                        <a:effectLst/>
                        <a:latin typeface="Calibri" panose="020F0502020204030204" pitchFamily="34" charset="0"/>
                        <a:ea typeface="Calibri" panose="020F0502020204030204" pitchFamily="34" charset="0"/>
                        <a:cs typeface="Calibri" panose="020F0502020204030204" pitchFamily="34" charset="0"/>
                      </a:endParaRPr>
                    </a:p>
                  </a:txBody>
                  <a:tcPr marL="67901" marR="67901" marT="0"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25964555"/>
                  </a:ext>
                </a:extLst>
              </a:tr>
            </a:tbl>
          </a:graphicData>
        </a:graphic>
      </p:graphicFrame>
      <p:sp>
        <p:nvSpPr>
          <p:cNvPr id="11" name="TextBox 10">
            <a:extLst>
              <a:ext uri="{FF2B5EF4-FFF2-40B4-BE49-F238E27FC236}">
                <a16:creationId xmlns:a16="http://schemas.microsoft.com/office/drawing/2014/main" id="{5313B67C-A4A0-FC7C-1D5D-F346B88D1825}"/>
              </a:ext>
            </a:extLst>
          </p:cNvPr>
          <p:cNvSpPr txBox="1"/>
          <p:nvPr/>
        </p:nvSpPr>
        <p:spPr>
          <a:xfrm>
            <a:off x="301204" y="6197559"/>
            <a:ext cx="11503498" cy="325538"/>
          </a:xfrm>
          <a:prstGeom prst="rect">
            <a:avLst/>
          </a:prstGeom>
          <a:noFill/>
        </p:spPr>
        <p:txBody>
          <a:bodyPr wrap="square">
            <a:spAutoFit/>
          </a:bodyPr>
          <a:lstStyle/>
          <a:p>
            <a:pPr lvl="0" algn="just">
              <a:lnSpc>
                <a:spcPct val="115000"/>
              </a:lnSpc>
              <a:spcAft>
                <a:spcPts val="1000"/>
              </a:spcAft>
              <a:buSzPts val="1200"/>
            </a:pPr>
            <a:r>
              <a:rPr lang="en-US" sz="1400" dirty="0">
                <a:effectLst/>
                <a:latin typeface="Calibri" panose="020F0502020204030204" pitchFamily="34" charset="0"/>
                <a:ea typeface="Calibri" panose="020F0502020204030204" pitchFamily="34" charset="0"/>
                <a:cs typeface="Calibri" panose="020F0502020204030204" pitchFamily="34" charset="0"/>
              </a:rPr>
              <a:t>a) De-scope of line by PGCIL after Sikkim Flood on </a:t>
            </a:r>
            <a:r>
              <a:rPr lang="en-US" sz="1400" dirty="0" err="1">
                <a:effectLst/>
                <a:latin typeface="Calibri" panose="020F0502020204030204" pitchFamily="34" charset="0"/>
                <a:ea typeface="Calibri" panose="020F0502020204030204" pitchFamily="34" charset="0"/>
                <a:cs typeface="Calibri" panose="020F0502020204030204" pitchFamily="34" charset="0"/>
              </a:rPr>
              <a:t>dtd</a:t>
            </a:r>
            <a:r>
              <a:rPr lang="en-US" sz="1400" dirty="0">
                <a:effectLst/>
                <a:latin typeface="Calibri" panose="020F0502020204030204" pitchFamily="34" charset="0"/>
                <a:ea typeface="Calibri" panose="020F0502020204030204" pitchFamily="34" charset="0"/>
                <a:cs typeface="Calibri" panose="020F0502020204030204" pitchFamily="34" charset="0"/>
              </a:rPr>
              <a:t> 04/10/2023 vide their letter reference No. ER-II/CSSTDS/GTK/TK-04/1766 dated 08/05/2024</a:t>
            </a:r>
            <a:endParaRPr lang="en-IN" sz="1400" dirty="0">
              <a:effectLst/>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857039771"/>
      </p:ext>
    </p:extLst>
  </p:cSld>
  <p:clrMapOvr>
    <a:masterClrMapping/>
  </p:clrMapOvr>
  <p:transition spd="slow"/>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9494A4-F54B-43A0-3110-2D319007D1E5}"/>
              </a:ext>
            </a:extLst>
          </p:cNvPr>
          <p:cNvSpPr>
            <a:spLocks noGrp="1"/>
          </p:cNvSpPr>
          <p:nvPr>
            <p:ph type="title"/>
          </p:nvPr>
        </p:nvSpPr>
        <p:spPr>
          <a:xfrm>
            <a:off x="2124076" y="2771776"/>
            <a:ext cx="8729852" cy="1209034"/>
          </a:xfrm>
        </p:spPr>
        <p:txBody>
          <a:bodyPr>
            <a:noAutofit/>
          </a:bodyPr>
          <a:lstStyle/>
          <a:p>
            <a:r>
              <a:rPr lang="en-IN" sz="4000" dirty="0">
                <a:solidFill>
                  <a:schemeClr val="tx1"/>
                </a:solidFill>
                <a:latin typeface="Calibri" panose="020F0502020204030204" pitchFamily="34" charset="0"/>
                <a:ea typeface="Calibri" panose="020F0502020204030204" pitchFamily="34" charset="0"/>
                <a:cs typeface="Calibri" panose="020F0502020204030204" pitchFamily="34" charset="0"/>
              </a:rPr>
              <a:t>Commercial Closures and Pending Claims</a:t>
            </a:r>
            <a:endParaRPr lang="en-IN" sz="4000" dirty="0"/>
          </a:p>
        </p:txBody>
      </p:sp>
    </p:spTree>
    <p:extLst>
      <p:ext uri="{BB962C8B-B14F-4D97-AF65-F5344CB8AC3E}">
        <p14:creationId xmlns:p14="http://schemas.microsoft.com/office/powerpoint/2010/main" val="3677995300"/>
      </p:ext>
    </p:extLst>
  </p:cSld>
  <p:clrMapOvr>
    <a:masterClrMapping/>
  </p:clrMapOvr>
  <p:transition spd="slow"/>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39A046-772A-500E-7CBE-7836129874E7}"/>
              </a:ext>
            </a:extLst>
          </p:cNvPr>
          <p:cNvSpPr>
            <a:spLocks noGrp="1"/>
          </p:cNvSpPr>
          <p:nvPr>
            <p:ph type="title"/>
          </p:nvPr>
        </p:nvSpPr>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Summary of Claims submitted at PGCIL(Region Wise)</a:t>
            </a:r>
          </a:p>
        </p:txBody>
      </p:sp>
      <p:graphicFrame>
        <p:nvGraphicFramePr>
          <p:cNvPr id="4" name="Table 3">
            <a:extLst>
              <a:ext uri="{FF2B5EF4-FFF2-40B4-BE49-F238E27FC236}">
                <a16:creationId xmlns:a16="http://schemas.microsoft.com/office/drawing/2014/main" id="{D4A57DBA-7739-E85F-E698-D7629D6CF89A}"/>
              </a:ext>
            </a:extLst>
          </p:cNvPr>
          <p:cNvGraphicFramePr>
            <a:graphicFrameLocks noGrp="1"/>
          </p:cNvGraphicFramePr>
          <p:nvPr>
            <p:extLst>
              <p:ext uri="{D42A27DB-BD31-4B8C-83A1-F6EECF244321}">
                <p14:modId xmlns:p14="http://schemas.microsoft.com/office/powerpoint/2010/main" val="1821965616"/>
              </p:ext>
            </p:extLst>
          </p:nvPr>
        </p:nvGraphicFramePr>
        <p:xfrm>
          <a:off x="257898" y="1250300"/>
          <a:ext cx="11543576" cy="2501305"/>
        </p:xfrm>
        <a:graphic>
          <a:graphicData uri="http://schemas.openxmlformats.org/drawingml/2006/table">
            <a:tbl>
              <a:tblPr/>
              <a:tblGrid>
                <a:gridCol w="924485">
                  <a:extLst>
                    <a:ext uri="{9D8B030D-6E8A-4147-A177-3AD203B41FA5}">
                      <a16:colId xmlns:a16="http://schemas.microsoft.com/office/drawing/2014/main" val="4143267362"/>
                    </a:ext>
                  </a:extLst>
                </a:gridCol>
                <a:gridCol w="6193907">
                  <a:extLst>
                    <a:ext uri="{9D8B030D-6E8A-4147-A177-3AD203B41FA5}">
                      <a16:colId xmlns:a16="http://schemas.microsoft.com/office/drawing/2014/main" val="976445564"/>
                    </a:ext>
                  </a:extLst>
                </a:gridCol>
                <a:gridCol w="4425184">
                  <a:extLst>
                    <a:ext uri="{9D8B030D-6E8A-4147-A177-3AD203B41FA5}">
                      <a16:colId xmlns:a16="http://schemas.microsoft.com/office/drawing/2014/main" val="122163694"/>
                    </a:ext>
                  </a:extLst>
                </a:gridCol>
              </a:tblGrid>
              <a:tr h="272455">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Sr. No.</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Region</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amount(in Rs Cr)</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91029855"/>
                  </a:ext>
                </a:extLst>
              </a:tr>
              <a:tr h="21564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ER-I(Patna)</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80421656"/>
                  </a:ext>
                </a:extLst>
              </a:tr>
              <a:tr h="21564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ER-II(Kolkata)</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718837872"/>
                  </a:ext>
                </a:extLst>
              </a:tr>
              <a:tr h="21564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ER-II(Kolkata)- Cables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288448384"/>
                  </a:ext>
                </a:extLst>
              </a:tr>
              <a:tr h="215649">
                <a:tc>
                  <a:txBody>
                    <a:bodyPr/>
                    <a:lstStyle/>
                    <a:p>
                      <a:pPr algn="ctr"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NER(Guwahati)</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52546089"/>
                  </a:ext>
                </a:extLst>
              </a:tr>
              <a:tr h="215649">
                <a:tc>
                  <a:txBody>
                    <a:bodyPr/>
                    <a:lstStyle/>
                    <a:p>
                      <a:pPr algn="ctr"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NER(Itanagar)</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012321674"/>
                  </a:ext>
                </a:extLst>
              </a:tr>
              <a:tr h="21564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Rajasthan</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266686371"/>
                  </a:ext>
                </a:extLst>
              </a:tr>
              <a:tr h="21564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WR-II(Vadodara)</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902738332"/>
                  </a:ext>
                </a:extLst>
              </a:tr>
              <a:tr h="21564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NR-I(Faridabad)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638571631"/>
                  </a:ext>
                </a:extLst>
              </a:tr>
              <a:tr h="21564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SR-I(Hyderabad)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518519440"/>
                  </a:ext>
                </a:extLst>
              </a:tr>
              <a:tr h="215649">
                <a:tc gridSpan="2">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Total</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1614394781"/>
                  </a:ext>
                </a:extLst>
              </a:tr>
            </a:tbl>
          </a:graphicData>
        </a:graphic>
      </p:graphicFrame>
      <p:graphicFrame>
        <p:nvGraphicFramePr>
          <p:cNvPr id="3" name="Table 2">
            <a:extLst>
              <a:ext uri="{FF2B5EF4-FFF2-40B4-BE49-F238E27FC236}">
                <a16:creationId xmlns:a16="http://schemas.microsoft.com/office/drawing/2014/main" id="{11DE00AD-E894-BE1B-53A7-97618A5A8EA8}"/>
              </a:ext>
            </a:extLst>
          </p:cNvPr>
          <p:cNvGraphicFramePr>
            <a:graphicFrameLocks noGrp="1"/>
          </p:cNvGraphicFramePr>
          <p:nvPr>
            <p:extLst>
              <p:ext uri="{D42A27DB-BD31-4B8C-83A1-F6EECF244321}">
                <p14:modId xmlns:p14="http://schemas.microsoft.com/office/powerpoint/2010/main" val="1320324390"/>
              </p:ext>
            </p:extLst>
          </p:nvPr>
        </p:nvGraphicFramePr>
        <p:xfrm>
          <a:off x="257896" y="3751605"/>
          <a:ext cx="11543579" cy="3022090"/>
        </p:xfrm>
        <a:graphic>
          <a:graphicData uri="http://schemas.openxmlformats.org/drawingml/2006/table">
            <a:tbl>
              <a:tblPr/>
              <a:tblGrid>
                <a:gridCol w="595004">
                  <a:extLst>
                    <a:ext uri="{9D8B030D-6E8A-4147-A177-3AD203B41FA5}">
                      <a16:colId xmlns:a16="http://schemas.microsoft.com/office/drawing/2014/main" val="536603607"/>
                    </a:ext>
                  </a:extLst>
                </a:gridCol>
                <a:gridCol w="1569577">
                  <a:extLst>
                    <a:ext uri="{9D8B030D-6E8A-4147-A177-3AD203B41FA5}">
                      <a16:colId xmlns:a16="http://schemas.microsoft.com/office/drawing/2014/main" val="2822537497"/>
                    </a:ext>
                  </a:extLst>
                </a:gridCol>
                <a:gridCol w="1469556">
                  <a:extLst>
                    <a:ext uri="{9D8B030D-6E8A-4147-A177-3AD203B41FA5}">
                      <a16:colId xmlns:a16="http://schemas.microsoft.com/office/drawing/2014/main" val="3921104035"/>
                    </a:ext>
                  </a:extLst>
                </a:gridCol>
                <a:gridCol w="995092">
                  <a:extLst>
                    <a:ext uri="{9D8B030D-6E8A-4147-A177-3AD203B41FA5}">
                      <a16:colId xmlns:a16="http://schemas.microsoft.com/office/drawing/2014/main" val="1684449630"/>
                    </a:ext>
                  </a:extLst>
                </a:gridCol>
                <a:gridCol w="769400">
                  <a:extLst>
                    <a:ext uri="{9D8B030D-6E8A-4147-A177-3AD203B41FA5}">
                      <a16:colId xmlns:a16="http://schemas.microsoft.com/office/drawing/2014/main" val="1647005346"/>
                    </a:ext>
                  </a:extLst>
                </a:gridCol>
                <a:gridCol w="1005351">
                  <a:extLst>
                    <a:ext uri="{9D8B030D-6E8A-4147-A177-3AD203B41FA5}">
                      <a16:colId xmlns:a16="http://schemas.microsoft.com/office/drawing/2014/main" val="1461174940"/>
                    </a:ext>
                  </a:extLst>
                </a:gridCol>
                <a:gridCol w="1107937">
                  <a:extLst>
                    <a:ext uri="{9D8B030D-6E8A-4147-A177-3AD203B41FA5}">
                      <a16:colId xmlns:a16="http://schemas.microsoft.com/office/drawing/2014/main" val="593642820"/>
                    </a:ext>
                  </a:extLst>
                </a:gridCol>
                <a:gridCol w="830953">
                  <a:extLst>
                    <a:ext uri="{9D8B030D-6E8A-4147-A177-3AD203B41FA5}">
                      <a16:colId xmlns:a16="http://schemas.microsoft.com/office/drawing/2014/main" val="526497366"/>
                    </a:ext>
                  </a:extLst>
                </a:gridCol>
                <a:gridCol w="830953">
                  <a:extLst>
                    <a:ext uri="{9D8B030D-6E8A-4147-A177-3AD203B41FA5}">
                      <a16:colId xmlns:a16="http://schemas.microsoft.com/office/drawing/2014/main" val="2009383916"/>
                    </a:ext>
                  </a:extLst>
                </a:gridCol>
                <a:gridCol w="2369756">
                  <a:extLst>
                    <a:ext uri="{9D8B030D-6E8A-4147-A177-3AD203B41FA5}">
                      <a16:colId xmlns:a16="http://schemas.microsoft.com/office/drawing/2014/main" val="2119410803"/>
                    </a:ext>
                  </a:extLst>
                </a:gridCol>
              </a:tblGrid>
              <a:tr h="216099">
                <a:tc gridSpan="10">
                  <a:txBody>
                    <a:bodyPr/>
                    <a:lstStyle/>
                    <a:p>
                      <a:pPr algn="ctr" fontAlgn="ctr">
                        <a:buNone/>
                      </a:pPr>
                      <a:r>
                        <a:rPr lang="en-IN" sz="1400" b="1" dirty="0">
                          <a:latin typeface="Calibri" panose="020F0502020204030204" pitchFamily="34" charset="0"/>
                          <a:ea typeface="Calibri" panose="020F0502020204030204" pitchFamily="34" charset="0"/>
                          <a:cs typeface="Calibri" panose="020F0502020204030204" pitchFamily="34" charset="0"/>
                        </a:rPr>
                        <a:t>Pending Claims (ER-I)</a:t>
                      </a: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l" fontAlgn="ctr">
                        <a:buNone/>
                      </a:pPr>
                      <a:endParaRPr lang="en-IN" sz="1300" b="1" i="0" u="none" strike="noStrike" dirty="0">
                        <a:solidFill>
                          <a:srgbClr val="000000"/>
                        </a:solidFill>
                        <a:effectLst/>
                        <a:latin typeface="+mn-lt"/>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l" fontAlgn="ctr">
                        <a:buNone/>
                      </a:pPr>
                      <a:endParaRPr lang="en-IN" sz="1300" b="1" i="0" u="none" strike="noStrike" dirty="0">
                        <a:solidFill>
                          <a:srgbClr val="000000"/>
                        </a:solidFill>
                        <a:effectLst/>
                        <a:latin typeface="+mn-lt"/>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l" fontAlgn="ctr">
                        <a:buNone/>
                      </a:pPr>
                      <a:endParaRPr lang="en-IN" sz="1300" b="1" i="0" u="none" strike="noStrike" dirty="0">
                        <a:solidFill>
                          <a:srgbClr val="000000"/>
                        </a:solidFill>
                        <a:effectLst/>
                        <a:latin typeface="+mn-lt"/>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IN" sz="1300" b="1" i="0" u="none" strike="noStrike" dirty="0">
                        <a:solidFill>
                          <a:srgbClr val="000000"/>
                        </a:solidFill>
                        <a:effectLst/>
                        <a:latin typeface="+mn-lt"/>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l" fontAlgn="ctr">
                        <a:buNone/>
                      </a:pPr>
                      <a:endParaRPr lang="en-IN" sz="1300" b="1" i="0" u="none" strike="noStrike" dirty="0">
                        <a:solidFill>
                          <a:srgbClr val="000000"/>
                        </a:solidFill>
                        <a:effectLst/>
                        <a:latin typeface="+mn-lt"/>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l" fontAlgn="ctr">
                        <a:buNone/>
                      </a:pPr>
                      <a:endParaRPr lang="en-IN" sz="1300" b="1" i="0" u="none" strike="noStrike" dirty="0">
                        <a:solidFill>
                          <a:srgbClr val="000000"/>
                        </a:solidFill>
                        <a:effectLst/>
                        <a:latin typeface="+mn-lt"/>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IN" sz="1300" b="1" i="0" u="none" strike="noStrike" dirty="0">
                        <a:solidFill>
                          <a:srgbClr val="000000"/>
                        </a:solidFill>
                        <a:effectLst/>
                        <a:latin typeface="+mn-lt"/>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l" fontAlgn="ctr">
                        <a:buNone/>
                      </a:pPr>
                      <a:endParaRPr lang="en-IN" sz="1300" b="1" i="0" u="none" strike="noStrike" dirty="0">
                        <a:solidFill>
                          <a:srgbClr val="000000"/>
                        </a:solidFill>
                        <a:effectLst/>
                        <a:latin typeface="+mn-lt"/>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pPr algn="l" fontAlgn="ctr">
                        <a:buNone/>
                      </a:pPr>
                      <a:endParaRPr lang="en-IN" sz="1300" b="1" i="0" u="none" strike="noStrike" dirty="0">
                        <a:solidFill>
                          <a:srgbClr val="000000"/>
                        </a:solidFill>
                        <a:effectLst/>
                        <a:latin typeface="+mn-lt"/>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249538065"/>
                  </a:ext>
                </a:extLst>
              </a:tr>
              <a:tr h="843774">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Sr. No.</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Description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Date</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Value(Cr)</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Contractual Completion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Planned Completion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 (Cr)</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Pendency</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545895806"/>
                  </a:ext>
                </a:extLst>
              </a:tr>
              <a:tr h="843774">
                <a:tc rowSpan="2">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JSEB 01</a:t>
                      </a:r>
                      <a:b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package TW-01 associated with implementation of transmission scheme in Jharkhand under consultancy services to JSEB</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&amp; Interest on outstanding payments</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28-09-2012</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l"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l"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687985536"/>
                  </a:ext>
                </a:extLst>
              </a:tr>
              <a:tr h="843774">
                <a:tc vMerge="1">
                  <a:txBody>
                    <a:bodyPr/>
                    <a:lstStyle/>
                    <a:p>
                      <a:endParaRPr lang="en-IN"/>
                    </a:p>
                  </a:txBody>
                  <a:tcPr/>
                </a:tc>
                <a:tc vMerge="1">
                  <a:txBody>
                    <a:bodyPr/>
                    <a:lstStyle/>
                    <a:p>
                      <a:endParaRPr lang="en-IN"/>
                    </a:p>
                  </a:txBody>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Idling of Resources</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vMerge="1">
                  <a:txBody>
                    <a:bodyPr/>
                    <a:lstStyle/>
                    <a:p>
                      <a:endParaRPr lang="en-IN"/>
                    </a:p>
                  </a:txBody>
                  <a:tcPr/>
                </a:tc>
                <a:extLst>
                  <a:ext uri="{0D108BD9-81ED-4DB2-BD59-A6C34878D82A}">
                    <a16:rowId xmlns:a16="http://schemas.microsoft.com/office/drawing/2014/main" val="2750048914"/>
                  </a:ext>
                </a:extLst>
              </a:tr>
              <a:tr h="216099">
                <a:tc gridSpan="7">
                  <a:txBody>
                    <a:bodyPr/>
                    <a:lstStyle/>
                    <a:p>
                      <a:pPr algn="ctr" fontAlgn="ctr">
                        <a:buNone/>
                      </a:pPr>
                      <a:r>
                        <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Amount(Cr) for ER-I</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extLst>
                  <a:ext uri="{0D108BD9-81ED-4DB2-BD59-A6C34878D82A}">
                    <a16:rowId xmlns:a16="http://schemas.microsoft.com/office/drawing/2014/main" val="3742711140"/>
                  </a:ext>
                </a:extLst>
              </a:tr>
            </a:tbl>
          </a:graphicData>
        </a:graphic>
      </p:graphicFrame>
    </p:spTree>
    <p:extLst>
      <p:ext uri="{BB962C8B-B14F-4D97-AF65-F5344CB8AC3E}">
        <p14:creationId xmlns:p14="http://schemas.microsoft.com/office/powerpoint/2010/main" val="3180222471"/>
      </p:ext>
    </p:extLst>
  </p:cSld>
  <p:clrMapOvr>
    <a:masterClrMapping/>
  </p:clrMapOvr>
  <p:transition spd="slow"/>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96AFE5-98B9-E51C-CB05-C3B61A872856}"/>
              </a:ext>
            </a:extLst>
          </p:cNvPr>
          <p:cNvSpPr>
            <a:spLocks noGrp="1"/>
          </p:cNvSpPr>
          <p:nvPr>
            <p:ph type="title"/>
          </p:nvPr>
        </p:nvSpPr>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Pending Claims (ER-II</a:t>
            </a:r>
            <a:r>
              <a:rPr lang="en-IN" sz="2400" dirty="0">
                <a:latin typeface="Calibri" panose="020F0502020204030204" pitchFamily="34" charset="0"/>
                <a:ea typeface="Calibri" panose="020F0502020204030204" pitchFamily="34" charset="0"/>
                <a:cs typeface="Calibri" panose="020F0502020204030204" pitchFamily="34" charset="0"/>
              </a:rPr>
              <a:t>)</a:t>
            </a:r>
          </a:p>
        </p:txBody>
      </p:sp>
      <p:graphicFrame>
        <p:nvGraphicFramePr>
          <p:cNvPr id="5" name="Table 4">
            <a:extLst>
              <a:ext uri="{FF2B5EF4-FFF2-40B4-BE49-F238E27FC236}">
                <a16:creationId xmlns:a16="http://schemas.microsoft.com/office/drawing/2014/main" id="{F56EACA5-D77B-87B6-53A4-2FEA2A3BEB77}"/>
              </a:ext>
            </a:extLst>
          </p:cNvPr>
          <p:cNvGraphicFramePr>
            <a:graphicFrameLocks noGrp="1"/>
          </p:cNvGraphicFramePr>
          <p:nvPr>
            <p:extLst>
              <p:ext uri="{D42A27DB-BD31-4B8C-83A1-F6EECF244321}">
                <p14:modId xmlns:p14="http://schemas.microsoft.com/office/powerpoint/2010/main" val="4022589291"/>
              </p:ext>
            </p:extLst>
          </p:nvPr>
        </p:nvGraphicFramePr>
        <p:xfrm>
          <a:off x="257899" y="1276349"/>
          <a:ext cx="11543576" cy="5516218"/>
        </p:xfrm>
        <a:graphic>
          <a:graphicData uri="http://schemas.openxmlformats.org/drawingml/2006/table">
            <a:tbl>
              <a:tblPr/>
              <a:tblGrid>
                <a:gridCol w="629837">
                  <a:extLst>
                    <a:ext uri="{9D8B030D-6E8A-4147-A177-3AD203B41FA5}">
                      <a16:colId xmlns:a16="http://schemas.microsoft.com/office/drawing/2014/main" val="4230719075"/>
                    </a:ext>
                  </a:extLst>
                </a:gridCol>
                <a:gridCol w="1929827">
                  <a:extLst>
                    <a:ext uri="{9D8B030D-6E8A-4147-A177-3AD203B41FA5}">
                      <a16:colId xmlns:a16="http://schemas.microsoft.com/office/drawing/2014/main" val="4022327227"/>
                    </a:ext>
                  </a:extLst>
                </a:gridCol>
                <a:gridCol w="1154362">
                  <a:extLst>
                    <a:ext uri="{9D8B030D-6E8A-4147-A177-3AD203B41FA5}">
                      <a16:colId xmlns:a16="http://schemas.microsoft.com/office/drawing/2014/main" val="427342535"/>
                    </a:ext>
                  </a:extLst>
                </a:gridCol>
                <a:gridCol w="853220">
                  <a:extLst>
                    <a:ext uri="{9D8B030D-6E8A-4147-A177-3AD203B41FA5}">
                      <a16:colId xmlns:a16="http://schemas.microsoft.com/office/drawing/2014/main" val="3004651624"/>
                    </a:ext>
                  </a:extLst>
                </a:gridCol>
                <a:gridCol w="627368">
                  <a:extLst>
                    <a:ext uri="{9D8B030D-6E8A-4147-A177-3AD203B41FA5}">
                      <a16:colId xmlns:a16="http://schemas.microsoft.com/office/drawing/2014/main" val="2148570432"/>
                    </a:ext>
                  </a:extLst>
                </a:gridCol>
                <a:gridCol w="903411">
                  <a:extLst>
                    <a:ext uri="{9D8B030D-6E8A-4147-A177-3AD203B41FA5}">
                      <a16:colId xmlns:a16="http://schemas.microsoft.com/office/drawing/2014/main" val="3735393250"/>
                    </a:ext>
                  </a:extLst>
                </a:gridCol>
                <a:gridCol w="903411">
                  <a:extLst>
                    <a:ext uri="{9D8B030D-6E8A-4147-A177-3AD203B41FA5}">
                      <a16:colId xmlns:a16="http://schemas.microsoft.com/office/drawing/2014/main" val="999173527"/>
                    </a:ext>
                  </a:extLst>
                </a:gridCol>
                <a:gridCol w="677556">
                  <a:extLst>
                    <a:ext uri="{9D8B030D-6E8A-4147-A177-3AD203B41FA5}">
                      <a16:colId xmlns:a16="http://schemas.microsoft.com/office/drawing/2014/main" val="3525085823"/>
                    </a:ext>
                  </a:extLst>
                </a:gridCol>
                <a:gridCol w="1932292">
                  <a:extLst>
                    <a:ext uri="{9D8B030D-6E8A-4147-A177-3AD203B41FA5}">
                      <a16:colId xmlns:a16="http://schemas.microsoft.com/office/drawing/2014/main" val="403376770"/>
                    </a:ext>
                  </a:extLst>
                </a:gridCol>
                <a:gridCol w="1932292">
                  <a:extLst>
                    <a:ext uri="{9D8B030D-6E8A-4147-A177-3AD203B41FA5}">
                      <a16:colId xmlns:a16="http://schemas.microsoft.com/office/drawing/2014/main" val="1730535171"/>
                    </a:ext>
                  </a:extLst>
                </a:gridCol>
              </a:tblGrid>
              <a:tr h="949103">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Sr. No.</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Description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Date</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Value</a:t>
                      </a:r>
                    </a:p>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(Cr)</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Contractual Completion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Planned Completion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 (in Rs Cr)</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Pendency</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141544519"/>
                  </a:ext>
                </a:extLst>
              </a:tr>
              <a:tr h="629334">
                <a:tc rowSpan="4">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package TK-01 under comprehensive scheme of strengthening of transmission and distribution system in </a:t>
                      </a:r>
                      <a:r>
                        <a:rPr lang="en-US"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sikkim</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TK01-Prolongation</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16-03-2016</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115.21</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 Months</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6.74</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Pending since Nov-2022</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Being  continuously followed up in corporate for settlement</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149007648"/>
                  </a:ext>
                </a:extLst>
              </a:tr>
              <a:tr h="651310">
                <a:tc vMerge="1">
                  <a:txBody>
                    <a:bodyPr/>
                    <a:lstStyle/>
                    <a:p>
                      <a:endParaRPr lang="en-IN"/>
                    </a:p>
                  </a:txBody>
                  <a:tcPr/>
                </a:tc>
                <a:tc vMerge="1">
                  <a:txBody>
                    <a:bodyPr/>
                    <a:lstStyle/>
                    <a:p>
                      <a:endParaRPr lang="en-IN"/>
                    </a:p>
                  </a:txBody>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TK01-Prolongation</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16-03-2016</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768341375"/>
                  </a:ext>
                </a:extLst>
              </a:tr>
              <a:tr h="629334">
                <a:tc vMerge="1">
                  <a:txBody>
                    <a:bodyPr/>
                    <a:lstStyle/>
                    <a:p>
                      <a:endParaRPr lang="en-IN"/>
                    </a:p>
                  </a:txBody>
                  <a:tcPr/>
                </a:tc>
                <a:tc rowSpan="2">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package Tk-04 for various 66/220 kV Transmission lines Under comprehensive scheme of strengthening of transmission and distribution system in </a:t>
                      </a:r>
                      <a:r>
                        <a:rPr lang="en-US"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sikkim</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TK04-Prolongation</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23-06-2016</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13482554"/>
                  </a:ext>
                </a:extLst>
              </a:tr>
              <a:tr h="1085518">
                <a:tc vMerge="1">
                  <a:txBody>
                    <a:bodyPr/>
                    <a:lstStyle/>
                    <a:p>
                      <a:endParaRPr lang="en-IN"/>
                    </a:p>
                  </a:txBody>
                  <a:tcPr/>
                </a:tc>
                <a:tc vMerge="1">
                  <a:txBody>
                    <a:bodyPr/>
                    <a:lstStyle/>
                    <a:p>
                      <a:endParaRPr lang="en-IN"/>
                    </a:p>
                  </a:txBody>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TK 04 Prolongation claim</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23-06-2016</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44198544"/>
                  </a:ext>
                </a:extLst>
              </a:tr>
              <a:tr h="440234">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PGCIL SIKKIM OLD( cabling)</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03-02-2021</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293110334"/>
                  </a:ext>
                </a:extLst>
              </a:tr>
              <a:tr h="837461">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PGCIL SIKKIM NEW(cabling)</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17-03-2022</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25755510"/>
                  </a:ext>
                </a:extLst>
              </a:tr>
              <a:tr h="241222">
                <a:tc gridSpan="7">
                  <a:txBody>
                    <a:bodyPr/>
                    <a:lstStyle/>
                    <a:p>
                      <a:pPr algn="ctr" fontAlgn="ctr">
                        <a:buNone/>
                      </a:pPr>
                      <a:r>
                        <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Amount(Cr) for ER-II</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077" marR="5077" marT="507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extLst>
                  <a:ext uri="{0D108BD9-81ED-4DB2-BD59-A6C34878D82A}">
                    <a16:rowId xmlns:a16="http://schemas.microsoft.com/office/drawing/2014/main" val="1952699446"/>
                  </a:ext>
                </a:extLst>
              </a:tr>
            </a:tbl>
          </a:graphicData>
        </a:graphic>
      </p:graphicFrame>
    </p:spTree>
    <p:extLst>
      <p:ext uri="{BB962C8B-B14F-4D97-AF65-F5344CB8AC3E}">
        <p14:creationId xmlns:p14="http://schemas.microsoft.com/office/powerpoint/2010/main" val="3931951530"/>
      </p:ext>
    </p:extLst>
  </p:cSld>
  <p:clrMapOvr>
    <a:masterClrMapping/>
  </p:clrMapOvr>
  <p:transition spd="slow"/>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96DB1E-561E-B00A-5C9B-74F2F1D6EFAF}"/>
              </a:ext>
            </a:extLst>
          </p:cNvPr>
          <p:cNvSpPr>
            <a:spLocks noGrp="1"/>
          </p:cNvSpPr>
          <p:nvPr>
            <p:ph type="title"/>
          </p:nvPr>
        </p:nvSpPr>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Pending Claims (NR</a:t>
            </a:r>
            <a:r>
              <a:rPr lang="en-IN" sz="2400" dirty="0">
                <a:latin typeface="Calibri" panose="020F0502020204030204" pitchFamily="34" charset="0"/>
                <a:ea typeface="Calibri" panose="020F0502020204030204" pitchFamily="34" charset="0"/>
                <a:cs typeface="Calibri" panose="020F0502020204030204" pitchFamily="34" charset="0"/>
              </a:rPr>
              <a:t>)</a:t>
            </a:r>
          </a:p>
        </p:txBody>
      </p:sp>
      <p:graphicFrame>
        <p:nvGraphicFramePr>
          <p:cNvPr id="4" name="Table 3">
            <a:extLst>
              <a:ext uri="{FF2B5EF4-FFF2-40B4-BE49-F238E27FC236}">
                <a16:creationId xmlns:a16="http://schemas.microsoft.com/office/drawing/2014/main" id="{5C952322-9636-A443-F9AB-F83883739ED9}"/>
              </a:ext>
            </a:extLst>
          </p:cNvPr>
          <p:cNvGraphicFramePr>
            <a:graphicFrameLocks noGrp="1"/>
          </p:cNvGraphicFramePr>
          <p:nvPr>
            <p:extLst>
              <p:ext uri="{D42A27DB-BD31-4B8C-83A1-F6EECF244321}">
                <p14:modId xmlns:p14="http://schemas.microsoft.com/office/powerpoint/2010/main" val="3271467065"/>
              </p:ext>
            </p:extLst>
          </p:nvPr>
        </p:nvGraphicFramePr>
        <p:xfrm>
          <a:off x="257899" y="1333500"/>
          <a:ext cx="11676205" cy="5317933"/>
        </p:xfrm>
        <a:graphic>
          <a:graphicData uri="http://schemas.openxmlformats.org/drawingml/2006/table">
            <a:tbl>
              <a:tblPr/>
              <a:tblGrid>
                <a:gridCol w="601839">
                  <a:extLst>
                    <a:ext uri="{9D8B030D-6E8A-4147-A177-3AD203B41FA5}">
                      <a16:colId xmlns:a16="http://schemas.microsoft.com/office/drawing/2014/main" val="3761223538"/>
                    </a:ext>
                  </a:extLst>
                </a:gridCol>
                <a:gridCol w="1587611">
                  <a:extLst>
                    <a:ext uri="{9D8B030D-6E8A-4147-A177-3AD203B41FA5}">
                      <a16:colId xmlns:a16="http://schemas.microsoft.com/office/drawing/2014/main" val="3515284468"/>
                    </a:ext>
                  </a:extLst>
                </a:gridCol>
                <a:gridCol w="1486439">
                  <a:extLst>
                    <a:ext uri="{9D8B030D-6E8A-4147-A177-3AD203B41FA5}">
                      <a16:colId xmlns:a16="http://schemas.microsoft.com/office/drawing/2014/main" val="1694310866"/>
                    </a:ext>
                  </a:extLst>
                </a:gridCol>
                <a:gridCol w="1006525">
                  <a:extLst>
                    <a:ext uri="{9D8B030D-6E8A-4147-A177-3AD203B41FA5}">
                      <a16:colId xmlns:a16="http://schemas.microsoft.com/office/drawing/2014/main" val="4047427986"/>
                    </a:ext>
                  </a:extLst>
                </a:gridCol>
                <a:gridCol w="778242">
                  <a:extLst>
                    <a:ext uri="{9D8B030D-6E8A-4147-A177-3AD203B41FA5}">
                      <a16:colId xmlns:a16="http://schemas.microsoft.com/office/drawing/2014/main" val="521732568"/>
                    </a:ext>
                  </a:extLst>
                </a:gridCol>
                <a:gridCol w="1016901">
                  <a:extLst>
                    <a:ext uri="{9D8B030D-6E8A-4147-A177-3AD203B41FA5}">
                      <a16:colId xmlns:a16="http://schemas.microsoft.com/office/drawing/2014/main" val="407494945"/>
                    </a:ext>
                  </a:extLst>
                </a:gridCol>
                <a:gridCol w="1120666">
                  <a:extLst>
                    <a:ext uri="{9D8B030D-6E8A-4147-A177-3AD203B41FA5}">
                      <a16:colId xmlns:a16="http://schemas.microsoft.com/office/drawing/2014/main" val="2624292782"/>
                    </a:ext>
                  </a:extLst>
                </a:gridCol>
                <a:gridCol w="840501">
                  <a:extLst>
                    <a:ext uri="{9D8B030D-6E8A-4147-A177-3AD203B41FA5}">
                      <a16:colId xmlns:a16="http://schemas.microsoft.com/office/drawing/2014/main" val="2956670850"/>
                    </a:ext>
                  </a:extLst>
                </a:gridCol>
                <a:gridCol w="840501">
                  <a:extLst>
                    <a:ext uri="{9D8B030D-6E8A-4147-A177-3AD203B41FA5}">
                      <a16:colId xmlns:a16="http://schemas.microsoft.com/office/drawing/2014/main" val="3084914384"/>
                    </a:ext>
                  </a:extLst>
                </a:gridCol>
                <a:gridCol w="2396980">
                  <a:extLst>
                    <a:ext uri="{9D8B030D-6E8A-4147-A177-3AD203B41FA5}">
                      <a16:colId xmlns:a16="http://schemas.microsoft.com/office/drawing/2014/main" val="3215256791"/>
                    </a:ext>
                  </a:extLst>
                </a:gridCol>
              </a:tblGrid>
              <a:tr h="374900">
                <a:tc gridSpan="10">
                  <a:txBody>
                    <a:bodyPr/>
                    <a:lstStyle/>
                    <a:p>
                      <a:pPr algn="l"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Region: Northeast Region (Guwahati)</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endParaRPr lang="en-IN"/>
                    </a:p>
                  </a:txBody>
                  <a:tcPr>
                    <a:lnL w="6350" cap="flat" cmpd="sng" algn="ctr">
                      <a:solidFill>
                        <a:srgbClr val="000000"/>
                      </a:solidFill>
                      <a:prstDash val="solid"/>
                      <a:round/>
                      <a:headEnd type="none" w="med" len="med"/>
                      <a:tailEnd type="none" w="med" len="med"/>
                    </a:ln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1890490745"/>
                  </a:ext>
                </a:extLst>
              </a:tr>
              <a:tr h="889047">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Sr. No.</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Description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Date</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Value(Cr)</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Contractual Completion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Planned Completion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Amount(in Rs Cr)</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Pendency</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164581359"/>
                  </a:ext>
                </a:extLst>
              </a:tr>
              <a:tr h="81406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Transmission line package TW7B</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15-01-2021</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456174505"/>
                  </a:ext>
                </a:extLst>
              </a:tr>
              <a:tr h="454884">
                <a:tc gridSpan="7">
                  <a:txBody>
                    <a:bodyPr/>
                    <a:lstStyle/>
                    <a:p>
                      <a:pPr algn="ctr" fontAlgn="ctr">
                        <a:buNone/>
                      </a:pPr>
                      <a:r>
                        <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Amount(Cr) for NER-Guwahati</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extLst>
                  <a:ext uri="{0D108BD9-81ED-4DB2-BD59-A6C34878D82A}">
                    <a16:rowId xmlns:a16="http://schemas.microsoft.com/office/drawing/2014/main" val="625813309"/>
                  </a:ext>
                </a:extLst>
              </a:tr>
              <a:tr h="374900">
                <a:tc gridSpan="10">
                  <a:txBody>
                    <a:bodyPr/>
                    <a:lstStyle/>
                    <a:p>
                      <a:pPr algn="l"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Region: Northeast Region (Itanagar)</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endParaRPr lang="en-IN"/>
                    </a:p>
                  </a:txBody>
                  <a:tcPr>
                    <a:lnL w="6350" cap="flat" cmpd="sng" algn="ctr">
                      <a:solidFill>
                        <a:srgbClr val="000000"/>
                      </a:solidFill>
                      <a:prstDash val="solid"/>
                      <a:round/>
                      <a:headEnd type="none" w="med" len="med"/>
                      <a:tailEnd type="none" w="med" len="med"/>
                    </a:ln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98697275"/>
                  </a:ext>
                </a:extLst>
              </a:tr>
              <a:tr h="1681331">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Tower package TW24 under comprehensive scheme of </a:t>
                      </a:r>
                      <a:r>
                        <a:rPr lang="en-US"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strengthning</a:t>
                      </a: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of transmission and distribution system in Arunachal Pradesh</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28-09-2018</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49089151"/>
                  </a:ext>
                </a:extLst>
              </a:tr>
              <a:tr h="696243">
                <a:tc gridSpan="7">
                  <a:txBody>
                    <a:bodyPr/>
                    <a:lstStyle/>
                    <a:p>
                      <a:pPr algn="ctr" fontAlgn="ctr">
                        <a:buNone/>
                      </a:pPr>
                      <a:r>
                        <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Amount(Cr) for NER-Itanagar</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extLst>
                  <a:ext uri="{0D108BD9-81ED-4DB2-BD59-A6C34878D82A}">
                    <a16:rowId xmlns:a16="http://schemas.microsoft.com/office/drawing/2014/main" val="2977167954"/>
                  </a:ext>
                </a:extLst>
              </a:tr>
            </a:tbl>
          </a:graphicData>
        </a:graphic>
      </p:graphicFrame>
    </p:spTree>
    <p:extLst>
      <p:ext uri="{BB962C8B-B14F-4D97-AF65-F5344CB8AC3E}">
        <p14:creationId xmlns:p14="http://schemas.microsoft.com/office/powerpoint/2010/main" val="3032768868"/>
      </p:ext>
    </p:extLst>
  </p:cSld>
  <p:clrMapOvr>
    <a:masterClrMapping/>
  </p:clrMapOvr>
  <p:transition spd="slow"/>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71CD6E-4CEB-73D3-82C8-8030C9CDEFD6}"/>
              </a:ext>
            </a:extLst>
          </p:cNvPr>
          <p:cNvSpPr>
            <a:spLocks noGrp="1"/>
          </p:cNvSpPr>
          <p:nvPr>
            <p:ph type="title"/>
          </p:nvPr>
        </p:nvSpPr>
        <p:spPr>
          <a:xfrm>
            <a:off x="257898" y="594360"/>
            <a:ext cx="11676203" cy="548640"/>
          </a:xfrm>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Pending Claims (Rajasthan Region</a:t>
            </a:r>
            <a:r>
              <a:rPr lang="en-IN" sz="2400" dirty="0">
                <a:latin typeface="Calibri" panose="020F0502020204030204" pitchFamily="34" charset="0"/>
                <a:ea typeface="Calibri" panose="020F0502020204030204" pitchFamily="34" charset="0"/>
                <a:cs typeface="Calibri" panose="020F0502020204030204" pitchFamily="34" charset="0"/>
              </a:rPr>
              <a:t>)</a:t>
            </a:r>
          </a:p>
        </p:txBody>
      </p:sp>
      <p:graphicFrame>
        <p:nvGraphicFramePr>
          <p:cNvPr id="4" name="Content Placeholder 3">
            <a:extLst>
              <a:ext uri="{FF2B5EF4-FFF2-40B4-BE49-F238E27FC236}">
                <a16:creationId xmlns:a16="http://schemas.microsoft.com/office/drawing/2014/main" id="{FE02FD92-A74A-7B4A-25D7-17E322973705}"/>
              </a:ext>
            </a:extLst>
          </p:cNvPr>
          <p:cNvGraphicFramePr>
            <a:graphicFrameLocks noGrp="1"/>
          </p:cNvGraphicFramePr>
          <p:nvPr>
            <p:ph sz="half" idx="2"/>
            <p:extLst>
              <p:ext uri="{D42A27DB-BD31-4B8C-83A1-F6EECF244321}">
                <p14:modId xmlns:p14="http://schemas.microsoft.com/office/powerpoint/2010/main" val="2497360031"/>
              </p:ext>
            </p:extLst>
          </p:nvPr>
        </p:nvGraphicFramePr>
        <p:xfrm>
          <a:off x="257898" y="1266825"/>
          <a:ext cx="11524528" cy="5524281"/>
        </p:xfrm>
        <a:graphic>
          <a:graphicData uri="http://schemas.openxmlformats.org/drawingml/2006/table">
            <a:tbl>
              <a:tblPr/>
              <a:tblGrid>
                <a:gridCol w="594020">
                  <a:extLst>
                    <a:ext uri="{9D8B030D-6E8A-4147-A177-3AD203B41FA5}">
                      <a16:colId xmlns:a16="http://schemas.microsoft.com/office/drawing/2014/main" val="230267339"/>
                    </a:ext>
                  </a:extLst>
                </a:gridCol>
                <a:gridCol w="1566989">
                  <a:extLst>
                    <a:ext uri="{9D8B030D-6E8A-4147-A177-3AD203B41FA5}">
                      <a16:colId xmlns:a16="http://schemas.microsoft.com/office/drawing/2014/main" val="1937045408"/>
                    </a:ext>
                  </a:extLst>
                </a:gridCol>
                <a:gridCol w="1467130">
                  <a:extLst>
                    <a:ext uri="{9D8B030D-6E8A-4147-A177-3AD203B41FA5}">
                      <a16:colId xmlns:a16="http://schemas.microsoft.com/office/drawing/2014/main" val="2299190258"/>
                    </a:ext>
                  </a:extLst>
                </a:gridCol>
                <a:gridCol w="993449">
                  <a:extLst>
                    <a:ext uri="{9D8B030D-6E8A-4147-A177-3AD203B41FA5}">
                      <a16:colId xmlns:a16="http://schemas.microsoft.com/office/drawing/2014/main" val="4175624657"/>
                    </a:ext>
                  </a:extLst>
                </a:gridCol>
                <a:gridCol w="768131">
                  <a:extLst>
                    <a:ext uri="{9D8B030D-6E8A-4147-A177-3AD203B41FA5}">
                      <a16:colId xmlns:a16="http://schemas.microsoft.com/office/drawing/2014/main" val="2716287718"/>
                    </a:ext>
                  </a:extLst>
                </a:gridCol>
                <a:gridCol w="1003691">
                  <a:extLst>
                    <a:ext uri="{9D8B030D-6E8A-4147-A177-3AD203B41FA5}">
                      <a16:colId xmlns:a16="http://schemas.microsoft.com/office/drawing/2014/main" val="579768791"/>
                    </a:ext>
                  </a:extLst>
                </a:gridCol>
                <a:gridCol w="1106109">
                  <a:extLst>
                    <a:ext uri="{9D8B030D-6E8A-4147-A177-3AD203B41FA5}">
                      <a16:colId xmlns:a16="http://schemas.microsoft.com/office/drawing/2014/main" val="475755270"/>
                    </a:ext>
                  </a:extLst>
                </a:gridCol>
                <a:gridCol w="829582">
                  <a:extLst>
                    <a:ext uri="{9D8B030D-6E8A-4147-A177-3AD203B41FA5}">
                      <a16:colId xmlns:a16="http://schemas.microsoft.com/office/drawing/2014/main" val="1605504617"/>
                    </a:ext>
                  </a:extLst>
                </a:gridCol>
                <a:gridCol w="829582">
                  <a:extLst>
                    <a:ext uri="{9D8B030D-6E8A-4147-A177-3AD203B41FA5}">
                      <a16:colId xmlns:a16="http://schemas.microsoft.com/office/drawing/2014/main" val="327421588"/>
                    </a:ext>
                  </a:extLst>
                </a:gridCol>
                <a:gridCol w="2365845">
                  <a:extLst>
                    <a:ext uri="{9D8B030D-6E8A-4147-A177-3AD203B41FA5}">
                      <a16:colId xmlns:a16="http://schemas.microsoft.com/office/drawing/2014/main" val="161884165"/>
                    </a:ext>
                  </a:extLst>
                </a:gridCol>
              </a:tblGrid>
              <a:tr h="849709">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Sr. No.</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Description</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Date</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Value(Cr)</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Contractual Completion</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Planned Completion</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a:t>
                      </a:r>
                    </a:p>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 Rs Cr)</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Pendency</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872395479"/>
                  </a:ext>
                </a:extLst>
              </a:tr>
              <a:tr h="84970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TW02 for 765kV D/C </a:t>
                      </a:r>
                      <a:r>
                        <a:rPr lang="en-IN"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Fatehgarh</a:t>
                      </a: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-Il PS - </a:t>
                      </a:r>
                      <a:r>
                        <a:rPr lang="en-IN"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Bhadla</a:t>
                      </a: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 II PS (2nd) under TBCB</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(18.3Crs)/Idling (1.1Crs)</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15-02-2021</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239.75</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 Months</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Completed</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19.40 </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Pending since Feb'24</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Preliminary  discussion held on 27.04.26.Next date to be finalized for further taking up  the claims</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437812499"/>
                  </a:ext>
                </a:extLst>
              </a:tr>
              <a:tr h="84970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TW01 for </a:t>
                      </a:r>
                      <a:r>
                        <a:rPr lang="en-IN"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Bhadla</a:t>
                      </a: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-Il PS- Sikar-II 765kV D/C Line-Part-I under TBCB</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(11.48Crs)/Idling (0.24Crs)</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15-02-2021</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559952940"/>
                  </a:ext>
                </a:extLst>
              </a:tr>
              <a:tr h="84970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TW03 for </a:t>
                      </a:r>
                      <a:r>
                        <a:rPr lang="en-IN"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Bhadla</a:t>
                      </a: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-Il PS- Sikar-II 765kV D/C Line-Part-III under TBCB</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(23.69 </a:t>
                      </a:r>
                      <a:r>
                        <a:rPr lang="en-IN"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Crs</a:t>
                      </a: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)/Idling  (1.91Crs)</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15-02-2021</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48759398"/>
                  </a:ext>
                </a:extLst>
              </a:tr>
              <a:tr h="924004">
                <a:tc>
                  <a:txBody>
                    <a:bodyPr/>
                    <a:lstStyle/>
                    <a:p>
                      <a:pPr algn="ctr"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TW04 for Sikar-ll - Neemrana 400 kV D/C line (Twin HTLS) (Part I) under TBCB</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(20.36Crs)/Idling (0.37Crs)</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15-02-2021</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07898270"/>
                  </a:ext>
                </a:extLst>
              </a:tr>
              <a:tr h="924004">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Package TW02 for </a:t>
                      </a:r>
                      <a:r>
                        <a:rPr lang="en-IN"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Bhadla</a:t>
                      </a: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-Il PS- Sikar-II 765kV D/C Line-Part-II under TBCB</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Cost</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15-02-2021</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917260229"/>
                  </a:ext>
                </a:extLst>
              </a:tr>
              <a:tr h="236993">
                <a:tc gridSpan="7">
                  <a:txBody>
                    <a:bodyPr/>
                    <a:lstStyle/>
                    <a:p>
                      <a:pPr algn="ctr" fontAlgn="ctr">
                        <a:buNone/>
                      </a:pPr>
                      <a:r>
                        <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Amount(Cr) for RJ Region</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6380" marR="6380" marT="638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extLst>
                  <a:ext uri="{0D108BD9-81ED-4DB2-BD59-A6C34878D82A}">
                    <a16:rowId xmlns:a16="http://schemas.microsoft.com/office/drawing/2014/main" val="3935492607"/>
                  </a:ext>
                </a:extLst>
              </a:tr>
            </a:tbl>
          </a:graphicData>
        </a:graphic>
      </p:graphicFrame>
    </p:spTree>
    <p:extLst>
      <p:ext uri="{BB962C8B-B14F-4D97-AF65-F5344CB8AC3E}">
        <p14:creationId xmlns:p14="http://schemas.microsoft.com/office/powerpoint/2010/main" val="3086188897"/>
      </p:ext>
    </p:extLst>
  </p:cSld>
  <p:clrMapOvr>
    <a:masterClrMapping/>
  </p:clrMapOvr>
  <p:transition spd="slow"/>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286833-7EC2-9B9A-FC7B-FA58E4097964}"/>
              </a:ext>
            </a:extLst>
          </p:cNvPr>
          <p:cNvSpPr>
            <a:spLocks noGrp="1"/>
          </p:cNvSpPr>
          <p:nvPr>
            <p:ph type="title"/>
          </p:nvPr>
        </p:nvSpPr>
        <p:spPr>
          <a:xfrm>
            <a:off x="257898" y="625271"/>
            <a:ext cx="11676203" cy="551809"/>
          </a:xfrm>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Pending Claims (WR-II) (Cont..)</a:t>
            </a:r>
            <a:endParaRPr lang="en-IN" sz="2400"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4" name="Table 3">
            <a:extLst>
              <a:ext uri="{FF2B5EF4-FFF2-40B4-BE49-F238E27FC236}">
                <a16:creationId xmlns:a16="http://schemas.microsoft.com/office/drawing/2014/main" id="{E3703D85-3077-CF4A-ADF1-21ED5E30D032}"/>
              </a:ext>
            </a:extLst>
          </p:cNvPr>
          <p:cNvGraphicFramePr>
            <a:graphicFrameLocks noGrp="1"/>
          </p:cNvGraphicFramePr>
          <p:nvPr>
            <p:extLst>
              <p:ext uri="{D42A27DB-BD31-4B8C-83A1-F6EECF244321}">
                <p14:modId xmlns:p14="http://schemas.microsoft.com/office/powerpoint/2010/main" val="2121772467"/>
              </p:ext>
            </p:extLst>
          </p:nvPr>
        </p:nvGraphicFramePr>
        <p:xfrm>
          <a:off x="257897" y="1285875"/>
          <a:ext cx="11561179" cy="5329938"/>
        </p:xfrm>
        <a:graphic>
          <a:graphicData uri="http://schemas.openxmlformats.org/drawingml/2006/table">
            <a:tbl>
              <a:tblPr/>
              <a:tblGrid>
                <a:gridCol w="476516">
                  <a:extLst>
                    <a:ext uri="{9D8B030D-6E8A-4147-A177-3AD203B41FA5}">
                      <a16:colId xmlns:a16="http://schemas.microsoft.com/office/drawing/2014/main" val="3962600652"/>
                    </a:ext>
                  </a:extLst>
                </a:gridCol>
                <a:gridCol w="963811">
                  <a:extLst>
                    <a:ext uri="{9D8B030D-6E8A-4147-A177-3AD203B41FA5}">
                      <a16:colId xmlns:a16="http://schemas.microsoft.com/office/drawing/2014/main" val="3031674692"/>
                    </a:ext>
                  </a:extLst>
                </a:gridCol>
                <a:gridCol w="1068928">
                  <a:extLst>
                    <a:ext uri="{9D8B030D-6E8A-4147-A177-3AD203B41FA5}">
                      <a16:colId xmlns:a16="http://schemas.microsoft.com/office/drawing/2014/main" val="3103979291"/>
                    </a:ext>
                  </a:extLst>
                </a:gridCol>
                <a:gridCol w="873839">
                  <a:extLst>
                    <a:ext uri="{9D8B030D-6E8A-4147-A177-3AD203B41FA5}">
                      <a16:colId xmlns:a16="http://schemas.microsoft.com/office/drawing/2014/main" val="2499857430"/>
                    </a:ext>
                  </a:extLst>
                </a:gridCol>
                <a:gridCol w="585658">
                  <a:extLst>
                    <a:ext uri="{9D8B030D-6E8A-4147-A177-3AD203B41FA5}">
                      <a16:colId xmlns:a16="http://schemas.microsoft.com/office/drawing/2014/main" val="1999195453"/>
                    </a:ext>
                  </a:extLst>
                </a:gridCol>
                <a:gridCol w="883136">
                  <a:extLst>
                    <a:ext uri="{9D8B030D-6E8A-4147-A177-3AD203B41FA5}">
                      <a16:colId xmlns:a16="http://schemas.microsoft.com/office/drawing/2014/main" val="143919319"/>
                    </a:ext>
                  </a:extLst>
                </a:gridCol>
                <a:gridCol w="994689">
                  <a:extLst>
                    <a:ext uri="{9D8B030D-6E8A-4147-A177-3AD203B41FA5}">
                      <a16:colId xmlns:a16="http://schemas.microsoft.com/office/drawing/2014/main" val="2999901446"/>
                    </a:ext>
                  </a:extLst>
                </a:gridCol>
                <a:gridCol w="1013282">
                  <a:extLst>
                    <a:ext uri="{9D8B030D-6E8A-4147-A177-3AD203B41FA5}">
                      <a16:colId xmlns:a16="http://schemas.microsoft.com/office/drawing/2014/main" val="2341610873"/>
                    </a:ext>
                  </a:extLst>
                </a:gridCol>
                <a:gridCol w="799470">
                  <a:extLst>
                    <a:ext uri="{9D8B030D-6E8A-4147-A177-3AD203B41FA5}">
                      <a16:colId xmlns:a16="http://schemas.microsoft.com/office/drawing/2014/main" val="3221992154"/>
                    </a:ext>
                  </a:extLst>
                </a:gridCol>
                <a:gridCol w="3901850">
                  <a:extLst>
                    <a:ext uri="{9D8B030D-6E8A-4147-A177-3AD203B41FA5}">
                      <a16:colId xmlns:a16="http://schemas.microsoft.com/office/drawing/2014/main" val="986174489"/>
                    </a:ext>
                  </a:extLst>
                </a:gridCol>
              </a:tblGrid>
              <a:tr h="557945">
                <a:tc>
                  <a:txBody>
                    <a:bodyPr/>
                    <a:lstStyle/>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Sr. No.</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Description</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Date</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Value(</a:t>
                      </a:r>
                    </a:p>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Cr)</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Contractual Completion</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Planned Completion</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a:t>
                      </a:r>
                    </a:p>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(in Rs Cr)</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Pendency</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022220290"/>
                  </a:ext>
                </a:extLst>
              </a:tr>
              <a:tr h="1461565">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Navsari  Magarwada TL</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(7.21Crs)/Idling (0.8 </a:t>
                      </a:r>
                      <a:r>
                        <a:rPr lang="en-IN"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Crs</a:t>
                      </a: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11-08-2022</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285.66</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10-11-23 &amp; 10-9-24</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02-04-2026</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8.32 </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Pending since April'23, Latest submission was made in Jan'25</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Idling</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-As per  </a:t>
                      </a:r>
                      <a:r>
                        <a:rPr lang="en-US"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Powergrid</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meeting, revisions were made after addressing Finance queries and routing via PESM and C&amp;M—is presently under review with Finance (</a:t>
                      </a:r>
                      <a:r>
                        <a:rPr lang="en-US" sz="12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HoD</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level committee).</a:t>
                      </a:r>
                      <a:b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US" sz="12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a:t>
                      </a: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 Revised L2 finalized after joint discussions with PG &amp; KEC; consent and PV implications submitted, and the case is currently under review with Finance.</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73823169"/>
                  </a:ext>
                </a:extLst>
              </a:tr>
              <a:tr h="915256">
                <a:tc rowSpan="4">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a:txBody>
                    <a:bodyPr/>
                    <a:lstStyle/>
                    <a:p>
                      <a:pPr algn="l"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Ahmedabad Navsari TL 02</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Idling </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21-03-2023</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4">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666653618"/>
                  </a:ext>
                </a:extLst>
              </a:tr>
              <a:tr h="915256">
                <a:tc vMerge="1">
                  <a:txBody>
                    <a:bodyPr/>
                    <a:lstStyle/>
                    <a:p>
                      <a:endParaRPr lang="en-IN"/>
                    </a:p>
                  </a:txBody>
                  <a:tcPr/>
                </a:tc>
                <a:tc vMerge="1">
                  <a:txBody>
                    <a:bodyPr/>
                    <a:lstStyle/>
                    <a:p>
                      <a:endParaRPr lang="en-IN"/>
                    </a:p>
                  </a:txBody>
                  <a:tcPr/>
                </a:tc>
                <a:tc>
                  <a:txBody>
                    <a:bodyPr/>
                    <a:lstStyle/>
                    <a:p>
                      <a:pPr algn="l"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Prologation </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21-03-2023</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vMerge="1">
                  <a:txBody>
                    <a:bodyPr/>
                    <a:lstStyle/>
                    <a:p>
                      <a:endParaRPr lang="en-IN"/>
                    </a:p>
                  </a:txBody>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5096530"/>
                  </a:ext>
                </a:extLst>
              </a:tr>
              <a:tr h="733155">
                <a:tc vMerge="1">
                  <a:txBody>
                    <a:bodyPr/>
                    <a:lstStyle/>
                    <a:p>
                      <a:endParaRPr lang="en-IN"/>
                    </a:p>
                  </a:txBody>
                  <a:tcPr/>
                </a:tc>
                <a:tc vMerge="1">
                  <a:txBody>
                    <a:bodyPr/>
                    <a:lstStyle/>
                    <a:p>
                      <a:endParaRPr lang="en-IN"/>
                    </a:p>
                  </a:txBody>
                  <a:tcPr/>
                </a:tc>
                <a:tc>
                  <a:txBody>
                    <a:bodyPr/>
                    <a:lstStyle/>
                    <a:p>
                      <a:pPr algn="l" fontAlgn="ctr">
                        <a:buNone/>
                      </a:pPr>
                      <a:r>
                        <a:rPr lang="en-US"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Foundation and  erection dismatling work </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21-03-2023</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vMerge="1">
                  <a:txBody>
                    <a:bodyPr/>
                    <a:lstStyle/>
                    <a:p>
                      <a:endParaRPr lang="en-IN"/>
                    </a:p>
                  </a:txBody>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56836632"/>
                  </a:ext>
                </a:extLst>
              </a:tr>
              <a:tr h="742060">
                <a:tc vMerge="1">
                  <a:txBody>
                    <a:bodyPr/>
                    <a:lstStyle/>
                    <a:p>
                      <a:endParaRPr lang="en-IN"/>
                    </a:p>
                  </a:txBody>
                  <a:tcPr/>
                </a:tc>
                <a:tc vMerge="1">
                  <a:txBody>
                    <a:bodyPr/>
                    <a:lstStyle/>
                    <a:p>
                      <a:endParaRPr lang="en-IN"/>
                    </a:p>
                  </a:txBody>
                  <a:tcPr/>
                </a:tc>
                <a:tc>
                  <a:txBody>
                    <a:bodyPr/>
                    <a:lstStyle/>
                    <a:p>
                      <a:pPr algn="l" fontAlgn="ctr">
                        <a:buNone/>
                      </a:pPr>
                      <a:r>
                        <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Surge costs for expediting project completion</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21-03-2023</a:t>
                      </a: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vMerge="1">
                  <a:txBody>
                    <a:bodyPr/>
                    <a:lstStyle/>
                    <a:p>
                      <a:endParaRPr lang="en-IN"/>
                    </a:p>
                  </a:txBody>
                  <a:tcPr/>
                </a:tc>
                <a:tc>
                  <a:txBody>
                    <a:bodyPr/>
                    <a:lstStyle/>
                    <a:p>
                      <a:pPr algn="ctr"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IN" sz="12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2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57" marR="5557" marT="555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897686391"/>
                  </a:ext>
                </a:extLst>
              </a:tr>
            </a:tbl>
          </a:graphicData>
        </a:graphic>
      </p:graphicFrame>
    </p:spTree>
    <p:extLst>
      <p:ext uri="{BB962C8B-B14F-4D97-AF65-F5344CB8AC3E}">
        <p14:creationId xmlns:p14="http://schemas.microsoft.com/office/powerpoint/2010/main" val="1472946276"/>
      </p:ext>
    </p:extLst>
  </p:cSld>
  <p:clrMapOvr>
    <a:masterClrMapping/>
  </p:clrMapOvr>
  <p:transition spd="slow"/>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233C43-3AED-EA34-DF06-E0A20C5F5C3E}"/>
              </a:ext>
            </a:extLst>
          </p:cNvPr>
          <p:cNvSpPr>
            <a:spLocks noGrp="1"/>
          </p:cNvSpPr>
          <p:nvPr>
            <p:ph type="title"/>
          </p:nvPr>
        </p:nvSpPr>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Pending Claims (WR-II)</a:t>
            </a:r>
            <a:endParaRPr lang="en-IN" sz="2400"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7" name="Table 6">
            <a:extLst>
              <a:ext uri="{FF2B5EF4-FFF2-40B4-BE49-F238E27FC236}">
                <a16:creationId xmlns:a16="http://schemas.microsoft.com/office/drawing/2014/main" id="{506169CB-16FB-DE1C-DED7-924C9DF3ED8A}"/>
              </a:ext>
            </a:extLst>
          </p:cNvPr>
          <p:cNvGraphicFramePr>
            <a:graphicFrameLocks noGrp="1"/>
          </p:cNvGraphicFramePr>
          <p:nvPr>
            <p:extLst>
              <p:ext uri="{D42A27DB-BD31-4B8C-83A1-F6EECF244321}">
                <p14:modId xmlns:p14="http://schemas.microsoft.com/office/powerpoint/2010/main" val="2510394242"/>
              </p:ext>
            </p:extLst>
          </p:nvPr>
        </p:nvGraphicFramePr>
        <p:xfrm>
          <a:off x="257899" y="1302381"/>
          <a:ext cx="11676205" cy="5267204"/>
        </p:xfrm>
        <a:graphic>
          <a:graphicData uri="http://schemas.openxmlformats.org/drawingml/2006/table">
            <a:tbl>
              <a:tblPr/>
              <a:tblGrid>
                <a:gridCol w="601840">
                  <a:extLst>
                    <a:ext uri="{9D8B030D-6E8A-4147-A177-3AD203B41FA5}">
                      <a16:colId xmlns:a16="http://schemas.microsoft.com/office/drawing/2014/main" val="1227570836"/>
                    </a:ext>
                  </a:extLst>
                </a:gridCol>
                <a:gridCol w="1587611">
                  <a:extLst>
                    <a:ext uri="{9D8B030D-6E8A-4147-A177-3AD203B41FA5}">
                      <a16:colId xmlns:a16="http://schemas.microsoft.com/office/drawing/2014/main" val="2461895188"/>
                    </a:ext>
                  </a:extLst>
                </a:gridCol>
                <a:gridCol w="1486440">
                  <a:extLst>
                    <a:ext uri="{9D8B030D-6E8A-4147-A177-3AD203B41FA5}">
                      <a16:colId xmlns:a16="http://schemas.microsoft.com/office/drawing/2014/main" val="2238681431"/>
                    </a:ext>
                  </a:extLst>
                </a:gridCol>
                <a:gridCol w="1006525">
                  <a:extLst>
                    <a:ext uri="{9D8B030D-6E8A-4147-A177-3AD203B41FA5}">
                      <a16:colId xmlns:a16="http://schemas.microsoft.com/office/drawing/2014/main" val="76901967"/>
                    </a:ext>
                  </a:extLst>
                </a:gridCol>
                <a:gridCol w="778241">
                  <a:extLst>
                    <a:ext uri="{9D8B030D-6E8A-4147-A177-3AD203B41FA5}">
                      <a16:colId xmlns:a16="http://schemas.microsoft.com/office/drawing/2014/main" val="1156660153"/>
                    </a:ext>
                  </a:extLst>
                </a:gridCol>
                <a:gridCol w="1016901">
                  <a:extLst>
                    <a:ext uri="{9D8B030D-6E8A-4147-A177-3AD203B41FA5}">
                      <a16:colId xmlns:a16="http://schemas.microsoft.com/office/drawing/2014/main" val="2448797509"/>
                    </a:ext>
                  </a:extLst>
                </a:gridCol>
                <a:gridCol w="1120666">
                  <a:extLst>
                    <a:ext uri="{9D8B030D-6E8A-4147-A177-3AD203B41FA5}">
                      <a16:colId xmlns:a16="http://schemas.microsoft.com/office/drawing/2014/main" val="766939126"/>
                    </a:ext>
                  </a:extLst>
                </a:gridCol>
                <a:gridCol w="840499">
                  <a:extLst>
                    <a:ext uri="{9D8B030D-6E8A-4147-A177-3AD203B41FA5}">
                      <a16:colId xmlns:a16="http://schemas.microsoft.com/office/drawing/2014/main" val="267110561"/>
                    </a:ext>
                  </a:extLst>
                </a:gridCol>
                <a:gridCol w="840499">
                  <a:extLst>
                    <a:ext uri="{9D8B030D-6E8A-4147-A177-3AD203B41FA5}">
                      <a16:colId xmlns:a16="http://schemas.microsoft.com/office/drawing/2014/main" val="301307566"/>
                    </a:ext>
                  </a:extLst>
                </a:gridCol>
                <a:gridCol w="2396983">
                  <a:extLst>
                    <a:ext uri="{9D8B030D-6E8A-4147-A177-3AD203B41FA5}">
                      <a16:colId xmlns:a16="http://schemas.microsoft.com/office/drawing/2014/main" val="3938651930"/>
                    </a:ext>
                  </a:extLst>
                </a:gridCol>
              </a:tblGrid>
              <a:tr h="756225">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Sr. No.</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Description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Date</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Value(Cr)</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Contractual Completion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Planned Completion</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Amount(in Rs Cr)</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Pendency</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006390094"/>
                  </a:ext>
                </a:extLst>
              </a:tr>
              <a:tr h="756225">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Railway Electrification works Package- PUNE-SATARA (Railways)</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21-06-2018</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344.65</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06-02-2022</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17-06-2025</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20.09 </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Pending since May'23</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Currently at RHQ</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69566599"/>
                  </a:ext>
                </a:extLst>
              </a:tr>
              <a:tr h="2000699">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Ahmedabad SS</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17-03-2023</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98634036"/>
                  </a:ext>
                </a:extLst>
              </a:tr>
              <a:tr h="1254014">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5</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KPS 2 SS</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Prolongation </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18-03-2023</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062626051"/>
                  </a:ext>
                </a:extLst>
              </a:tr>
              <a:tr h="258435">
                <a:tc gridSpan="7">
                  <a:txBody>
                    <a:bodyPr/>
                    <a:lstStyle/>
                    <a:p>
                      <a:pPr algn="ctr" fontAlgn="ctr">
                        <a:buNone/>
                      </a:pPr>
                      <a:r>
                        <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Amount(Cr) for WR -II</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7010" marR="7010" marT="70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extLst>
                  <a:ext uri="{0D108BD9-81ED-4DB2-BD59-A6C34878D82A}">
                    <a16:rowId xmlns:a16="http://schemas.microsoft.com/office/drawing/2014/main" val="3006882703"/>
                  </a:ext>
                </a:extLst>
              </a:tr>
            </a:tbl>
          </a:graphicData>
        </a:graphic>
      </p:graphicFrame>
    </p:spTree>
    <p:extLst>
      <p:ext uri="{BB962C8B-B14F-4D97-AF65-F5344CB8AC3E}">
        <p14:creationId xmlns:p14="http://schemas.microsoft.com/office/powerpoint/2010/main" val="4183189864"/>
      </p:ext>
    </p:extLst>
  </p:cSld>
  <p:clrMapOvr>
    <a:masterClrMapping/>
  </p:clrMapOvr>
  <p:transition spd="slow"/>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ADCAFC-5B26-2823-684C-4BC27FFAD3BD}"/>
              </a:ext>
            </a:extLst>
          </p:cNvPr>
          <p:cNvSpPr>
            <a:spLocks noGrp="1"/>
          </p:cNvSpPr>
          <p:nvPr>
            <p:ph type="title"/>
          </p:nvPr>
        </p:nvSpPr>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Pending Claims(SR-I and NR-I)</a:t>
            </a:r>
          </a:p>
        </p:txBody>
      </p:sp>
      <p:graphicFrame>
        <p:nvGraphicFramePr>
          <p:cNvPr id="4" name="Table 3">
            <a:extLst>
              <a:ext uri="{FF2B5EF4-FFF2-40B4-BE49-F238E27FC236}">
                <a16:creationId xmlns:a16="http://schemas.microsoft.com/office/drawing/2014/main" id="{8CA2AAC7-7336-B3FD-F312-F6FEBD80CEAA}"/>
              </a:ext>
            </a:extLst>
          </p:cNvPr>
          <p:cNvGraphicFramePr>
            <a:graphicFrameLocks noGrp="1"/>
          </p:cNvGraphicFramePr>
          <p:nvPr>
            <p:extLst>
              <p:ext uri="{D42A27DB-BD31-4B8C-83A1-F6EECF244321}">
                <p14:modId xmlns:p14="http://schemas.microsoft.com/office/powerpoint/2010/main" val="2315597929"/>
              </p:ext>
            </p:extLst>
          </p:nvPr>
        </p:nvGraphicFramePr>
        <p:xfrm>
          <a:off x="257898" y="1233590"/>
          <a:ext cx="11547108" cy="5591872"/>
        </p:xfrm>
        <a:graphic>
          <a:graphicData uri="http://schemas.openxmlformats.org/drawingml/2006/table">
            <a:tbl>
              <a:tblPr/>
              <a:tblGrid>
                <a:gridCol w="414143">
                  <a:extLst>
                    <a:ext uri="{9D8B030D-6E8A-4147-A177-3AD203B41FA5}">
                      <a16:colId xmlns:a16="http://schemas.microsoft.com/office/drawing/2014/main" val="3868684981"/>
                    </a:ext>
                  </a:extLst>
                </a:gridCol>
                <a:gridCol w="1598234">
                  <a:extLst>
                    <a:ext uri="{9D8B030D-6E8A-4147-A177-3AD203B41FA5}">
                      <a16:colId xmlns:a16="http://schemas.microsoft.com/office/drawing/2014/main" val="2969601434"/>
                    </a:ext>
                  </a:extLst>
                </a:gridCol>
                <a:gridCol w="1983226">
                  <a:extLst>
                    <a:ext uri="{9D8B030D-6E8A-4147-A177-3AD203B41FA5}">
                      <a16:colId xmlns:a16="http://schemas.microsoft.com/office/drawing/2014/main" val="3712307072"/>
                    </a:ext>
                  </a:extLst>
                </a:gridCol>
                <a:gridCol w="1006868">
                  <a:extLst>
                    <a:ext uri="{9D8B030D-6E8A-4147-A177-3AD203B41FA5}">
                      <a16:colId xmlns:a16="http://schemas.microsoft.com/office/drawing/2014/main" val="3832448744"/>
                    </a:ext>
                  </a:extLst>
                </a:gridCol>
                <a:gridCol w="606175">
                  <a:extLst>
                    <a:ext uri="{9D8B030D-6E8A-4147-A177-3AD203B41FA5}">
                      <a16:colId xmlns:a16="http://schemas.microsoft.com/office/drawing/2014/main" val="3583199460"/>
                    </a:ext>
                  </a:extLst>
                </a:gridCol>
                <a:gridCol w="1037690">
                  <a:extLst>
                    <a:ext uri="{9D8B030D-6E8A-4147-A177-3AD203B41FA5}">
                      <a16:colId xmlns:a16="http://schemas.microsoft.com/office/drawing/2014/main" val="2500689664"/>
                    </a:ext>
                  </a:extLst>
                </a:gridCol>
                <a:gridCol w="986319">
                  <a:extLst>
                    <a:ext uri="{9D8B030D-6E8A-4147-A177-3AD203B41FA5}">
                      <a16:colId xmlns:a16="http://schemas.microsoft.com/office/drawing/2014/main" val="3037833597"/>
                    </a:ext>
                  </a:extLst>
                </a:gridCol>
                <a:gridCol w="893851">
                  <a:extLst>
                    <a:ext uri="{9D8B030D-6E8A-4147-A177-3AD203B41FA5}">
                      <a16:colId xmlns:a16="http://schemas.microsoft.com/office/drawing/2014/main" val="1640307116"/>
                    </a:ext>
                  </a:extLst>
                </a:gridCol>
                <a:gridCol w="934949">
                  <a:extLst>
                    <a:ext uri="{9D8B030D-6E8A-4147-A177-3AD203B41FA5}">
                      <a16:colId xmlns:a16="http://schemas.microsoft.com/office/drawing/2014/main" val="3820600406"/>
                    </a:ext>
                  </a:extLst>
                </a:gridCol>
                <a:gridCol w="2085653">
                  <a:extLst>
                    <a:ext uri="{9D8B030D-6E8A-4147-A177-3AD203B41FA5}">
                      <a16:colId xmlns:a16="http://schemas.microsoft.com/office/drawing/2014/main" val="370081746"/>
                    </a:ext>
                  </a:extLst>
                </a:gridCol>
              </a:tblGrid>
              <a:tr h="623896">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Sr. No.</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Description</a:t>
                      </a:r>
                      <a:endParaRPr lang="en-IN" sz="1300" b="1" i="0" u="none" strike="noStrike" dirty="0">
                        <a:solidFill>
                          <a:srgbClr val="000000"/>
                        </a:solidFill>
                        <a:effectLst/>
                        <a:latin typeface="Aptos Narrow" panose="020B000402020202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Date</a:t>
                      </a:r>
                      <a:endParaRPr lang="en-IN" sz="1300" b="1" i="0" u="none" strike="noStrike" dirty="0">
                        <a:solidFill>
                          <a:srgbClr val="000000"/>
                        </a:solidFill>
                        <a:effectLst/>
                        <a:latin typeface="Aptos Narrow" panose="020B000402020202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LOA Value(Cr)</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Contractual Completion</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Planned Completion</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Amount(Cr)</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Pendency</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Remarks</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989963624"/>
                  </a:ext>
                </a:extLst>
              </a:tr>
              <a:tr h="623896">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Koppal</a:t>
                      </a: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Raichur</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Idling </a:t>
                      </a:r>
                      <a:endParaRPr lang="en-IN" sz="1300" b="0" i="0" u="none" strike="noStrike" dirty="0">
                        <a:solidFill>
                          <a:srgbClr val="000000"/>
                        </a:solidFill>
                        <a:effectLst/>
                        <a:latin typeface="Aptos Narrow" panose="020B000402020202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12-03-2024</a:t>
                      </a:r>
                      <a:endParaRPr lang="en-IN" sz="1300" b="0" i="0" u="none" strike="noStrike" dirty="0">
                        <a:solidFill>
                          <a:srgbClr val="000000"/>
                        </a:solidFill>
                        <a:effectLst/>
                        <a:latin typeface="Aptos Narrow" panose="020B000402020202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148.6</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11-12-2025</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30-06-2026</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1.70 </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Submitted in  Apr'26</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en-US"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Submittedd</a:t>
                      </a: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on 15 </a:t>
                      </a:r>
                      <a:r>
                        <a:rPr lang="en-US"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april</a:t>
                      </a: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2026 under review with PGCIL site. </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23741987"/>
                  </a:ext>
                </a:extLst>
              </a:tr>
              <a:tr h="211550">
                <a:tc gridSpan="7">
                  <a:txBody>
                    <a:bodyPr/>
                    <a:lstStyle/>
                    <a:p>
                      <a:pPr algn="ctr" fontAlgn="ctr">
                        <a:buNone/>
                      </a:pPr>
                      <a:r>
                        <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Amount(Cr) for SR -I</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IN"/>
                    </a:p>
                  </a:txBody>
                  <a:tcPr/>
                </a:tc>
                <a:tc hMerge="1">
                  <a:txBody>
                    <a:bodyPr/>
                    <a:lstStyle/>
                    <a:p>
                      <a:pPr algn="r" fontAlgn="ctr">
                        <a:buNone/>
                      </a:pPr>
                      <a:endPar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solidFill>
                      <a:schemeClr val="tx2">
                        <a:lumMod val="10000"/>
                        <a:lumOff val="90000"/>
                      </a:schemeClr>
                    </a:solidFill>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883705343"/>
                  </a:ext>
                </a:extLst>
              </a:tr>
              <a:tr h="623896">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Sr. No.</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Description</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LOA Date</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960740533"/>
                  </a:ext>
                </a:extLst>
              </a:tr>
              <a:tr h="623896">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Bikaner Sub Station</a:t>
                      </a:r>
                    </a:p>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pkg-01</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Delay in land handover</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r>
                        <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02-03-2021</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51792551"/>
                  </a:ext>
                </a:extLst>
              </a:tr>
              <a:tr h="2273282">
                <a:tc>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Neemuch</a:t>
                      </a: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PS – Chittorgarh (PG)TL01- 400kV D/C</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r>
                        <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 was fast tracked for completion  based on Employer's request to expedite and recoup for the  delays on account of Forest clearance. Yet to be concluded. Claim with complete details of additional expenses on account of expediting submitted. </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12-09-2022</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l" fontAlgn="ctr">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5723233"/>
                  </a:ext>
                </a:extLst>
              </a:tr>
              <a:tr h="211550">
                <a:tc gridSpan="7">
                  <a:txBody>
                    <a:bodyPr/>
                    <a:lstStyle/>
                    <a:p>
                      <a:pPr algn="ctr" fontAlgn="ctr">
                        <a:buNone/>
                      </a:pPr>
                      <a:r>
                        <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Claim Raised Amount(Cr) for NR –I</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IN"/>
                    </a:p>
                  </a:txBody>
                  <a:tcPr>
                    <a:lnL w="6350" cap="flat" cmpd="sng" algn="ctr">
                      <a:solidFill>
                        <a:srgbClr val="000000"/>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endParaRPr lang="en-IN"/>
                    </a:p>
                  </a:txBody>
                  <a:tcPr/>
                </a:tc>
                <a:tc hMerge="1">
                  <a:txBody>
                    <a:bodyPr/>
                    <a:lstStyle/>
                    <a:p>
                      <a:pPr algn="ctr" fontAlgn="ctr">
                        <a:buNone/>
                      </a:pPr>
                      <a:endPar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489729655"/>
                  </a:ext>
                </a:extLst>
              </a:tr>
              <a:tr h="211550">
                <a:tc gridSpan="7">
                  <a:txBody>
                    <a:bodyPr/>
                    <a:lstStyle/>
                    <a:p>
                      <a:pPr algn="ctr" fontAlgn="ctr">
                        <a:buNone/>
                      </a:pPr>
                      <a:r>
                        <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Total Claim Raised Amount(Cr) </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hMerge="1">
                  <a:txBody>
                    <a:bodyPr/>
                    <a:lstStyle/>
                    <a:p>
                      <a:endParaRPr lang="en-IN"/>
                    </a:p>
                  </a:txBody>
                  <a:tcPr/>
                </a:tc>
                <a:tc hMerge="1">
                  <a:txBody>
                    <a:bodyPr/>
                    <a:lstStyle/>
                    <a:p>
                      <a:endParaRPr lang="en-IN"/>
                    </a:p>
                  </a:txBody>
                  <a:tcPr>
                    <a:lnL w="6350" cap="flat" cmpd="sng" algn="ctr">
                      <a:solidFill>
                        <a:srgbClr val="000000"/>
                      </a:solidFill>
                      <a:prstDash val="solid"/>
                      <a:round/>
                      <a:headEnd type="none" w="med" len="med"/>
                      <a:tailEnd type="none" w="med" len="med"/>
                    </a:lnL>
                  </a:tcPr>
                </a:tc>
                <a:tc hMerge="1">
                  <a:txBody>
                    <a:bodyPr/>
                    <a:lstStyle/>
                    <a:p>
                      <a:endParaRPr lang="en-IN"/>
                    </a:p>
                  </a:txBody>
                  <a:tcPr>
                    <a:lnL w="6350" cap="flat" cmpd="sng" algn="ctr">
                      <a:solidFill>
                        <a:srgbClr val="000000"/>
                      </a:solidFill>
                      <a:prstDash val="solid"/>
                      <a:round/>
                      <a:headEnd type="none" w="med" len="med"/>
                      <a:tailEnd type="none" w="med" len="med"/>
                    </a:lnL>
                  </a:tcPr>
                </a:tc>
                <a:tc hMerge="1">
                  <a:txBody>
                    <a:bodyPr/>
                    <a:lstStyle/>
                    <a:p>
                      <a:endParaRPr lang="en-IN"/>
                    </a:p>
                  </a:txBody>
                  <a:tcPr>
                    <a:lnL w="6350" cap="flat" cmpd="sng" algn="ctr">
                      <a:solidFill>
                        <a:srgbClr val="000000"/>
                      </a:solidFill>
                      <a:prstDash val="solid"/>
                      <a:round/>
                      <a:headEnd type="none" w="med" len="med"/>
                      <a:tailEnd type="none" w="med" len="med"/>
                    </a:lnL>
                  </a:tcPr>
                </a:tc>
                <a:tc hMerge="1">
                  <a:txBody>
                    <a:bodyPr/>
                    <a:lstStyle/>
                    <a:p>
                      <a:endParaRPr lang="en-IN"/>
                    </a:p>
                  </a:txBody>
                  <a:tcPr/>
                </a:tc>
                <a:tc hMerge="1">
                  <a:txBody>
                    <a:bodyPr/>
                    <a:lstStyle/>
                    <a:p>
                      <a:pPr algn="ctr" fontAlgn="ctr">
                        <a:buNone/>
                      </a:pPr>
                      <a:endParaRPr lang="en-US"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gridSpan="2">
                  <a:txBody>
                    <a:bodyPr/>
                    <a:lstStyle/>
                    <a:p>
                      <a:pPr algn="ctr" fontAlgn="ctr">
                        <a:buNone/>
                      </a:pPr>
                      <a:r>
                        <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a:txBody>
                  <a:tcPr marL="5564" marR="5564" marT="5564"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2">
                        <a:lumMod val="10000"/>
                        <a:lumOff val="90000"/>
                      </a:schemeClr>
                    </a:solidFill>
                  </a:tcPr>
                </a:tc>
                <a:tc hMerge="1">
                  <a:txBody>
                    <a:bodyPr/>
                    <a:lstStyle/>
                    <a:p>
                      <a:pPr algn="ctr" fontAlgn="ctr">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5564" marR="5564" marT="556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043147546"/>
                  </a:ext>
                </a:extLst>
              </a:tr>
            </a:tbl>
          </a:graphicData>
        </a:graphic>
      </p:graphicFrame>
    </p:spTree>
    <p:extLst>
      <p:ext uri="{BB962C8B-B14F-4D97-AF65-F5344CB8AC3E}">
        <p14:creationId xmlns:p14="http://schemas.microsoft.com/office/powerpoint/2010/main" val="544436788"/>
      </p:ext>
    </p:extLst>
  </p:cSld>
  <p:clrMapOvr>
    <a:masterClrMapping/>
  </p:clrMapOvr>
  <p:transition spd="slow"/>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1856FD-DC8F-0560-4D8F-07701DA75471}"/>
              </a:ext>
            </a:extLst>
          </p:cNvPr>
          <p:cNvSpPr>
            <a:spLocks noGrp="1"/>
          </p:cNvSpPr>
          <p:nvPr>
            <p:ph type="title"/>
          </p:nvPr>
        </p:nvSpPr>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Pending L2 Revision</a:t>
            </a:r>
            <a:endParaRPr lang="en-IN" sz="2400"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6" name="Table 5">
            <a:extLst>
              <a:ext uri="{FF2B5EF4-FFF2-40B4-BE49-F238E27FC236}">
                <a16:creationId xmlns:a16="http://schemas.microsoft.com/office/drawing/2014/main" id="{997C432D-5B4C-88C4-9FAF-F5648671E766}"/>
              </a:ext>
            </a:extLst>
          </p:cNvPr>
          <p:cNvGraphicFramePr>
            <a:graphicFrameLocks noGrp="1"/>
          </p:cNvGraphicFramePr>
          <p:nvPr>
            <p:extLst>
              <p:ext uri="{D42A27DB-BD31-4B8C-83A1-F6EECF244321}">
                <p14:modId xmlns:p14="http://schemas.microsoft.com/office/powerpoint/2010/main" val="3960786972"/>
              </p:ext>
            </p:extLst>
          </p:nvPr>
        </p:nvGraphicFramePr>
        <p:xfrm>
          <a:off x="257899" y="1308735"/>
          <a:ext cx="11676203" cy="5222534"/>
        </p:xfrm>
        <a:graphic>
          <a:graphicData uri="http://schemas.openxmlformats.org/drawingml/2006/table">
            <a:tbl>
              <a:tblPr/>
              <a:tblGrid>
                <a:gridCol w="738705">
                  <a:extLst>
                    <a:ext uri="{9D8B030D-6E8A-4147-A177-3AD203B41FA5}">
                      <a16:colId xmlns:a16="http://schemas.microsoft.com/office/drawing/2014/main" val="2764507600"/>
                    </a:ext>
                  </a:extLst>
                </a:gridCol>
                <a:gridCol w="2118554">
                  <a:extLst>
                    <a:ext uri="{9D8B030D-6E8A-4147-A177-3AD203B41FA5}">
                      <a16:colId xmlns:a16="http://schemas.microsoft.com/office/drawing/2014/main" val="3236590681"/>
                    </a:ext>
                  </a:extLst>
                </a:gridCol>
                <a:gridCol w="802821">
                  <a:extLst>
                    <a:ext uri="{9D8B030D-6E8A-4147-A177-3AD203B41FA5}">
                      <a16:colId xmlns:a16="http://schemas.microsoft.com/office/drawing/2014/main" val="3900152346"/>
                    </a:ext>
                  </a:extLst>
                </a:gridCol>
                <a:gridCol w="2386160">
                  <a:extLst>
                    <a:ext uri="{9D8B030D-6E8A-4147-A177-3AD203B41FA5}">
                      <a16:colId xmlns:a16="http://schemas.microsoft.com/office/drawing/2014/main" val="2898511936"/>
                    </a:ext>
                  </a:extLst>
                </a:gridCol>
                <a:gridCol w="5629963">
                  <a:extLst>
                    <a:ext uri="{9D8B030D-6E8A-4147-A177-3AD203B41FA5}">
                      <a16:colId xmlns:a16="http://schemas.microsoft.com/office/drawing/2014/main" val="1704469756"/>
                    </a:ext>
                  </a:extLst>
                </a:gridCol>
              </a:tblGrid>
              <a:tr h="412736">
                <a:tc>
                  <a:txBody>
                    <a:bodyPr/>
                    <a:lstStyle/>
                    <a:p>
                      <a:pPr algn="ctr" fontAlgn="ctr">
                        <a:buNone/>
                      </a:pPr>
                      <a:r>
                        <a:rPr lang="en-IN" sz="16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SL No</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6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6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Region</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6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Pendency</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tc>
                  <a:txBody>
                    <a:bodyPr/>
                    <a:lstStyle/>
                    <a:p>
                      <a:pPr algn="ctr" fontAlgn="ctr">
                        <a:buNone/>
                      </a:pPr>
                      <a:r>
                        <a:rPr lang="en-IN" sz="16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Reason for Pendency</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3509263401"/>
                  </a:ext>
                </a:extLst>
              </a:tr>
              <a:tr h="412736">
                <a:tc rowSpan="2">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JSEB </a:t>
                      </a:r>
                      <a:r>
                        <a:rPr lang="en-IN" sz="1600" b="0" i="0" u="none" strike="noStrike"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Pkg</a:t>
                      </a: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 01 TL</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ER1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rowSpan="2">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Pending since April’23.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just"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Proposal at corporate for approval. To be expedited.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0925"/>
                  </a:ext>
                </a:extLst>
              </a:tr>
              <a:tr h="1197341">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a:txBody>
                    <a:bodyPr/>
                    <a:lstStyle/>
                    <a:p>
                      <a:pPr algn="just"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Out of 10 lines 9 lines have already been completed. 10th line rectification work has been started. </a:t>
                      </a:r>
                    </a:p>
                    <a:p>
                      <a:pPr algn="just"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(339/516 Leg completed and 24 Leg WIP).</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591200732"/>
                  </a:ext>
                </a:extLst>
              </a:tr>
              <a:tr h="412736">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TW07B Assam TL</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NER</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Pending since May’23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just"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 completed. To be expedited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821661426"/>
                  </a:ext>
                </a:extLst>
              </a:tr>
              <a:tr h="1197341">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Navsari Magarwada TL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WR2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Pending since July’25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just"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 completed. Revised L2 finalized after joint discussions with PG &amp; KEC; consent and PV implications submitted, and the case is currently under review with Finance.</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202699464"/>
                  </a:ext>
                </a:extLst>
              </a:tr>
              <a:tr h="1589644">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6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Ahmedabad Navsari TL</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WR2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Submitted on 11-11-25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just" fontAlgn="ctr">
                        <a:buNone/>
                      </a:pPr>
                      <a:r>
                        <a:rPr lang="en-IN" sz="16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Project completed. Revised L2 under process with PGCIL RHQ PESM team. Supporting documents for FTE submitted and under review with PG. Revised L2 to be finalized in line with FTE. Delay analysis for FTE is being prepared and worked upon jointly with Powergrid. To be expedited.</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40080805"/>
                  </a:ext>
                </a:extLst>
              </a:tr>
            </a:tbl>
          </a:graphicData>
        </a:graphic>
      </p:graphicFrame>
    </p:spTree>
    <p:extLst>
      <p:ext uri="{BB962C8B-B14F-4D97-AF65-F5344CB8AC3E}">
        <p14:creationId xmlns:p14="http://schemas.microsoft.com/office/powerpoint/2010/main" val="2821332957"/>
      </p:ext>
    </p:extLst>
  </p:cSld>
  <p:clrMapOvr>
    <a:masterClrMapping/>
  </p:clrMapOvr>
  <p:transition spd="slow"/>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1BA840-4762-B874-3E88-90CD827F3E7C}"/>
              </a:ext>
            </a:extLst>
          </p:cNvPr>
          <p:cNvSpPr>
            <a:spLocks noGrp="1"/>
          </p:cNvSpPr>
          <p:nvPr>
            <p:ph type="title"/>
          </p:nvPr>
        </p:nvSpPr>
        <p:spPr>
          <a:xfrm>
            <a:off x="257898" y="615746"/>
            <a:ext cx="11676203" cy="551809"/>
          </a:xfrm>
        </p:spPr>
        <p:txBody>
          <a:bodyPr anchor="ct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Financial details(Closure Projects)</a:t>
            </a:r>
          </a:p>
        </p:txBody>
      </p:sp>
      <p:graphicFrame>
        <p:nvGraphicFramePr>
          <p:cNvPr id="4" name="Table 3">
            <a:extLst>
              <a:ext uri="{FF2B5EF4-FFF2-40B4-BE49-F238E27FC236}">
                <a16:creationId xmlns:a16="http://schemas.microsoft.com/office/drawing/2014/main" id="{74841C38-2627-0AC6-EB30-25B0F6302359}"/>
              </a:ext>
            </a:extLst>
          </p:cNvPr>
          <p:cNvGraphicFramePr>
            <a:graphicFrameLocks noGrp="1"/>
          </p:cNvGraphicFramePr>
          <p:nvPr>
            <p:extLst>
              <p:ext uri="{D42A27DB-BD31-4B8C-83A1-F6EECF244321}">
                <p14:modId xmlns:p14="http://schemas.microsoft.com/office/powerpoint/2010/main" val="3592362219"/>
              </p:ext>
            </p:extLst>
          </p:nvPr>
        </p:nvGraphicFramePr>
        <p:xfrm>
          <a:off x="257898" y="1634280"/>
          <a:ext cx="11562627" cy="5125422"/>
        </p:xfrm>
        <a:graphic>
          <a:graphicData uri="http://schemas.openxmlformats.org/drawingml/2006/table">
            <a:tbl>
              <a:tblPr firstRow="1" bandRow="1">
                <a:tableStyleId>{5C22544A-7EE6-4342-B048-85BDC9FD1C3A}</a:tableStyleId>
              </a:tblPr>
              <a:tblGrid>
                <a:gridCol w="791602">
                  <a:extLst>
                    <a:ext uri="{9D8B030D-6E8A-4147-A177-3AD203B41FA5}">
                      <a16:colId xmlns:a16="http://schemas.microsoft.com/office/drawing/2014/main" val="90253939"/>
                    </a:ext>
                  </a:extLst>
                </a:gridCol>
                <a:gridCol w="4329448">
                  <a:extLst>
                    <a:ext uri="{9D8B030D-6E8A-4147-A177-3AD203B41FA5}">
                      <a16:colId xmlns:a16="http://schemas.microsoft.com/office/drawing/2014/main" val="2079567352"/>
                    </a:ext>
                  </a:extLst>
                </a:gridCol>
                <a:gridCol w="528213">
                  <a:extLst>
                    <a:ext uri="{9D8B030D-6E8A-4147-A177-3AD203B41FA5}">
                      <a16:colId xmlns:a16="http://schemas.microsoft.com/office/drawing/2014/main" val="2830212816"/>
                    </a:ext>
                  </a:extLst>
                </a:gridCol>
                <a:gridCol w="679128">
                  <a:extLst>
                    <a:ext uri="{9D8B030D-6E8A-4147-A177-3AD203B41FA5}">
                      <a16:colId xmlns:a16="http://schemas.microsoft.com/office/drawing/2014/main" val="2767291725"/>
                    </a:ext>
                  </a:extLst>
                </a:gridCol>
                <a:gridCol w="1141315">
                  <a:extLst>
                    <a:ext uri="{9D8B030D-6E8A-4147-A177-3AD203B41FA5}">
                      <a16:colId xmlns:a16="http://schemas.microsoft.com/office/drawing/2014/main" val="2406591186"/>
                    </a:ext>
                  </a:extLst>
                </a:gridCol>
                <a:gridCol w="830047">
                  <a:extLst>
                    <a:ext uri="{9D8B030D-6E8A-4147-A177-3AD203B41FA5}">
                      <a16:colId xmlns:a16="http://schemas.microsoft.com/office/drawing/2014/main" val="592823718"/>
                    </a:ext>
                  </a:extLst>
                </a:gridCol>
                <a:gridCol w="1424283">
                  <a:extLst>
                    <a:ext uri="{9D8B030D-6E8A-4147-A177-3AD203B41FA5}">
                      <a16:colId xmlns:a16="http://schemas.microsoft.com/office/drawing/2014/main" val="3174978292"/>
                    </a:ext>
                  </a:extLst>
                </a:gridCol>
                <a:gridCol w="1838591">
                  <a:extLst>
                    <a:ext uri="{9D8B030D-6E8A-4147-A177-3AD203B41FA5}">
                      <a16:colId xmlns:a16="http://schemas.microsoft.com/office/drawing/2014/main" val="3852445732"/>
                    </a:ext>
                  </a:extLst>
                </a:gridCol>
              </a:tblGrid>
              <a:tr h="335498">
                <a:tc>
                  <a:txBody>
                    <a:bodyPr/>
                    <a:lstStyle/>
                    <a:p>
                      <a:pPr algn="ctr" fontAlgn="ctr"/>
                      <a:r>
                        <a:rPr lang="en-IN" sz="11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Code</a:t>
                      </a:r>
                      <a:endParaRPr lang="en-IN" sz="11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r>
                        <a:rPr lang="en-IN" sz="11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Name</a:t>
                      </a:r>
                      <a:endParaRPr lang="en-IN" sz="11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r>
                        <a:rPr lang="en-IN" sz="11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SBU</a:t>
                      </a:r>
                      <a:endParaRPr lang="en-IN" sz="11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r>
                        <a:rPr lang="en-IN" sz="11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Region </a:t>
                      </a:r>
                      <a:endParaRPr lang="en-IN" sz="11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r>
                        <a:rPr lang="en-IN" sz="11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Pending from which date</a:t>
                      </a:r>
                      <a:endParaRPr lang="en-IN" sz="11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r>
                        <a:rPr lang="en-IN" sz="11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O/s Amount (Cr)</a:t>
                      </a:r>
                      <a:endParaRPr lang="en-IN" sz="11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r>
                        <a:rPr lang="en-IN" sz="11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CPBG &amp; </a:t>
                      </a:r>
                      <a:br>
                        <a:rPr lang="en-IN" sz="11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IN" sz="11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Retention Value(Cr)</a:t>
                      </a:r>
                      <a:endParaRPr lang="en-IN" sz="11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r>
                        <a:rPr lang="en-IN" sz="11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Adv Bank Guarantee  Cr)</a:t>
                      </a:r>
                      <a:endParaRPr lang="en-IN" sz="11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2069323400"/>
                  </a:ext>
                </a:extLst>
              </a:tr>
              <a:tr h="169257">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A303/304</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JSEB Lines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ER-I</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3862370"/>
                  </a:ext>
                </a:extLst>
              </a:tr>
              <a:tr h="169257">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A920</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err="1">
                          <a:effectLst/>
                          <a:latin typeface="Calibri" panose="020F0502020204030204" pitchFamily="34" charset="0"/>
                          <a:ea typeface="Calibri" panose="020F0502020204030204" pitchFamily="34" charset="0"/>
                          <a:cs typeface="Calibri" panose="020F0502020204030204" pitchFamily="34" charset="0"/>
                        </a:rPr>
                        <a:t>Khupi-Bomdila</a:t>
                      </a: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 TL 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NER</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49821340"/>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TA-119</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 Package TW7B Assam</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NER</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23292630"/>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TA-121</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nn-NO" sz="1100" u="none" strike="noStrike" dirty="0">
                          <a:effectLst/>
                          <a:latin typeface="Calibri" panose="020F0502020204030204" pitchFamily="34" charset="0"/>
                          <a:ea typeface="Calibri" panose="020F0502020204030204" pitchFamily="34" charset="0"/>
                          <a:cs typeface="Calibri" panose="020F0502020204030204" pitchFamily="34" charset="0"/>
                        </a:rPr>
                        <a:t>TW01 for Bhadla-II PS- Sikar-II 765kV D/C Line-Part-I</a:t>
                      </a:r>
                      <a:endParaRPr lang="nn-NO"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RJ</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79154801"/>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TA-122</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TW02 for </a:t>
                      </a:r>
                      <a:r>
                        <a:rPr lang="en-IN" sz="1100" u="none" strike="noStrike" dirty="0" err="1">
                          <a:effectLst/>
                          <a:latin typeface="Calibri" panose="020F0502020204030204" pitchFamily="34" charset="0"/>
                          <a:ea typeface="Calibri" panose="020F0502020204030204" pitchFamily="34" charset="0"/>
                          <a:cs typeface="Calibri" panose="020F0502020204030204" pitchFamily="34" charset="0"/>
                        </a:rPr>
                        <a:t>Bhadla</a:t>
                      </a: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-II PS- Sikar-II 765kV D/C Line-Part-II</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RJ</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8041574"/>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TA-123</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TW03 for </a:t>
                      </a:r>
                      <a:r>
                        <a:rPr lang="en-IN" sz="1100" u="none" strike="noStrike" dirty="0" err="1">
                          <a:effectLst/>
                          <a:latin typeface="Calibri" panose="020F0502020204030204" pitchFamily="34" charset="0"/>
                          <a:ea typeface="Calibri" panose="020F0502020204030204" pitchFamily="34" charset="0"/>
                          <a:cs typeface="Calibri" panose="020F0502020204030204" pitchFamily="34" charset="0"/>
                        </a:rPr>
                        <a:t>Bhadla</a:t>
                      </a: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-II PS- Sikar-II 765kV D/C Line-Part-III</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RJ</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0921253"/>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TA-124</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Package TW04 for Sikar-II – Neemrana 400 kV D/C line (Twin HTLS)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RJ</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25795055"/>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A775</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PG Aligarh</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NR-III</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30498392"/>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SA-008</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Guna </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WR-II</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5032881"/>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SA-126</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400 KV Bikaner 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NR-I</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6744226"/>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SA-127</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400 </a:t>
                      </a:r>
                      <a:r>
                        <a:rPr lang="en-IN" sz="1100" u="none" strike="noStrike" dirty="0" err="1">
                          <a:effectLst/>
                          <a:latin typeface="Calibri" panose="020F0502020204030204" pitchFamily="34" charset="0"/>
                          <a:ea typeface="Calibri" panose="020F0502020204030204" pitchFamily="34" charset="0"/>
                          <a:cs typeface="Calibri" panose="020F0502020204030204" pitchFamily="34" charset="0"/>
                        </a:rPr>
                        <a:t>Khetri</a:t>
                      </a: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 S/S </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NR-I</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49529267"/>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SA-128</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400 </a:t>
                      </a:r>
                      <a:r>
                        <a:rPr lang="en-IN" sz="1100" u="none" strike="noStrike" dirty="0" err="1">
                          <a:effectLst/>
                          <a:latin typeface="Calibri" panose="020F0502020204030204" pitchFamily="34" charset="0"/>
                          <a:ea typeface="Calibri" panose="020F0502020204030204" pitchFamily="34" charset="0"/>
                          <a:cs typeface="Calibri" panose="020F0502020204030204" pitchFamily="34" charset="0"/>
                        </a:rPr>
                        <a:t>Bhiwadi</a:t>
                      </a: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 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NR-I</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37416582"/>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SA-213</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764 KV </a:t>
                      </a:r>
                      <a:r>
                        <a:rPr lang="en-IN" sz="1100" u="none" strike="noStrike" dirty="0" err="1">
                          <a:effectLst/>
                          <a:latin typeface="Calibri" panose="020F0502020204030204" pitchFamily="34" charset="0"/>
                          <a:ea typeface="Calibri" panose="020F0502020204030204" pitchFamily="34" charset="0"/>
                          <a:cs typeface="Calibri" panose="020F0502020204030204" pitchFamily="34" charset="0"/>
                        </a:rPr>
                        <a:t>Khetri</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NR-I</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30839711"/>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XA-104</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PGCIL Pithoragarh</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Cable</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NR-III</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35081639"/>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XA- 107</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PGCIL Sikkim -New</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Cable</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ER-II</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71923225"/>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XB-012</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PGCIL Sikkim -Old</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Cable</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ER-II</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70438295"/>
                  </a:ext>
                </a:extLst>
              </a:tr>
              <a:tr h="169257">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A820</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PGCIL TW-09</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NER</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59268844"/>
                  </a:ext>
                </a:extLst>
              </a:tr>
              <a:tr h="169257">
                <a:tc>
                  <a:txBody>
                    <a:bodyPr/>
                    <a:lstStyle/>
                    <a:p>
                      <a:pPr algn="ctr" fontAlgn="ctr"/>
                      <a:r>
                        <a:rPr lang="en-IN" sz="1100" u="none" strike="noStrike">
                          <a:effectLst/>
                          <a:latin typeface="Calibri" panose="020F0502020204030204" pitchFamily="34" charset="0"/>
                          <a:ea typeface="Calibri" panose="020F0502020204030204" pitchFamily="34" charset="0"/>
                          <a:cs typeface="Calibri" panose="020F0502020204030204" pitchFamily="34" charset="0"/>
                        </a:rPr>
                        <a:t>SA-212</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err="1">
                          <a:effectLst/>
                          <a:latin typeface="Calibri" panose="020F0502020204030204" pitchFamily="34" charset="0"/>
                          <a:ea typeface="Calibri" panose="020F0502020204030204" pitchFamily="34" charset="0"/>
                          <a:cs typeface="Calibri" panose="020F0502020204030204" pitchFamily="34" charset="0"/>
                        </a:rPr>
                        <a:t>Narela</a:t>
                      </a: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 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65404156"/>
                  </a:ext>
                </a:extLst>
              </a:tr>
              <a:tr h="169257">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SA-307</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Navsari-DL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06221693"/>
                  </a:ext>
                </a:extLst>
              </a:tr>
              <a:tr h="169257">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SA-308</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dirty="0" err="1">
                          <a:effectLst/>
                          <a:latin typeface="Calibri" panose="020F0502020204030204" pitchFamily="34" charset="0"/>
                          <a:ea typeface="Calibri" panose="020F0502020204030204" pitchFamily="34" charset="0"/>
                          <a:cs typeface="Calibri" panose="020F0502020204030204" pitchFamily="34" charset="0"/>
                        </a:rPr>
                        <a:t>Phadghe</a:t>
                      </a: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-DL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80194191"/>
                  </a:ext>
                </a:extLst>
              </a:tr>
              <a:tr h="169257">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SA-322</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err="1">
                          <a:effectLst/>
                          <a:latin typeface="Calibri" panose="020F0502020204030204" pitchFamily="34" charset="0"/>
                          <a:ea typeface="Calibri" panose="020F0502020204030204" pitchFamily="34" charset="0"/>
                          <a:cs typeface="Calibri" panose="020F0502020204030204" pitchFamily="34" charset="0"/>
                        </a:rPr>
                        <a:t>Ahembdabad</a:t>
                      </a: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 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9949827"/>
                  </a:ext>
                </a:extLst>
              </a:tr>
              <a:tr h="169257">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SA-323</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KPS 2</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5129370"/>
                  </a:ext>
                </a:extLst>
              </a:tr>
              <a:tr h="169257">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SA-324</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Navsari GIS Extn</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09947322"/>
                  </a:ext>
                </a:extLst>
              </a:tr>
              <a:tr h="169257">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SA-409</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Ramgarh 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SS</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86042527"/>
                  </a:ext>
                </a:extLst>
              </a:tr>
              <a:tr h="169257">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TA-325</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Ahmedabad-Navsari (South Gujarat) Line</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27875902"/>
                  </a:ext>
                </a:extLst>
              </a:tr>
              <a:tr h="169257">
                <a:tc>
                  <a:txBody>
                    <a:bodyPr/>
                    <a:lstStyle/>
                    <a:p>
                      <a:pPr algn="ctr" fontAlgn="t"/>
                      <a:r>
                        <a:rPr lang="en-IN" sz="1100" u="none" strike="noStrike">
                          <a:effectLst/>
                          <a:latin typeface="Calibri" panose="020F0502020204030204" pitchFamily="34" charset="0"/>
                          <a:ea typeface="Calibri" panose="020F0502020204030204" pitchFamily="34" charset="0"/>
                          <a:cs typeface="Calibri" panose="020F0502020204030204" pitchFamily="34" charset="0"/>
                        </a:rPr>
                        <a:t>TA-405</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dirty="0" err="1">
                          <a:effectLst/>
                          <a:latin typeface="Calibri" panose="020F0502020204030204" pitchFamily="34" charset="0"/>
                          <a:ea typeface="Calibri" panose="020F0502020204030204" pitchFamily="34" charset="0"/>
                          <a:cs typeface="Calibri" panose="020F0502020204030204" pitchFamily="34" charset="0"/>
                        </a:rPr>
                        <a:t>Bhadla</a:t>
                      </a: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-II to Sikar-II</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3300583"/>
                  </a:ext>
                </a:extLst>
              </a:tr>
              <a:tr h="169257">
                <a:tc>
                  <a:txBody>
                    <a:bodyPr/>
                    <a:lstStyle/>
                    <a:p>
                      <a:pPr algn="ctr" fontAlgn="t"/>
                      <a:r>
                        <a:rPr lang="en-IN" sz="1100" u="none" strike="noStrike">
                          <a:effectLst/>
                          <a:latin typeface="Calibri" panose="020F0502020204030204" pitchFamily="34" charset="0"/>
                          <a:ea typeface="Calibri" panose="020F0502020204030204" pitchFamily="34" charset="0"/>
                          <a:cs typeface="Calibri" panose="020F0502020204030204" pitchFamily="34" charset="0"/>
                        </a:rPr>
                        <a:t>TA-310</a:t>
                      </a:r>
                      <a:endParaRPr lang="en-IN" sz="11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Navsari Kala 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IN" sz="1100"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1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97414638"/>
                  </a:ext>
                </a:extLst>
              </a:tr>
              <a:tr h="169257">
                <a:tc>
                  <a:txBody>
                    <a:bodyPr/>
                    <a:lstStyle/>
                    <a:p>
                      <a:pPr algn="ctr" fontAlgn="ctr"/>
                      <a:r>
                        <a:rPr lang="en-IN" sz="1100" b="1"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r>
                        <a:rPr lang="en-IN" sz="1100" b="1" u="none" strike="noStrike" dirty="0">
                          <a:effectLst/>
                          <a:latin typeface="Calibri" panose="020F0502020204030204" pitchFamily="34" charset="0"/>
                          <a:ea typeface="Calibri" panose="020F0502020204030204" pitchFamily="34" charset="0"/>
                          <a:cs typeface="Calibri" panose="020F0502020204030204" pitchFamily="34" charset="0"/>
                        </a:rPr>
                        <a:t>Total </a:t>
                      </a:r>
                      <a:endParaRPr lang="en-IN"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r>
                        <a:rPr lang="en-IN" sz="1100" b="1"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r>
                        <a:rPr lang="en-IN" sz="1100" b="1"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r>
                        <a:rPr lang="en-IN" sz="1100" b="1"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endParaRPr lang="en-IN"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endParaRPr lang="en-IN"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tc>
                  <a:txBody>
                    <a:bodyPr/>
                    <a:lstStyle/>
                    <a:p>
                      <a:pPr algn="ctr" fontAlgn="ctr"/>
                      <a:endParaRPr lang="en-IN" sz="11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3318" marR="3318" marT="331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02089500"/>
                  </a:ext>
                </a:extLst>
              </a:tr>
            </a:tbl>
          </a:graphicData>
        </a:graphic>
      </p:graphicFrame>
      <p:sp>
        <p:nvSpPr>
          <p:cNvPr id="3" name="TextBox 2">
            <a:extLst>
              <a:ext uri="{FF2B5EF4-FFF2-40B4-BE49-F238E27FC236}">
                <a16:creationId xmlns:a16="http://schemas.microsoft.com/office/drawing/2014/main" id="{A5331FE7-E399-1B29-D29F-5DA9995D34C6}"/>
              </a:ext>
            </a:extLst>
          </p:cNvPr>
          <p:cNvSpPr txBox="1"/>
          <p:nvPr/>
        </p:nvSpPr>
        <p:spPr>
          <a:xfrm>
            <a:off x="257898" y="1272659"/>
            <a:ext cx="11287125" cy="338554"/>
          </a:xfrm>
          <a:prstGeom prst="rect">
            <a:avLst/>
          </a:prstGeom>
          <a:noFill/>
        </p:spPr>
        <p:txBody>
          <a:bodyPr wrap="square" rtlCol="0">
            <a:spAutoFit/>
          </a:bodyPr>
          <a:lstStyle/>
          <a:p>
            <a:r>
              <a:rPr lang="en-IN" sz="1600" b="1" dirty="0">
                <a:latin typeface="Calibri" panose="020F0502020204030204" pitchFamily="34" charset="0"/>
                <a:ea typeface="Calibri" panose="020F0502020204030204" pitchFamily="34" charset="0"/>
                <a:cs typeface="Calibri" panose="020F0502020204030204" pitchFamily="34" charset="0"/>
              </a:rPr>
              <a:t>Total Outstanding 440 Cr : BGs 245 Cr</a:t>
            </a:r>
            <a:endParaRPr lang="en-IN" sz="16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178089451"/>
      </p:ext>
    </p:extLst>
  </p:cSld>
  <p:clrMapOvr>
    <a:masterClrMapping/>
  </p:clrMapOvr>
  <p:transition spd="slow"/>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289A4C-7D34-297E-F51A-BA0D905F312E}"/>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D06681D3-E009-5982-ED55-26D283E7EF4D}"/>
              </a:ext>
            </a:extLst>
          </p:cNvPr>
          <p:cNvSpPr>
            <a:spLocks noGrp="1"/>
          </p:cNvSpPr>
          <p:nvPr>
            <p:ph type="title"/>
          </p:nvPr>
        </p:nvSpPr>
        <p:spPr>
          <a:xfrm>
            <a:off x="257898" y="521431"/>
            <a:ext cx="11676203" cy="551809"/>
          </a:xfrm>
        </p:spPr>
        <p:txBody>
          <a:bodyPr>
            <a:normAutofit fontScale="90000"/>
          </a:bodyPr>
          <a:lstStyle/>
          <a:p>
            <a:br>
              <a:rPr lang="en-IN" sz="3100" dirty="0">
                <a:solidFill>
                  <a:schemeClr val="tx1"/>
                </a:solidFill>
                <a:latin typeface="Calibri" panose="020F0502020204030204" pitchFamily="34" charset="0"/>
                <a:ea typeface="Calibri" panose="020F0502020204030204" pitchFamily="34" charset="0"/>
                <a:cs typeface="Calibri" panose="020F0502020204030204" pitchFamily="34" charset="0"/>
              </a:rPr>
            </a:br>
            <a:r>
              <a:rPr lang="en-IN" sz="2700" b="1" dirty="0">
                <a:latin typeface="Calibri" panose="020F0502020204030204" pitchFamily="34" charset="0"/>
                <a:ea typeface="Calibri" panose="020F0502020204030204" pitchFamily="34" charset="0"/>
                <a:cs typeface="Calibri" panose="020F0502020204030204" pitchFamily="34" charset="0"/>
              </a:rPr>
              <a:t>C</a:t>
            </a:r>
            <a:r>
              <a:rPr lang="en-IN" sz="2700" b="1" dirty="0">
                <a:solidFill>
                  <a:schemeClr val="tx1"/>
                </a:solidFill>
                <a:latin typeface="Calibri" panose="020F0502020204030204" pitchFamily="34" charset="0"/>
                <a:ea typeface="Calibri" panose="020F0502020204030204" pitchFamily="34" charset="0"/>
                <a:cs typeface="Calibri" panose="020F0502020204030204" pitchFamily="34" charset="0"/>
              </a:rPr>
              <a:t>ommercial closure</a:t>
            </a:r>
            <a:r>
              <a:rPr lang="en-IN" sz="2700" b="1" dirty="0">
                <a:latin typeface="Calibri" panose="020F0502020204030204" pitchFamily="34" charset="0"/>
                <a:ea typeface="Calibri" panose="020F0502020204030204" pitchFamily="34" charset="0"/>
                <a:cs typeface="Calibri" panose="020F0502020204030204" pitchFamily="34" charset="0"/>
              </a:rPr>
              <a:t>/ Claims </a:t>
            </a:r>
            <a:r>
              <a:rPr lang="en-IN" sz="2700" b="1" dirty="0">
                <a:solidFill>
                  <a:schemeClr val="tx1"/>
                </a:solidFill>
                <a:latin typeface="Calibri" panose="020F0502020204030204" pitchFamily="34" charset="0"/>
                <a:ea typeface="Calibri" panose="020F0502020204030204" pitchFamily="34" charset="0"/>
                <a:cs typeface="Calibri" panose="020F0502020204030204" pitchFamily="34" charset="0"/>
              </a:rPr>
              <a:t>and Intervention sought</a:t>
            </a:r>
            <a:br>
              <a:rPr lang="en-IN" dirty="0">
                <a:solidFill>
                  <a:schemeClr val="tx1"/>
                </a:solidFill>
                <a:cs typeface="Mangal" panose="02040503050203030202" pitchFamily="18" charset="0"/>
              </a:rPr>
            </a:br>
            <a:endParaRPr lang="en-IN" sz="1800" dirty="0"/>
          </a:p>
        </p:txBody>
      </p:sp>
      <p:sp>
        <p:nvSpPr>
          <p:cNvPr id="7" name="TextBox 6">
            <a:extLst>
              <a:ext uri="{FF2B5EF4-FFF2-40B4-BE49-F238E27FC236}">
                <a16:creationId xmlns:a16="http://schemas.microsoft.com/office/drawing/2014/main" id="{A6318817-75B9-D5F8-5860-CE696CE3BAD6}"/>
              </a:ext>
            </a:extLst>
          </p:cNvPr>
          <p:cNvSpPr txBox="1"/>
          <p:nvPr/>
        </p:nvSpPr>
        <p:spPr>
          <a:xfrm>
            <a:off x="257898" y="1276350"/>
            <a:ext cx="11676203" cy="5355312"/>
          </a:xfrm>
          <a:prstGeom prst="rect">
            <a:avLst/>
          </a:prstGeom>
          <a:solidFill>
            <a:schemeClr val="bg1"/>
          </a:solidFill>
        </p:spPr>
        <p:style>
          <a:lnRef idx="2">
            <a:schemeClr val="dk1"/>
          </a:lnRef>
          <a:fillRef idx="1">
            <a:schemeClr val="lt1"/>
          </a:fillRef>
          <a:effectRef idx="0">
            <a:schemeClr val="dk1"/>
          </a:effectRef>
          <a:fontRef idx="minor">
            <a:schemeClr val="dk1"/>
          </a:fontRef>
        </p:style>
        <p:txBody>
          <a:bodyPr wrap="square" rtlCol="0">
            <a:spAutoFit/>
          </a:bodyPr>
          <a:lstStyle/>
          <a:p>
            <a:pPr>
              <a:lnSpc>
                <a:spcPct val="150000"/>
              </a:lnSpc>
            </a:pPr>
            <a:r>
              <a:rPr lang="en-US" b="1" dirty="0">
                <a:latin typeface="Calibri" panose="020F0502020204030204" pitchFamily="34" charset="0"/>
                <a:ea typeface="Calibri" panose="020F0502020204030204" pitchFamily="34" charset="0"/>
                <a:cs typeface="Calibri" panose="020F0502020204030204" pitchFamily="34" charset="0"/>
              </a:rPr>
              <a:t>Region - Rajasthan and NR 1</a:t>
            </a:r>
          </a:p>
          <a:p>
            <a:pPr marL="285750" lvl="0" indent="-285750">
              <a:buFont typeface="Wingdings" panose="05000000000000000000" pitchFamily="2" charset="2"/>
              <a:buChar char="§"/>
            </a:pPr>
            <a:r>
              <a:rPr lang="en-US" dirty="0" err="1">
                <a:latin typeface="Calibri" panose="020F0502020204030204" pitchFamily="34" charset="0"/>
                <a:ea typeface="Calibri" panose="020F0502020204030204" pitchFamily="34" charset="0"/>
                <a:cs typeface="Calibri" panose="020F0502020204030204" pitchFamily="34" charset="0"/>
              </a:rPr>
              <a:t>Bhadla</a:t>
            </a:r>
            <a:r>
              <a:rPr lang="en-US" dirty="0">
                <a:latin typeface="Calibri" panose="020F0502020204030204" pitchFamily="34" charset="0"/>
                <a:ea typeface="Calibri" panose="020F0502020204030204" pitchFamily="34" charset="0"/>
                <a:cs typeface="Calibri" panose="020F0502020204030204" pitchFamily="34" charset="0"/>
              </a:rPr>
              <a:t> Sikar Tw 01 - FTE and FA issued. Final Invoice to be processed, Due drawn under Signing</a:t>
            </a:r>
          </a:p>
          <a:p>
            <a:pPr marL="285750" lvl="0" indent="-285750">
              <a:buFont typeface="Wingdings" panose="05000000000000000000" pitchFamily="2" charset="2"/>
              <a:buChar char="§"/>
            </a:pPr>
            <a:r>
              <a:rPr lang="en-US" dirty="0" err="1">
                <a:latin typeface="Calibri" panose="020F0502020204030204" pitchFamily="34" charset="0"/>
                <a:ea typeface="Calibri" panose="020F0502020204030204" pitchFamily="34" charset="0"/>
                <a:cs typeface="Calibri" panose="020F0502020204030204" pitchFamily="34" charset="0"/>
              </a:rPr>
              <a:t>Bhadla</a:t>
            </a:r>
            <a:r>
              <a:rPr lang="en-US" dirty="0">
                <a:latin typeface="Calibri" panose="020F0502020204030204" pitchFamily="34" charset="0"/>
                <a:ea typeface="Calibri" panose="020F0502020204030204" pitchFamily="34" charset="0"/>
                <a:cs typeface="Calibri" panose="020F0502020204030204" pitchFamily="34" charset="0"/>
              </a:rPr>
              <a:t> Sikar Tw 02 – FA and FTE issued. Final Invoice to be processed. Due drawn Signed</a:t>
            </a:r>
          </a:p>
          <a:p>
            <a:pPr marL="285750" lvl="0" indent="-285750">
              <a:buFont typeface="Wingdings" panose="05000000000000000000" pitchFamily="2" charset="2"/>
              <a:buChar char="§"/>
            </a:pPr>
            <a:r>
              <a:rPr lang="en-US" dirty="0" err="1">
                <a:latin typeface="Calibri" panose="020F0502020204030204" pitchFamily="34" charset="0"/>
                <a:ea typeface="Calibri" panose="020F0502020204030204" pitchFamily="34" charset="0"/>
                <a:cs typeface="Calibri" panose="020F0502020204030204" pitchFamily="34" charset="0"/>
              </a:rPr>
              <a:t>Bhadla</a:t>
            </a:r>
            <a:r>
              <a:rPr lang="en-US" dirty="0">
                <a:latin typeface="Calibri" panose="020F0502020204030204" pitchFamily="34" charset="0"/>
                <a:ea typeface="Calibri" panose="020F0502020204030204" pitchFamily="34" charset="0"/>
                <a:cs typeface="Calibri" panose="020F0502020204030204" pitchFamily="34" charset="0"/>
              </a:rPr>
              <a:t> Sikar Tw 03 - FA and FTE issued. Final Invoice to be processed and SAP uploading required</a:t>
            </a:r>
          </a:p>
          <a:p>
            <a:pPr marL="285750" lvl="0" indent="-28575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Sikar </a:t>
            </a:r>
            <a:r>
              <a:rPr lang="en-US" dirty="0" err="1">
                <a:latin typeface="Calibri" panose="020F0502020204030204" pitchFamily="34" charset="0"/>
                <a:ea typeface="Calibri" panose="020F0502020204030204" pitchFamily="34" charset="0"/>
                <a:cs typeface="Calibri" panose="020F0502020204030204" pitchFamily="34" charset="0"/>
              </a:rPr>
              <a:t>Neemarana</a:t>
            </a:r>
            <a:r>
              <a:rPr lang="en-US" dirty="0">
                <a:latin typeface="Calibri" panose="020F0502020204030204" pitchFamily="34" charset="0"/>
                <a:ea typeface="Calibri" panose="020F0502020204030204" pitchFamily="34" charset="0"/>
                <a:cs typeface="Calibri" panose="020F0502020204030204" pitchFamily="34" charset="0"/>
              </a:rPr>
              <a:t> Tw 04 – FTE and FA issuance pending. </a:t>
            </a:r>
          </a:p>
          <a:p>
            <a:pPr marL="285750" lvl="0" indent="-28575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Bikaner SS/</a:t>
            </a:r>
            <a:r>
              <a:rPr lang="en-US" dirty="0" err="1">
                <a:latin typeface="Calibri" panose="020F0502020204030204" pitchFamily="34" charset="0"/>
                <a:ea typeface="Calibri" panose="020F0502020204030204" pitchFamily="34" charset="0"/>
                <a:cs typeface="Calibri" panose="020F0502020204030204" pitchFamily="34" charset="0"/>
              </a:rPr>
              <a:t>Bhiwadi</a:t>
            </a:r>
            <a:r>
              <a:rPr lang="en-US" dirty="0">
                <a:latin typeface="Calibri" panose="020F0502020204030204" pitchFamily="34" charset="0"/>
                <a:ea typeface="Calibri" panose="020F0502020204030204" pitchFamily="34" charset="0"/>
                <a:cs typeface="Calibri" panose="020F0502020204030204" pitchFamily="34" charset="0"/>
              </a:rPr>
              <a:t> SS/</a:t>
            </a:r>
            <a:r>
              <a:rPr lang="en-US" dirty="0" err="1">
                <a:latin typeface="Calibri" panose="020F0502020204030204" pitchFamily="34" charset="0"/>
                <a:ea typeface="Calibri" panose="020F0502020204030204" pitchFamily="34" charset="0"/>
                <a:cs typeface="Calibri" panose="020F0502020204030204" pitchFamily="34" charset="0"/>
              </a:rPr>
              <a:t>Khetri</a:t>
            </a:r>
            <a:r>
              <a:rPr lang="en-US" dirty="0">
                <a:latin typeface="Calibri" panose="020F0502020204030204" pitchFamily="34" charset="0"/>
                <a:ea typeface="Calibri" panose="020F0502020204030204" pitchFamily="34" charset="0"/>
                <a:cs typeface="Calibri" panose="020F0502020204030204" pitchFamily="34" charset="0"/>
              </a:rPr>
              <a:t> SS – FA and FTE issued, Final Invoice to be processed, At Faridabad</a:t>
            </a:r>
          </a:p>
          <a:p>
            <a:pPr marL="285750" lvl="0" indent="-28575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Narela SS – FA issued, FTE to be processed</a:t>
            </a:r>
          </a:p>
          <a:p>
            <a:pPr marL="285750" lvl="0" indent="-28575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Issuance of TOC for </a:t>
            </a:r>
            <a:r>
              <a:rPr lang="en-US" dirty="0" err="1">
                <a:latin typeface="Calibri" panose="020F0502020204030204" pitchFamily="34" charset="0"/>
                <a:ea typeface="Calibri" panose="020F0502020204030204" pitchFamily="34" charset="0"/>
                <a:cs typeface="Calibri" panose="020F0502020204030204" pitchFamily="34" charset="0"/>
              </a:rPr>
              <a:t>Bhadla</a:t>
            </a:r>
            <a:r>
              <a:rPr lang="en-US" dirty="0">
                <a:latin typeface="Calibri" panose="020F0502020204030204" pitchFamily="34" charset="0"/>
                <a:ea typeface="Calibri" panose="020F0502020204030204" pitchFamily="34" charset="0"/>
                <a:cs typeface="Calibri" panose="020F0502020204030204" pitchFamily="34" charset="0"/>
              </a:rPr>
              <a:t> 3 SS which was charged on 2</a:t>
            </a:r>
            <a:r>
              <a:rPr lang="en-US" baseline="30000" dirty="0">
                <a:latin typeface="Calibri" panose="020F0502020204030204" pitchFamily="34" charset="0"/>
                <a:ea typeface="Calibri" panose="020F0502020204030204" pitchFamily="34" charset="0"/>
                <a:cs typeface="Calibri" panose="020F0502020204030204" pitchFamily="34" charset="0"/>
              </a:rPr>
              <a:t>nd</a:t>
            </a:r>
            <a:r>
              <a:rPr lang="en-US" dirty="0">
                <a:latin typeface="Calibri" panose="020F0502020204030204" pitchFamily="34" charset="0"/>
                <a:ea typeface="Calibri" panose="020F0502020204030204" pitchFamily="34" charset="0"/>
                <a:cs typeface="Calibri" panose="020F0502020204030204" pitchFamily="34" charset="0"/>
              </a:rPr>
              <a:t> March’26 and TOC request was submitted on 5</a:t>
            </a:r>
            <a:r>
              <a:rPr lang="en-US" baseline="30000" dirty="0">
                <a:latin typeface="Calibri" panose="020F0502020204030204" pitchFamily="34" charset="0"/>
                <a:ea typeface="Calibri" panose="020F0502020204030204" pitchFamily="34" charset="0"/>
                <a:cs typeface="Calibri" panose="020F0502020204030204" pitchFamily="34" charset="0"/>
              </a:rPr>
              <a:t>th</a:t>
            </a:r>
            <a:r>
              <a:rPr lang="en-US" dirty="0">
                <a:latin typeface="Calibri" panose="020F0502020204030204" pitchFamily="34" charset="0"/>
                <a:ea typeface="Calibri" panose="020F0502020204030204" pitchFamily="34" charset="0"/>
                <a:cs typeface="Calibri" panose="020F0502020204030204" pitchFamily="34" charset="0"/>
              </a:rPr>
              <a:t> March’26. </a:t>
            </a:r>
          </a:p>
          <a:p>
            <a:pPr lvl="0">
              <a:lnSpc>
                <a:spcPct val="150000"/>
              </a:lnSpc>
            </a:pPr>
            <a:r>
              <a:rPr lang="en-US" b="1" dirty="0">
                <a:latin typeface="Calibri" panose="020F0502020204030204" pitchFamily="34" charset="0"/>
                <a:ea typeface="Calibri" panose="020F0502020204030204" pitchFamily="34" charset="0"/>
                <a:cs typeface="Calibri" panose="020F0502020204030204" pitchFamily="34" charset="0"/>
              </a:rPr>
              <a:t>Cost Compensation Claims</a:t>
            </a:r>
          </a:p>
          <a:p>
            <a:pPr marL="342900" lvl="0" indent="-34290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JSEB – Finalization of Claim and L2, approx. 77 Cr (Work started but claim not settled till date).ROW and Forest clearance pending.</a:t>
            </a:r>
            <a:endParaRPr lang="en-IN" dirty="0">
              <a:latin typeface="Calibri" panose="020F0502020204030204" pitchFamily="34" charset="0"/>
              <a:ea typeface="Calibri" panose="020F0502020204030204" pitchFamily="34" charset="0"/>
              <a:cs typeface="Calibri" panose="020F0502020204030204" pitchFamily="34" charset="0"/>
            </a:endParaRPr>
          </a:p>
          <a:p>
            <a:pPr marL="342900" lvl="0" indent="-34290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PGCIL-To initiate L2 Amendment and Time over run claim to BGCL Board as this is holding supply of materials.</a:t>
            </a:r>
            <a:endParaRPr lang="en-IN" dirty="0">
              <a:latin typeface="Calibri" panose="020F0502020204030204" pitchFamily="34" charset="0"/>
              <a:ea typeface="Calibri" panose="020F0502020204030204" pitchFamily="34" charset="0"/>
              <a:cs typeface="Calibri" panose="020F0502020204030204" pitchFamily="34" charset="0"/>
            </a:endParaRPr>
          </a:p>
          <a:p>
            <a:pPr marL="342900" lvl="0" indent="-34290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TK – 01 Sikkim – prolongation Claim with CC Gurgaon, 6.74 Cr</a:t>
            </a:r>
            <a:endParaRPr lang="en-IN" dirty="0">
              <a:latin typeface="Calibri" panose="020F0502020204030204" pitchFamily="34" charset="0"/>
              <a:ea typeface="Calibri" panose="020F0502020204030204" pitchFamily="34" charset="0"/>
              <a:cs typeface="Calibri" panose="020F0502020204030204" pitchFamily="34" charset="0"/>
            </a:endParaRPr>
          </a:p>
          <a:p>
            <a:pPr marL="342900" lvl="0" indent="-34290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TK – 04 Sikkim – prolongation Claim with CC Gurgaon, 7 Cr</a:t>
            </a:r>
            <a:endParaRPr lang="en-IN" dirty="0">
              <a:latin typeface="Calibri" panose="020F0502020204030204" pitchFamily="34" charset="0"/>
              <a:ea typeface="Calibri" panose="020F0502020204030204" pitchFamily="34" charset="0"/>
              <a:cs typeface="Calibri" panose="020F0502020204030204" pitchFamily="34" charset="0"/>
            </a:endParaRPr>
          </a:p>
          <a:p>
            <a:pPr marL="342900" lvl="0" indent="-34290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TK – 04 Sikkim 2 – prolongation Claim with Site , 9 Cr</a:t>
            </a:r>
            <a:endParaRPr lang="en-IN" dirty="0">
              <a:latin typeface="Calibri" panose="020F0502020204030204" pitchFamily="34" charset="0"/>
              <a:ea typeface="Calibri" panose="020F0502020204030204" pitchFamily="34" charset="0"/>
              <a:cs typeface="Calibri" panose="020F0502020204030204" pitchFamily="34" charset="0"/>
            </a:endParaRPr>
          </a:p>
          <a:p>
            <a:pPr marL="342900" lvl="0" indent="-34290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TBCB Rajasthan -  project delays Claim at Region level , 90 Cr</a:t>
            </a:r>
            <a:r>
              <a:rPr lang="en-IN" dirty="0">
                <a:latin typeface="Calibri" panose="020F0502020204030204" pitchFamily="34" charset="0"/>
                <a:ea typeface="Calibri" panose="020F0502020204030204" pitchFamily="34" charset="0"/>
                <a:cs typeface="Calibri" panose="020F0502020204030204" pitchFamily="34" charset="0"/>
              </a:rPr>
              <a:t> </a:t>
            </a:r>
          </a:p>
          <a:p>
            <a:pPr marL="342900" indent="-34290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Expediting Cost of </a:t>
            </a:r>
            <a:r>
              <a:rPr lang="en-US" dirty="0" err="1">
                <a:latin typeface="Calibri" panose="020F0502020204030204" pitchFamily="34" charset="0"/>
                <a:ea typeface="Calibri" panose="020F0502020204030204" pitchFamily="34" charset="0"/>
                <a:cs typeface="Calibri" panose="020F0502020204030204" pitchFamily="34" charset="0"/>
              </a:rPr>
              <a:t>Neemuch</a:t>
            </a:r>
            <a:r>
              <a:rPr lang="en-US" dirty="0">
                <a:latin typeface="Calibri" panose="020F0502020204030204" pitchFamily="34" charset="0"/>
                <a:ea typeface="Calibri" panose="020F0502020204030204" pitchFamily="34" charset="0"/>
                <a:cs typeface="Calibri" panose="020F0502020204030204" pitchFamily="34" charset="0"/>
              </a:rPr>
              <a:t> Chittorgarh T/L and release of CPBG – pending with NR1</a:t>
            </a:r>
            <a:r>
              <a:rPr lang="en-IN" dirty="0">
                <a:latin typeface="Calibri" panose="020F0502020204030204" pitchFamily="34" charset="0"/>
                <a:ea typeface="Calibri" panose="020F0502020204030204" pitchFamily="34" charset="0"/>
                <a:cs typeface="Calibri" panose="020F0502020204030204" pitchFamily="34" charset="0"/>
              </a:rPr>
              <a:t> </a:t>
            </a:r>
          </a:p>
          <a:p>
            <a:pPr marL="342900" indent="-342900">
              <a:buFont typeface="Wingdings" panose="05000000000000000000" pitchFamily="2" charset="2"/>
              <a:buChar char="§"/>
            </a:pPr>
            <a:r>
              <a:rPr lang="en-US" dirty="0">
                <a:latin typeface="Calibri" panose="020F0502020204030204" pitchFamily="34" charset="0"/>
                <a:ea typeface="Calibri" panose="020F0502020204030204" pitchFamily="34" charset="0"/>
                <a:cs typeface="Calibri" panose="020F0502020204030204" pitchFamily="34" charset="0"/>
              </a:rPr>
              <a:t>BG Release for </a:t>
            </a:r>
            <a:r>
              <a:rPr lang="en-US" dirty="0" err="1">
                <a:latin typeface="Calibri" panose="020F0502020204030204" pitchFamily="34" charset="0"/>
                <a:ea typeface="Calibri" panose="020F0502020204030204" pitchFamily="34" charset="0"/>
                <a:cs typeface="Calibri" panose="020F0502020204030204" pitchFamily="34" charset="0"/>
              </a:rPr>
              <a:t>Banaskantha</a:t>
            </a:r>
            <a:r>
              <a:rPr lang="en-US" dirty="0">
                <a:latin typeface="Calibri" panose="020F0502020204030204" pitchFamily="34" charset="0"/>
                <a:ea typeface="Calibri" panose="020F0502020204030204" pitchFamily="34" charset="0"/>
                <a:cs typeface="Calibri" panose="020F0502020204030204" pitchFamily="34" charset="0"/>
              </a:rPr>
              <a:t> Chittorgarh project – Pending with NR1</a:t>
            </a:r>
            <a:endParaRPr lang="en-IN"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840205245"/>
      </p:ext>
    </p:extLst>
  </p:cSld>
  <p:clrMapOvr>
    <a:masterClrMapping/>
  </p:clrMapOvr>
  <p:transition spd="slow"/>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3D963D-B9D5-5286-96D2-232AB4375B5E}"/>
              </a:ext>
            </a:extLst>
          </p:cNvPr>
          <p:cNvSpPr>
            <a:spLocks noGrp="1"/>
          </p:cNvSpPr>
          <p:nvPr>
            <p:ph type="title"/>
          </p:nvPr>
        </p:nvSpPr>
        <p:spPr/>
        <p:txBody>
          <a:bodyPr>
            <a:normAutofit/>
          </a:bodyPr>
          <a:lstStyle/>
          <a:p>
            <a:r>
              <a:rPr lang="en-IN" sz="2400" b="1" dirty="0">
                <a:latin typeface="Calibri" panose="020F0502020204030204" pitchFamily="34" charset="0"/>
                <a:ea typeface="Calibri" panose="020F0502020204030204" pitchFamily="34" charset="0"/>
                <a:cs typeface="Calibri" panose="020F0502020204030204" pitchFamily="34" charset="0"/>
              </a:rPr>
              <a:t>Project Closure Status(Rajasthan)</a:t>
            </a:r>
            <a:endParaRPr lang="en-IN" sz="2400"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4" name="Table 3">
            <a:extLst>
              <a:ext uri="{FF2B5EF4-FFF2-40B4-BE49-F238E27FC236}">
                <a16:creationId xmlns:a16="http://schemas.microsoft.com/office/drawing/2014/main" id="{A9C9FF35-3B1B-9335-589E-C30F29B11BE4}"/>
              </a:ext>
            </a:extLst>
          </p:cNvPr>
          <p:cNvGraphicFramePr>
            <a:graphicFrameLocks noGrp="1"/>
          </p:cNvGraphicFramePr>
          <p:nvPr>
            <p:extLst>
              <p:ext uri="{D42A27DB-BD31-4B8C-83A1-F6EECF244321}">
                <p14:modId xmlns:p14="http://schemas.microsoft.com/office/powerpoint/2010/main" val="4056465348"/>
              </p:ext>
            </p:extLst>
          </p:nvPr>
        </p:nvGraphicFramePr>
        <p:xfrm>
          <a:off x="257899" y="1295846"/>
          <a:ext cx="11676203" cy="5352605"/>
        </p:xfrm>
        <a:graphic>
          <a:graphicData uri="http://schemas.openxmlformats.org/drawingml/2006/table">
            <a:tbl>
              <a:tblPr firstRow="1" bandRow="1">
                <a:tableStyleId>{5C22544A-7EE6-4342-B048-85BDC9FD1C3A}</a:tableStyleId>
              </a:tblPr>
              <a:tblGrid>
                <a:gridCol w="762054">
                  <a:extLst>
                    <a:ext uri="{9D8B030D-6E8A-4147-A177-3AD203B41FA5}">
                      <a16:colId xmlns:a16="http://schemas.microsoft.com/office/drawing/2014/main" val="1903294522"/>
                    </a:ext>
                  </a:extLst>
                </a:gridCol>
                <a:gridCol w="4823775">
                  <a:extLst>
                    <a:ext uri="{9D8B030D-6E8A-4147-A177-3AD203B41FA5}">
                      <a16:colId xmlns:a16="http://schemas.microsoft.com/office/drawing/2014/main" val="2686491881"/>
                    </a:ext>
                  </a:extLst>
                </a:gridCol>
                <a:gridCol w="542640">
                  <a:extLst>
                    <a:ext uri="{9D8B030D-6E8A-4147-A177-3AD203B41FA5}">
                      <a16:colId xmlns:a16="http://schemas.microsoft.com/office/drawing/2014/main" val="3938575594"/>
                    </a:ext>
                  </a:extLst>
                </a:gridCol>
                <a:gridCol w="1351950">
                  <a:extLst>
                    <a:ext uri="{9D8B030D-6E8A-4147-A177-3AD203B41FA5}">
                      <a16:colId xmlns:a16="http://schemas.microsoft.com/office/drawing/2014/main" val="1436980239"/>
                    </a:ext>
                  </a:extLst>
                </a:gridCol>
                <a:gridCol w="1057022">
                  <a:extLst>
                    <a:ext uri="{9D8B030D-6E8A-4147-A177-3AD203B41FA5}">
                      <a16:colId xmlns:a16="http://schemas.microsoft.com/office/drawing/2014/main" val="1058278634"/>
                    </a:ext>
                  </a:extLst>
                </a:gridCol>
                <a:gridCol w="677255">
                  <a:extLst>
                    <a:ext uri="{9D8B030D-6E8A-4147-A177-3AD203B41FA5}">
                      <a16:colId xmlns:a16="http://schemas.microsoft.com/office/drawing/2014/main" val="1441061817"/>
                    </a:ext>
                  </a:extLst>
                </a:gridCol>
                <a:gridCol w="2461507">
                  <a:extLst>
                    <a:ext uri="{9D8B030D-6E8A-4147-A177-3AD203B41FA5}">
                      <a16:colId xmlns:a16="http://schemas.microsoft.com/office/drawing/2014/main" val="1768094910"/>
                    </a:ext>
                  </a:extLst>
                </a:gridCol>
              </a:tblGrid>
              <a:tr h="765633">
                <a:tc>
                  <a:txBody>
                    <a:bodyPr/>
                    <a:lstStyle/>
                    <a:p>
                      <a:pPr algn="ctr" rtl="0" fontAlgn="ctr">
                        <a:buNone/>
                      </a:pPr>
                      <a:r>
                        <a:rPr lang="en-IN" sz="14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Sr. No</a:t>
                      </a:r>
                      <a:endParaRPr lang="en-IN"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B w="12700" cap="flat" cmpd="sng" algn="ctr">
                      <a:solidFill>
                        <a:schemeClr val="tx2">
                          <a:lumMod val="25000"/>
                          <a:lumOff val="75000"/>
                        </a:schemeClr>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4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Project Name</a:t>
                      </a:r>
                      <a:endParaRPr lang="en-IN"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B w="12700" cap="flat" cmpd="sng" algn="ctr">
                      <a:solidFill>
                        <a:schemeClr val="tx2">
                          <a:lumMod val="25000"/>
                          <a:lumOff val="75000"/>
                        </a:schemeClr>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4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TL/SS</a:t>
                      </a:r>
                      <a:endParaRPr lang="en-IN"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B w="12700" cap="flat" cmpd="sng" algn="ctr">
                      <a:solidFill>
                        <a:schemeClr val="tx2">
                          <a:lumMod val="25000"/>
                          <a:lumOff val="75000"/>
                        </a:schemeClr>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4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Date of Commissioning</a:t>
                      </a:r>
                      <a:endParaRPr lang="en-IN"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B w="12700" cap="flat" cmpd="sng" algn="ctr">
                      <a:solidFill>
                        <a:schemeClr val="tx2">
                          <a:lumMod val="25000"/>
                          <a:lumOff val="75000"/>
                        </a:schemeClr>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4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Pending Outstanding Value(</a:t>
                      </a:r>
                      <a:r>
                        <a:rPr lang="en-IN" sz="1400" u="none" strike="noStrike"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Crs</a:t>
                      </a:r>
                      <a:r>
                        <a:rPr lang="en-IN" sz="14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en-IN"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B w="12700" cap="flat" cmpd="sng" algn="ctr">
                      <a:solidFill>
                        <a:schemeClr val="tx2">
                          <a:lumMod val="25000"/>
                          <a:lumOff val="75000"/>
                        </a:schemeClr>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4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Claims (</a:t>
                      </a:r>
                      <a:r>
                        <a:rPr lang="en-IN" sz="1400" u="none" strike="noStrike" dirty="0" err="1">
                          <a:solidFill>
                            <a:schemeClr val="tx1"/>
                          </a:solidFill>
                          <a:effectLst/>
                          <a:latin typeface="Calibri" panose="020F0502020204030204" pitchFamily="34" charset="0"/>
                          <a:ea typeface="Calibri" panose="020F0502020204030204" pitchFamily="34" charset="0"/>
                          <a:cs typeface="Calibri" panose="020F0502020204030204" pitchFamily="34" charset="0"/>
                        </a:rPr>
                        <a:t>Crs</a:t>
                      </a:r>
                      <a:r>
                        <a:rPr lang="en-IN" sz="14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en-IN"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B w="12700" cap="flat" cmpd="sng" algn="ctr">
                      <a:solidFill>
                        <a:schemeClr val="tx2">
                          <a:lumMod val="25000"/>
                          <a:lumOff val="75000"/>
                        </a:schemeClr>
                      </a:solidFill>
                      <a:prstDash val="solid"/>
                      <a:round/>
                      <a:headEnd type="none" w="med" len="med"/>
                      <a:tailEnd type="none" w="med" len="med"/>
                    </a:lnB>
                    <a:solidFill>
                      <a:schemeClr val="tx2">
                        <a:lumMod val="10000"/>
                        <a:lumOff val="90000"/>
                      </a:schemeClr>
                    </a:solidFill>
                  </a:tcPr>
                </a:tc>
                <a:tc>
                  <a:txBody>
                    <a:bodyPr/>
                    <a:lstStyle/>
                    <a:p>
                      <a:pPr algn="ctr" rtl="0" fontAlgn="ctr">
                        <a:buNone/>
                      </a:pPr>
                      <a:r>
                        <a:rPr lang="en-IN" sz="140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Remarks</a:t>
                      </a:r>
                      <a:endParaRPr lang="en-IN" sz="1400" b="1" i="0"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B w="12700" cap="flat" cmpd="sng" algn="ctr">
                      <a:solidFill>
                        <a:schemeClr val="tx2">
                          <a:lumMod val="25000"/>
                          <a:lumOff val="75000"/>
                        </a:schemeClr>
                      </a:solidFill>
                      <a:prstDash val="solid"/>
                      <a:round/>
                      <a:headEnd type="none" w="med" len="med"/>
                      <a:tailEnd type="none" w="med" len="med"/>
                    </a:lnB>
                    <a:solidFill>
                      <a:schemeClr val="tx2">
                        <a:lumMod val="10000"/>
                        <a:lumOff val="90000"/>
                      </a:schemeClr>
                    </a:solidFill>
                  </a:tcPr>
                </a:tc>
                <a:extLst>
                  <a:ext uri="{0D108BD9-81ED-4DB2-BD59-A6C34878D82A}">
                    <a16:rowId xmlns:a16="http://schemas.microsoft.com/office/drawing/2014/main" val="4026707318"/>
                  </a:ext>
                </a:extLst>
              </a:tr>
              <a:tr h="532329">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1</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l" rtl="0" fontAlgn="ctr">
                        <a:buNone/>
                      </a:pPr>
                      <a:r>
                        <a:rPr lang="nn-NO" sz="1400" u="none" strike="noStrike" dirty="0">
                          <a:effectLst/>
                          <a:latin typeface="Calibri" panose="020F0502020204030204" pitchFamily="34" charset="0"/>
                          <a:ea typeface="Calibri" panose="020F0502020204030204" pitchFamily="34" charset="0"/>
                          <a:cs typeface="Calibri" panose="020F0502020204030204" pitchFamily="34" charset="0"/>
                        </a:rPr>
                        <a:t>Package TW01 for Badla-Il PS- Sikar-II 765kV D/C Line-Part-I    (TA 121)</a:t>
                      </a:r>
                      <a:endParaRPr lang="nn-NO"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ctr">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TL</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17.12.24</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53880320"/>
                  </a:ext>
                </a:extLst>
              </a:tr>
              <a:tr h="532329">
                <a:tc>
                  <a:txBody>
                    <a:bodyPr/>
                    <a:lstStyle/>
                    <a:p>
                      <a:pPr algn="ctr" rtl="0" fontAlgn="b">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2</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l" rtl="0" fontAlgn="ctr">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Package TW02 for </a:t>
                      </a:r>
                      <a:r>
                        <a:rPr lang="en-IN" sz="1400" u="none" strike="noStrike" dirty="0" err="1">
                          <a:effectLst/>
                          <a:latin typeface="Calibri" panose="020F0502020204030204" pitchFamily="34" charset="0"/>
                          <a:ea typeface="Calibri" panose="020F0502020204030204" pitchFamily="34" charset="0"/>
                          <a:cs typeface="Calibri" panose="020F0502020204030204" pitchFamily="34" charset="0"/>
                        </a:rPr>
                        <a:t>Bhadla-ps</a:t>
                      </a: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Sikar-</a:t>
                      </a:r>
                      <a:r>
                        <a:rPr lang="en-IN" sz="1400" u="none" strike="noStrike" dirty="0" err="1">
                          <a:effectLst/>
                          <a:latin typeface="Calibri" panose="020F0502020204030204" pitchFamily="34" charset="0"/>
                          <a:ea typeface="Calibri" panose="020F0502020204030204" pitchFamily="34" charset="0"/>
                          <a:cs typeface="Calibri" panose="020F0502020204030204" pitchFamily="34" charset="0"/>
                        </a:rPr>
                        <a:t>lt</a:t>
                      </a: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765kv D/cline-part-Il       (TA 122)</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ctr">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TL</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17.12.24</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US"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81016604"/>
                  </a:ext>
                </a:extLst>
              </a:tr>
              <a:tr h="765633">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3</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l" rtl="0" fontAlgn="ctr">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Package TW03 for Badla-Il PS- Sikar-II 765kV D/C Line-Part-III(TA 123)</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ctr">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TL </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17.12.24</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31290738"/>
                  </a:ext>
                </a:extLst>
              </a:tr>
              <a:tr h="532329">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4</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l" rtl="0" fontAlgn="ctr">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Package TW04 for Sikar-</a:t>
                      </a:r>
                      <a:r>
                        <a:rPr lang="en-IN" sz="1400" u="none" strike="noStrike" dirty="0" err="1">
                          <a:effectLst/>
                          <a:latin typeface="Calibri" panose="020F0502020204030204" pitchFamily="34" charset="0"/>
                          <a:ea typeface="Calibri" panose="020F0502020204030204" pitchFamily="34" charset="0"/>
                          <a:cs typeface="Calibri" panose="020F0502020204030204" pitchFamily="34" charset="0"/>
                        </a:rPr>
                        <a:t>ll</a:t>
                      </a: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 Neemrana 400 kV D/C line (Twin HTLS(TA124)</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ctr">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TL</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11.10.24</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957403192"/>
                  </a:ext>
                </a:extLst>
              </a:tr>
              <a:tr h="532329">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5</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l" rtl="0" fontAlgn="ctr">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Package TW02 for Badla-III Ps- Sikar-II 765kv D/cline-part-Il (TA405)</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ctr">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TL</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12.02.26</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32893301"/>
                  </a:ext>
                </a:extLst>
              </a:tr>
              <a:tr h="299020">
                <a:tc>
                  <a:txBody>
                    <a:bodyPr/>
                    <a:lstStyle/>
                    <a:p>
                      <a:pPr algn="ctr" rtl="0" fontAlgn="b">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6</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l" rtl="0" fontAlgn="ctr">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765/400/220kV Ramgarh PS New </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ctr">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SS</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23.02.26</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349135495"/>
                  </a:ext>
                </a:extLst>
              </a:tr>
              <a:tr h="299020">
                <a:tc>
                  <a:txBody>
                    <a:bodyPr/>
                    <a:lstStyle/>
                    <a:p>
                      <a:pPr algn="ctr" rtl="0" fontAlgn="b">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7</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l" rtl="0" fontAlgn="ctr">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765/400/220kV Badla III PS </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ctr">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SS</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03.03.26</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61946784"/>
                  </a:ext>
                </a:extLst>
              </a:tr>
              <a:tr h="532329">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8</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l" rtl="0" fontAlgn="ctr">
                        <a:buNone/>
                      </a:pPr>
                      <a:r>
                        <a:rPr lang="en-US" sz="1400" u="none" strike="noStrike" dirty="0">
                          <a:effectLst/>
                          <a:latin typeface="Calibri" panose="020F0502020204030204" pitchFamily="34" charset="0"/>
                          <a:ea typeface="Calibri" panose="020F0502020204030204" pitchFamily="34" charset="0"/>
                          <a:cs typeface="Calibri" panose="020F0502020204030204" pitchFamily="34" charset="0"/>
                        </a:rPr>
                        <a:t>TW02: </a:t>
                      </a:r>
                      <a:r>
                        <a:rPr lang="en-US" sz="1400" u="none" strike="noStrike" dirty="0" err="1">
                          <a:effectLst/>
                          <a:latin typeface="Calibri" panose="020F0502020204030204" pitchFamily="34" charset="0"/>
                          <a:ea typeface="Calibri" panose="020F0502020204030204" pitchFamily="34" charset="0"/>
                          <a:cs typeface="Calibri" panose="020F0502020204030204" pitchFamily="34" charset="0"/>
                        </a:rPr>
                        <a:t>Fathegargh</a:t>
                      </a:r>
                      <a:r>
                        <a:rPr lang="en-US" sz="1400" u="none" strike="noStrike" dirty="0">
                          <a:effectLst/>
                          <a:latin typeface="Calibri" panose="020F0502020204030204" pitchFamily="34" charset="0"/>
                          <a:ea typeface="Calibri" panose="020F0502020204030204" pitchFamily="34" charset="0"/>
                          <a:cs typeface="Calibri" panose="020F0502020204030204" pitchFamily="34" charset="0"/>
                        </a:rPr>
                        <a:t> -II PS - Badla -II PS 765 KV D/c Line (2 </a:t>
                      </a:r>
                      <a:r>
                        <a:rPr lang="en-US" sz="1400" u="none" strike="noStrike" dirty="0" err="1">
                          <a:effectLst/>
                          <a:latin typeface="Calibri" panose="020F0502020204030204" pitchFamily="34" charset="0"/>
                          <a:ea typeface="Calibri" panose="020F0502020204030204" pitchFamily="34" charset="0"/>
                          <a:cs typeface="Calibri" panose="020F0502020204030204" pitchFamily="34" charset="0"/>
                        </a:rPr>
                        <a:t>nd</a:t>
                      </a:r>
                      <a:r>
                        <a:rPr lang="en-US" sz="1400" u="none" strike="noStrike" dirty="0">
                          <a:effectLst/>
                          <a:latin typeface="Calibri" panose="020F0502020204030204" pitchFamily="34" charset="0"/>
                          <a:ea typeface="Calibri" panose="020F0502020204030204" pitchFamily="34" charset="0"/>
                          <a:cs typeface="Calibri" panose="020F0502020204030204" pitchFamily="34" charset="0"/>
                        </a:rPr>
                        <a:t>) Part B (TA -120)</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ctr">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TL</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18.08.24</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68520153"/>
                  </a:ext>
                </a:extLst>
              </a:tr>
              <a:tr h="322351">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9</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l" fontAlgn="ctr">
                        <a:buNone/>
                      </a:pPr>
                      <a:r>
                        <a:rPr lang="en-US" sz="1400" u="none" strike="noStrike" dirty="0">
                          <a:effectLst/>
                          <a:latin typeface="Calibri" panose="020F0502020204030204" pitchFamily="34" charset="0"/>
                          <a:ea typeface="Calibri" panose="020F0502020204030204" pitchFamily="34" charset="0"/>
                          <a:cs typeface="Calibri" panose="020F0502020204030204" pitchFamily="34" charset="0"/>
                        </a:rPr>
                        <a:t>Substation projects: (Bikaner/</a:t>
                      </a:r>
                      <a:r>
                        <a:rPr lang="en-US" sz="1400" u="none" strike="noStrike" dirty="0" err="1">
                          <a:effectLst/>
                          <a:latin typeface="Calibri" panose="020F0502020204030204" pitchFamily="34" charset="0"/>
                          <a:ea typeface="Calibri" panose="020F0502020204030204" pitchFamily="34" charset="0"/>
                          <a:cs typeface="Calibri" panose="020F0502020204030204" pitchFamily="34" charset="0"/>
                        </a:rPr>
                        <a:t>Khetri</a:t>
                      </a:r>
                      <a:r>
                        <a:rPr lang="en-US" sz="1400" u="none" strike="noStrike" dirty="0">
                          <a:effectLst/>
                          <a:latin typeface="Calibri" panose="020F0502020204030204" pitchFamily="34" charset="0"/>
                          <a:ea typeface="Calibri" panose="020F0502020204030204" pitchFamily="34" charset="0"/>
                          <a:cs typeface="Calibri" panose="020F0502020204030204" pitchFamily="34" charset="0"/>
                        </a:rPr>
                        <a:t> &amp; </a:t>
                      </a:r>
                      <a:r>
                        <a:rPr lang="en-US" sz="1400" u="none" strike="noStrike" dirty="0" err="1">
                          <a:effectLst/>
                          <a:latin typeface="Calibri" panose="020F0502020204030204" pitchFamily="34" charset="0"/>
                          <a:ea typeface="Calibri" panose="020F0502020204030204" pitchFamily="34" charset="0"/>
                          <a:cs typeface="Calibri" panose="020F0502020204030204" pitchFamily="34" charset="0"/>
                        </a:rPr>
                        <a:t>Bhiwadi</a:t>
                      </a:r>
                      <a:r>
                        <a:rPr lang="en-US" sz="1400" u="none" strike="noStrike" dirty="0">
                          <a:effectLst/>
                          <a:latin typeface="Calibri" panose="020F0502020204030204" pitchFamily="34" charset="0"/>
                          <a:ea typeface="Calibri" panose="020F0502020204030204" pitchFamily="34" charset="0"/>
                          <a:cs typeface="Calibri" panose="020F0502020204030204" pitchFamily="34" charset="0"/>
                        </a:rPr>
                        <a:t>)</a:t>
                      </a:r>
                      <a:endParaRPr lang="en-US"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ctr">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SS</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ctr">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tc>
                  <a:txBody>
                    <a:bodyPr/>
                    <a:lstStyle/>
                    <a:p>
                      <a:pPr algn="ctr" rtl="0" fontAlgn="b">
                        <a:buNone/>
                      </a:pPr>
                      <a:endParaRPr lang="en-IN" sz="1400" b="0"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L w="12700" cap="flat" cmpd="sng" algn="ctr">
                      <a:solidFill>
                        <a:schemeClr val="tx2">
                          <a:lumMod val="25000"/>
                          <a:lumOff val="75000"/>
                        </a:schemeClr>
                      </a:solidFill>
                      <a:prstDash val="solid"/>
                      <a:round/>
                      <a:headEnd type="none" w="med" len="med"/>
                      <a:tailEnd type="none" w="med" len="med"/>
                    </a:lnL>
                    <a:lnR w="12700" cap="flat" cmpd="sng" algn="ctr">
                      <a:solidFill>
                        <a:schemeClr val="tx2">
                          <a:lumMod val="25000"/>
                          <a:lumOff val="75000"/>
                        </a:schemeClr>
                      </a:solidFill>
                      <a:prstDash val="solid"/>
                      <a:round/>
                      <a:headEnd type="none" w="med" len="med"/>
                      <a:tailEnd type="none" w="med" len="med"/>
                    </a:lnR>
                    <a:lnT w="12700" cap="flat" cmpd="sng" algn="ctr">
                      <a:solidFill>
                        <a:schemeClr val="tx2">
                          <a:lumMod val="25000"/>
                          <a:lumOff val="75000"/>
                        </a:schemeClr>
                      </a:solidFill>
                      <a:prstDash val="solid"/>
                      <a:round/>
                      <a:headEnd type="none" w="med" len="med"/>
                      <a:tailEnd type="none" w="med" len="med"/>
                    </a:lnT>
                    <a:lnB w="12700" cap="flat" cmpd="sng" algn="ctr">
                      <a:solidFill>
                        <a:schemeClr val="tx2">
                          <a:lumMod val="25000"/>
                          <a:lumOff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3766948"/>
                  </a:ext>
                </a:extLst>
              </a:tr>
              <a:tr h="239303">
                <a:tc>
                  <a:txBody>
                    <a:bodyPr/>
                    <a:lstStyle/>
                    <a:p>
                      <a:pPr algn="ctr" rtl="0" fontAlgn="b">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T w="12700" cap="flat" cmpd="sng" algn="ctr">
                      <a:solidFill>
                        <a:schemeClr val="tx2">
                          <a:lumMod val="25000"/>
                          <a:lumOff val="75000"/>
                        </a:schemeClr>
                      </a:solidFill>
                      <a:prstDash val="solid"/>
                      <a:round/>
                      <a:headEnd type="none" w="med" len="med"/>
                      <a:tailEnd type="none" w="med" len="med"/>
                    </a:lnT>
                    <a:solidFill>
                      <a:schemeClr val="tx2">
                        <a:lumMod val="10000"/>
                        <a:lumOff val="90000"/>
                      </a:schemeClr>
                    </a:solidFill>
                  </a:tcPr>
                </a:tc>
                <a:tc>
                  <a:txBody>
                    <a:bodyPr/>
                    <a:lstStyle/>
                    <a:p>
                      <a:pPr algn="ctr" rtl="0" fontAlgn="b">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T w="12700" cap="flat" cmpd="sng" algn="ctr">
                      <a:solidFill>
                        <a:schemeClr val="tx2">
                          <a:lumMod val="25000"/>
                          <a:lumOff val="75000"/>
                        </a:schemeClr>
                      </a:solidFill>
                      <a:prstDash val="solid"/>
                      <a:round/>
                      <a:headEnd type="none" w="med" len="med"/>
                      <a:tailEnd type="none" w="med" len="med"/>
                    </a:lnT>
                    <a:solidFill>
                      <a:schemeClr val="tx2">
                        <a:lumMod val="10000"/>
                        <a:lumOff val="90000"/>
                      </a:schemeClr>
                    </a:solidFill>
                  </a:tcPr>
                </a:tc>
                <a:tc>
                  <a:txBody>
                    <a:bodyPr/>
                    <a:lstStyle/>
                    <a:p>
                      <a:pPr algn="ctr" rtl="0" fontAlgn="b">
                        <a:buNone/>
                      </a:pPr>
                      <a:r>
                        <a:rPr lang="en-IN" sz="1400" u="none" strike="noStrike">
                          <a:effectLst/>
                          <a:latin typeface="Calibri" panose="020F0502020204030204" pitchFamily="34" charset="0"/>
                          <a:ea typeface="Calibri" panose="020F0502020204030204" pitchFamily="34" charset="0"/>
                          <a:cs typeface="Calibri" panose="020F0502020204030204" pitchFamily="34" charset="0"/>
                        </a:rPr>
                        <a:t> </a:t>
                      </a:r>
                      <a:endParaRPr lang="en-IN" sz="1400" b="0"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T w="12700" cap="flat" cmpd="sng" algn="ctr">
                      <a:solidFill>
                        <a:schemeClr val="tx2">
                          <a:lumMod val="25000"/>
                          <a:lumOff val="75000"/>
                        </a:schemeClr>
                      </a:solidFill>
                      <a:prstDash val="solid"/>
                      <a:round/>
                      <a:headEnd type="none" w="med" len="med"/>
                      <a:tailEnd type="none" w="med" len="med"/>
                    </a:lnT>
                    <a:solidFill>
                      <a:schemeClr val="tx2">
                        <a:lumMod val="10000"/>
                        <a:lumOff val="90000"/>
                      </a:schemeClr>
                    </a:solidFill>
                  </a:tcPr>
                </a:tc>
                <a:tc>
                  <a:txBody>
                    <a:bodyPr/>
                    <a:lstStyle/>
                    <a:p>
                      <a:pPr algn="ctr" rtl="0" fontAlgn="b">
                        <a:buNone/>
                      </a:pPr>
                      <a:r>
                        <a:rPr lang="en-IN" sz="1400" b="1" u="none" strike="noStrike" dirty="0">
                          <a:effectLst/>
                          <a:latin typeface="Calibri" panose="020F0502020204030204" pitchFamily="34" charset="0"/>
                          <a:ea typeface="Calibri" panose="020F0502020204030204" pitchFamily="34" charset="0"/>
                          <a:cs typeface="Calibri" panose="020F0502020204030204" pitchFamily="34" charset="0"/>
                        </a:rPr>
                        <a:t>Total</a:t>
                      </a: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T w="12700" cap="flat" cmpd="sng" algn="ctr">
                      <a:solidFill>
                        <a:schemeClr val="tx2">
                          <a:lumMod val="25000"/>
                          <a:lumOff val="75000"/>
                        </a:schemeClr>
                      </a:solidFill>
                      <a:prstDash val="solid"/>
                      <a:round/>
                      <a:headEnd type="none" w="med" len="med"/>
                      <a:tailEnd type="none" w="med" len="med"/>
                    </a:lnT>
                    <a:solidFill>
                      <a:schemeClr val="tx2">
                        <a:lumMod val="10000"/>
                        <a:lumOff val="90000"/>
                      </a:schemeClr>
                    </a:solidFill>
                  </a:tcPr>
                </a:tc>
                <a:tc>
                  <a:txBody>
                    <a:bodyPr/>
                    <a:lstStyle/>
                    <a:p>
                      <a:pPr algn="ctr" rtl="0" fontAlgn="b">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T w="12700" cap="flat" cmpd="sng" algn="ctr">
                      <a:solidFill>
                        <a:schemeClr val="tx2">
                          <a:lumMod val="25000"/>
                          <a:lumOff val="75000"/>
                        </a:schemeClr>
                      </a:solidFill>
                      <a:prstDash val="solid"/>
                      <a:round/>
                      <a:headEnd type="none" w="med" len="med"/>
                      <a:tailEnd type="none" w="med" len="med"/>
                    </a:lnT>
                    <a:solidFill>
                      <a:schemeClr val="tx2">
                        <a:lumMod val="10000"/>
                        <a:lumOff val="90000"/>
                      </a:schemeClr>
                    </a:solidFill>
                  </a:tcPr>
                </a:tc>
                <a:tc>
                  <a:txBody>
                    <a:bodyPr/>
                    <a:lstStyle/>
                    <a:p>
                      <a:pPr algn="ctr" rtl="0" fontAlgn="b">
                        <a:buNone/>
                      </a:pP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T w="12700" cap="flat" cmpd="sng" algn="ctr">
                      <a:solidFill>
                        <a:schemeClr val="tx2">
                          <a:lumMod val="25000"/>
                          <a:lumOff val="75000"/>
                        </a:schemeClr>
                      </a:solidFill>
                      <a:prstDash val="solid"/>
                      <a:round/>
                      <a:headEnd type="none" w="med" len="med"/>
                      <a:tailEnd type="none" w="med" len="med"/>
                    </a:lnT>
                    <a:solidFill>
                      <a:schemeClr val="tx2">
                        <a:lumMod val="10000"/>
                        <a:lumOff val="90000"/>
                      </a:schemeClr>
                    </a:solidFill>
                  </a:tcPr>
                </a:tc>
                <a:tc>
                  <a:txBody>
                    <a:bodyPr/>
                    <a:lstStyle/>
                    <a:p>
                      <a:pPr algn="ctr" rtl="0" fontAlgn="b">
                        <a:buNone/>
                      </a:pPr>
                      <a:r>
                        <a:rPr lang="en-IN" sz="1400" u="none" strike="noStrike" dirty="0">
                          <a:effectLst/>
                          <a:latin typeface="Calibri" panose="020F0502020204030204" pitchFamily="34" charset="0"/>
                          <a:ea typeface="Calibri" panose="020F0502020204030204" pitchFamily="34" charset="0"/>
                          <a:cs typeface="Calibri" panose="020F0502020204030204" pitchFamily="34" charset="0"/>
                        </a:rPr>
                        <a:t> </a:t>
                      </a:r>
                      <a:endParaRPr lang="en-IN" sz="1400" b="1" i="0" u="none" strike="noStrike" dirty="0">
                        <a:solidFill>
                          <a:srgbClr val="000000"/>
                        </a:solidFill>
                        <a:effectLst/>
                        <a:latin typeface="Calibri" panose="020F0502020204030204" pitchFamily="34" charset="0"/>
                        <a:ea typeface="Calibri" panose="020F0502020204030204" pitchFamily="34" charset="0"/>
                        <a:cs typeface="Calibri" panose="020F0502020204030204" pitchFamily="34" charset="0"/>
                      </a:endParaRPr>
                    </a:p>
                  </a:txBody>
                  <a:tcPr marL="7119" marR="7119" marT="7119" marB="0" anchor="b">
                    <a:lnT w="12700" cap="flat" cmpd="sng" algn="ctr">
                      <a:solidFill>
                        <a:schemeClr val="tx2">
                          <a:lumMod val="25000"/>
                          <a:lumOff val="75000"/>
                        </a:schemeClr>
                      </a:solidFill>
                      <a:prstDash val="solid"/>
                      <a:round/>
                      <a:headEnd type="none" w="med" len="med"/>
                      <a:tailEnd type="none" w="med" len="med"/>
                    </a:lnT>
                    <a:solidFill>
                      <a:schemeClr val="tx2">
                        <a:lumMod val="10000"/>
                        <a:lumOff val="90000"/>
                      </a:schemeClr>
                    </a:solidFill>
                  </a:tcPr>
                </a:tc>
                <a:extLst>
                  <a:ext uri="{0D108BD9-81ED-4DB2-BD59-A6C34878D82A}">
                    <a16:rowId xmlns:a16="http://schemas.microsoft.com/office/drawing/2014/main" val="3036764890"/>
                  </a:ext>
                </a:extLst>
              </a:tr>
            </a:tbl>
          </a:graphicData>
        </a:graphic>
      </p:graphicFrame>
    </p:spTree>
    <p:extLst>
      <p:ext uri="{BB962C8B-B14F-4D97-AF65-F5344CB8AC3E}">
        <p14:creationId xmlns:p14="http://schemas.microsoft.com/office/powerpoint/2010/main" val="3472063979"/>
      </p:ext>
    </p:extLst>
  </p:cSld>
  <p:clrMapOvr>
    <a:masterClrMapping/>
  </p:clrMapOvr>
  <p:transition spd="slow"/>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B7C143-8DEA-ECAE-EE7D-16BCCDAC94BF}"/>
              </a:ext>
            </a:extLst>
          </p:cNvPr>
          <p:cNvSpPr>
            <a:spLocks noGrp="1"/>
          </p:cNvSpPr>
          <p:nvPr>
            <p:ph type="title"/>
          </p:nvPr>
        </p:nvSpPr>
        <p:spPr>
          <a:xfrm>
            <a:off x="257898" y="3153095"/>
            <a:ext cx="11676203" cy="551809"/>
          </a:xfrm>
        </p:spPr>
        <p:txBody>
          <a:bodyPr>
            <a:normAutofit fontScale="90000"/>
          </a:bodyPr>
          <a:lstStyle/>
          <a:p>
            <a:pPr algn="ctr"/>
            <a:r>
              <a:rPr lang="en-IN" dirty="0">
                <a:latin typeface="Calibri" panose="020F0502020204030204" pitchFamily="34" charset="0"/>
                <a:ea typeface="Calibri" panose="020F0502020204030204" pitchFamily="34" charset="0"/>
                <a:cs typeface="Calibri" panose="020F0502020204030204" pitchFamily="34" charset="0"/>
              </a:rPr>
              <a:t>Thank You</a:t>
            </a:r>
          </a:p>
        </p:txBody>
      </p:sp>
    </p:spTree>
    <p:extLst>
      <p:ext uri="{BB962C8B-B14F-4D97-AF65-F5344CB8AC3E}">
        <p14:creationId xmlns:p14="http://schemas.microsoft.com/office/powerpoint/2010/main" val="2460892516"/>
      </p:ext>
    </p:extLst>
  </p:cSld>
  <p:clrMapOvr>
    <a:masterClrMapping/>
  </p:clrMapOvr>
  <p:transition spd="slow"/>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2204</TotalTime>
  <Words>15960</Words>
  <Application>Microsoft Office PowerPoint</Application>
  <PresentationFormat>Widescreen</PresentationFormat>
  <Paragraphs>6830</Paragraphs>
  <Slides>95</Slides>
  <Notes>7</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95</vt:i4>
      </vt:variant>
    </vt:vector>
  </HeadingPairs>
  <TitlesOfParts>
    <vt:vector size="103" baseType="lpstr">
      <vt:lpstr>Aptos</vt:lpstr>
      <vt:lpstr>Aptos Display</vt:lpstr>
      <vt:lpstr>Aptos Narrow</vt:lpstr>
      <vt:lpstr>Arial</vt:lpstr>
      <vt:lpstr>Calibri</vt:lpstr>
      <vt:lpstr>Mangal</vt:lpstr>
      <vt:lpstr>Wingdings</vt:lpstr>
      <vt:lpstr>Office Theme</vt:lpstr>
      <vt:lpstr>PowerPoint Presentation</vt:lpstr>
      <vt:lpstr>Agenda Points</vt:lpstr>
      <vt:lpstr>Summary of Projects  under Execution by KEC (TL Projects)  </vt:lpstr>
      <vt:lpstr>Summary of projects under Execution by KEC (SS Projects)  </vt:lpstr>
      <vt:lpstr>Priority Projects to be completed </vt:lpstr>
      <vt:lpstr>Support Required  </vt:lpstr>
      <vt:lpstr>Pending Amendments </vt:lpstr>
      <vt:lpstr>List of Running Substation &amp; TL Project (Cont..)</vt:lpstr>
      <vt:lpstr>List of Running Substation &amp; TL Project</vt:lpstr>
      <vt:lpstr>Gujarat  Region (WR-II) </vt:lpstr>
      <vt:lpstr>TL04 - 765KV D/C Vataman - Navsari Transmission Line (TA- 414)</vt:lpstr>
      <vt:lpstr>TL04 - 765KV D/C Vataman - Navsari Transmission Line (TA- 414)</vt:lpstr>
      <vt:lpstr>TL04 - 765KV D/C Vataman - Navsari Transmission Line (TA- 414)</vt:lpstr>
      <vt:lpstr>TL01 - 765KV D/C Mandsaur – Kurawar Part I (TA- 509)</vt:lpstr>
      <vt:lpstr>TL01 - 765KV D/C Mandsaur – Kurawar Part I (TA- 509)</vt:lpstr>
      <vt:lpstr>TL04- 765 kV D/C  Ahmedabad - South Olpad Transmission Line (TA- 510)</vt:lpstr>
      <vt:lpstr>TL04- 765 kV D/C  Ahmedabad - South Olpad Transmission Line (TA- 510)</vt:lpstr>
      <vt:lpstr>TL02 - 800kV HVDC Bipole Line between KPS2 (HVDC) &amp; Nagpur (HVDC) (TA- 514)</vt:lpstr>
      <vt:lpstr>TL02 - 800kV HVDC Bipole Line between KPS2 (HVDC) &amp; Nagpur (HVDC) (TA- 514)</vt:lpstr>
      <vt:lpstr>TL03 - 800 kV HVDC KPS2 - Nagpur T/L Project (Part -3) (TA- 515)</vt:lpstr>
      <vt:lpstr>TL03 - 800 kV HVDC KPS2 - Nagpur T/L Project (Part -3) (TA- 515)</vt:lpstr>
      <vt:lpstr>TL06 - 800 KV HVDC KPS-II to Nagpur (TA- 602)</vt:lpstr>
      <vt:lpstr>TL06 - 800 KV HVDC KPS-II to Nagpur (TA- 602)</vt:lpstr>
      <vt:lpstr>SS118 220kV Bay Ext Raigarh GIS Sub-Sation (SA52C)</vt:lpstr>
      <vt:lpstr>765/400 kV KPS-2 Ext 39T (SA-503)</vt:lpstr>
      <vt:lpstr>765/400 kV KPS-2 Ext 39T (SA-503)</vt:lpstr>
      <vt:lpstr>765/400 kV KPS-2 Ext 39T (SA-503)</vt:lpstr>
      <vt:lpstr>SS33T 765kV GIS Vadodara Extn S/S (SA5V8)</vt:lpstr>
      <vt:lpstr>SS33T 765kV GIS Vadodara Extn S/S (SA5V8)</vt:lpstr>
      <vt:lpstr>SS33T 765kV GIS Vadodara Extn S/S (SA5V8)</vt:lpstr>
      <vt:lpstr>SS33T 765kV GIS South Olpad (SA-508)</vt:lpstr>
      <vt:lpstr>SS33T 765kV GIS South Olpad (SA-508)</vt:lpstr>
      <vt:lpstr>SS64T 765kV GIS Narendra Extn (SA-603)</vt:lpstr>
      <vt:lpstr>SS64T 765kV GIS Narendra Extn (SA-603)</vt:lpstr>
      <vt:lpstr>765KV Bay Extension GIS Sub-Station Narela </vt:lpstr>
      <vt:lpstr>765KV Bay Extension GIS Sub-Station Narela </vt:lpstr>
      <vt:lpstr>SS33T 765kV AIS Ahmedabad Extn (SA-5A8)</vt:lpstr>
      <vt:lpstr>SS33T 765kV AIS Ahmedabad Extn (SA-5A8)</vt:lpstr>
      <vt:lpstr>SS33T 765kV AIS Ahmedabad Extn (SA-5A8)</vt:lpstr>
      <vt:lpstr>North Western Region</vt:lpstr>
      <vt:lpstr>TL01 - 765KV D/C Bikaner III - Neemrana II (TA- 413)</vt:lpstr>
      <vt:lpstr>TL01 - 765KV D/C Bikaner III - Neemrana II (TA- 413)</vt:lpstr>
      <vt:lpstr>TL01 - 765KV D/C Bikaner III - Neemrana II (TA- 413)</vt:lpstr>
      <vt:lpstr>TL02 - 765KV D/C Bikaner – IV To Siwani (2nd) Tr. Line (Part – 1) (TA- 512)</vt:lpstr>
      <vt:lpstr>TL02 - 765KV D/C Bikaner – IV To Siwani (2nd) Tr. Line (Part – 1) (TA- 512)</vt:lpstr>
      <vt:lpstr>TL01 - 765kV D/C Rishabdeo Mandsaur Transmission Line &amp; Lilo (TA- 504)</vt:lpstr>
      <vt:lpstr>TL01 - 765kV D/C Rishabdeo Mandsaur Transmission Line &amp; Lilo (TA- 504)</vt:lpstr>
      <vt:lpstr>TL01 - 765kV D/C Rishabdeo Mandsaur Transmission Line &amp; Lilo (TA- 504)</vt:lpstr>
      <vt:lpstr>TL01 - 765KV D/C Beawar-Mandsaur TL (TA- 505)</vt:lpstr>
      <vt:lpstr>TL01 - 765KV D/C Beawar-Mandsaur TL (TA- 505)</vt:lpstr>
      <vt:lpstr>TL01 - 765KV D/C Beawar-Mandsaur TL (TA- 505)</vt:lpstr>
      <vt:lpstr>TL01 - 400 KV D/C Sirohi - Chittorgarh TL (TA- 506)</vt:lpstr>
      <vt:lpstr>TL01 - 400 KV D/C Sirohi - Chittorgarh TL (TA- 506)</vt:lpstr>
      <vt:lpstr>TL01 - 400 KV D/C Sirohi - Chittorgarh TL (TA- 506)</vt:lpstr>
      <vt:lpstr>Northern  Region(NR-I) </vt:lpstr>
      <vt:lpstr>TL02 - 765KV D/C Sikar II – Narela (TA- 419)</vt:lpstr>
      <vt:lpstr>TL02 - 765KV D/C Sikar II – Narela (TA- 419)</vt:lpstr>
      <vt:lpstr>TL02 - 765KV D/C Sikar II – Narela (TA- 419)</vt:lpstr>
      <vt:lpstr>Northern Region (NR-II) </vt:lpstr>
      <vt:lpstr>400 KV Siwani-Fatehabad TL &amp; Siwani-Patran TL (TA- 513)</vt:lpstr>
      <vt:lpstr>400 KV Siwani-Fatehabad TL &amp; Siwani-Patran TL (TA- 513)</vt:lpstr>
      <vt:lpstr>Northern Region (NR-III)</vt:lpstr>
      <vt:lpstr>TL03 - 765 KV D/C Neemrana II Bareilly Line (TA- 416)</vt:lpstr>
      <vt:lpstr>TL03 - 765 KV D/C Neemrana II Bareilly Line (TA- 416)</vt:lpstr>
      <vt:lpstr>Southern Region (SR-I) </vt:lpstr>
      <vt:lpstr>TL01 - 765kV D/c  Koppal II (PS)-Raichur (Part-1) TL Line (TA- 418)</vt:lpstr>
      <vt:lpstr>TL01 - 765kV D/C  Koppal II (PS)-Raichur (Part-1) TL Line (TA- 418)</vt:lpstr>
      <vt:lpstr>TL01 - 765kV D/c  Koppal II (PS)-Raichur (Part-1) TL Line (TA- 418)</vt:lpstr>
      <vt:lpstr>TL01 - 765KV D/C Bidar Ps – Maheshwaram (TA- 421)</vt:lpstr>
      <vt:lpstr>TL01 - 765KV D/C Bidar Ps – Maheshwaram (TA- 421)</vt:lpstr>
      <vt:lpstr>TL01 - 765KV D/C Bidar Ps – Maheshwaram (TA- 421)</vt:lpstr>
      <vt:lpstr>TL02 - 765kV D/C Kurnool IV – Bidar Line  (TA- 601)</vt:lpstr>
      <vt:lpstr>TL02 - 765kV D/C Kurnool IV – Bidar Line  (TA- 601)</vt:lpstr>
      <vt:lpstr>North East Project</vt:lpstr>
      <vt:lpstr>TW24 - 132kV Tawang-Lumla Line</vt:lpstr>
      <vt:lpstr>TW24 - 132kV Tawang-Lumla Line</vt:lpstr>
      <vt:lpstr>400 KV D/C Twin Line Latehar- Patraru </vt:lpstr>
      <vt:lpstr>Sikkim Tower Pkg TK04 </vt:lpstr>
      <vt:lpstr>Sikkim Tower Pkg TK04 </vt:lpstr>
      <vt:lpstr>Sikkim Tower Pkg TK04 </vt:lpstr>
      <vt:lpstr>Sikkim Tower Pkg TK04 </vt:lpstr>
      <vt:lpstr>Sikkim Tower Pkg TK04 </vt:lpstr>
      <vt:lpstr>Commercial Closures and Pending Claims</vt:lpstr>
      <vt:lpstr>Summary of Claims submitted at PGCIL(Region Wise)</vt:lpstr>
      <vt:lpstr>Pending Claims (ER-II)</vt:lpstr>
      <vt:lpstr>Pending Claims (NR)</vt:lpstr>
      <vt:lpstr>Pending Claims (Rajasthan Region)</vt:lpstr>
      <vt:lpstr>Pending Claims (WR-II) (Cont..)</vt:lpstr>
      <vt:lpstr>Pending Claims (WR-II)</vt:lpstr>
      <vt:lpstr>Pending Claims(SR-I and NR-I)</vt:lpstr>
      <vt:lpstr>Pending L2 Revision</vt:lpstr>
      <vt:lpstr>Financial details(Closure Projects)</vt:lpstr>
      <vt:lpstr> Commercial closure/ Claims and Intervention sought </vt:lpstr>
      <vt:lpstr>Project Closure Status(Rajasthan)</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Shrikant Ugar</dc:creator>
  <cp:lastModifiedBy>Bharat Kaushik</cp:lastModifiedBy>
  <cp:revision>137</cp:revision>
  <dcterms:created xsi:type="dcterms:W3CDTF">2026-05-01T10:50:20Z</dcterms:created>
  <dcterms:modified xsi:type="dcterms:W3CDTF">2026-05-22T08:02:03Z</dcterms:modified>
</cp:coreProperties>
</file>